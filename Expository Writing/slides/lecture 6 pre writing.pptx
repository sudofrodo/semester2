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7" r:id="rId2"/>
    <p:sldId id="302" r:id="rId3"/>
    <p:sldId id="328" r:id="rId4"/>
    <p:sldId id="333" r:id="rId5"/>
    <p:sldId id="334" r:id="rId6"/>
    <p:sldId id="260" r:id="rId7"/>
    <p:sldId id="261" r:id="rId8"/>
    <p:sldId id="262" r:id="rId9"/>
    <p:sldId id="264" r:id="rId10"/>
    <p:sldId id="265" r:id="rId11"/>
    <p:sldId id="267" r:id="rId12"/>
    <p:sldId id="304" r:id="rId13"/>
    <p:sldId id="330" r:id="rId14"/>
    <p:sldId id="269" r:id="rId15"/>
    <p:sldId id="305" r:id="rId16"/>
    <p:sldId id="306" r:id="rId17"/>
    <p:sldId id="270" r:id="rId18"/>
    <p:sldId id="271" r:id="rId19"/>
    <p:sldId id="298" r:id="rId20"/>
    <p:sldId id="299" r:id="rId21"/>
    <p:sldId id="312" r:id="rId22"/>
    <p:sldId id="311" r:id="rId23"/>
    <p:sldId id="272" r:id="rId24"/>
    <p:sldId id="273" r:id="rId25"/>
    <p:sldId id="307" r:id="rId26"/>
    <p:sldId id="313" r:id="rId27"/>
    <p:sldId id="314" r:id="rId28"/>
    <p:sldId id="315" r:id="rId29"/>
    <p:sldId id="308" r:id="rId30"/>
    <p:sldId id="316" r:id="rId31"/>
    <p:sldId id="317" r:id="rId32"/>
    <p:sldId id="318" r:id="rId33"/>
    <p:sldId id="319" r:id="rId34"/>
    <p:sldId id="309" r:id="rId35"/>
    <p:sldId id="274" r:id="rId36"/>
    <p:sldId id="275" r:id="rId37"/>
    <p:sldId id="320" r:id="rId38"/>
    <p:sldId id="321" r:id="rId39"/>
    <p:sldId id="350" r:id="rId40"/>
    <p:sldId id="322" r:id="rId41"/>
    <p:sldId id="323" r:id="rId42"/>
    <p:sldId id="324" r:id="rId43"/>
    <p:sldId id="310" r:id="rId44"/>
    <p:sldId id="325" r:id="rId45"/>
    <p:sldId id="326" r:id="rId46"/>
    <p:sldId id="327" r:id="rId47"/>
    <p:sldId id="280" r:id="rId48"/>
    <p:sldId id="281" r:id="rId49"/>
    <p:sldId id="282" r:id="rId50"/>
    <p:sldId id="283" r:id="rId51"/>
    <p:sldId id="284" r:id="rId52"/>
    <p:sldId id="286" r:id="rId53"/>
    <p:sldId id="285" r:id="rId54"/>
    <p:sldId id="287" r:id="rId55"/>
    <p:sldId id="288" r:id="rId56"/>
    <p:sldId id="290" r:id="rId57"/>
    <p:sldId id="291" r:id="rId58"/>
    <p:sldId id="292" r:id="rId59"/>
    <p:sldId id="294" r:id="rId60"/>
    <p:sldId id="296" r:id="rId61"/>
    <p:sldId id="331" r:id="rId62"/>
    <p:sldId id="337" r:id="rId63"/>
    <p:sldId id="338" r:id="rId64"/>
    <p:sldId id="339" r:id="rId65"/>
    <p:sldId id="345" r:id="rId66"/>
    <p:sldId id="344" r:id="rId67"/>
    <p:sldId id="340" r:id="rId68"/>
    <p:sldId id="341" r:id="rId69"/>
    <p:sldId id="342" r:id="rId70"/>
    <p:sldId id="343"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FABAB"/>
    <a:srgbClr val="E2E575"/>
    <a:srgbClr val="0F0515"/>
    <a:srgbClr val="1406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259" autoAdjust="0"/>
  </p:normalViewPr>
  <p:slideViewPr>
    <p:cSldViewPr snapToGrid="0">
      <p:cViewPr>
        <p:scale>
          <a:sx n="80" d="100"/>
          <a:sy n="80" d="100"/>
        </p:scale>
        <p:origin x="354" y="-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D06FC3-3DCF-4DFA-8295-852A43696749}" type="doc">
      <dgm:prSet loTypeId="urn:microsoft.com/office/officeart/2005/8/layout/chevron1" loCatId="process" qsTypeId="urn:microsoft.com/office/officeart/2005/8/quickstyle/simple1" qsCatId="simple" csTypeId="urn:microsoft.com/office/officeart/2005/8/colors/colorful3" csCatId="colorful" phldr="1"/>
      <dgm:spPr/>
      <dgm:t>
        <a:bodyPr/>
        <a:lstStyle/>
        <a:p>
          <a:endParaRPr lang="en-US"/>
        </a:p>
      </dgm:t>
    </dgm:pt>
    <dgm:pt modelId="{55764A96-1263-4ED9-A275-93AB73F356EA}">
      <dgm:prSet phldrT="[Text]"/>
      <dgm:spPr/>
      <dgm:t>
        <a:bodyPr/>
        <a:lstStyle/>
        <a:p>
          <a:r>
            <a:rPr lang="en-US" dirty="0" smtClean="0"/>
            <a:t>Brainstorming </a:t>
          </a:r>
          <a:endParaRPr lang="en-US" dirty="0"/>
        </a:p>
      </dgm:t>
    </dgm:pt>
    <dgm:pt modelId="{BEF247AA-D55A-4C60-A181-EF49DC39DDD7}" type="parTrans" cxnId="{B731BA6C-E555-4154-ACED-2B338D7535E1}">
      <dgm:prSet/>
      <dgm:spPr/>
      <dgm:t>
        <a:bodyPr/>
        <a:lstStyle/>
        <a:p>
          <a:endParaRPr lang="en-US"/>
        </a:p>
      </dgm:t>
    </dgm:pt>
    <dgm:pt modelId="{728D4619-2E96-47FE-94FB-B72C0EC0AC69}" type="sibTrans" cxnId="{B731BA6C-E555-4154-ACED-2B338D7535E1}">
      <dgm:prSet/>
      <dgm:spPr/>
      <dgm:t>
        <a:bodyPr/>
        <a:lstStyle/>
        <a:p>
          <a:endParaRPr lang="en-US"/>
        </a:p>
      </dgm:t>
    </dgm:pt>
    <dgm:pt modelId="{D89C90F8-62D2-4E87-AED9-27D116CCA24F}">
      <dgm:prSet phldrT="[Text]"/>
      <dgm:spPr/>
      <dgm:t>
        <a:bodyPr/>
        <a:lstStyle/>
        <a:p>
          <a:r>
            <a:rPr lang="en-US" dirty="0" smtClean="0"/>
            <a:t>Outlining </a:t>
          </a:r>
          <a:endParaRPr lang="en-US" dirty="0"/>
        </a:p>
      </dgm:t>
    </dgm:pt>
    <dgm:pt modelId="{E1CA6841-217B-4DA9-97D7-A118E007BE16}" type="parTrans" cxnId="{E898735A-FA9A-4611-AF78-3672A5EC81B6}">
      <dgm:prSet/>
      <dgm:spPr/>
      <dgm:t>
        <a:bodyPr/>
        <a:lstStyle/>
        <a:p>
          <a:endParaRPr lang="en-US"/>
        </a:p>
      </dgm:t>
    </dgm:pt>
    <dgm:pt modelId="{3A47A9E6-3CFA-41C5-8540-CFDCAE825576}" type="sibTrans" cxnId="{E898735A-FA9A-4611-AF78-3672A5EC81B6}">
      <dgm:prSet/>
      <dgm:spPr/>
      <dgm:t>
        <a:bodyPr/>
        <a:lstStyle/>
        <a:p>
          <a:endParaRPr lang="en-US"/>
        </a:p>
      </dgm:t>
    </dgm:pt>
    <dgm:pt modelId="{3F4DC617-E318-4BCF-AE4B-1D9387A21B1E}">
      <dgm:prSet phldrT="[Text]"/>
      <dgm:spPr/>
      <dgm:t>
        <a:bodyPr/>
        <a:lstStyle/>
        <a:p>
          <a:r>
            <a:rPr lang="en-US" dirty="0" smtClean="0"/>
            <a:t>Rough Draft </a:t>
          </a:r>
          <a:endParaRPr lang="en-US" dirty="0"/>
        </a:p>
      </dgm:t>
    </dgm:pt>
    <dgm:pt modelId="{0DBEFC8C-4101-4EA0-914E-FB09200EBC5F}" type="parTrans" cxnId="{F86A8EBE-46C6-4AF1-9070-77641C2F4E8C}">
      <dgm:prSet/>
      <dgm:spPr/>
      <dgm:t>
        <a:bodyPr/>
        <a:lstStyle/>
        <a:p>
          <a:endParaRPr lang="en-US"/>
        </a:p>
      </dgm:t>
    </dgm:pt>
    <dgm:pt modelId="{24719E01-9361-407C-894F-FA22705788B5}" type="sibTrans" cxnId="{F86A8EBE-46C6-4AF1-9070-77641C2F4E8C}">
      <dgm:prSet/>
      <dgm:spPr/>
      <dgm:t>
        <a:bodyPr/>
        <a:lstStyle/>
        <a:p>
          <a:endParaRPr lang="en-US"/>
        </a:p>
      </dgm:t>
    </dgm:pt>
    <dgm:pt modelId="{D3E90B90-643E-4FF6-B473-CBD84D4E409F}">
      <dgm:prSet phldrT="[Text]"/>
      <dgm:spPr/>
      <dgm:t>
        <a:bodyPr/>
        <a:lstStyle/>
        <a:p>
          <a:r>
            <a:rPr lang="en-US" dirty="0" smtClean="0"/>
            <a:t>Revising </a:t>
          </a:r>
          <a:endParaRPr lang="en-US" dirty="0"/>
        </a:p>
      </dgm:t>
    </dgm:pt>
    <dgm:pt modelId="{BC872FCE-DBA4-4E30-AB10-E827CB64E6CE}" type="parTrans" cxnId="{820C14D6-D5E9-4418-B269-E93B35B1A99B}">
      <dgm:prSet/>
      <dgm:spPr/>
      <dgm:t>
        <a:bodyPr/>
        <a:lstStyle/>
        <a:p>
          <a:endParaRPr lang="en-US"/>
        </a:p>
      </dgm:t>
    </dgm:pt>
    <dgm:pt modelId="{B054DCBC-3926-4833-9B97-C2264C3AE517}" type="sibTrans" cxnId="{820C14D6-D5E9-4418-B269-E93B35B1A99B}">
      <dgm:prSet/>
      <dgm:spPr/>
      <dgm:t>
        <a:bodyPr/>
        <a:lstStyle/>
        <a:p>
          <a:endParaRPr lang="en-US"/>
        </a:p>
      </dgm:t>
    </dgm:pt>
    <dgm:pt modelId="{970145F7-4DDB-4405-B00F-FE98E7E23511}">
      <dgm:prSet phldrT="[Text]"/>
      <dgm:spPr/>
      <dgm:t>
        <a:bodyPr/>
        <a:lstStyle/>
        <a:p>
          <a:r>
            <a:rPr lang="en-US" dirty="0" smtClean="0"/>
            <a:t>Proof Reading </a:t>
          </a:r>
          <a:endParaRPr lang="en-US" dirty="0"/>
        </a:p>
      </dgm:t>
    </dgm:pt>
    <dgm:pt modelId="{D2058E01-8777-44AB-9D38-BA3E6451B0DC}" type="parTrans" cxnId="{CCA95A0A-51AD-409C-A250-B66F6E9F1F18}">
      <dgm:prSet/>
      <dgm:spPr/>
      <dgm:t>
        <a:bodyPr/>
        <a:lstStyle/>
        <a:p>
          <a:endParaRPr lang="en-US"/>
        </a:p>
      </dgm:t>
    </dgm:pt>
    <dgm:pt modelId="{09FCFE70-2437-400C-8090-AE0897667216}" type="sibTrans" cxnId="{CCA95A0A-51AD-409C-A250-B66F6E9F1F18}">
      <dgm:prSet/>
      <dgm:spPr/>
      <dgm:t>
        <a:bodyPr/>
        <a:lstStyle/>
        <a:p>
          <a:endParaRPr lang="en-US"/>
        </a:p>
      </dgm:t>
    </dgm:pt>
    <dgm:pt modelId="{94273C0E-E10D-4F2E-A878-CA4F308A9D3D}" type="pres">
      <dgm:prSet presAssocID="{05D06FC3-3DCF-4DFA-8295-852A43696749}" presName="Name0" presStyleCnt="0">
        <dgm:presLayoutVars>
          <dgm:dir/>
          <dgm:animLvl val="lvl"/>
          <dgm:resizeHandles val="exact"/>
        </dgm:presLayoutVars>
      </dgm:prSet>
      <dgm:spPr/>
      <dgm:t>
        <a:bodyPr/>
        <a:lstStyle/>
        <a:p>
          <a:endParaRPr lang="en-US"/>
        </a:p>
      </dgm:t>
    </dgm:pt>
    <dgm:pt modelId="{FA5075CF-1D8A-43C4-A431-4FEDF46BACCF}" type="pres">
      <dgm:prSet presAssocID="{55764A96-1263-4ED9-A275-93AB73F356EA}" presName="parTxOnly" presStyleLbl="node1" presStyleIdx="0" presStyleCnt="5">
        <dgm:presLayoutVars>
          <dgm:chMax val="0"/>
          <dgm:chPref val="0"/>
          <dgm:bulletEnabled val="1"/>
        </dgm:presLayoutVars>
      </dgm:prSet>
      <dgm:spPr/>
      <dgm:t>
        <a:bodyPr/>
        <a:lstStyle/>
        <a:p>
          <a:endParaRPr lang="en-US"/>
        </a:p>
      </dgm:t>
    </dgm:pt>
    <dgm:pt modelId="{1E0F86DD-F2BB-4554-929B-D161ACE086F5}" type="pres">
      <dgm:prSet presAssocID="{728D4619-2E96-47FE-94FB-B72C0EC0AC69}" presName="parTxOnlySpace" presStyleCnt="0"/>
      <dgm:spPr/>
    </dgm:pt>
    <dgm:pt modelId="{A4C0AACA-F963-4D9E-B6DE-A31F02DC290E}" type="pres">
      <dgm:prSet presAssocID="{D89C90F8-62D2-4E87-AED9-27D116CCA24F}" presName="parTxOnly" presStyleLbl="node1" presStyleIdx="1" presStyleCnt="5">
        <dgm:presLayoutVars>
          <dgm:chMax val="0"/>
          <dgm:chPref val="0"/>
          <dgm:bulletEnabled val="1"/>
        </dgm:presLayoutVars>
      </dgm:prSet>
      <dgm:spPr/>
      <dgm:t>
        <a:bodyPr/>
        <a:lstStyle/>
        <a:p>
          <a:endParaRPr lang="en-US"/>
        </a:p>
      </dgm:t>
    </dgm:pt>
    <dgm:pt modelId="{33D0172F-3BD8-4716-A853-DD612FAE9EB1}" type="pres">
      <dgm:prSet presAssocID="{3A47A9E6-3CFA-41C5-8540-CFDCAE825576}" presName="parTxOnlySpace" presStyleCnt="0"/>
      <dgm:spPr/>
    </dgm:pt>
    <dgm:pt modelId="{C699548B-6BFC-4639-BB79-932922CD17D8}" type="pres">
      <dgm:prSet presAssocID="{3F4DC617-E318-4BCF-AE4B-1D9387A21B1E}" presName="parTxOnly" presStyleLbl="node1" presStyleIdx="2" presStyleCnt="5">
        <dgm:presLayoutVars>
          <dgm:chMax val="0"/>
          <dgm:chPref val="0"/>
          <dgm:bulletEnabled val="1"/>
        </dgm:presLayoutVars>
      </dgm:prSet>
      <dgm:spPr/>
      <dgm:t>
        <a:bodyPr/>
        <a:lstStyle/>
        <a:p>
          <a:endParaRPr lang="en-US"/>
        </a:p>
      </dgm:t>
    </dgm:pt>
    <dgm:pt modelId="{19D07810-5CD5-4911-B311-CA115C59CD80}" type="pres">
      <dgm:prSet presAssocID="{24719E01-9361-407C-894F-FA22705788B5}" presName="parTxOnlySpace" presStyleCnt="0"/>
      <dgm:spPr/>
    </dgm:pt>
    <dgm:pt modelId="{E0421E0E-0B6B-44E9-9F20-4BC13C016E87}" type="pres">
      <dgm:prSet presAssocID="{D3E90B90-643E-4FF6-B473-CBD84D4E409F}" presName="parTxOnly" presStyleLbl="node1" presStyleIdx="3" presStyleCnt="5">
        <dgm:presLayoutVars>
          <dgm:chMax val="0"/>
          <dgm:chPref val="0"/>
          <dgm:bulletEnabled val="1"/>
        </dgm:presLayoutVars>
      </dgm:prSet>
      <dgm:spPr/>
      <dgm:t>
        <a:bodyPr/>
        <a:lstStyle/>
        <a:p>
          <a:endParaRPr lang="en-US"/>
        </a:p>
      </dgm:t>
    </dgm:pt>
    <dgm:pt modelId="{2C9D8E67-BC80-42DB-B917-B603E91D0087}" type="pres">
      <dgm:prSet presAssocID="{B054DCBC-3926-4833-9B97-C2264C3AE517}" presName="parTxOnlySpace" presStyleCnt="0"/>
      <dgm:spPr/>
    </dgm:pt>
    <dgm:pt modelId="{45FF5A10-8A15-45D9-8412-38BEDEE67F7B}" type="pres">
      <dgm:prSet presAssocID="{970145F7-4DDB-4405-B00F-FE98E7E23511}" presName="parTxOnly" presStyleLbl="node1" presStyleIdx="4" presStyleCnt="5">
        <dgm:presLayoutVars>
          <dgm:chMax val="0"/>
          <dgm:chPref val="0"/>
          <dgm:bulletEnabled val="1"/>
        </dgm:presLayoutVars>
      </dgm:prSet>
      <dgm:spPr/>
      <dgm:t>
        <a:bodyPr/>
        <a:lstStyle/>
        <a:p>
          <a:endParaRPr lang="en-US"/>
        </a:p>
      </dgm:t>
    </dgm:pt>
  </dgm:ptLst>
  <dgm:cxnLst>
    <dgm:cxn modelId="{D1077DE1-7DF8-4B9C-A890-031453CEE022}" type="presOf" srcId="{D3E90B90-643E-4FF6-B473-CBD84D4E409F}" destId="{E0421E0E-0B6B-44E9-9F20-4BC13C016E87}" srcOrd="0" destOrd="0" presId="urn:microsoft.com/office/officeart/2005/8/layout/chevron1"/>
    <dgm:cxn modelId="{E2F02113-0592-4AC8-AA5E-5D95E03676FB}" type="presOf" srcId="{970145F7-4DDB-4405-B00F-FE98E7E23511}" destId="{45FF5A10-8A15-45D9-8412-38BEDEE67F7B}" srcOrd="0" destOrd="0" presId="urn:microsoft.com/office/officeart/2005/8/layout/chevron1"/>
    <dgm:cxn modelId="{FEDD6D05-ADD8-4785-8661-EB094F90525D}" type="presOf" srcId="{55764A96-1263-4ED9-A275-93AB73F356EA}" destId="{FA5075CF-1D8A-43C4-A431-4FEDF46BACCF}" srcOrd="0" destOrd="0" presId="urn:microsoft.com/office/officeart/2005/8/layout/chevron1"/>
    <dgm:cxn modelId="{6B2AB420-3130-4E46-BE79-F827DDAF701D}" type="presOf" srcId="{3F4DC617-E318-4BCF-AE4B-1D9387A21B1E}" destId="{C699548B-6BFC-4639-BB79-932922CD17D8}" srcOrd="0" destOrd="0" presId="urn:microsoft.com/office/officeart/2005/8/layout/chevron1"/>
    <dgm:cxn modelId="{B731BA6C-E555-4154-ACED-2B338D7535E1}" srcId="{05D06FC3-3DCF-4DFA-8295-852A43696749}" destId="{55764A96-1263-4ED9-A275-93AB73F356EA}" srcOrd="0" destOrd="0" parTransId="{BEF247AA-D55A-4C60-A181-EF49DC39DDD7}" sibTransId="{728D4619-2E96-47FE-94FB-B72C0EC0AC69}"/>
    <dgm:cxn modelId="{1C0C0A54-7F96-4C4C-B106-886B6765ACFC}" type="presOf" srcId="{D89C90F8-62D2-4E87-AED9-27D116CCA24F}" destId="{A4C0AACA-F963-4D9E-B6DE-A31F02DC290E}" srcOrd="0" destOrd="0" presId="urn:microsoft.com/office/officeart/2005/8/layout/chevron1"/>
    <dgm:cxn modelId="{51D657F6-AB30-46CE-8C46-4606F1F21CCD}" type="presOf" srcId="{05D06FC3-3DCF-4DFA-8295-852A43696749}" destId="{94273C0E-E10D-4F2E-A878-CA4F308A9D3D}" srcOrd="0" destOrd="0" presId="urn:microsoft.com/office/officeart/2005/8/layout/chevron1"/>
    <dgm:cxn modelId="{F86A8EBE-46C6-4AF1-9070-77641C2F4E8C}" srcId="{05D06FC3-3DCF-4DFA-8295-852A43696749}" destId="{3F4DC617-E318-4BCF-AE4B-1D9387A21B1E}" srcOrd="2" destOrd="0" parTransId="{0DBEFC8C-4101-4EA0-914E-FB09200EBC5F}" sibTransId="{24719E01-9361-407C-894F-FA22705788B5}"/>
    <dgm:cxn modelId="{E898735A-FA9A-4611-AF78-3672A5EC81B6}" srcId="{05D06FC3-3DCF-4DFA-8295-852A43696749}" destId="{D89C90F8-62D2-4E87-AED9-27D116CCA24F}" srcOrd="1" destOrd="0" parTransId="{E1CA6841-217B-4DA9-97D7-A118E007BE16}" sibTransId="{3A47A9E6-3CFA-41C5-8540-CFDCAE825576}"/>
    <dgm:cxn modelId="{CCA95A0A-51AD-409C-A250-B66F6E9F1F18}" srcId="{05D06FC3-3DCF-4DFA-8295-852A43696749}" destId="{970145F7-4DDB-4405-B00F-FE98E7E23511}" srcOrd="4" destOrd="0" parTransId="{D2058E01-8777-44AB-9D38-BA3E6451B0DC}" sibTransId="{09FCFE70-2437-400C-8090-AE0897667216}"/>
    <dgm:cxn modelId="{820C14D6-D5E9-4418-B269-E93B35B1A99B}" srcId="{05D06FC3-3DCF-4DFA-8295-852A43696749}" destId="{D3E90B90-643E-4FF6-B473-CBD84D4E409F}" srcOrd="3" destOrd="0" parTransId="{BC872FCE-DBA4-4E30-AB10-E827CB64E6CE}" sibTransId="{B054DCBC-3926-4833-9B97-C2264C3AE517}"/>
    <dgm:cxn modelId="{106D0A28-EEC3-43E7-B158-A84C8F69A63C}" type="presParOf" srcId="{94273C0E-E10D-4F2E-A878-CA4F308A9D3D}" destId="{FA5075CF-1D8A-43C4-A431-4FEDF46BACCF}" srcOrd="0" destOrd="0" presId="urn:microsoft.com/office/officeart/2005/8/layout/chevron1"/>
    <dgm:cxn modelId="{6C0140A4-AF5A-486A-8A17-2F1508380E18}" type="presParOf" srcId="{94273C0E-E10D-4F2E-A878-CA4F308A9D3D}" destId="{1E0F86DD-F2BB-4554-929B-D161ACE086F5}" srcOrd="1" destOrd="0" presId="urn:microsoft.com/office/officeart/2005/8/layout/chevron1"/>
    <dgm:cxn modelId="{9894A7AD-7610-4BDC-855C-77FB03810D03}" type="presParOf" srcId="{94273C0E-E10D-4F2E-A878-CA4F308A9D3D}" destId="{A4C0AACA-F963-4D9E-B6DE-A31F02DC290E}" srcOrd="2" destOrd="0" presId="urn:microsoft.com/office/officeart/2005/8/layout/chevron1"/>
    <dgm:cxn modelId="{1E74716F-DBC3-4FD1-8E6F-AD4D0E4803D2}" type="presParOf" srcId="{94273C0E-E10D-4F2E-A878-CA4F308A9D3D}" destId="{33D0172F-3BD8-4716-A853-DD612FAE9EB1}" srcOrd="3" destOrd="0" presId="urn:microsoft.com/office/officeart/2005/8/layout/chevron1"/>
    <dgm:cxn modelId="{041AA847-3FDF-4BD5-9C66-8853FBF1E24F}" type="presParOf" srcId="{94273C0E-E10D-4F2E-A878-CA4F308A9D3D}" destId="{C699548B-6BFC-4639-BB79-932922CD17D8}" srcOrd="4" destOrd="0" presId="urn:microsoft.com/office/officeart/2005/8/layout/chevron1"/>
    <dgm:cxn modelId="{4DC11482-DEE3-4D33-B837-1090AB6AA4CA}" type="presParOf" srcId="{94273C0E-E10D-4F2E-A878-CA4F308A9D3D}" destId="{19D07810-5CD5-4911-B311-CA115C59CD80}" srcOrd="5" destOrd="0" presId="urn:microsoft.com/office/officeart/2005/8/layout/chevron1"/>
    <dgm:cxn modelId="{35CD2858-9EC9-431C-AFCF-A4FA0241829F}" type="presParOf" srcId="{94273C0E-E10D-4F2E-A878-CA4F308A9D3D}" destId="{E0421E0E-0B6B-44E9-9F20-4BC13C016E87}" srcOrd="6" destOrd="0" presId="urn:microsoft.com/office/officeart/2005/8/layout/chevron1"/>
    <dgm:cxn modelId="{24A7165A-1E38-4245-B1CE-F51E4B251B04}" type="presParOf" srcId="{94273C0E-E10D-4F2E-A878-CA4F308A9D3D}" destId="{2C9D8E67-BC80-42DB-B917-B603E91D0087}" srcOrd="7" destOrd="0" presId="urn:microsoft.com/office/officeart/2005/8/layout/chevron1"/>
    <dgm:cxn modelId="{855C8770-0B56-4E5C-849B-9AC2C8AEEAE9}" type="presParOf" srcId="{94273C0E-E10D-4F2E-A878-CA4F308A9D3D}" destId="{45FF5A10-8A15-45D9-8412-38BEDEE67F7B}"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7B19DE4-83BF-49DA-9D44-C8DDB95CF444}" type="doc">
      <dgm:prSet loTypeId="urn:microsoft.com/office/officeart/2005/8/layout/gear1" loCatId="process" qsTypeId="urn:microsoft.com/office/officeart/2005/8/quickstyle/simple1" qsCatId="simple" csTypeId="urn:microsoft.com/office/officeart/2005/8/colors/colorful2" csCatId="colorful" phldr="1"/>
      <dgm:spPr/>
      <dgm:t>
        <a:bodyPr/>
        <a:lstStyle/>
        <a:p>
          <a:endParaRPr lang="en-US"/>
        </a:p>
      </dgm:t>
    </dgm:pt>
    <dgm:pt modelId="{E3CAEEA4-E911-43D3-B864-B82F382ADAA6}">
      <dgm:prSet custT="1"/>
      <dgm:spPr/>
      <dgm:t>
        <a:bodyPr/>
        <a:lstStyle/>
        <a:p>
          <a:r>
            <a:rPr lang="en-US" sz="3600" dirty="0" smtClean="0"/>
            <a:t>Pre writing </a:t>
          </a:r>
          <a:endParaRPr lang="en-US" sz="3600" dirty="0"/>
        </a:p>
      </dgm:t>
    </dgm:pt>
    <dgm:pt modelId="{392FD5B0-7EEC-4464-AD2A-B32102F3AFA8}" type="parTrans" cxnId="{D80D8110-87C1-4B73-B85F-EFA6AAE0C9CF}">
      <dgm:prSet/>
      <dgm:spPr/>
      <dgm:t>
        <a:bodyPr/>
        <a:lstStyle/>
        <a:p>
          <a:endParaRPr lang="en-US"/>
        </a:p>
      </dgm:t>
    </dgm:pt>
    <dgm:pt modelId="{EF4C8C9B-A755-45F0-8C5F-BFB9C2C83455}" type="sibTrans" cxnId="{D80D8110-87C1-4B73-B85F-EFA6AAE0C9CF}">
      <dgm:prSet/>
      <dgm:spPr/>
      <dgm:t>
        <a:bodyPr/>
        <a:lstStyle/>
        <a:p>
          <a:endParaRPr lang="en-US"/>
        </a:p>
      </dgm:t>
    </dgm:pt>
    <dgm:pt modelId="{B5BF9B64-FE76-4D83-9415-30F29BE01C35}">
      <dgm:prSet custT="1"/>
      <dgm:spPr/>
      <dgm:t>
        <a:bodyPr/>
        <a:lstStyle/>
        <a:p>
          <a:r>
            <a:rPr lang="en-US" sz="2400" dirty="0" smtClean="0"/>
            <a:t>Invention activities</a:t>
          </a:r>
          <a:endParaRPr lang="en-US" sz="2400" dirty="0"/>
        </a:p>
      </dgm:t>
    </dgm:pt>
    <dgm:pt modelId="{7EDBC6F1-1D7B-428F-8273-A420DDEB840F}" type="parTrans" cxnId="{0A8763D1-A0A5-4AC1-B0CF-1631D2B134E2}">
      <dgm:prSet/>
      <dgm:spPr/>
      <dgm:t>
        <a:bodyPr/>
        <a:lstStyle/>
        <a:p>
          <a:endParaRPr lang="en-US"/>
        </a:p>
      </dgm:t>
    </dgm:pt>
    <dgm:pt modelId="{6D6F3CCA-113B-4BBE-B96E-F7D6A78A3AC8}" type="sibTrans" cxnId="{0A8763D1-A0A5-4AC1-B0CF-1631D2B134E2}">
      <dgm:prSet/>
      <dgm:spPr/>
      <dgm:t>
        <a:bodyPr/>
        <a:lstStyle/>
        <a:p>
          <a:endParaRPr lang="en-US"/>
        </a:p>
      </dgm:t>
    </dgm:pt>
    <dgm:pt modelId="{B0648644-1D39-41F4-B11F-20917467E491}">
      <dgm:prSet custT="1"/>
      <dgm:spPr/>
      <dgm:t>
        <a:bodyPr/>
        <a:lstStyle/>
        <a:p>
          <a:r>
            <a:rPr lang="en-US" sz="2000" dirty="0" smtClean="0"/>
            <a:t>Arrangement activities</a:t>
          </a:r>
          <a:endParaRPr lang="en-US" sz="2000" dirty="0"/>
        </a:p>
      </dgm:t>
    </dgm:pt>
    <dgm:pt modelId="{DBAC6041-A5B2-4AA4-8370-1D190F6BAFDE}" type="parTrans" cxnId="{23BCA0D1-C427-4776-9D57-52BC4B829C03}">
      <dgm:prSet/>
      <dgm:spPr/>
      <dgm:t>
        <a:bodyPr/>
        <a:lstStyle/>
        <a:p>
          <a:endParaRPr lang="en-US"/>
        </a:p>
      </dgm:t>
    </dgm:pt>
    <dgm:pt modelId="{3B422340-AC79-4BA6-9561-6405BACDD065}" type="sibTrans" cxnId="{23BCA0D1-C427-4776-9D57-52BC4B829C03}">
      <dgm:prSet/>
      <dgm:spPr/>
      <dgm:t>
        <a:bodyPr/>
        <a:lstStyle/>
        <a:p>
          <a:endParaRPr lang="en-US"/>
        </a:p>
      </dgm:t>
    </dgm:pt>
    <dgm:pt modelId="{2461F0AE-D843-4E8B-A86B-4E58EED963FA}" type="pres">
      <dgm:prSet presAssocID="{97B19DE4-83BF-49DA-9D44-C8DDB95CF444}" presName="composite" presStyleCnt="0">
        <dgm:presLayoutVars>
          <dgm:chMax val="3"/>
          <dgm:animLvl val="lvl"/>
          <dgm:resizeHandles val="exact"/>
        </dgm:presLayoutVars>
      </dgm:prSet>
      <dgm:spPr/>
      <dgm:t>
        <a:bodyPr/>
        <a:lstStyle/>
        <a:p>
          <a:endParaRPr lang="en-US"/>
        </a:p>
      </dgm:t>
    </dgm:pt>
    <dgm:pt modelId="{2640AC8F-7DB5-4942-8576-D92950C5C86F}" type="pres">
      <dgm:prSet presAssocID="{E3CAEEA4-E911-43D3-B864-B82F382ADAA6}" presName="gear1" presStyleLbl="node1" presStyleIdx="0" presStyleCnt="3">
        <dgm:presLayoutVars>
          <dgm:chMax val="1"/>
          <dgm:bulletEnabled val="1"/>
        </dgm:presLayoutVars>
      </dgm:prSet>
      <dgm:spPr/>
      <dgm:t>
        <a:bodyPr/>
        <a:lstStyle/>
        <a:p>
          <a:endParaRPr lang="en-US"/>
        </a:p>
      </dgm:t>
    </dgm:pt>
    <dgm:pt modelId="{BB97F4E5-89DF-468B-BB0F-0B4BB83632DA}" type="pres">
      <dgm:prSet presAssocID="{E3CAEEA4-E911-43D3-B864-B82F382ADAA6}" presName="gear1srcNode" presStyleLbl="node1" presStyleIdx="0" presStyleCnt="3"/>
      <dgm:spPr/>
      <dgm:t>
        <a:bodyPr/>
        <a:lstStyle/>
        <a:p>
          <a:endParaRPr lang="en-US"/>
        </a:p>
      </dgm:t>
    </dgm:pt>
    <dgm:pt modelId="{6CEE6BF6-98B8-4F6E-B08D-7092FE7BF8B2}" type="pres">
      <dgm:prSet presAssocID="{E3CAEEA4-E911-43D3-B864-B82F382ADAA6}" presName="gear1dstNode" presStyleLbl="node1" presStyleIdx="0" presStyleCnt="3"/>
      <dgm:spPr/>
      <dgm:t>
        <a:bodyPr/>
        <a:lstStyle/>
        <a:p>
          <a:endParaRPr lang="en-US"/>
        </a:p>
      </dgm:t>
    </dgm:pt>
    <dgm:pt modelId="{AE2E772C-863A-4AE5-BE0B-08DD4B1CAAE6}" type="pres">
      <dgm:prSet presAssocID="{B5BF9B64-FE76-4D83-9415-30F29BE01C35}" presName="gear2" presStyleLbl="node1" presStyleIdx="1" presStyleCnt="3">
        <dgm:presLayoutVars>
          <dgm:chMax val="1"/>
          <dgm:bulletEnabled val="1"/>
        </dgm:presLayoutVars>
      </dgm:prSet>
      <dgm:spPr/>
      <dgm:t>
        <a:bodyPr/>
        <a:lstStyle/>
        <a:p>
          <a:endParaRPr lang="en-US"/>
        </a:p>
      </dgm:t>
    </dgm:pt>
    <dgm:pt modelId="{B71CB68D-41A2-4C76-872F-24E5061BD63A}" type="pres">
      <dgm:prSet presAssocID="{B5BF9B64-FE76-4D83-9415-30F29BE01C35}" presName="gear2srcNode" presStyleLbl="node1" presStyleIdx="1" presStyleCnt="3"/>
      <dgm:spPr/>
      <dgm:t>
        <a:bodyPr/>
        <a:lstStyle/>
        <a:p>
          <a:endParaRPr lang="en-US"/>
        </a:p>
      </dgm:t>
    </dgm:pt>
    <dgm:pt modelId="{776029BF-F684-4CEF-BC61-DB14073EB85D}" type="pres">
      <dgm:prSet presAssocID="{B5BF9B64-FE76-4D83-9415-30F29BE01C35}" presName="gear2dstNode" presStyleLbl="node1" presStyleIdx="1" presStyleCnt="3"/>
      <dgm:spPr/>
      <dgm:t>
        <a:bodyPr/>
        <a:lstStyle/>
        <a:p>
          <a:endParaRPr lang="en-US"/>
        </a:p>
      </dgm:t>
    </dgm:pt>
    <dgm:pt modelId="{7358C753-B66D-40D8-8498-32CCF4D40D21}" type="pres">
      <dgm:prSet presAssocID="{B0648644-1D39-41F4-B11F-20917467E491}" presName="gear3" presStyleLbl="node1" presStyleIdx="2" presStyleCnt="3"/>
      <dgm:spPr/>
      <dgm:t>
        <a:bodyPr/>
        <a:lstStyle/>
        <a:p>
          <a:endParaRPr lang="en-US"/>
        </a:p>
      </dgm:t>
    </dgm:pt>
    <dgm:pt modelId="{7CB625FC-FC77-477C-9760-B3208841EA16}" type="pres">
      <dgm:prSet presAssocID="{B0648644-1D39-41F4-B11F-20917467E491}" presName="gear3tx" presStyleLbl="node1" presStyleIdx="2" presStyleCnt="3">
        <dgm:presLayoutVars>
          <dgm:chMax val="1"/>
          <dgm:bulletEnabled val="1"/>
        </dgm:presLayoutVars>
      </dgm:prSet>
      <dgm:spPr/>
      <dgm:t>
        <a:bodyPr/>
        <a:lstStyle/>
        <a:p>
          <a:endParaRPr lang="en-US"/>
        </a:p>
      </dgm:t>
    </dgm:pt>
    <dgm:pt modelId="{58504022-D979-4367-A362-224AD9C2AD52}" type="pres">
      <dgm:prSet presAssocID="{B0648644-1D39-41F4-B11F-20917467E491}" presName="gear3srcNode" presStyleLbl="node1" presStyleIdx="2" presStyleCnt="3"/>
      <dgm:spPr/>
      <dgm:t>
        <a:bodyPr/>
        <a:lstStyle/>
        <a:p>
          <a:endParaRPr lang="en-US"/>
        </a:p>
      </dgm:t>
    </dgm:pt>
    <dgm:pt modelId="{16B90257-1D57-46E2-9ACB-21DE2F09CF3F}" type="pres">
      <dgm:prSet presAssocID="{B0648644-1D39-41F4-B11F-20917467E491}" presName="gear3dstNode" presStyleLbl="node1" presStyleIdx="2" presStyleCnt="3"/>
      <dgm:spPr/>
      <dgm:t>
        <a:bodyPr/>
        <a:lstStyle/>
        <a:p>
          <a:endParaRPr lang="en-US"/>
        </a:p>
      </dgm:t>
    </dgm:pt>
    <dgm:pt modelId="{3C01831D-0BD5-4BC3-AD8E-10FDE46DEF6A}" type="pres">
      <dgm:prSet presAssocID="{EF4C8C9B-A755-45F0-8C5F-BFB9C2C83455}" presName="connector1" presStyleLbl="sibTrans2D1" presStyleIdx="0" presStyleCnt="3"/>
      <dgm:spPr/>
      <dgm:t>
        <a:bodyPr/>
        <a:lstStyle/>
        <a:p>
          <a:endParaRPr lang="en-US"/>
        </a:p>
      </dgm:t>
    </dgm:pt>
    <dgm:pt modelId="{40510B41-495B-4BC4-884B-A65EA981A8F2}" type="pres">
      <dgm:prSet presAssocID="{6D6F3CCA-113B-4BBE-B96E-F7D6A78A3AC8}" presName="connector2" presStyleLbl="sibTrans2D1" presStyleIdx="1" presStyleCnt="3"/>
      <dgm:spPr/>
      <dgm:t>
        <a:bodyPr/>
        <a:lstStyle/>
        <a:p>
          <a:endParaRPr lang="en-US"/>
        </a:p>
      </dgm:t>
    </dgm:pt>
    <dgm:pt modelId="{E87040F9-E666-43D6-A54C-A37BC3EE6D93}" type="pres">
      <dgm:prSet presAssocID="{3B422340-AC79-4BA6-9561-6405BACDD065}" presName="connector3" presStyleLbl="sibTrans2D1" presStyleIdx="2" presStyleCnt="3"/>
      <dgm:spPr/>
      <dgm:t>
        <a:bodyPr/>
        <a:lstStyle/>
        <a:p>
          <a:endParaRPr lang="en-US"/>
        </a:p>
      </dgm:t>
    </dgm:pt>
  </dgm:ptLst>
  <dgm:cxnLst>
    <dgm:cxn modelId="{C94E4413-0D63-452A-8100-A69540282976}" type="presOf" srcId="{B5BF9B64-FE76-4D83-9415-30F29BE01C35}" destId="{AE2E772C-863A-4AE5-BE0B-08DD4B1CAAE6}" srcOrd="0" destOrd="0" presId="urn:microsoft.com/office/officeart/2005/8/layout/gear1"/>
    <dgm:cxn modelId="{A5430626-84AA-48EC-93CB-FF35AA3AC986}" type="presOf" srcId="{B0648644-1D39-41F4-B11F-20917467E491}" destId="{7358C753-B66D-40D8-8498-32CCF4D40D21}" srcOrd="0" destOrd="0" presId="urn:microsoft.com/office/officeart/2005/8/layout/gear1"/>
    <dgm:cxn modelId="{06C1C6EF-3F10-4758-B59C-29323CC4E576}" type="presOf" srcId="{B0648644-1D39-41F4-B11F-20917467E491}" destId="{58504022-D979-4367-A362-224AD9C2AD52}" srcOrd="2" destOrd="0" presId="urn:microsoft.com/office/officeart/2005/8/layout/gear1"/>
    <dgm:cxn modelId="{D3EFED0E-53B1-4737-811B-48BEE36294FC}" type="presOf" srcId="{6D6F3CCA-113B-4BBE-B96E-F7D6A78A3AC8}" destId="{40510B41-495B-4BC4-884B-A65EA981A8F2}" srcOrd="0" destOrd="0" presId="urn:microsoft.com/office/officeart/2005/8/layout/gear1"/>
    <dgm:cxn modelId="{DB52298E-664E-492E-BC6F-89AE1EF5A207}" type="presOf" srcId="{E3CAEEA4-E911-43D3-B864-B82F382ADAA6}" destId="{6CEE6BF6-98B8-4F6E-B08D-7092FE7BF8B2}" srcOrd="2" destOrd="0" presId="urn:microsoft.com/office/officeart/2005/8/layout/gear1"/>
    <dgm:cxn modelId="{7997B35A-EE4F-4ADC-933D-D2B7C43C5CB9}" type="presOf" srcId="{B0648644-1D39-41F4-B11F-20917467E491}" destId="{16B90257-1D57-46E2-9ACB-21DE2F09CF3F}" srcOrd="3" destOrd="0" presId="urn:microsoft.com/office/officeart/2005/8/layout/gear1"/>
    <dgm:cxn modelId="{3E82F404-1C05-4AF7-8FC4-56FECAD7116B}" type="presOf" srcId="{B0648644-1D39-41F4-B11F-20917467E491}" destId="{7CB625FC-FC77-477C-9760-B3208841EA16}" srcOrd="1" destOrd="0" presId="urn:microsoft.com/office/officeart/2005/8/layout/gear1"/>
    <dgm:cxn modelId="{D80D8110-87C1-4B73-B85F-EFA6AAE0C9CF}" srcId="{97B19DE4-83BF-49DA-9D44-C8DDB95CF444}" destId="{E3CAEEA4-E911-43D3-B864-B82F382ADAA6}" srcOrd="0" destOrd="0" parTransId="{392FD5B0-7EEC-4464-AD2A-B32102F3AFA8}" sibTransId="{EF4C8C9B-A755-45F0-8C5F-BFB9C2C83455}"/>
    <dgm:cxn modelId="{AB56008A-71BF-46D5-BA99-009EBC476895}" type="presOf" srcId="{B5BF9B64-FE76-4D83-9415-30F29BE01C35}" destId="{B71CB68D-41A2-4C76-872F-24E5061BD63A}" srcOrd="1" destOrd="0" presId="urn:microsoft.com/office/officeart/2005/8/layout/gear1"/>
    <dgm:cxn modelId="{23BCA0D1-C427-4776-9D57-52BC4B829C03}" srcId="{97B19DE4-83BF-49DA-9D44-C8DDB95CF444}" destId="{B0648644-1D39-41F4-B11F-20917467E491}" srcOrd="2" destOrd="0" parTransId="{DBAC6041-A5B2-4AA4-8370-1D190F6BAFDE}" sibTransId="{3B422340-AC79-4BA6-9561-6405BACDD065}"/>
    <dgm:cxn modelId="{F7B02CB4-91EC-4078-A0DA-EE5A424B2E5B}" type="presOf" srcId="{E3CAEEA4-E911-43D3-B864-B82F382ADAA6}" destId="{BB97F4E5-89DF-468B-BB0F-0B4BB83632DA}" srcOrd="1" destOrd="0" presId="urn:microsoft.com/office/officeart/2005/8/layout/gear1"/>
    <dgm:cxn modelId="{D2E8BAA3-7E11-45ED-9ECD-29349246B5DB}" type="presOf" srcId="{3B422340-AC79-4BA6-9561-6405BACDD065}" destId="{E87040F9-E666-43D6-A54C-A37BC3EE6D93}" srcOrd="0" destOrd="0" presId="urn:microsoft.com/office/officeart/2005/8/layout/gear1"/>
    <dgm:cxn modelId="{32CDA5A0-8AA6-4879-81EC-9C6738DE63C9}" type="presOf" srcId="{B5BF9B64-FE76-4D83-9415-30F29BE01C35}" destId="{776029BF-F684-4CEF-BC61-DB14073EB85D}" srcOrd="2" destOrd="0" presId="urn:microsoft.com/office/officeart/2005/8/layout/gear1"/>
    <dgm:cxn modelId="{9EF49161-FD63-4095-8EA2-5B9961942F9F}" type="presOf" srcId="{97B19DE4-83BF-49DA-9D44-C8DDB95CF444}" destId="{2461F0AE-D843-4E8B-A86B-4E58EED963FA}" srcOrd="0" destOrd="0" presId="urn:microsoft.com/office/officeart/2005/8/layout/gear1"/>
    <dgm:cxn modelId="{AC851E50-57C6-415D-B70E-18C8A5B34056}" type="presOf" srcId="{E3CAEEA4-E911-43D3-B864-B82F382ADAA6}" destId="{2640AC8F-7DB5-4942-8576-D92950C5C86F}" srcOrd="0" destOrd="0" presId="urn:microsoft.com/office/officeart/2005/8/layout/gear1"/>
    <dgm:cxn modelId="{2774B475-0AC3-4261-BD38-30B423B298F9}" type="presOf" srcId="{EF4C8C9B-A755-45F0-8C5F-BFB9C2C83455}" destId="{3C01831D-0BD5-4BC3-AD8E-10FDE46DEF6A}" srcOrd="0" destOrd="0" presId="urn:microsoft.com/office/officeart/2005/8/layout/gear1"/>
    <dgm:cxn modelId="{0A8763D1-A0A5-4AC1-B0CF-1631D2B134E2}" srcId="{97B19DE4-83BF-49DA-9D44-C8DDB95CF444}" destId="{B5BF9B64-FE76-4D83-9415-30F29BE01C35}" srcOrd="1" destOrd="0" parTransId="{7EDBC6F1-1D7B-428F-8273-A420DDEB840F}" sibTransId="{6D6F3CCA-113B-4BBE-B96E-F7D6A78A3AC8}"/>
    <dgm:cxn modelId="{01C910EF-CCEE-4EDB-88B0-BA7A2FCD0B3B}" type="presParOf" srcId="{2461F0AE-D843-4E8B-A86B-4E58EED963FA}" destId="{2640AC8F-7DB5-4942-8576-D92950C5C86F}" srcOrd="0" destOrd="0" presId="urn:microsoft.com/office/officeart/2005/8/layout/gear1"/>
    <dgm:cxn modelId="{EFE3FB93-09D1-476E-A699-D9909A1F9509}" type="presParOf" srcId="{2461F0AE-D843-4E8B-A86B-4E58EED963FA}" destId="{BB97F4E5-89DF-468B-BB0F-0B4BB83632DA}" srcOrd="1" destOrd="0" presId="urn:microsoft.com/office/officeart/2005/8/layout/gear1"/>
    <dgm:cxn modelId="{876B292D-6ADB-4E24-8066-58F4061E86FB}" type="presParOf" srcId="{2461F0AE-D843-4E8B-A86B-4E58EED963FA}" destId="{6CEE6BF6-98B8-4F6E-B08D-7092FE7BF8B2}" srcOrd="2" destOrd="0" presId="urn:microsoft.com/office/officeart/2005/8/layout/gear1"/>
    <dgm:cxn modelId="{F17DFCDB-FD4D-4959-85FA-6E5477331048}" type="presParOf" srcId="{2461F0AE-D843-4E8B-A86B-4E58EED963FA}" destId="{AE2E772C-863A-4AE5-BE0B-08DD4B1CAAE6}" srcOrd="3" destOrd="0" presId="urn:microsoft.com/office/officeart/2005/8/layout/gear1"/>
    <dgm:cxn modelId="{2203C442-8266-48B3-924C-AC40566FBC6B}" type="presParOf" srcId="{2461F0AE-D843-4E8B-A86B-4E58EED963FA}" destId="{B71CB68D-41A2-4C76-872F-24E5061BD63A}" srcOrd="4" destOrd="0" presId="urn:microsoft.com/office/officeart/2005/8/layout/gear1"/>
    <dgm:cxn modelId="{8CE87147-39D8-4EBE-BBED-00CEC29C75EE}" type="presParOf" srcId="{2461F0AE-D843-4E8B-A86B-4E58EED963FA}" destId="{776029BF-F684-4CEF-BC61-DB14073EB85D}" srcOrd="5" destOrd="0" presId="urn:microsoft.com/office/officeart/2005/8/layout/gear1"/>
    <dgm:cxn modelId="{233BAE36-D15E-4DBD-AF2B-1F4877153B4D}" type="presParOf" srcId="{2461F0AE-D843-4E8B-A86B-4E58EED963FA}" destId="{7358C753-B66D-40D8-8498-32CCF4D40D21}" srcOrd="6" destOrd="0" presId="urn:microsoft.com/office/officeart/2005/8/layout/gear1"/>
    <dgm:cxn modelId="{67587749-6854-49F8-9287-F01D2E68DE92}" type="presParOf" srcId="{2461F0AE-D843-4E8B-A86B-4E58EED963FA}" destId="{7CB625FC-FC77-477C-9760-B3208841EA16}" srcOrd="7" destOrd="0" presId="urn:microsoft.com/office/officeart/2005/8/layout/gear1"/>
    <dgm:cxn modelId="{B57E6673-02DA-40B1-8AD8-9A820E2C3B65}" type="presParOf" srcId="{2461F0AE-D843-4E8B-A86B-4E58EED963FA}" destId="{58504022-D979-4367-A362-224AD9C2AD52}" srcOrd="8" destOrd="0" presId="urn:microsoft.com/office/officeart/2005/8/layout/gear1"/>
    <dgm:cxn modelId="{E8B0053F-F2F2-423B-84C8-A8E3AC2DA495}" type="presParOf" srcId="{2461F0AE-D843-4E8B-A86B-4E58EED963FA}" destId="{16B90257-1D57-46E2-9ACB-21DE2F09CF3F}" srcOrd="9" destOrd="0" presId="urn:microsoft.com/office/officeart/2005/8/layout/gear1"/>
    <dgm:cxn modelId="{5A3C9826-4495-4EDD-B3B6-A020639CB867}" type="presParOf" srcId="{2461F0AE-D843-4E8B-A86B-4E58EED963FA}" destId="{3C01831D-0BD5-4BC3-AD8E-10FDE46DEF6A}" srcOrd="10" destOrd="0" presId="urn:microsoft.com/office/officeart/2005/8/layout/gear1"/>
    <dgm:cxn modelId="{8BCB17E3-52CB-4E44-B08D-5CC5261BE174}" type="presParOf" srcId="{2461F0AE-D843-4E8B-A86B-4E58EED963FA}" destId="{40510B41-495B-4BC4-884B-A65EA981A8F2}" srcOrd="11" destOrd="0" presId="urn:microsoft.com/office/officeart/2005/8/layout/gear1"/>
    <dgm:cxn modelId="{551399DD-D17C-4D05-BD94-D56035509930}" type="presParOf" srcId="{2461F0AE-D843-4E8B-A86B-4E58EED963FA}" destId="{E87040F9-E666-43D6-A54C-A37BC3EE6D93}" srcOrd="12" destOrd="0" presId="urn:microsoft.com/office/officeart/2005/8/layout/gear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23F0F42-6725-4E57-A978-2B435C2FA479}"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6C70E3FF-984E-45FA-980F-F661AAF95FEE}">
      <dgm:prSet phldrT="[Text]"/>
      <dgm:spPr/>
      <dgm:t>
        <a:bodyPr/>
        <a:lstStyle/>
        <a:p>
          <a:r>
            <a:rPr lang="en-US" dirty="0" smtClean="0"/>
            <a:t>Free writing </a:t>
          </a:r>
          <a:endParaRPr lang="en-US" dirty="0"/>
        </a:p>
      </dgm:t>
    </dgm:pt>
    <dgm:pt modelId="{E206E75E-5ACE-41EE-9831-EE5848BA1D67}" type="parTrans" cxnId="{C0D1EA06-F6A8-4634-B328-F7BB537E2606}">
      <dgm:prSet/>
      <dgm:spPr/>
      <dgm:t>
        <a:bodyPr/>
        <a:lstStyle/>
        <a:p>
          <a:endParaRPr lang="en-US"/>
        </a:p>
      </dgm:t>
    </dgm:pt>
    <dgm:pt modelId="{BD6C40D6-45C4-4C55-9EE8-C872EDB582B2}" type="sibTrans" cxnId="{C0D1EA06-F6A8-4634-B328-F7BB537E2606}">
      <dgm:prSet/>
      <dgm:spPr/>
      <dgm:t>
        <a:bodyPr/>
        <a:lstStyle/>
        <a:p>
          <a:endParaRPr lang="en-US"/>
        </a:p>
      </dgm:t>
    </dgm:pt>
    <dgm:pt modelId="{51C1D378-3858-4F2D-B2F5-1B1ACA66BCEA}">
      <dgm:prSet phldrT="[Text]"/>
      <dgm:spPr/>
      <dgm:t>
        <a:bodyPr/>
        <a:lstStyle/>
        <a:p>
          <a:r>
            <a:rPr lang="en-US" b="1" dirty="0" smtClean="0"/>
            <a:t>Mind mapping</a:t>
          </a:r>
          <a:endParaRPr lang="en-US" dirty="0"/>
        </a:p>
      </dgm:t>
    </dgm:pt>
    <dgm:pt modelId="{9F26712F-9872-404D-8E3D-BADBF8386DBD}" type="parTrans" cxnId="{1C50C860-E236-4E2D-8C2C-472359648FCF}">
      <dgm:prSet/>
      <dgm:spPr/>
      <dgm:t>
        <a:bodyPr/>
        <a:lstStyle/>
        <a:p>
          <a:endParaRPr lang="en-US"/>
        </a:p>
      </dgm:t>
    </dgm:pt>
    <dgm:pt modelId="{656EA2C2-3C20-4C83-A29E-B95E00E443ED}" type="sibTrans" cxnId="{1C50C860-E236-4E2D-8C2C-472359648FCF}">
      <dgm:prSet/>
      <dgm:spPr/>
      <dgm:t>
        <a:bodyPr/>
        <a:lstStyle/>
        <a:p>
          <a:endParaRPr lang="en-US"/>
        </a:p>
      </dgm:t>
    </dgm:pt>
    <dgm:pt modelId="{5E60D7D7-2E7B-4114-91C7-D34B59F802BC}">
      <dgm:prSet phldrT="[Text]"/>
      <dgm:spPr/>
      <dgm:t>
        <a:bodyPr/>
        <a:lstStyle/>
        <a:p>
          <a:r>
            <a:rPr lang="en-US" b="1" dirty="0" smtClean="0"/>
            <a:t>Listing (bulleting)</a:t>
          </a:r>
          <a:endParaRPr lang="en-US" dirty="0"/>
        </a:p>
      </dgm:t>
    </dgm:pt>
    <dgm:pt modelId="{D6A314F7-2D17-4F0B-B0F8-2B014A1F3698}" type="parTrans" cxnId="{AF41BC0F-830A-4698-A04A-FBCBD86FEECE}">
      <dgm:prSet/>
      <dgm:spPr/>
      <dgm:t>
        <a:bodyPr/>
        <a:lstStyle/>
        <a:p>
          <a:endParaRPr lang="en-US"/>
        </a:p>
      </dgm:t>
    </dgm:pt>
    <dgm:pt modelId="{BF9A6D67-8FEC-45AC-AB7E-15543E2372D4}" type="sibTrans" cxnId="{AF41BC0F-830A-4698-A04A-FBCBD86FEECE}">
      <dgm:prSet/>
      <dgm:spPr/>
      <dgm:t>
        <a:bodyPr/>
        <a:lstStyle/>
        <a:p>
          <a:endParaRPr lang="en-US"/>
        </a:p>
      </dgm:t>
    </dgm:pt>
    <dgm:pt modelId="{FAA3EBF5-31B4-4322-A752-30FFBC8281F3}" type="pres">
      <dgm:prSet presAssocID="{823F0F42-6725-4E57-A978-2B435C2FA479}" presName="diagram" presStyleCnt="0">
        <dgm:presLayoutVars>
          <dgm:dir/>
          <dgm:resizeHandles val="exact"/>
        </dgm:presLayoutVars>
      </dgm:prSet>
      <dgm:spPr/>
      <dgm:t>
        <a:bodyPr/>
        <a:lstStyle/>
        <a:p>
          <a:endParaRPr lang="en-US"/>
        </a:p>
      </dgm:t>
    </dgm:pt>
    <dgm:pt modelId="{C2B6B048-82E2-49CD-8CAE-F1A44A77EC29}" type="pres">
      <dgm:prSet presAssocID="{6C70E3FF-984E-45FA-980F-F661AAF95FEE}" presName="node" presStyleLbl="node1" presStyleIdx="0" presStyleCnt="3">
        <dgm:presLayoutVars>
          <dgm:bulletEnabled val="1"/>
        </dgm:presLayoutVars>
      </dgm:prSet>
      <dgm:spPr/>
      <dgm:t>
        <a:bodyPr/>
        <a:lstStyle/>
        <a:p>
          <a:endParaRPr lang="en-US"/>
        </a:p>
      </dgm:t>
    </dgm:pt>
    <dgm:pt modelId="{18E54566-6AD8-4574-8917-E4DCDDC46A3B}" type="pres">
      <dgm:prSet presAssocID="{BD6C40D6-45C4-4C55-9EE8-C872EDB582B2}" presName="sibTrans" presStyleCnt="0"/>
      <dgm:spPr/>
    </dgm:pt>
    <dgm:pt modelId="{C794B391-E741-4D25-B6D4-A218D106A5E9}" type="pres">
      <dgm:prSet presAssocID="{51C1D378-3858-4F2D-B2F5-1B1ACA66BCEA}" presName="node" presStyleLbl="node1" presStyleIdx="1" presStyleCnt="3">
        <dgm:presLayoutVars>
          <dgm:bulletEnabled val="1"/>
        </dgm:presLayoutVars>
      </dgm:prSet>
      <dgm:spPr/>
      <dgm:t>
        <a:bodyPr/>
        <a:lstStyle/>
        <a:p>
          <a:endParaRPr lang="en-US"/>
        </a:p>
      </dgm:t>
    </dgm:pt>
    <dgm:pt modelId="{0F8A5F8F-BA3B-4932-AEB4-31B148E99A34}" type="pres">
      <dgm:prSet presAssocID="{656EA2C2-3C20-4C83-A29E-B95E00E443ED}" presName="sibTrans" presStyleCnt="0"/>
      <dgm:spPr/>
    </dgm:pt>
    <dgm:pt modelId="{FCAD1536-5BAF-4122-917D-B385013434C1}" type="pres">
      <dgm:prSet presAssocID="{5E60D7D7-2E7B-4114-91C7-D34B59F802BC}" presName="node" presStyleLbl="node1" presStyleIdx="2" presStyleCnt="3">
        <dgm:presLayoutVars>
          <dgm:bulletEnabled val="1"/>
        </dgm:presLayoutVars>
      </dgm:prSet>
      <dgm:spPr/>
      <dgm:t>
        <a:bodyPr/>
        <a:lstStyle/>
        <a:p>
          <a:endParaRPr lang="en-US"/>
        </a:p>
      </dgm:t>
    </dgm:pt>
  </dgm:ptLst>
  <dgm:cxnLst>
    <dgm:cxn modelId="{1C50C860-E236-4E2D-8C2C-472359648FCF}" srcId="{823F0F42-6725-4E57-A978-2B435C2FA479}" destId="{51C1D378-3858-4F2D-B2F5-1B1ACA66BCEA}" srcOrd="1" destOrd="0" parTransId="{9F26712F-9872-404D-8E3D-BADBF8386DBD}" sibTransId="{656EA2C2-3C20-4C83-A29E-B95E00E443ED}"/>
    <dgm:cxn modelId="{C1C86211-A324-46FC-A445-38CA9DF2A0D0}" type="presOf" srcId="{51C1D378-3858-4F2D-B2F5-1B1ACA66BCEA}" destId="{C794B391-E741-4D25-B6D4-A218D106A5E9}" srcOrd="0" destOrd="0" presId="urn:microsoft.com/office/officeart/2005/8/layout/default"/>
    <dgm:cxn modelId="{C0D1EA06-F6A8-4634-B328-F7BB537E2606}" srcId="{823F0F42-6725-4E57-A978-2B435C2FA479}" destId="{6C70E3FF-984E-45FA-980F-F661AAF95FEE}" srcOrd="0" destOrd="0" parTransId="{E206E75E-5ACE-41EE-9831-EE5848BA1D67}" sibTransId="{BD6C40D6-45C4-4C55-9EE8-C872EDB582B2}"/>
    <dgm:cxn modelId="{41390B88-545F-4739-81A9-1EF2CF2789DB}" type="presOf" srcId="{6C70E3FF-984E-45FA-980F-F661AAF95FEE}" destId="{C2B6B048-82E2-49CD-8CAE-F1A44A77EC29}" srcOrd="0" destOrd="0" presId="urn:microsoft.com/office/officeart/2005/8/layout/default"/>
    <dgm:cxn modelId="{98A541E5-C6E7-449F-BF9A-64BF111F6F7D}" type="presOf" srcId="{823F0F42-6725-4E57-A978-2B435C2FA479}" destId="{FAA3EBF5-31B4-4322-A752-30FFBC8281F3}" srcOrd="0" destOrd="0" presId="urn:microsoft.com/office/officeart/2005/8/layout/default"/>
    <dgm:cxn modelId="{AF41BC0F-830A-4698-A04A-FBCBD86FEECE}" srcId="{823F0F42-6725-4E57-A978-2B435C2FA479}" destId="{5E60D7D7-2E7B-4114-91C7-D34B59F802BC}" srcOrd="2" destOrd="0" parTransId="{D6A314F7-2D17-4F0B-B0F8-2B014A1F3698}" sibTransId="{BF9A6D67-8FEC-45AC-AB7E-15543E2372D4}"/>
    <dgm:cxn modelId="{81DD80F5-5000-44E2-B93A-314214552F24}" type="presOf" srcId="{5E60D7D7-2E7B-4114-91C7-D34B59F802BC}" destId="{FCAD1536-5BAF-4122-917D-B385013434C1}" srcOrd="0" destOrd="0" presId="urn:microsoft.com/office/officeart/2005/8/layout/default"/>
    <dgm:cxn modelId="{50223E50-B2BE-46A6-B921-7870BEF80CA0}" type="presParOf" srcId="{FAA3EBF5-31B4-4322-A752-30FFBC8281F3}" destId="{C2B6B048-82E2-49CD-8CAE-F1A44A77EC29}" srcOrd="0" destOrd="0" presId="urn:microsoft.com/office/officeart/2005/8/layout/default"/>
    <dgm:cxn modelId="{0905343A-CDEF-437A-A212-1A9D1B8D377A}" type="presParOf" srcId="{FAA3EBF5-31B4-4322-A752-30FFBC8281F3}" destId="{18E54566-6AD8-4574-8917-E4DCDDC46A3B}" srcOrd="1" destOrd="0" presId="urn:microsoft.com/office/officeart/2005/8/layout/default"/>
    <dgm:cxn modelId="{767F05C9-9C99-45DD-8DFA-08BD58FA9AED}" type="presParOf" srcId="{FAA3EBF5-31B4-4322-A752-30FFBC8281F3}" destId="{C794B391-E741-4D25-B6D4-A218D106A5E9}" srcOrd="2" destOrd="0" presId="urn:microsoft.com/office/officeart/2005/8/layout/default"/>
    <dgm:cxn modelId="{EB0AA3CD-261B-4C2C-B172-8F8222089F38}" type="presParOf" srcId="{FAA3EBF5-31B4-4322-A752-30FFBC8281F3}" destId="{0F8A5F8F-BA3B-4932-AEB4-31B148E99A34}" srcOrd="3" destOrd="0" presId="urn:microsoft.com/office/officeart/2005/8/layout/default"/>
    <dgm:cxn modelId="{9EAEBFE1-CD87-443C-9F3A-E7785F743DFB}" type="presParOf" srcId="{FAA3EBF5-31B4-4322-A752-30FFBC8281F3}" destId="{FCAD1536-5BAF-4122-917D-B385013434C1}"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B2272A2-D432-47EA-9AC6-5B25B261D537}"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364F4BBA-D861-41BD-8B71-80F064A7CC74}">
      <dgm:prSet phldrT="[Text]"/>
      <dgm:spPr/>
      <dgm:t>
        <a:bodyPr/>
        <a:lstStyle/>
        <a:p>
          <a:r>
            <a:rPr lang="en-US" dirty="0" smtClean="0"/>
            <a:t>Webbing</a:t>
          </a:r>
          <a:endParaRPr lang="en-US" dirty="0"/>
        </a:p>
      </dgm:t>
    </dgm:pt>
    <dgm:pt modelId="{F5E0CF13-2AFC-4D6D-82C2-610C475C0186}" type="parTrans" cxnId="{4328DE60-AE2C-4FA3-83AD-2CF410D0B00B}">
      <dgm:prSet/>
      <dgm:spPr/>
      <dgm:t>
        <a:bodyPr/>
        <a:lstStyle/>
        <a:p>
          <a:endParaRPr lang="en-US"/>
        </a:p>
      </dgm:t>
    </dgm:pt>
    <dgm:pt modelId="{C44D6A5A-9B92-446A-9F5A-F9EDB374C8A5}" type="sibTrans" cxnId="{4328DE60-AE2C-4FA3-83AD-2CF410D0B00B}">
      <dgm:prSet/>
      <dgm:spPr/>
      <dgm:t>
        <a:bodyPr/>
        <a:lstStyle/>
        <a:p>
          <a:endParaRPr lang="en-US"/>
        </a:p>
      </dgm:t>
    </dgm:pt>
    <dgm:pt modelId="{D80B10E1-80DE-43A2-AC61-931FAF1406C6}">
      <dgm:prSet/>
      <dgm:spPr/>
      <dgm:t>
        <a:bodyPr/>
        <a:lstStyle/>
        <a:p>
          <a:r>
            <a:rPr lang="en-US" dirty="0" smtClean="0"/>
            <a:t>Series of events chain</a:t>
          </a:r>
          <a:endParaRPr lang="en-US" dirty="0"/>
        </a:p>
      </dgm:t>
    </dgm:pt>
    <dgm:pt modelId="{4BE38A6D-454F-416A-952C-3546796B5687}" type="parTrans" cxnId="{F814882E-E5A6-4950-ABC7-2E46D4A82232}">
      <dgm:prSet/>
      <dgm:spPr/>
      <dgm:t>
        <a:bodyPr/>
        <a:lstStyle/>
        <a:p>
          <a:endParaRPr lang="en-US"/>
        </a:p>
      </dgm:t>
    </dgm:pt>
    <dgm:pt modelId="{6A2492E1-D75F-4A46-B7D8-7F3E7D10D675}" type="sibTrans" cxnId="{F814882E-E5A6-4950-ABC7-2E46D4A82232}">
      <dgm:prSet/>
      <dgm:spPr/>
      <dgm:t>
        <a:bodyPr/>
        <a:lstStyle/>
        <a:p>
          <a:endParaRPr lang="en-US"/>
        </a:p>
      </dgm:t>
    </dgm:pt>
    <dgm:pt modelId="{F99F76E2-9FE2-4E78-990C-397019442F03}">
      <dgm:prSet/>
      <dgm:spPr/>
      <dgm:t>
        <a:bodyPr/>
        <a:lstStyle/>
        <a:p>
          <a:r>
            <a:rPr lang="en-US" dirty="0" smtClean="0"/>
            <a:t>Fishbone map</a:t>
          </a:r>
          <a:endParaRPr lang="en-US" dirty="0"/>
        </a:p>
      </dgm:t>
    </dgm:pt>
    <dgm:pt modelId="{7B853EEA-DF72-4C04-A46A-CEA0E5ED1957}" type="parTrans" cxnId="{D75D43AC-75BF-42C2-9934-1A8DCD228966}">
      <dgm:prSet/>
      <dgm:spPr/>
      <dgm:t>
        <a:bodyPr/>
        <a:lstStyle/>
        <a:p>
          <a:endParaRPr lang="en-US"/>
        </a:p>
      </dgm:t>
    </dgm:pt>
    <dgm:pt modelId="{E0B237C9-249D-4AE2-91C3-B19067D5A214}" type="sibTrans" cxnId="{D75D43AC-75BF-42C2-9934-1A8DCD228966}">
      <dgm:prSet/>
      <dgm:spPr/>
      <dgm:t>
        <a:bodyPr/>
        <a:lstStyle/>
        <a:p>
          <a:endParaRPr lang="en-US"/>
        </a:p>
      </dgm:t>
    </dgm:pt>
    <dgm:pt modelId="{A79D95C3-394F-4A0B-ABA3-EAC16DAE5883}">
      <dgm:prSet/>
      <dgm:spPr/>
      <dgm:t>
        <a:bodyPr/>
        <a:lstStyle/>
        <a:p>
          <a:r>
            <a:rPr lang="en-US" dirty="0" smtClean="0"/>
            <a:t>Charts</a:t>
          </a:r>
          <a:endParaRPr lang="en-US" dirty="0"/>
        </a:p>
      </dgm:t>
    </dgm:pt>
    <dgm:pt modelId="{B129538A-310C-4ED7-96B6-171620CDB681}" type="parTrans" cxnId="{B5735D51-D8FF-408D-8A44-1E58A25F5BBF}">
      <dgm:prSet/>
      <dgm:spPr/>
      <dgm:t>
        <a:bodyPr/>
        <a:lstStyle/>
        <a:p>
          <a:endParaRPr lang="en-US"/>
        </a:p>
      </dgm:t>
    </dgm:pt>
    <dgm:pt modelId="{6CD3A021-0461-480E-AC00-85EA1E4EC2CB}" type="sibTrans" cxnId="{B5735D51-D8FF-408D-8A44-1E58A25F5BBF}">
      <dgm:prSet/>
      <dgm:spPr/>
      <dgm:t>
        <a:bodyPr/>
        <a:lstStyle/>
        <a:p>
          <a:endParaRPr lang="en-US"/>
        </a:p>
      </dgm:t>
    </dgm:pt>
    <dgm:pt modelId="{A39A085F-351A-4A04-B751-A3F1E527D731}">
      <dgm:prSet/>
      <dgm:spPr/>
      <dgm:t>
        <a:bodyPr/>
        <a:lstStyle/>
        <a:p>
          <a:r>
            <a:rPr lang="en-US" dirty="0" smtClean="0"/>
            <a:t>Story maps</a:t>
          </a:r>
          <a:endParaRPr lang="en-US" dirty="0"/>
        </a:p>
      </dgm:t>
    </dgm:pt>
    <dgm:pt modelId="{A86C30AD-9286-4FA8-8BF0-9D50BEA61148}" type="parTrans" cxnId="{5DACBBD6-CE96-4FAA-A43D-EB86CC426393}">
      <dgm:prSet/>
      <dgm:spPr/>
      <dgm:t>
        <a:bodyPr/>
        <a:lstStyle/>
        <a:p>
          <a:endParaRPr lang="en-US"/>
        </a:p>
      </dgm:t>
    </dgm:pt>
    <dgm:pt modelId="{BAA5F4FF-DE79-404A-8C64-AE5970B874EB}" type="sibTrans" cxnId="{5DACBBD6-CE96-4FAA-A43D-EB86CC426393}">
      <dgm:prSet/>
      <dgm:spPr/>
      <dgm:t>
        <a:bodyPr/>
        <a:lstStyle/>
        <a:p>
          <a:endParaRPr lang="en-US"/>
        </a:p>
      </dgm:t>
    </dgm:pt>
    <dgm:pt modelId="{11864A0D-0D36-468F-AD96-A0BB0567445D}">
      <dgm:prSet/>
      <dgm:spPr/>
      <dgm:t>
        <a:bodyPr/>
        <a:lstStyle/>
        <a:p>
          <a:r>
            <a:rPr lang="en-US" smtClean="0"/>
            <a:t>Cause and effect diagrams</a:t>
          </a:r>
          <a:endParaRPr lang="en-US"/>
        </a:p>
      </dgm:t>
    </dgm:pt>
    <dgm:pt modelId="{5AC86F81-E1B2-4E9B-B111-F3EFC8A12F53}" type="parTrans" cxnId="{EF86A872-F0ED-4B16-A479-FFB9058316C6}">
      <dgm:prSet/>
      <dgm:spPr/>
      <dgm:t>
        <a:bodyPr/>
        <a:lstStyle/>
        <a:p>
          <a:endParaRPr lang="en-US"/>
        </a:p>
      </dgm:t>
    </dgm:pt>
    <dgm:pt modelId="{5AC150ED-3BE1-4796-9AF3-753C46BF49B3}" type="sibTrans" cxnId="{EF86A872-F0ED-4B16-A479-FFB9058316C6}">
      <dgm:prSet/>
      <dgm:spPr/>
      <dgm:t>
        <a:bodyPr/>
        <a:lstStyle/>
        <a:p>
          <a:endParaRPr lang="en-US"/>
        </a:p>
      </dgm:t>
    </dgm:pt>
    <dgm:pt modelId="{447214AF-5F77-4107-9649-596114B40F44}">
      <dgm:prSet/>
      <dgm:spPr/>
      <dgm:t>
        <a:bodyPr/>
        <a:lstStyle/>
        <a:p>
          <a:r>
            <a:rPr lang="en-US" smtClean="0"/>
            <a:t>Timelines</a:t>
          </a:r>
          <a:endParaRPr lang="en-US"/>
        </a:p>
      </dgm:t>
    </dgm:pt>
    <dgm:pt modelId="{A4927421-9936-4066-9418-314B3DFC3033}" type="parTrans" cxnId="{26132481-3D58-4989-B657-8CD8A941C4F4}">
      <dgm:prSet/>
      <dgm:spPr/>
      <dgm:t>
        <a:bodyPr/>
        <a:lstStyle/>
        <a:p>
          <a:endParaRPr lang="en-US"/>
        </a:p>
      </dgm:t>
    </dgm:pt>
    <dgm:pt modelId="{55708CC5-ED33-4233-84F4-E8F0996AED9B}" type="sibTrans" cxnId="{26132481-3D58-4989-B657-8CD8A941C4F4}">
      <dgm:prSet/>
      <dgm:spPr/>
      <dgm:t>
        <a:bodyPr/>
        <a:lstStyle/>
        <a:p>
          <a:endParaRPr lang="en-US"/>
        </a:p>
      </dgm:t>
    </dgm:pt>
    <dgm:pt modelId="{62FD1228-AD5A-472B-8FEC-799DB80F6677}">
      <dgm:prSet/>
      <dgm:spPr/>
      <dgm:t>
        <a:bodyPr/>
        <a:lstStyle/>
        <a:p>
          <a:r>
            <a:rPr lang="en-US" dirty="0" smtClean="0"/>
            <a:t>Flowcharts</a:t>
          </a:r>
          <a:endParaRPr lang="en-US" dirty="0"/>
        </a:p>
      </dgm:t>
    </dgm:pt>
    <dgm:pt modelId="{0C4DBF0A-12DE-4389-8E06-6581F759F2C4}" type="parTrans" cxnId="{170072FC-2655-44F3-8898-3251FBDA45C5}">
      <dgm:prSet/>
      <dgm:spPr/>
      <dgm:t>
        <a:bodyPr/>
        <a:lstStyle/>
        <a:p>
          <a:endParaRPr lang="en-US"/>
        </a:p>
      </dgm:t>
    </dgm:pt>
    <dgm:pt modelId="{50B7770E-C9ED-41A9-979E-C063845E29D8}" type="sibTrans" cxnId="{170072FC-2655-44F3-8898-3251FBDA45C5}">
      <dgm:prSet/>
      <dgm:spPr/>
      <dgm:t>
        <a:bodyPr/>
        <a:lstStyle/>
        <a:p>
          <a:endParaRPr lang="en-US"/>
        </a:p>
      </dgm:t>
    </dgm:pt>
    <dgm:pt modelId="{7C1616CC-8AB3-4865-B25B-E746B12391F0}">
      <dgm:prSet/>
      <dgm:spPr/>
      <dgm:t>
        <a:bodyPr/>
        <a:lstStyle/>
        <a:p>
          <a:r>
            <a:rPr lang="en-US" dirty="0" smtClean="0"/>
            <a:t>Venn diagrams</a:t>
          </a:r>
          <a:endParaRPr lang="en-US" dirty="0"/>
        </a:p>
      </dgm:t>
    </dgm:pt>
    <dgm:pt modelId="{EFAF6C85-A183-402F-8194-162B21843978}" type="parTrans" cxnId="{4F48560E-49AE-453F-9D9F-A6439B98E3D9}">
      <dgm:prSet/>
      <dgm:spPr/>
      <dgm:t>
        <a:bodyPr/>
        <a:lstStyle/>
        <a:p>
          <a:endParaRPr lang="en-US"/>
        </a:p>
      </dgm:t>
    </dgm:pt>
    <dgm:pt modelId="{E7325E58-704D-45E4-BDC1-A5309A31F85D}" type="sibTrans" cxnId="{4F48560E-49AE-453F-9D9F-A6439B98E3D9}">
      <dgm:prSet/>
      <dgm:spPr/>
      <dgm:t>
        <a:bodyPr/>
        <a:lstStyle/>
        <a:p>
          <a:endParaRPr lang="en-US"/>
        </a:p>
      </dgm:t>
    </dgm:pt>
    <dgm:pt modelId="{DB2397E1-8430-43C3-8F0F-2C825F30034C}" type="pres">
      <dgm:prSet presAssocID="{9B2272A2-D432-47EA-9AC6-5B25B261D537}" presName="diagram" presStyleCnt="0">
        <dgm:presLayoutVars>
          <dgm:dir/>
          <dgm:resizeHandles val="exact"/>
        </dgm:presLayoutVars>
      </dgm:prSet>
      <dgm:spPr/>
      <dgm:t>
        <a:bodyPr/>
        <a:lstStyle/>
        <a:p>
          <a:endParaRPr lang="en-US"/>
        </a:p>
      </dgm:t>
    </dgm:pt>
    <dgm:pt modelId="{C9744EEE-F7E4-4FD6-82B3-3F31DEBE539C}" type="pres">
      <dgm:prSet presAssocID="{62FD1228-AD5A-472B-8FEC-799DB80F6677}" presName="node" presStyleLbl="node1" presStyleIdx="0" presStyleCnt="9">
        <dgm:presLayoutVars>
          <dgm:bulletEnabled val="1"/>
        </dgm:presLayoutVars>
      </dgm:prSet>
      <dgm:spPr/>
      <dgm:t>
        <a:bodyPr/>
        <a:lstStyle/>
        <a:p>
          <a:endParaRPr lang="en-US"/>
        </a:p>
      </dgm:t>
    </dgm:pt>
    <dgm:pt modelId="{27045AD8-B74F-4385-9088-40A39DADFB6F}" type="pres">
      <dgm:prSet presAssocID="{50B7770E-C9ED-41A9-979E-C063845E29D8}" presName="sibTrans" presStyleCnt="0"/>
      <dgm:spPr/>
    </dgm:pt>
    <dgm:pt modelId="{F6C74CEF-731F-4BEC-9BD5-CEC62AEFB5C1}" type="pres">
      <dgm:prSet presAssocID="{D80B10E1-80DE-43A2-AC61-931FAF1406C6}" presName="node" presStyleLbl="node1" presStyleIdx="1" presStyleCnt="9">
        <dgm:presLayoutVars>
          <dgm:bulletEnabled val="1"/>
        </dgm:presLayoutVars>
      </dgm:prSet>
      <dgm:spPr/>
      <dgm:t>
        <a:bodyPr/>
        <a:lstStyle/>
        <a:p>
          <a:endParaRPr lang="en-US"/>
        </a:p>
      </dgm:t>
    </dgm:pt>
    <dgm:pt modelId="{19210ECD-ECB5-4479-9505-F38816D92C63}" type="pres">
      <dgm:prSet presAssocID="{6A2492E1-D75F-4A46-B7D8-7F3E7D10D675}" presName="sibTrans" presStyleCnt="0"/>
      <dgm:spPr/>
    </dgm:pt>
    <dgm:pt modelId="{8AF84390-2279-4AAD-84F9-A5A71418E99E}" type="pres">
      <dgm:prSet presAssocID="{A39A085F-351A-4A04-B751-A3F1E527D731}" presName="node" presStyleLbl="node1" presStyleIdx="2" presStyleCnt="9">
        <dgm:presLayoutVars>
          <dgm:bulletEnabled val="1"/>
        </dgm:presLayoutVars>
      </dgm:prSet>
      <dgm:spPr/>
      <dgm:t>
        <a:bodyPr/>
        <a:lstStyle/>
        <a:p>
          <a:endParaRPr lang="en-US"/>
        </a:p>
      </dgm:t>
    </dgm:pt>
    <dgm:pt modelId="{D36051B7-DFEF-476A-9F29-38B2DC632EBB}" type="pres">
      <dgm:prSet presAssocID="{BAA5F4FF-DE79-404A-8C64-AE5970B874EB}" presName="sibTrans" presStyleCnt="0"/>
      <dgm:spPr/>
    </dgm:pt>
    <dgm:pt modelId="{AD80D9C5-5CA0-43DC-84DF-C6E81F70690D}" type="pres">
      <dgm:prSet presAssocID="{A79D95C3-394F-4A0B-ABA3-EAC16DAE5883}" presName="node" presStyleLbl="node1" presStyleIdx="3" presStyleCnt="9">
        <dgm:presLayoutVars>
          <dgm:bulletEnabled val="1"/>
        </dgm:presLayoutVars>
      </dgm:prSet>
      <dgm:spPr/>
      <dgm:t>
        <a:bodyPr/>
        <a:lstStyle/>
        <a:p>
          <a:endParaRPr lang="en-US"/>
        </a:p>
      </dgm:t>
    </dgm:pt>
    <dgm:pt modelId="{2941D033-370D-405F-A435-C0C1EC1CB982}" type="pres">
      <dgm:prSet presAssocID="{6CD3A021-0461-480E-AC00-85EA1E4EC2CB}" presName="sibTrans" presStyleCnt="0"/>
      <dgm:spPr/>
    </dgm:pt>
    <dgm:pt modelId="{AA0E2303-3664-40C9-8507-45058F374965}" type="pres">
      <dgm:prSet presAssocID="{F99F76E2-9FE2-4E78-990C-397019442F03}" presName="node" presStyleLbl="node1" presStyleIdx="4" presStyleCnt="9">
        <dgm:presLayoutVars>
          <dgm:bulletEnabled val="1"/>
        </dgm:presLayoutVars>
      </dgm:prSet>
      <dgm:spPr/>
      <dgm:t>
        <a:bodyPr/>
        <a:lstStyle/>
        <a:p>
          <a:endParaRPr lang="en-US"/>
        </a:p>
      </dgm:t>
    </dgm:pt>
    <dgm:pt modelId="{3EBA86D4-7823-4466-8341-F1041EE38AA0}" type="pres">
      <dgm:prSet presAssocID="{E0B237C9-249D-4AE2-91C3-B19067D5A214}" presName="sibTrans" presStyleCnt="0"/>
      <dgm:spPr/>
    </dgm:pt>
    <dgm:pt modelId="{D7F2A676-74E6-4DD3-BC00-EC8A3B153E64}" type="pres">
      <dgm:prSet presAssocID="{11864A0D-0D36-468F-AD96-A0BB0567445D}" presName="node" presStyleLbl="node1" presStyleIdx="5" presStyleCnt="9">
        <dgm:presLayoutVars>
          <dgm:bulletEnabled val="1"/>
        </dgm:presLayoutVars>
      </dgm:prSet>
      <dgm:spPr/>
      <dgm:t>
        <a:bodyPr/>
        <a:lstStyle/>
        <a:p>
          <a:endParaRPr lang="en-US"/>
        </a:p>
      </dgm:t>
    </dgm:pt>
    <dgm:pt modelId="{7B545184-3357-44AF-9323-F6FBF44D2DDE}" type="pres">
      <dgm:prSet presAssocID="{5AC150ED-3BE1-4796-9AF3-753C46BF49B3}" presName="sibTrans" presStyleCnt="0"/>
      <dgm:spPr/>
    </dgm:pt>
    <dgm:pt modelId="{1A5B3E1C-4934-444B-A05F-88F7EBC4628E}" type="pres">
      <dgm:prSet presAssocID="{364F4BBA-D861-41BD-8B71-80F064A7CC74}" presName="node" presStyleLbl="node1" presStyleIdx="6" presStyleCnt="9">
        <dgm:presLayoutVars>
          <dgm:bulletEnabled val="1"/>
        </dgm:presLayoutVars>
      </dgm:prSet>
      <dgm:spPr/>
      <dgm:t>
        <a:bodyPr/>
        <a:lstStyle/>
        <a:p>
          <a:endParaRPr lang="en-US"/>
        </a:p>
      </dgm:t>
    </dgm:pt>
    <dgm:pt modelId="{D3E4D821-3704-427D-B163-613F2A13587E}" type="pres">
      <dgm:prSet presAssocID="{C44D6A5A-9B92-446A-9F5A-F9EDB374C8A5}" presName="sibTrans" presStyleCnt="0"/>
      <dgm:spPr/>
    </dgm:pt>
    <dgm:pt modelId="{92A1414E-8D70-44A5-9758-319DDF0C52B0}" type="pres">
      <dgm:prSet presAssocID="{447214AF-5F77-4107-9649-596114B40F44}" presName="node" presStyleLbl="node1" presStyleIdx="7" presStyleCnt="9">
        <dgm:presLayoutVars>
          <dgm:bulletEnabled val="1"/>
        </dgm:presLayoutVars>
      </dgm:prSet>
      <dgm:spPr/>
      <dgm:t>
        <a:bodyPr/>
        <a:lstStyle/>
        <a:p>
          <a:endParaRPr lang="en-US"/>
        </a:p>
      </dgm:t>
    </dgm:pt>
    <dgm:pt modelId="{E7D1ED01-2BD6-486D-B892-419AF8E3C614}" type="pres">
      <dgm:prSet presAssocID="{55708CC5-ED33-4233-84F4-E8F0996AED9B}" presName="sibTrans" presStyleCnt="0"/>
      <dgm:spPr/>
    </dgm:pt>
    <dgm:pt modelId="{EDCD67E3-850E-4F53-B356-6FA1E2B5F265}" type="pres">
      <dgm:prSet presAssocID="{7C1616CC-8AB3-4865-B25B-E746B12391F0}" presName="node" presStyleLbl="node1" presStyleIdx="8" presStyleCnt="9">
        <dgm:presLayoutVars>
          <dgm:bulletEnabled val="1"/>
        </dgm:presLayoutVars>
      </dgm:prSet>
      <dgm:spPr/>
      <dgm:t>
        <a:bodyPr/>
        <a:lstStyle/>
        <a:p>
          <a:endParaRPr lang="en-US"/>
        </a:p>
      </dgm:t>
    </dgm:pt>
  </dgm:ptLst>
  <dgm:cxnLst>
    <dgm:cxn modelId="{27BFBBAF-29BF-44ED-8E19-479FCF9BC83C}" type="presOf" srcId="{364F4BBA-D861-41BD-8B71-80F064A7CC74}" destId="{1A5B3E1C-4934-444B-A05F-88F7EBC4628E}" srcOrd="0" destOrd="0" presId="urn:microsoft.com/office/officeart/2005/8/layout/default"/>
    <dgm:cxn modelId="{D75D43AC-75BF-42C2-9934-1A8DCD228966}" srcId="{9B2272A2-D432-47EA-9AC6-5B25B261D537}" destId="{F99F76E2-9FE2-4E78-990C-397019442F03}" srcOrd="4" destOrd="0" parTransId="{7B853EEA-DF72-4C04-A46A-CEA0E5ED1957}" sibTransId="{E0B237C9-249D-4AE2-91C3-B19067D5A214}"/>
    <dgm:cxn modelId="{5DACBBD6-CE96-4FAA-A43D-EB86CC426393}" srcId="{9B2272A2-D432-47EA-9AC6-5B25B261D537}" destId="{A39A085F-351A-4A04-B751-A3F1E527D731}" srcOrd="2" destOrd="0" parTransId="{A86C30AD-9286-4FA8-8BF0-9D50BEA61148}" sibTransId="{BAA5F4FF-DE79-404A-8C64-AE5970B874EB}"/>
    <dgm:cxn modelId="{405F9FFF-2A79-4B1C-AC41-19D1D80398D8}" type="presOf" srcId="{A79D95C3-394F-4A0B-ABA3-EAC16DAE5883}" destId="{AD80D9C5-5CA0-43DC-84DF-C6E81F70690D}" srcOrd="0" destOrd="0" presId="urn:microsoft.com/office/officeart/2005/8/layout/default"/>
    <dgm:cxn modelId="{1418593A-8E26-44C5-8359-748FD699F68B}" type="presOf" srcId="{447214AF-5F77-4107-9649-596114B40F44}" destId="{92A1414E-8D70-44A5-9758-319DDF0C52B0}" srcOrd="0" destOrd="0" presId="urn:microsoft.com/office/officeart/2005/8/layout/default"/>
    <dgm:cxn modelId="{496E7213-7691-4FF5-BA04-3877B23A2B0B}" type="presOf" srcId="{11864A0D-0D36-468F-AD96-A0BB0567445D}" destId="{D7F2A676-74E6-4DD3-BC00-EC8A3B153E64}" srcOrd="0" destOrd="0" presId="urn:microsoft.com/office/officeart/2005/8/layout/default"/>
    <dgm:cxn modelId="{26132481-3D58-4989-B657-8CD8A941C4F4}" srcId="{9B2272A2-D432-47EA-9AC6-5B25B261D537}" destId="{447214AF-5F77-4107-9649-596114B40F44}" srcOrd="7" destOrd="0" parTransId="{A4927421-9936-4066-9418-314B3DFC3033}" sibTransId="{55708CC5-ED33-4233-84F4-E8F0996AED9B}"/>
    <dgm:cxn modelId="{4328DE60-AE2C-4FA3-83AD-2CF410D0B00B}" srcId="{9B2272A2-D432-47EA-9AC6-5B25B261D537}" destId="{364F4BBA-D861-41BD-8B71-80F064A7CC74}" srcOrd="6" destOrd="0" parTransId="{F5E0CF13-2AFC-4D6D-82C2-610C475C0186}" sibTransId="{C44D6A5A-9B92-446A-9F5A-F9EDB374C8A5}"/>
    <dgm:cxn modelId="{170072FC-2655-44F3-8898-3251FBDA45C5}" srcId="{9B2272A2-D432-47EA-9AC6-5B25B261D537}" destId="{62FD1228-AD5A-472B-8FEC-799DB80F6677}" srcOrd="0" destOrd="0" parTransId="{0C4DBF0A-12DE-4389-8E06-6581F759F2C4}" sibTransId="{50B7770E-C9ED-41A9-979E-C063845E29D8}"/>
    <dgm:cxn modelId="{8E64CA10-D1DB-4C4D-B4B5-384C44D5F375}" type="presOf" srcId="{62FD1228-AD5A-472B-8FEC-799DB80F6677}" destId="{C9744EEE-F7E4-4FD6-82B3-3F31DEBE539C}" srcOrd="0" destOrd="0" presId="urn:microsoft.com/office/officeart/2005/8/layout/default"/>
    <dgm:cxn modelId="{8787B732-5ABC-47F1-A0AC-C9A4E5E4AAB3}" type="presOf" srcId="{7C1616CC-8AB3-4865-B25B-E746B12391F0}" destId="{EDCD67E3-850E-4F53-B356-6FA1E2B5F265}" srcOrd="0" destOrd="0" presId="urn:microsoft.com/office/officeart/2005/8/layout/default"/>
    <dgm:cxn modelId="{F814882E-E5A6-4950-ABC7-2E46D4A82232}" srcId="{9B2272A2-D432-47EA-9AC6-5B25B261D537}" destId="{D80B10E1-80DE-43A2-AC61-931FAF1406C6}" srcOrd="1" destOrd="0" parTransId="{4BE38A6D-454F-416A-952C-3546796B5687}" sibTransId="{6A2492E1-D75F-4A46-B7D8-7F3E7D10D675}"/>
    <dgm:cxn modelId="{EF86A872-F0ED-4B16-A479-FFB9058316C6}" srcId="{9B2272A2-D432-47EA-9AC6-5B25B261D537}" destId="{11864A0D-0D36-468F-AD96-A0BB0567445D}" srcOrd="5" destOrd="0" parTransId="{5AC86F81-E1B2-4E9B-B111-F3EFC8A12F53}" sibTransId="{5AC150ED-3BE1-4796-9AF3-753C46BF49B3}"/>
    <dgm:cxn modelId="{B5735D51-D8FF-408D-8A44-1E58A25F5BBF}" srcId="{9B2272A2-D432-47EA-9AC6-5B25B261D537}" destId="{A79D95C3-394F-4A0B-ABA3-EAC16DAE5883}" srcOrd="3" destOrd="0" parTransId="{B129538A-310C-4ED7-96B6-171620CDB681}" sibTransId="{6CD3A021-0461-480E-AC00-85EA1E4EC2CB}"/>
    <dgm:cxn modelId="{4F48560E-49AE-453F-9D9F-A6439B98E3D9}" srcId="{9B2272A2-D432-47EA-9AC6-5B25B261D537}" destId="{7C1616CC-8AB3-4865-B25B-E746B12391F0}" srcOrd="8" destOrd="0" parTransId="{EFAF6C85-A183-402F-8194-162B21843978}" sibTransId="{E7325E58-704D-45E4-BDC1-A5309A31F85D}"/>
    <dgm:cxn modelId="{BB1ED1D2-69DC-4A27-9FFB-8848DE4397F8}" type="presOf" srcId="{A39A085F-351A-4A04-B751-A3F1E527D731}" destId="{8AF84390-2279-4AAD-84F9-A5A71418E99E}" srcOrd="0" destOrd="0" presId="urn:microsoft.com/office/officeart/2005/8/layout/default"/>
    <dgm:cxn modelId="{DE7A1853-4363-4B9C-B6E5-9E5CF1F60B3D}" type="presOf" srcId="{F99F76E2-9FE2-4E78-990C-397019442F03}" destId="{AA0E2303-3664-40C9-8507-45058F374965}" srcOrd="0" destOrd="0" presId="urn:microsoft.com/office/officeart/2005/8/layout/default"/>
    <dgm:cxn modelId="{20837949-07C5-4E7D-99A3-74E69D81672A}" type="presOf" srcId="{9B2272A2-D432-47EA-9AC6-5B25B261D537}" destId="{DB2397E1-8430-43C3-8F0F-2C825F30034C}" srcOrd="0" destOrd="0" presId="urn:microsoft.com/office/officeart/2005/8/layout/default"/>
    <dgm:cxn modelId="{EAAD758C-D25D-42C1-99D6-281D6B72C7B1}" type="presOf" srcId="{D80B10E1-80DE-43A2-AC61-931FAF1406C6}" destId="{F6C74CEF-731F-4BEC-9BD5-CEC62AEFB5C1}" srcOrd="0" destOrd="0" presId="urn:microsoft.com/office/officeart/2005/8/layout/default"/>
    <dgm:cxn modelId="{E75AE472-5C3C-4293-87F6-8473036D7E38}" type="presParOf" srcId="{DB2397E1-8430-43C3-8F0F-2C825F30034C}" destId="{C9744EEE-F7E4-4FD6-82B3-3F31DEBE539C}" srcOrd="0" destOrd="0" presId="urn:microsoft.com/office/officeart/2005/8/layout/default"/>
    <dgm:cxn modelId="{D9761160-811B-4B5F-AF59-DBC16F12D0A1}" type="presParOf" srcId="{DB2397E1-8430-43C3-8F0F-2C825F30034C}" destId="{27045AD8-B74F-4385-9088-40A39DADFB6F}" srcOrd="1" destOrd="0" presId="urn:microsoft.com/office/officeart/2005/8/layout/default"/>
    <dgm:cxn modelId="{1EE19C12-1904-4B7D-91C2-5D2550A4A8A7}" type="presParOf" srcId="{DB2397E1-8430-43C3-8F0F-2C825F30034C}" destId="{F6C74CEF-731F-4BEC-9BD5-CEC62AEFB5C1}" srcOrd="2" destOrd="0" presId="urn:microsoft.com/office/officeart/2005/8/layout/default"/>
    <dgm:cxn modelId="{03461A50-43ED-49DD-948C-817E94E5A981}" type="presParOf" srcId="{DB2397E1-8430-43C3-8F0F-2C825F30034C}" destId="{19210ECD-ECB5-4479-9505-F38816D92C63}" srcOrd="3" destOrd="0" presId="urn:microsoft.com/office/officeart/2005/8/layout/default"/>
    <dgm:cxn modelId="{107B657B-72AC-491F-98D3-6F4A7E2FEFD8}" type="presParOf" srcId="{DB2397E1-8430-43C3-8F0F-2C825F30034C}" destId="{8AF84390-2279-4AAD-84F9-A5A71418E99E}" srcOrd="4" destOrd="0" presId="urn:microsoft.com/office/officeart/2005/8/layout/default"/>
    <dgm:cxn modelId="{1DC2D72C-48D0-442F-9F18-78649DCE22B2}" type="presParOf" srcId="{DB2397E1-8430-43C3-8F0F-2C825F30034C}" destId="{D36051B7-DFEF-476A-9F29-38B2DC632EBB}" srcOrd="5" destOrd="0" presId="urn:microsoft.com/office/officeart/2005/8/layout/default"/>
    <dgm:cxn modelId="{196C9493-DE59-443D-89CD-4D4A87AA688E}" type="presParOf" srcId="{DB2397E1-8430-43C3-8F0F-2C825F30034C}" destId="{AD80D9C5-5CA0-43DC-84DF-C6E81F70690D}" srcOrd="6" destOrd="0" presId="urn:microsoft.com/office/officeart/2005/8/layout/default"/>
    <dgm:cxn modelId="{F009465A-2257-4331-AFDC-CD26C59B5FFF}" type="presParOf" srcId="{DB2397E1-8430-43C3-8F0F-2C825F30034C}" destId="{2941D033-370D-405F-A435-C0C1EC1CB982}" srcOrd="7" destOrd="0" presId="urn:microsoft.com/office/officeart/2005/8/layout/default"/>
    <dgm:cxn modelId="{BD78D30F-4D6B-4318-A81B-8F8305D6DF89}" type="presParOf" srcId="{DB2397E1-8430-43C3-8F0F-2C825F30034C}" destId="{AA0E2303-3664-40C9-8507-45058F374965}" srcOrd="8" destOrd="0" presId="urn:microsoft.com/office/officeart/2005/8/layout/default"/>
    <dgm:cxn modelId="{27ED1FBF-5BDD-4615-98CB-B02A97AECBE9}" type="presParOf" srcId="{DB2397E1-8430-43C3-8F0F-2C825F30034C}" destId="{3EBA86D4-7823-4466-8341-F1041EE38AA0}" srcOrd="9" destOrd="0" presId="urn:microsoft.com/office/officeart/2005/8/layout/default"/>
    <dgm:cxn modelId="{2574AEE2-2B13-43EF-AA5E-B0801B811E12}" type="presParOf" srcId="{DB2397E1-8430-43C3-8F0F-2C825F30034C}" destId="{D7F2A676-74E6-4DD3-BC00-EC8A3B153E64}" srcOrd="10" destOrd="0" presId="urn:microsoft.com/office/officeart/2005/8/layout/default"/>
    <dgm:cxn modelId="{245A3581-35A8-424C-B672-8ACB868124C4}" type="presParOf" srcId="{DB2397E1-8430-43C3-8F0F-2C825F30034C}" destId="{7B545184-3357-44AF-9323-F6FBF44D2DDE}" srcOrd="11" destOrd="0" presId="urn:microsoft.com/office/officeart/2005/8/layout/default"/>
    <dgm:cxn modelId="{C464F709-F814-4D8F-8D2F-E1866FCE4050}" type="presParOf" srcId="{DB2397E1-8430-43C3-8F0F-2C825F30034C}" destId="{1A5B3E1C-4934-444B-A05F-88F7EBC4628E}" srcOrd="12" destOrd="0" presId="urn:microsoft.com/office/officeart/2005/8/layout/default"/>
    <dgm:cxn modelId="{3F02075E-DF86-4122-AE4E-FC079D55CF17}" type="presParOf" srcId="{DB2397E1-8430-43C3-8F0F-2C825F30034C}" destId="{D3E4D821-3704-427D-B163-613F2A13587E}" srcOrd="13" destOrd="0" presId="urn:microsoft.com/office/officeart/2005/8/layout/default"/>
    <dgm:cxn modelId="{C74CC35B-4258-485A-A31D-79957C4967C2}" type="presParOf" srcId="{DB2397E1-8430-43C3-8F0F-2C825F30034C}" destId="{92A1414E-8D70-44A5-9758-319DDF0C52B0}" srcOrd="14" destOrd="0" presId="urn:microsoft.com/office/officeart/2005/8/layout/default"/>
    <dgm:cxn modelId="{A27D688F-8893-4E70-A471-311A5A512B46}" type="presParOf" srcId="{DB2397E1-8430-43C3-8F0F-2C825F30034C}" destId="{E7D1ED01-2BD6-486D-B892-419AF8E3C614}" srcOrd="15" destOrd="0" presId="urn:microsoft.com/office/officeart/2005/8/layout/default"/>
    <dgm:cxn modelId="{461B8782-FC91-4D33-9ECA-0531F55BFDBA}" type="presParOf" srcId="{DB2397E1-8430-43C3-8F0F-2C825F30034C}" destId="{EDCD67E3-850E-4F53-B356-6FA1E2B5F265}" srcOrd="1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5075CF-1D8A-43C4-A431-4FEDF46BACCF}">
      <dsp:nvSpPr>
        <dsp:cNvPr id="0" name=""/>
        <dsp:cNvSpPr/>
      </dsp:nvSpPr>
      <dsp:spPr>
        <a:xfrm>
          <a:off x="2976" y="1977737"/>
          <a:ext cx="2649140" cy="1059656"/>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lvl="0" algn="ctr" defTabSz="889000">
            <a:lnSpc>
              <a:spcPct val="90000"/>
            </a:lnSpc>
            <a:spcBef>
              <a:spcPct val="0"/>
            </a:spcBef>
            <a:spcAft>
              <a:spcPct val="35000"/>
            </a:spcAft>
          </a:pPr>
          <a:r>
            <a:rPr lang="en-US" sz="2000" kern="1200" dirty="0" smtClean="0"/>
            <a:t>Brainstorming </a:t>
          </a:r>
          <a:endParaRPr lang="en-US" sz="2000" kern="1200" dirty="0"/>
        </a:p>
      </dsp:txBody>
      <dsp:txXfrm>
        <a:off x="532804" y="1977737"/>
        <a:ext cx="1589484" cy="1059656"/>
      </dsp:txXfrm>
    </dsp:sp>
    <dsp:sp modelId="{A4C0AACA-F963-4D9E-B6DE-A31F02DC290E}">
      <dsp:nvSpPr>
        <dsp:cNvPr id="0" name=""/>
        <dsp:cNvSpPr/>
      </dsp:nvSpPr>
      <dsp:spPr>
        <a:xfrm>
          <a:off x="2387202" y="1977737"/>
          <a:ext cx="2649140" cy="1059656"/>
        </a:xfrm>
        <a:prstGeom prst="chevron">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lvl="0" algn="ctr" defTabSz="889000">
            <a:lnSpc>
              <a:spcPct val="90000"/>
            </a:lnSpc>
            <a:spcBef>
              <a:spcPct val="0"/>
            </a:spcBef>
            <a:spcAft>
              <a:spcPct val="35000"/>
            </a:spcAft>
          </a:pPr>
          <a:r>
            <a:rPr lang="en-US" sz="2000" kern="1200" dirty="0" smtClean="0"/>
            <a:t>Outlining </a:t>
          </a:r>
          <a:endParaRPr lang="en-US" sz="2000" kern="1200" dirty="0"/>
        </a:p>
      </dsp:txBody>
      <dsp:txXfrm>
        <a:off x="2917030" y="1977737"/>
        <a:ext cx="1589484" cy="1059656"/>
      </dsp:txXfrm>
    </dsp:sp>
    <dsp:sp modelId="{C699548B-6BFC-4639-BB79-932922CD17D8}">
      <dsp:nvSpPr>
        <dsp:cNvPr id="0" name=""/>
        <dsp:cNvSpPr/>
      </dsp:nvSpPr>
      <dsp:spPr>
        <a:xfrm>
          <a:off x="4771429" y="1977737"/>
          <a:ext cx="2649140" cy="1059656"/>
        </a:xfrm>
        <a:prstGeom prst="chevron">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lvl="0" algn="ctr" defTabSz="889000">
            <a:lnSpc>
              <a:spcPct val="90000"/>
            </a:lnSpc>
            <a:spcBef>
              <a:spcPct val="0"/>
            </a:spcBef>
            <a:spcAft>
              <a:spcPct val="35000"/>
            </a:spcAft>
          </a:pPr>
          <a:r>
            <a:rPr lang="en-US" sz="2000" kern="1200" dirty="0" smtClean="0"/>
            <a:t>Rough Draft </a:t>
          </a:r>
          <a:endParaRPr lang="en-US" sz="2000" kern="1200" dirty="0"/>
        </a:p>
      </dsp:txBody>
      <dsp:txXfrm>
        <a:off x="5301257" y="1977737"/>
        <a:ext cx="1589484" cy="1059656"/>
      </dsp:txXfrm>
    </dsp:sp>
    <dsp:sp modelId="{E0421E0E-0B6B-44E9-9F20-4BC13C016E87}">
      <dsp:nvSpPr>
        <dsp:cNvPr id="0" name=""/>
        <dsp:cNvSpPr/>
      </dsp:nvSpPr>
      <dsp:spPr>
        <a:xfrm>
          <a:off x="7155655" y="1977737"/>
          <a:ext cx="2649140" cy="1059656"/>
        </a:xfrm>
        <a:prstGeom prst="chevron">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lvl="0" algn="ctr" defTabSz="889000">
            <a:lnSpc>
              <a:spcPct val="90000"/>
            </a:lnSpc>
            <a:spcBef>
              <a:spcPct val="0"/>
            </a:spcBef>
            <a:spcAft>
              <a:spcPct val="35000"/>
            </a:spcAft>
          </a:pPr>
          <a:r>
            <a:rPr lang="en-US" sz="2000" kern="1200" dirty="0" smtClean="0"/>
            <a:t>Revising </a:t>
          </a:r>
          <a:endParaRPr lang="en-US" sz="2000" kern="1200" dirty="0"/>
        </a:p>
      </dsp:txBody>
      <dsp:txXfrm>
        <a:off x="7685483" y="1977737"/>
        <a:ext cx="1589484" cy="1059656"/>
      </dsp:txXfrm>
    </dsp:sp>
    <dsp:sp modelId="{45FF5A10-8A15-45D9-8412-38BEDEE67F7B}">
      <dsp:nvSpPr>
        <dsp:cNvPr id="0" name=""/>
        <dsp:cNvSpPr/>
      </dsp:nvSpPr>
      <dsp:spPr>
        <a:xfrm>
          <a:off x="9539882" y="1977737"/>
          <a:ext cx="2649140" cy="1059656"/>
        </a:xfrm>
        <a:prstGeom prst="chevron">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lvl="0" algn="ctr" defTabSz="889000">
            <a:lnSpc>
              <a:spcPct val="90000"/>
            </a:lnSpc>
            <a:spcBef>
              <a:spcPct val="0"/>
            </a:spcBef>
            <a:spcAft>
              <a:spcPct val="35000"/>
            </a:spcAft>
          </a:pPr>
          <a:r>
            <a:rPr lang="en-US" sz="2000" kern="1200" dirty="0" smtClean="0"/>
            <a:t>Proof Reading </a:t>
          </a:r>
          <a:endParaRPr lang="en-US" sz="2000" kern="1200" dirty="0"/>
        </a:p>
      </dsp:txBody>
      <dsp:txXfrm>
        <a:off x="10069710" y="1977737"/>
        <a:ext cx="1589484" cy="10596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0AC8F-7DB5-4942-8576-D92950C5C86F}">
      <dsp:nvSpPr>
        <dsp:cNvPr id="0" name=""/>
        <dsp:cNvSpPr/>
      </dsp:nvSpPr>
      <dsp:spPr>
        <a:xfrm>
          <a:off x="5714296" y="2949994"/>
          <a:ext cx="3605548" cy="3605548"/>
        </a:xfrm>
        <a:prstGeom prst="gear9">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lvl="0" algn="ctr" defTabSz="1600200">
            <a:lnSpc>
              <a:spcPct val="90000"/>
            </a:lnSpc>
            <a:spcBef>
              <a:spcPct val="0"/>
            </a:spcBef>
            <a:spcAft>
              <a:spcPct val="35000"/>
            </a:spcAft>
          </a:pPr>
          <a:r>
            <a:rPr lang="en-US" sz="3600" kern="1200" dirty="0" smtClean="0"/>
            <a:t>Pre writing </a:t>
          </a:r>
          <a:endParaRPr lang="en-US" sz="3600" kern="1200" dirty="0"/>
        </a:p>
      </dsp:txBody>
      <dsp:txXfrm>
        <a:off x="6439172" y="3794576"/>
        <a:ext cx="2155796" cy="1853327"/>
      </dsp:txXfrm>
    </dsp:sp>
    <dsp:sp modelId="{AE2E772C-863A-4AE5-BE0B-08DD4B1CAAE6}">
      <dsp:nvSpPr>
        <dsp:cNvPr id="0" name=""/>
        <dsp:cNvSpPr/>
      </dsp:nvSpPr>
      <dsp:spPr>
        <a:xfrm>
          <a:off x="3616522" y="2097773"/>
          <a:ext cx="2622217" cy="2622217"/>
        </a:xfrm>
        <a:prstGeom prst="gear6">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lvl="0" algn="ctr" defTabSz="1066800">
            <a:lnSpc>
              <a:spcPct val="90000"/>
            </a:lnSpc>
            <a:spcBef>
              <a:spcPct val="0"/>
            </a:spcBef>
            <a:spcAft>
              <a:spcPct val="35000"/>
            </a:spcAft>
          </a:pPr>
          <a:r>
            <a:rPr lang="en-US" sz="2400" kern="1200" dirty="0" smtClean="0"/>
            <a:t>Invention activities</a:t>
          </a:r>
          <a:endParaRPr lang="en-US" sz="2400" kern="1200" dirty="0"/>
        </a:p>
      </dsp:txBody>
      <dsp:txXfrm>
        <a:off x="4276673" y="2761914"/>
        <a:ext cx="1301915" cy="1293935"/>
      </dsp:txXfrm>
    </dsp:sp>
    <dsp:sp modelId="{7358C753-B66D-40D8-8498-32CCF4D40D21}">
      <dsp:nvSpPr>
        <dsp:cNvPr id="0" name=""/>
        <dsp:cNvSpPr/>
      </dsp:nvSpPr>
      <dsp:spPr>
        <a:xfrm rot="20700000">
          <a:off x="5085231" y="288711"/>
          <a:ext cx="2569237" cy="2569237"/>
        </a:xfrm>
        <a:prstGeom prst="gear6">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t>Arrangement activities</a:t>
          </a:r>
          <a:endParaRPr lang="en-US" sz="2000" kern="1200" dirty="0"/>
        </a:p>
      </dsp:txBody>
      <dsp:txXfrm rot="-20700000">
        <a:off x="5648740" y="852220"/>
        <a:ext cx="1442219" cy="1442219"/>
      </dsp:txXfrm>
    </dsp:sp>
    <dsp:sp modelId="{3C01831D-0BD5-4BC3-AD8E-10FDE46DEF6A}">
      <dsp:nvSpPr>
        <dsp:cNvPr id="0" name=""/>
        <dsp:cNvSpPr/>
      </dsp:nvSpPr>
      <dsp:spPr>
        <a:xfrm>
          <a:off x="5463749" y="2390605"/>
          <a:ext cx="4615102" cy="4615102"/>
        </a:xfrm>
        <a:prstGeom prst="circularArrow">
          <a:avLst>
            <a:gd name="adj1" fmla="val 4687"/>
            <a:gd name="adj2" fmla="val 299029"/>
            <a:gd name="adj3" fmla="val 2553655"/>
            <a:gd name="adj4" fmla="val 15782757"/>
            <a:gd name="adj5" fmla="val 5469"/>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0510B41-495B-4BC4-884B-A65EA981A8F2}">
      <dsp:nvSpPr>
        <dsp:cNvPr id="0" name=""/>
        <dsp:cNvSpPr/>
      </dsp:nvSpPr>
      <dsp:spPr>
        <a:xfrm>
          <a:off x="3152132" y="1507442"/>
          <a:ext cx="3353160" cy="3353160"/>
        </a:xfrm>
        <a:prstGeom prst="leftCircularArrow">
          <a:avLst>
            <a:gd name="adj1" fmla="val 6452"/>
            <a:gd name="adj2" fmla="val 429999"/>
            <a:gd name="adj3" fmla="val 10489124"/>
            <a:gd name="adj4" fmla="val 14837806"/>
            <a:gd name="adj5" fmla="val 7527"/>
          </a:avLst>
        </a:prstGeom>
        <a:solidFill>
          <a:schemeClr val="accent2">
            <a:hueOff val="-727682"/>
            <a:satOff val="-41964"/>
            <a:lumOff val="431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87040F9-E666-43D6-A54C-A37BC3EE6D93}">
      <dsp:nvSpPr>
        <dsp:cNvPr id="0" name=""/>
        <dsp:cNvSpPr/>
      </dsp:nvSpPr>
      <dsp:spPr>
        <a:xfrm>
          <a:off x="4490940" y="-284181"/>
          <a:ext cx="3615381" cy="3615381"/>
        </a:xfrm>
        <a:prstGeom prst="circularArrow">
          <a:avLst>
            <a:gd name="adj1" fmla="val 5984"/>
            <a:gd name="adj2" fmla="val 394124"/>
            <a:gd name="adj3" fmla="val 13313824"/>
            <a:gd name="adj4" fmla="val 10508221"/>
            <a:gd name="adj5" fmla="val 6981"/>
          </a:avLst>
        </a:prstGeom>
        <a:solidFill>
          <a:schemeClr val="accent2">
            <a:hueOff val="-1455363"/>
            <a:satOff val="-83928"/>
            <a:lumOff val="8628"/>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B6B048-82E2-49CD-8CAE-F1A44A77EC29}">
      <dsp:nvSpPr>
        <dsp:cNvPr id="0" name=""/>
        <dsp:cNvSpPr/>
      </dsp:nvSpPr>
      <dsp:spPr>
        <a:xfrm>
          <a:off x="0" y="1309882"/>
          <a:ext cx="3774830" cy="226489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lvl="0" algn="ctr" defTabSz="2667000">
            <a:lnSpc>
              <a:spcPct val="90000"/>
            </a:lnSpc>
            <a:spcBef>
              <a:spcPct val="0"/>
            </a:spcBef>
            <a:spcAft>
              <a:spcPct val="35000"/>
            </a:spcAft>
          </a:pPr>
          <a:r>
            <a:rPr lang="en-US" sz="6000" kern="1200" dirty="0" smtClean="0"/>
            <a:t>Free writing </a:t>
          </a:r>
          <a:endParaRPr lang="en-US" sz="6000" kern="1200" dirty="0"/>
        </a:p>
      </dsp:txBody>
      <dsp:txXfrm>
        <a:off x="0" y="1309882"/>
        <a:ext cx="3774830" cy="2264898"/>
      </dsp:txXfrm>
    </dsp:sp>
    <dsp:sp modelId="{C794B391-E741-4D25-B6D4-A218D106A5E9}">
      <dsp:nvSpPr>
        <dsp:cNvPr id="0" name=""/>
        <dsp:cNvSpPr/>
      </dsp:nvSpPr>
      <dsp:spPr>
        <a:xfrm>
          <a:off x="4152313" y="1309882"/>
          <a:ext cx="3774830" cy="2264898"/>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lvl="0" algn="ctr" defTabSz="2667000">
            <a:lnSpc>
              <a:spcPct val="90000"/>
            </a:lnSpc>
            <a:spcBef>
              <a:spcPct val="0"/>
            </a:spcBef>
            <a:spcAft>
              <a:spcPct val="35000"/>
            </a:spcAft>
          </a:pPr>
          <a:r>
            <a:rPr lang="en-US" sz="6000" b="1" kern="1200" dirty="0" smtClean="0"/>
            <a:t>Mind mapping</a:t>
          </a:r>
          <a:endParaRPr lang="en-US" sz="6000" kern="1200" dirty="0"/>
        </a:p>
      </dsp:txBody>
      <dsp:txXfrm>
        <a:off x="4152313" y="1309882"/>
        <a:ext cx="3774830" cy="2264898"/>
      </dsp:txXfrm>
    </dsp:sp>
    <dsp:sp modelId="{FCAD1536-5BAF-4122-917D-B385013434C1}">
      <dsp:nvSpPr>
        <dsp:cNvPr id="0" name=""/>
        <dsp:cNvSpPr/>
      </dsp:nvSpPr>
      <dsp:spPr>
        <a:xfrm>
          <a:off x="8304627" y="1309882"/>
          <a:ext cx="3774830" cy="2264898"/>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0" tIns="228600" rIns="228600" bIns="228600" numCol="1" spcCol="1270" anchor="ctr" anchorCtr="0">
          <a:noAutofit/>
        </a:bodyPr>
        <a:lstStyle/>
        <a:p>
          <a:pPr lvl="0" algn="ctr" defTabSz="2667000">
            <a:lnSpc>
              <a:spcPct val="90000"/>
            </a:lnSpc>
            <a:spcBef>
              <a:spcPct val="0"/>
            </a:spcBef>
            <a:spcAft>
              <a:spcPct val="35000"/>
            </a:spcAft>
          </a:pPr>
          <a:r>
            <a:rPr lang="en-US" sz="6000" b="1" kern="1200" dirty="0" smtClean="0"/>
            <a:t>Listing (bulleting)</a:t>
          </a:r>
          <a:endParaRPr lang="en-US" sz="6000" kern="1200" dirty="0"/>
        </a:p>
      </dsp:txBody>
      <dsp:txXfrm>
        <a:off x="8304627" y="1309882"/>
        <a:ext cx="3774830" cy="226489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744EEE-F7E4-4FD6-82B3-3F31DEBE539C}">
      <dsp:nvSpPr>
        <dsp:cNvPr id="0" name=""/>
        <dsp:cNvSpPr/>
      </dsp:nvSpPr>
      <dsp:spPr>
        <a:xfrm>
          <a:off x="90413" y="205"/>
          <a:ext cx="2532650" cy="151959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dirty="0" smtClean="0"/>
            <a:t>Flowcharts</a:t>
          </a:r>
          <a:endParaRPr lang="en-US" sz="3000" kern="1200" dirty="0"/>
        </a:p>
      </dsp:txBody>
      <dsp:txXfrm>
        <a:off x="90413" y="205"/>
        <a:ext cx="2532650" cy="1519590"/>
      </dsp:txXfrm>
    </dsp:sp>
    <dsp:sp modelId="{F6C74CEF-731F-4BEC-9BD5-CEC62AEFB5C1}">
      <dsp:nvSpPr>
        <dsp:cNvPr id="0" name=""/>
        <dsp:cNvSpPr/>
      </dsp:nvSpPr>
      <dsp:spPr>
        <a:xfrm>
          <a:off x="2876329" y="205"/>
          <a:ext cx="2532650" cy="151959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dirty="0" smtClean="0"/>
            <a:t>Series of events chain</a:t>
          </a:r>
          <a:endParaRPr lang="en-US" sz="3000" kern="1200" dirty="0"/>
        </a:p>
      </dsp:txBody>
      <dsp:txXfrm>
        <a:off x="2876329" y="205"/>
        <a:ext cx="2532650" cy="1519590"/>
      </dsp:txXfrm>
    </dsp:sp>
    <dsp:sp modelId="{8AF84390-2279-4AAD-84F9-A5A71418E99E}">
      <dsp:nvSpPr>
        <dsp:cNvPr id="0" name=""/>
        <dsp:cNvSpPr/>
      </dsp:nvSpPr>
      <dsp:spPr>
        <a:xfrm>
          <a:off x="5662245" y="205"/>
          <a:ext cx="2532650" cy="151959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dirty="0" smtClean="0"/>
            <a:t>Story maps</a:t>
          </a:r>
          <a:endParaRPr lang="en-US" sz="3000" kern="1200" dirty="0"/>
        </a:p>
      </dsp:txBody>
      <dsp:txXfrm>
        <a:off x="5662245" y="205"/>
        <a:ext cx="2532650" cy="1519590"/>
      </dsp:txXfrm>
    </dsp:sp>
    <dsp:sp modelId="{AD80D9C5-5CA0-43DC-84DF-C6E81F70690D}">
      <dsp:nvSpPr>
        <dsp:cNvPr id="0" name=""/>
        <dsp:cNvSpPr/>
      </dsp:nvSpPr>
      <dsp:spPr>
        <a:xfrm>
          <a:off x="8448160" y="205"/>
          <a:ext cx="2532650" cy="151959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dirty="0" smtClean="0"/>
            <a:t>Charts</a:t>
          </a:r>
          <a:endParaRPr lang="en-US" sz="3000" kern="1200" dirty="0"/>
        </a:p>
      </dsp:txBody>
      <dsp:txXfrm>
        <a:off x="8448160" y="205"/>
        <a:ext cx="2532650" cy="1519590"/>
      </dsp:txXfrm>
    </dsp:sp>
    <dsp:sp modelId="{AA0E2303-3664-40C9-8507-45058F374965}">
      <dsp:nvSpPr>
        <dsp:cNvPr id="0" name=""/>
        <dsp:cNvSpPr/>
      </dsp:nvSpPr>
      <dsp:spPr>
        <a:xfrm>
          <a:off x="90413" y="1773061"/>
          <a:ext cx="2532650" cy="1519590"/>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dirty="0" smtClean="0"/>
            <a:t>Fishbone map</a:t>
          </a:r>
          <a:endParaRPr lang="en-US" sz="3000" kern="1200" dirty="0"/>
        </a:p>
      </dsp:txBody>
      <dsp:txXfrm>
        <a:off x="90413" y="1773061"/>
        <a:ext cx="2532650" cy="1519590"/>
      </dsp:txXfrm>
    </dsp:sp>
    <dsp:sp modelId="{D7F2A676-74E6-4DD3-BC00-EC8A3B153E64}">
      <dsp:nvSpPr>
        <dsp:cNvPr id="0" name=""/>
        <dsp:cNvSpPr/>
      </dsp:nvSpPr>
      <dsp:spPr>
        <a:xfrm>
          <a:off x="2876329" y="1773061"/>
          <a:ext cx="2532650" cy="1519590"/>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smtClean="0"/>
            <a:t>Cause and effect diagrams</a:t>
          </a:r>
          <a:endParaRPr lang="en-US" sz="3000" kern="1200"/>
        </a:p>
      </dsp:txBody>
      <dsp:txXfrm>
        <a:off x="2876329" y="1773061"/>
        <a:ext cx="2532650" cy="1519590"/>
      </dsp:txXfrm>
    </dsp:sp>
    <dsp:sp modelId="{1A5B3E1C-4934-444B-A05F-88F7EBC4628E}">
      <dsp:nvSpPr>
        <dsp:cNvPr id="0" name=""/>
        <dsp:cNvSpPr/>
      </dsp:nvSpPr>
      <dsp:spPr>
        <a:xfrm>
          <a:off x="5662245" y="1773061"/>
          <a:ext cx="2532650" cy="151959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dirty="0" smtClean="0"/>
            <a:t>Webbing</a:t>
          </a:r>
          <a:endParaRPr lang="en-US" sz="3000" kern="1200" dirty="0"/>
        </a:p>
      </dsp:txBody>
      <dsp:txXfrm>
        <a:off x="5662245" y="1773061"/>
        <a:ext cx="2532650" cy="1519590"/>
      </dsp:txXfrm>
    </dsp:sp>
    <dsp:sp modelId="{92A1414E-8D70-44A5-9758-319DDF0C52B0}">
      <dsp:nvSpPr>
        <dsp:cNvPr id="0" name=""/>
        <dsp:cNvSpPr/>
      </dsp:nvSpPr>
      <dsp:spPr>
        <a:xfrm>
          <a:off x="8448160" y="1773061"/>
          <a:ext cx="2532650" cy="151959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smtClean="0"/>
            <a:t>Timelines</a:t>
          </a:r>
          <a:endParaRPr lang="en-US" sz="3000" kern="1200"/>
        </a:p>
      </dsp:txBody>
      <dsp:txXfrm>
        <a:off x="8448160" y="1773061"/>
        <a:ext cx="2532650" cy="1519590"/>
      </dsp:txXfrm>
    </dsp:sp>
    <dsp:sp modelId="{EDCD67E3-850E-4F53-B356-6FA1E2B5F265}">
      <dsp:nvSpPr>
        <dsp:cNvPr id="0" name=""/>
        <dsp:cNvSpPr/>
      </dsp:nvSpPr>
      <dsp:spPr>
        <a:xfrm>
          <a:off x="4269287" y="3545916"/>
          <a:ext cx="2532650" cy="151959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lvl="0" algn="ctr" defTabSz="1333500">
            <a:lnSpc>
              <a:spcPct val="90000"/>
            </a:lnSpc>
            <a:spcBef>
              <a:spcPct val="0"/>
            </a:spcBef>
            <a:spcAft>
              <a:spcPct val="35000"/>
            </a:spcAft>
          </a:pPr>
          <a:r>
            <a:rPr lang="en-US" sz="3000" kern="1200" dirty="0" smtClean="0"/>
            <a:t>Venn diagrams</a:t>
          </a:r>
          <a:endParaRPr lang="en-US" sz="3000" kern="1200" dirty="0"/>
        </a:p>
      </dsp:txBody>
      <dsp:txXfrm>
        <a:off x="4269287" y="3545916"/>
        <a:ext cx="2532650" cy="151959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3CC61E-B878-44EF-8D2C-CDF6A4E2D1D9}" type="datetimeFigureOut">
              <a:rPr lang="en-US" smtClean="0"/>
              <a:t>9/26/2025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7261A5-9C00-4AB2-8EA8-C8318379CF07}" type="slidenum">
              <a:rPr lang="en-US" smtClean="0"/>
              <a:t>‹#›</a:t>
            </a:fld>
            <a:endParaRPr lang="en-US"/>
          </a:p>
        </p:txBody>
      </p:sp>
    </p:spTree>
    <p:extLst>
      <p:ext uri="{BB962C8B-B14F-4D97-AF65-F5344CB8AC3E}">
        <p14:creationId xmlns:p14="http://schemas.microsoft.com/office/powerpoint/2010/main" val="936646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7261A5-9C00-4AB2-8EA8-C8318379CF07}" type="slidenum">
              <a:rPr lang="en-US" smtClean="0"/>
              <a:t>70</a:t>
            </a:fld>
            <a:endParaRPr lang="en-US"/>
          </a:p>
        </p:txBody>
      </p:sp>
    </p:spTree>
    <p:extLst>
      <p:ext uri="{BB962C8B-B14F-4D97-AF65-F5344CB8AC3E}">
        <p14:creationId xmlns:p14="http://schemas.microsoft.com/office/powerpoint/2010/main" val="21540631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A82F33C-FBB3-47A0-BE6B-0D27111534ED}"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33BD50-91CF-4F2D-95AE-2EB858A32654}" type="slidenum">
              <a:rPr lang="en-US" smtClean="0"/>
              <a:t>‹#›</a:t>
            </a:fld>
            <a:endParaRPr lang="en-US"/>
          </a:p>
        </p:txBody>
      </p:sp>
    </p:spTree>
    <p:extLst>
      <p:ext uri="{BB962C8B-B14F-4D97-AF65-F5344CB8AC3E}">
        <p14:creationId xmlns:p14="http://schemas.microsoft.com/office/powerpoint/2010/main" val="25878233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A82F33C-FBB3-47A0-BE6B-0D27111534ED}"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33BD50-91CF-4F2D-95AE-2EB858A32654}" type="slidenum">
              <a:rPr lang="en-US" smtClean="0"/>
              <a:t>‹#›</a:t>
            </a:fld>
            <a:endParaRPr lang="en-US"/>
          </a:p>
        </p:txBody>
      </p:sp>
    </p:spTree>
    <p:extLst>
      <p:ext uri="{BB962C8B-B14F-4D97-AF65-F5344CB8AC3E}">
        <p14:creationId xmlns:p14="http://schemas.microsoft.com/office/powerpoint/2010/main" val="3350042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A82F33C-FBB3-47A0-BE6B-0D27111534ED}"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33BD50-91CF-4F2D-95AE-2EB858A32654}" type="slidenum">
              <a:rPr lang="en-US" smtClean="0"/>
              <a:t>‹#›</a:t>
            </a:fld>
            <a:endParaRPr lang="en-US"/>
          </a:p>
        </p:txBody>
      </p:sp>
    </p:spTree>
    <p:extLst>
      <p:ext uri="{BB962C8B-B14F-4D97-AF65-F5344CB8AC3E}">
        <p14:creationId xmlns:p14="http://schemas.microsoft.com/office/powerpoint/2010/main" val="3818590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A82F33C-FBB3-47A0-BE6B-0D27111534ED}"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33BD50-91CF-4F2D-95AE-2EB858A32654}" type="slidenum">
              <a:rPr lang="en-US" smtClean="0"/>
              <a:t>‹#›</a:t>
            </a:fld>
            <a:endParaRPr lang="en-US"/>
          </a:p>
        </p:txBody>
      </p:sp>
    </p:spTree>
    <p:extLst>
      <p:ext uri="{BB962C8B-B14F-4D97-AF65-F5344CB8AC3E}">
        <p14:creationId xmlns:p14="http://schemas.microsoft.com/office/powerpoint/2010/main" val="3460294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A82F33C-FBB3-47A0-BE6B-0D27111534ED}" type="datetimeFigureOut">
              <a:rPr lang="en-US" smtClean="0"/>
              <a:t>9/26/2025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F33BD50-91CF-4F2D-95AE-2EB858A32654}" type="slidenum">
              <a:rPr lang="en-US" smtClean="0"/>
              <a:t>‹#›</a:t>
            </a:fld>
            <a:endParaRPr lang="en-US"/>
          </a:p>
        </p:txBody>
      </p:sp>
    </p:spTree>
    <p:extLst>
      <p:ext uri="{BB962C8B-B14F-4D97-AF65-F5344CB8AC3E}">
        <p14:creationId xmlns:p14="http://schemas.microsoft.com/office/powerpoint/2010/main" val="1881192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A82F33C-FBB3-47A0-BE6B-0D27111534ED}" type="datetimeFigureOut">
              <a:rPr lang="en-US" smtClean="0"/>
              <a:t>9/26/2025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F33BD50-91CF-4F2D-95AE-2EB858A32654}" type="slidenum">
              <a:rPr lang="en-US" smtClean="0"/>
              <a:t>‹#›</a:t>
            </a:fld>
            <a:endParaRPr lang="en-US"/>
          </a:p>
        </p:txBody>
      </p:sp>
    </p:spTree>
    <p:extLst>
      <p:ext uri="{BB962C8B-B14F-4D97-AF65-F5344CB8AC3E}">
        <p14:creationId xmlns:p14="http://schemas.microsoft.com/office/powerpoint/2010/main" val="557940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82F33C-FBB3-47A0-BE6B-0D27111534ED}" type="datetimeFigureOut">
              <a:rPr lang="en-US" smtClean="0"/>
              <a:t>9/26/2025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F33BD50-91CF-4F2D-95AE-2EB858A32654}" type="slidenum">
              <a:rPr lang="en-US" smtClean="0"/>
              <a:t>‹#›</a:t>
            </a:fld>
            <a:endParaRPr lang="en-US"/>
          </a:p>
        </p:txBody>
      </p:sp>
    </p:spTree>
    <p:extLst>
      <p:ext uri="{BB962C8B-B14F-4D97-AF65-F5344CB8AC3E}">
        <p14:creationId xmlns:p14="http://schemas.microsoft.com/office/powerpoint/2010/main" val="1679214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A82F33C-FBB3-47A0-BE6B-0D27111534ED}"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33BD50-91CF-4F2D-95AE-2EB858A32654}" type="slidenum">
              <a:rPr lang="en-US" smtClean="0"/>
              <a:t>‹#›</a:t>
            </a:fld>
            <a:endParaRPr lang="en-US"/>
          </a:p>
        </p:txBody>
      </p:sp>
    </p:spTree>
    <p:extLst>
      <p:ext uri="{BB962C8B-B14F-4D97-AF65-F5344CB8AC3E}">
        <p14:creationId xmlns:p14="http://schemas.microsoft.com/office/powerpoint/2010/main" val="4128473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A82F33C-FBB3-47A0-BE6B-0D27111534ED}" type="datetimeFigureOut">
              <a:rPr lang="en-US" smtClean="0"/>
              <a:t>9/26/2025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F33BD50-91CF-4F2D-95AE-2EB858A32654}" type="slidenum">
              <a:rPr lang="en-US" smtClean="0"/>
              <a:t>‹#›</a:t>
            </a:fld>
            <a:endParaRPr lang="en-US"/>
          </a:p>
        </p:txBody>
      </p:sp>
    </p:spTree>
    <p:extLst>
      <p:ext uri="{BB962C8B-B14F-4D97-AF65-F5344CB8AC3E}">
        <p14:creationId xmlns:p14="http://schemas.microsoft.com/office/powerpoint/2010/main" val="2438516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A82F33C-FBB3-47A0-BE6B-0D27111534ED}"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33BD50-91CF-4F2D-95AE-2EB858A32654}" type="slidenum">
              <a:rPr lang="en-US" smtClean="0"/>
              <a:t>‹#›</a:t>
            </a:fld>
            <a:endParaRPr lang="en-US"/>
          </a:p>
        </p:txBody>
      </p:sp>
    </p:spTree>
    <p:extLst>
      <p:ext uri="{BB962C8B-B14F-4D97-AF65-F5344CB8AC3E}">
        <p14:creationId xmlns:p14="http://schemas.microsoft.com/office/powerpoint/2010/main" val="40864388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A82F33C-FBB3-47A0-BE6B-0D27111534ED}" type="datetimeFigureOut">
              <a:rPr lang="en-US" smtClean="0"/>
              <a:t>9/26/2025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F33BD50-91CF-4F2D-95AE-2EB858A32654}" type="slidenum">
              <a:rPr lang="en-US" smtClean="0"/>
              <a:t>‹#›</a:t>
            </a:fld>
            <a:endParaRPr lang="en-US"/>
          </a:p>
        </p:txBody>
      </p:sp>
    </p:spTree>
    <p:extLst>
      <p:ext uri="{BB962C8B-B14F-4D97-AF65-F5344CB8AC3E}">
        <p14:creationId xmlns:p14="http://schemas.microsoft.com/office/powerpoint/2010/main" val="3586557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82F33C-FBB3-47A0-BE6B-0D27111534ED}" type="datetimeFigureOut">
              <a:rPr lang="en-US" smtClean="0"/>
              <a:t>9/26/2025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33BD50-91CF-4F2D-95AE-2EB858A32654}" type="slidenum">
              <a:rPr lang="en-US" smtClean="0"/>
              <a:t>‹#›</a:t>
            </a:fld>
            <a:endParaRPr lang="en-US"/>
          </a:p>
        </p:txBody>
      </p:sp>
    </p:spTree>
    <p:extLst>
      <p:ext uri="{BB962C8B-B14F-4D97-AF65-F5344CB8AC3E}">
        <p14:creationId xmlns:p14="http://schemas.microsoft.com/office/powerpoint/2010/main" val="3884975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9.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000"/>
              </a:solidFill>
            </a:endParaRPr>
          </a:p>
        </p:txBody>
      </p:sp>
      <p:sp>
        <p:nvSpPr>
          <p:cNvPr id="3" name="TextBox 2"/>
          <p:cNvSpPr txBox="1"/>
          <p:nvPr/>
        </p:nvSpPr>
        <p:spPr>
          <a:xfrm>
            <a:off x="801858" y="1505243"/>
            <a:ext cx="10550770" cy="2215991"/>
          </a:xfrm>
          <a:prstGeom prst="rect">
            <a:avLst/>
          </a:prstGeom>
          <a:noFill/>
        </p:spPr>
        <p:txBody>
          <a:bodyPr wrap="square" rtlCol="0">
            <a:spAutoFit/>
          </a:bodyPr>
          <a:lstStyle/>
          <a:p>
            <a:r>
              <a:rPr lang="en-US" sz="13800" b="1" dirty="0" smtClean="0">
                <a:solidFill>
                  <a:srgbClr val="FFC000"/>
                </a:solidFill>
                <a:effectLst>
                  <a:outerShdw blurRad="38100" dist="38100" dir="2700000" algn="tl">
                    <a:srgbClr val="000000">
                      <a:alpha val="43137"/>
                    </a:srgbClr>
                  </a:outerShdw>
                </a:effectLst>
              </a:rPr>
              <a:t>PRE-WRITING</a:t>
            </a:r>
            <a:endParaRPr lang="en-US" sz="13800" b="1" dirty="0">
              <a:solidFill>
                <a:srgbClr val="FFC000"/>
              </a:solidFill>
              <a:effectLst>
                <a:outerShdw blurRad="38100" dist="38100" dir="2700000" algn="tl">
                  <a:srgbClr val="000000">
                    <a:alpha val="43137"/>
                  </a:srgbClr>
                </a:outerShdw>
              </a:effectLst>
            </a:endParaRPr>
          </a:p>
        </p:txBody>
      </p:sp>
      <p:sp>
        <p:nvSpPr>
          <p:cNvPr id="4" name="TextBox 3"/>
          <p:cNvSpPr txBox="1"/>
          <p:nvPr/>
        </p:nvSpPr>
        <p:spPr>
          <a:xfrm>
            <a:off x="8370277" y="5641145"/>
            <a:ext cx="2982351" cy="830997"/>
          </a:xfrm>
          <a:prstGeom prst="rect">
            <a:avLst/>
          </a:prstGeom>
          <a:blipFill>
            <a:blip r:embed="rId2"/>
            <a:tile tx="0" ty="0" sx="100000" sy="100000" flip="none" algn="tl"/>
          </a:blipFill>
        </p:spPr>
        <p:txBody>
          <a:bodyPr wrap="square" rtlCol="0">
            <a:spAutoFit/>
          </a:bodyPr>
          <a:lstStyle/>
          <a:p>
            <a:r>
              <a:rPr lang="en-US" sz="4800" smtClean="0">
                <a:solidFill>
                  <a:srgbClr val="0F0515"/>
                </a:solidFill>
              </a:rPr>
              <a:t>LECTURE 7</a:t>
            </a:r>
            <a:endParaRPr lang="en-US" sz="4800" dirty="0">
              <a:solidFill>
                <a:srgbClr val="0F0515"/>
              </a:solidFill>
            </a:endParaRPr>
          </a:p>
        </p:txBody>
      </p:sp>
    </p:spTree>
    <p:extLst>
      <p:ext uri="{BB962C8B-B14F-4D97-AF65-F5344CB8AC3E}">
        <p14:creationId xmlns:p14="http://schemas.microsoft.com/office/powerpoint/2010/main" val="4430818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29186">
              <a:srgbClr val="626972"/>
            </a:gs>
            <a:gs pos="8000">
              <a:schemeClr val="bg2">
                <a:lumMod val="2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Oval 1"/>
          <p:cNvSpPr/>
          <p:nvPr/>
        </p:nvSpPr>
        <p:spPr>
          <a:xfrm>
            <a:off x="6185096" y="-319314"/>
            <a:ext cx="6006904" cy="7177314"/>
          </a:xfrm>
          <a:prstGeom prst="ellipse">
            <a:avLst/>
          </a:prstGeom>
          <a:solidFill>
            <a:srgbClr val="FFC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3200" dirty="0" smtClean="0"/>
              <a:t>Revising</a:t>
            </a:r>
            <a:r>
              <a:rPr lang="en-US" dirty="0" smtClean="0"/>
              <a:t> </a:t>
            </a:r>
            <a:endParaRPr lang="en-US" dirty="0"/>
          </a:p>
        </p:txBody>
      </p:sp>
      <p:sp>
        <p:nvSpPr>
          <p:cNvPr id="3" name="Oval 2"/>
          <p:cNvSpPr/>
          <p:nvPr/>
        </p:nvSpPr>
        <p:spPr>
          <a:xfrm>
            <a:off x="3830558" y="-319314"/>
            <a:ext cx="6006904" cy="7101114"/>
          </a:xfrm>
          <a:prstGeom prst="ellipse">
            <a:avLst/>
          </a:prstGeom>
          <a:solidFill>
            <a:srgbClr val="AFABAB"/>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3600" dirty="0" smtClean="0"/>
              <a:t>Drafting </a:t>
            </a:r>
            <a:endParaRPr lang="en-US" sz="3600" dirty="0"/>
          </a:p>
        </p:txBody>
      </p:sp>
      <p:sp>
        <p:nvSpPr>
          <p:cNvPr id="4" name="Oval 3"/>
          <p:cNvSpPr/>
          <p:nvPr/>
        </p:nvSpPr>
        <p:spPr>
          <a:xfrm>
            <a:off x="1228873" y="-395514"/>
            <a:ext cx="6006904" cy="7151914"/>
          </a:xfrm>
          <a:prstGeom prst="ellipse">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3600" dirty="0" smtClean="0"/>
              <a:t>Pre Writing </a:t>
            </a:r>
            <a:endParaRPr lang="en-US" sz="3600" dirty="0"/>
          </a:p>
        </p:txBody>
      </p:sp>
      <p:sp>
        <p:nvSpPr>
          <p:cNvPr id="5" name="Oval 4"/>
          <p:cNvSpPr/>
          <p:nvPr/>
        </p:nvSpPr>
        <p:spPr>
          <a:xfrm>
            <a:off x="-1987660" y="-395514"/>
            <a:ext cx="6006904" cy="7202714"/>
          </a:xfrm>
          <a:prstGeom prst="ellipse">
            <a:avLst/>
          </a:prstGeom>
          <a:solidFill>
            <a:srgbClr val="00B05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r"/>
            <a:r>
              <a:rPr lang="en-US" sz="8000" dirty="0" smtClean="0"/>
              <a:t>Writing</a:t>
            </a:r>
            <a:r>
              <a:rPr lang="en-US" dirty="0" smtClean="0"/>
              <a:t> </a:t>
            </a:r>
            <a:endParaRPr lang="en-US" dirty="0"/>
          </a:p>
        </p:txBody>
      </p:sp>
    </p:spTree>
    <p:extLst>
      <p:ext uri="{BB962C8B-B14F-4D97-AF65-F5344CB8AC3E}">
        <p14:creationId xmlns:p14="http://schemas.microsoft.com/office/powerpoint/2010/main" val="24008489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additive="base">
                                        <p:cTn id="16" dur="500" fill="hold"/>
                                        <p:tgtEl>
                                          <p:spTgt spid="4"/>
                                        </p:tgtEl>
                                        <p:attrNameLst>
                                          <p:attrName>ppt_x</p:attrName>
                                        </p:attrNameLst>
                                      </p:cBhvr>
                                      <p:tavLst>
                                        <p:tav tm="0">
                                          <p:val>
                                            <p:strVal val="#ppt_x"/>
                                          </p:val>
                                        </p:tav>
                                        <p:tav tm="100000">
                                          <p:val>
                                            <p:strVal val="#ppt_x"/>
                                          </p:val>
                                        </p:tav>
                                      </p:tavLst>
                                    </p:anim>
                                    <p:anim calcmode="lin" valueType="num">
                                      <p:cBhvr additive="base">
                                        <p:cTn id="17" dur="500" fill="hold"/>
                                        <p:tgtEl>
                                          <p:spTgt spid="4"/>
                                        </p:tgtEl>
                                        <p:attrNameLst>
                                          <p:attrName>ppt_y</p:attrName>
                                        </p:attrNameLst>
                                      </p:cBhvr>
                                      <p:tavLst>
                                        <p:tav tm="0">
                                          <p:val>
                                            <p:strVal val="1+#ppt_h/2"/>
                                          </p:val>
                                        </p:tav>
                                        <p:tav tm="100000">
                                          <p:val>
                                            <p:strVal val="#ppt_y"/>
                                          </p:val>
                                        </p:tav>
                                      </p:tavLst>
                                    </p:anim>
                                  </p:childTnLst>
                                </p:cTn>
                              </p:par>
                              <p:par>
                                <p:cTn id="18" presetID="1" presetClass="entr" presetSubtype="0"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5" presetClass="entr" presetSubtype="0" fill="hold" grpId="1"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2000"/>
                                        <p:tgtEl>
                                          <p:spTgt spid="2"/>
                                        </p:tgtEl>
                                      </p:cBhvr>
                                    </p:animEffect>
                                    <p:anim calcmode="lin" valueType="num">
                                      <p:cBhvr>
                                        <p:cTn id="25" dur="2000" fill="hold"/>
                                        <p:tgtEl>
                                          <p:spTgt spid="2"/>
                                        </p:tgtEl>
                                        <p:attrNameLst>
                                          <p:attrName>ppt_w</p:attrName>
                                        </p:attrNameLst>
                                      </p:cBhvr>
                                      <p:tavLst>
                                        <p:tav tm="0" fmla="#ppt_w*sin(2.5*pi*$)">
                                          <p:val>
                                            <p:fltVal val="0"/>
                                          </p:val>
                                        </p:tav>
                                        <p:tav tm="100000">
                                          <p:val>
                                            <p:fltVal val="1"/>
                                          </p:val>
                                        </p:tav>
                                      </p:tavLst>
                                    </p:anim>
                                    <p:anim calcmode="lin" valueType="num">
                                      <p:cBhvr>
                                        <p:cTn id="26" dur="2000" fill="hold"/>
                                        <p:tgtEl>
                                          <p:spTgt spid="2"/>
                                        </p:tgtEl>
                                        <p:attrNameLst>
                                          <p:attrName>ppt_h</p:attrName>
                                        </p:attrNameLst>
                                      </p:cBhvr>
                                      <p:tavLst>
                                        <p:tav tm="0">
                                          <p:val>
                                            <p:strVal val="#ppt_h"/>
                                          </p:val>
                                        </p:tav>
                                        <p:tav tm="100000">
                                          <p:val>
                                            <p:strVal val="#ppt_h"/>
                                          </p:val>
                                        </p:tav>
                                      </p:tavLst>
                                    </p:anim>
                                  </p:childTnLst>
                                </p:cTn>
                              </p:par>
                              <p:par>
                                <p:cTn id="27" presetID="45" presetClass="entr" presetSubtype="0" fill="hold" grpId="1"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2000"/>
                                        <p:tgtEl>
                                          <p:spTgt spid="5"/>
                                        </p:tgtEl>
                                      </p:cBhvr>
                                    </p:animEffect>
                                    <p:anim calcmode="lin" valueType="num">
                                      <p:cBhvr>
                                        <p:cTn id="30" dur="2000" fill="hold"/>
                                        <p:tgtEl>
                                          <p:spTgt spid="5"/>
                                        </p:tgtEl>
                                        <p:attrNameLst>
                                          <p:attrName>ppt_w</p:attrName>
                                        </p:attrNameLst>
                                      </p:cBhvr>
                                      <p:tavLst>
                                        <p:tav tm="0" fmla="#ppt_w*sin(2.5*pi*$)">
                                          <p:val>
                                            <p:fltVal val="0"/>
                                          </p:val>
                                        </p:tav>
                                        <p:tav tm="100000">
                                          <p:val>
                                            <p:fltVal val="1"/>
                                          </p:val>
                                        </p:tav>
                                      </p:tavLst>
                                    </p:anim>
                                    <p:anim calcmode="lin" valueType="num">
                                      <p:cBhvr>
                                        <p:cTn id="31" dur="2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45" presetClass="entr" presetSubtype="0" fill="hold" grpId="1"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2000"/>
                                        <p:tgtEl>
                                          <p:spTgt spid="3"/>
                                        </p:tgtEl>
                                      </p:cBhvr>
                                    </p:animEffect>
                                    <p:anim calcmode="lin" valueType="num">
                                      <p:cBhvr>
                                        <p:cTn id="37" dur="2000" fill="hold"/>
                                        <p:tgtEl>
                                          <p:spTgt spid="3"/>
                                        </p:tgtEl>
                                        <p:attrNameLst>
                                          <p:attrName>ppt_w</p:attrName>
                                        </p:attrNameLst>
                                      </p:cBhvr>
                                      <p:tavLst>
                                        <p:tav tm="0" fmla="#ppt_w*sin(2.5*pi*$)">
                                          <p:val>
                                            <p:fltVal val="0"/>
                                          </p:val>
                                        </p:tav>
                                        <p:tav tm="100000">
                                          <p:val>
                                            <p:fltVal val="1"/>
                                          </p:val>
                                        </p:tav>
                                      </p:tavLst>
                                    </p:anim>
                                    <p:anim calcmode="lin" valueType="num">
                                      <p:cBhvr>
                                        <p:cTn id="38" dur="2000" fill="hold"/>
                                        <p:tgtEl>
                                          <p:spTgt spid="3"/>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grpId="2"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randombar(horizontal)">
                                      <p:cBhvr>
                                        <p:cTn id="4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3" grpId="0" animBg="1"/>
      <p:bldP spid="3" grpId="1" animBg="1"/>
      <p:bldP spid="4" grpId="0" animBg="1"/>
      <p:bldP spid="5" grpId="0" animBg="1"/>
      <p:bldP spid="5"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83212" y="618978"/>
            <a:ext cx="9003323" cy="1015663"/>
          </a:xfrm>
          <a:prstGeom prst="rect">
            <a:avLst/>
          </a:prstGeom>
          <a:noFill/>
        </p:spPr>
        <p:txBody>
          <a:bodyPr wrap="square" rtlCol="0">
            <a:spAutoFit/>
          </a:bodyPr>
          <a:lstStyle/>
          <a:p>
            <a:pPr algn="ctr"/>
            <a:r>
              <a:rPr lang="en-US" sz="6000" b="1" dirty="0" smtClean="0">
                <a:effectLst>
                  <a:outerShdw blurRad="38100" dist="38100" dir="2700000" algn="tl">
                    <a:srgbClr val="000000">
                      <a:alpha val="43137"/>
                    </a:srgbClr>
                  </a:outerShdw>
                </a:effectLst>
              </a:rPr>
              <a:t>Writing Process </a:t>
            </a:r>
            <a:endParaRPr lang="en-US" sz="6000" b="1" dirty="0">
              <a:effectLst>
                <a:outerShdw blurRad="38100" dist="38100" dir="2700000" algn="tl">
                  <a:srgbClr val="000000">
                    <a:alpha val="43137"/>
                  </a:srgbClr>
                </a:outerShdw>
              </a:effectLst>
            </a:endParaRPr>
          </a:p>
        </p:txBody>
      </p:sp>
      <p:graphicFrame>
        <p:nvGraphicFramePr>
          <p:cNvPr id="3" name="Diagram 2"/>
          <p:cNvGraphicFramePr/>
          <p:nvPr>
            <p:extLst>
              <p:ext uri="{D42A27DB-BD31-4B8C-83A1-F6EECF244321}">
                <p14:modId xmlns:p14="http://schemas.microsoft.com/office/powerpoint/2010/main" val="2445304372"/>
              </p:ext>
            </p:extLst>
          </p:nvPr>
        </p:nvGraphicFramePr>
        <p:xfrm>
          <a:off x="0" y="1842868"/>
          <a:ext cx="12191999" cy="50151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1025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000" b="1" dirty="0" smtClean="0">
                <a:effectLst>
                  <a:outerShdw blurRad="38100" dist="38100" dir="2700000" algn="tl">
                    <a:srgbClr val="000000">
                      <a:alpha val="43137"/>
                    </a:srgbClr>
                  </a:outerShdw>
                </a:effectLst>
              </a:rPr>
              <a:t>Revising</a:t>
            </a:r>
            <a:r>
              <a:rPr lang="en-US" dirty="0" smtClean="0"/>
              <a:t> </a:t>
            </a:r>
            <a:endParaRPr lang="en-US" dirty="0"/>
          </a:p>
        </p:txBody>
      </p:sp>
      <p:sp>
        <p:nvSpPr>
          <p:cNvPr id="3" name="Content Placeholder 2"/>
          <p:cNvSpPr>
            <a:spLocks noGrp="1"/>
          </p:cNvSpPr>
          <p:nvPr>
            <p:ph sz="half" idx="1"/>
          </p:nvPr>
        </p:nvSpPr>
        <p:spPr>
          <a:xfrm>
            <a:off x="182879" y="1825625"/>
            <a:ext cx="7005711" cy="4898732"/>
          </a:xfrm>
        </p:spPr>
        <p:txBody>
          <a:bodyPr>
            <a:normAutofit fontScale="92500" lnSpcReduction="10000"/>
          </a:bodyPr>
          <a:lstStyle/>
          <a:p>
            <a:pPr algn="just"/>
            <a:r>
              <a:rPr lang="en-US" sz="3600" dirty="0"/>
              <a:t>Revising is the process of reworking your draft to improve clarity, flow, and impact. </a:t>
            </a:r>
            <a:endParaRPr lang="en-US" sz="3600" dirty="0" smtClean="0"/>
          </a:p>
          <a:p>
            <a:pPr algn="just"/>
            <a:r>
              <a:rPr lang="en-US" sz="3600" dirty="0" smtClean="0"/>
              <a:t>This </a:t>
            </a:r>
            <a:r>
              <a:rPr lang="en-US" sz="3600" dirty="0"/>
              <a:t>stage involves making big-picture changes to your content—reordering ideas, rewriting unclear sections, strengthening transitions, and ensuring everything supports your main message. </a:t>
            </a:r>
            <a:endParaRPr lang="en-US" sz="3600" dirty="0" smtClean="0"/>
          </a:p>
          <a:p>
            <a:pPr algn="just"/>
            <a:r>
              <a:rPr lang="en-US" sz="3600" dirty="0" smtClean="0"/>
              <a:t>It’s </a:t>
            </a:r>
            <a:r>
              <a:rPr lang="en-US" sz="3600" dirty="0"/>
              <a:t>where good writing becomes great writing</a:t>
            </a:r>
            <a:r>
              <a:rPr lang="en-US" dirty="0"/>
              <a:t>.</a:t>
            </a:r>
          </a:p>
        </p:txBody>
      </p:sp>
      <p:pic>
        <p:nvPicPr>
          <p:cNvPr id="4098" name="Picture 2" descr="Colorful elements while editing a page"/>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875585" y="1896624"/>
            <a:ext cx="5181600" cy="4827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6228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smtClean="0">
                <a:effectLst>
                  <a:outerShdw blurRad="38100" dist="38100" dir="2700000" algn="tl">
                    <a:srgbClr val="000000">
                      <a:alpha val="43137"/>
                    </a:srgbClr>
                  </a:outerShdw>
                </a:effectLst>
              </a:rPr>
              <a:t>Proofreading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sz="half" idx="1"/>
          </p:nvPr>
        </p:nvSpPr>
        <p:spPr>
          <a:xfrm>
            <a:off x="239151" y="1825625"/>
            <a:ext cx="11774657" cy="4351338"/>
          </a:xfrm>
        </p:spPr>
        <p:txBody>
          <a:bodyPr>
            <a:normAutofit/>
          </a:bodyPr>
          <a:lstStyle/>
          <a:p>
            <a:r>
              <a:rPr lang="en-US" dirty="0"/>
              <a:t/>
            </a:r>
            <a:br>
              <a:rPr lang="en-US" dirty="0"/>
            </a:br>
            <a:r>
              <a:rPr lang="en-US" dirty="0"/>
              <a:t>Proofreading is the final review to catch grammar, spelling, punctuation, and formatting mistakes. </a:t>
            </a:r>
            <a:endParaRPr lang="en-US" dirty="0" smtClean="0"/>
          </a:p>
          <a:p>
            <a:r>
              <a:rPr lang="en-US" dirty="0" smtClean="0"/>
              <a:t>Unlike </a:t>
            </a:r>
            <a:r>
              <a:rPr lang="en-US" dirty="0"/>
              <a:t>revising, this step focuses on sentence-level mistakes and fine-tuning details to ensure your work is polished and professional. </a:t>
            </a:r>
            <a:endParaRPr lang="en-US" dirty="0" smtClean="0"/>
          </a:p>
          <a:p>
            <a:r>
              <a:rPr lang="en-US" dirty="0" smtClean="0"/>
              <a:t>A </a:t>
            </a:r>
            <a:r>
              <a:rPr lang="en-US" dirty="0"/>
              <a:t>careful proofread helps your writing make the best possible impression on your reader.</a:t>
            </a:r>
          </a:p>
        </p:txBody>
      </p:sp>
    </p:spTree>
    <p:extLst>
      <p:ext uri="{BB962C8B-B14F-4D97-AF65-F5344CB8AC3E}">
        <p14:creationId xmlns:p14="http://schemas.microsoft.com/office/powerpoint/2010/main" val="363247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istockphoto-1143672593-612x612"/>
          <p:cNvPicPr>
            <a:picLocks noGrp="1" noChangeAspect="1"/>
          </p:cNvPicPr>
          <p:nvPr isPhoto="1"/>
        </p:nvPicPr>
        <p:blipFill>
          <a:blip r:embed="rId2" cstate="print">
            <a:lum/>
            <a:extLst>
              <a:ext uri="{BEBA8EAE-BF5A-486C-A8C5-ECC9F3942E4B}">
                <a14:imgProps xmlns:a14="http://schemas.microsoft.com/office/drawing/2010/main">
                  <a14:imgLayer>
                    <a14:imgEffect>
                      <a14:colorTemperature colorTemp="1865"/>
                    </a14:imgEffect>
                    <a14:imgEffect>
                      <a14:saturation sat="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a:effectLst>
            <a:glow rad="127000">
              <a:schemeClr val="accent1">
                <a:lumMod val="50000"/>
              </a:schemeClr>
            </a:glow>
          </a:effectLst>
        </p:spPr>
      </p:pic>
      <p:sp>
        <p:nvSpPr>
          <p:cNvPr id="2" name="Title 1"/>
          <p:cNvSpPr>
            <a:spLocks noGrp="1"/>
          </p:cNvSpPr>
          <p:nvPr>
            <p:ph type="title"/>
          </p:nvPr>
        </p:nvSpPr>
        <p:spPr>
          <a:xfrm>
            <a:off x="838200" y="365126"/>
            <a:ext cx="10515600" cy="1308930"/>
          </a:xfrm>
        </p:spPr>
        <p:txBody>
          <a:bodyPr/>
          <a:lstStyle/>
          <a:p>
            <a:pPr algn="ctr"/>
            <a:r>
              <a:rPr lang="en-US" b="1" dirty="0">
                <a:effectLst>
                  <a:outerShdw blurRad="38100" dist="38100" dir="2700000" algn="tl">
                    <a:srgbClr val="000000">
                      <a:alpha val="43137"/>
                    </a:srgbClr>
                  </a:outerShdw>
                </a:effectLst>
              </a:rPr>
              <a:t>What is Pre-Writing ?</a:t>
            </a:r>
            <a:br>
              <a:rPr lang="en-US" b="1" dirty="0">
                <a:effectLst>
                  <a:outerShdw blurRad="38100" dist="38100" dir="2700000" algn="tl">
                    <a:srgbClr val="000000">
                      <a:alpha val="43137"/>
                    </a:srgbClr>
                  </a:outerShdw>
                </a:effectLst>
              </a:rPr>
            </a:br>
            <a:endParaRPr lang="en-US" dirty="0"/>
          </a:p>
        </p:txBody>
      </p:sp>
      <p:sp>
        <p:nvSpPr>
          <p:cNvPr id="3" name="Content Placeholder 2"/>
          <p:cNvSpPr>
            <a:spLocks noGrp="1"/>
          </p:cNvSpPr>
          <p:nvPr>
            <p:ph idx="1"/>
          </p:nvPr>
        </p:nvSpPr>
        <p:spPr>
          <a:xfrm>
            <a:off x="154745" y="1181686"/>
            <a:ext cx="12037255" cy="5676314"/>
          </a:xfrm>
        </p:spPr>
        <p:txBody>
          <a:bodyPr>
            <a:normAutofit/>
          </a:bodyPr>
          <a:lstStyle/>
          <a:p>
            <a:pPr marL="285750" indent="-285750" algn="just"/>
            <a:r>
              <a:rPr lang="en-US" sz="4000" b="1" dirty="0">
                <a:solidFill>
                  <a:srgbClr val="FF0000"/>
                </a:solidFill>
                <a:effectLst>
                  <a:outerShdw blurRad="38100" dist="38100" dir="2700000" algn="tl">
                    <a:srgbClr val="000000">
                      <a:alpha val="43137"/>
                    </a:srgbClr>
                  </a:outerShdw>
                </a:effectLst>
              </a:rPr>
              <a:t>The term "pre-writing" has two different meanings. </a:t>
            </a:r>
          </a:p>
          <a:p>
            <a:pPr marL="285750" indent="-285750" algn="just"/>
            <a:r>
              <a:rPr lang="en-US" sz="4000" b="1" dirty="0">
                <a:solidFill>
                  <a:srgbClr val="FF0000"/>
                </a:solidFill>
                <a:effectLst>
                  <a:outerShdw blurRad="38100" dist="38100" dir="2700000" algn="tl">
                    <a:srgbClr val="000000">
                      <a:alpha val="43137"/>
                    </a:srgbClr>
                  </a:outerShdw>
                </a:effectLst>
              </a:rPr>
              <a:t>Hand skills to start </a:t>
            </a:r>
            <a:r>
              <a:rPr lang="en-US" sz="4000" b="1" dirty="0" smtClean="0">
                <a:solidFill>
                  <a:srgbClr val="FF0000"/>
                </a:solidFill>
                <a:effectLst>
                  <a:outerShdw blurRad="38100" dist="38100" dir="2700000" algn="tl">
                    <a:srgbClr val="000000">
                      <a:alpha val="43137"/>
                    </a:srgbClr>
                  </a:outerShdw>
                </a:effectLst>
              </a:rPr>
              <a:t>Writing.</a:t>
            </a:r>
            <a:endParaRPr lang="en-US" sz="4000" b="1" dirty="0">
              <a:solidFill>
                <a:srgbClr val="FF0000"/>
              </a:solidFill>
              <a:effectLst>
                <a:outerShdw blurRad="38100" dist="38100" dir="2700000" algn="tl">
                  <a:srgbClr val="000000">
                    <a:alpha val="43137"/>
                  </a:srgbClr>
                </a:outerShdw>
              </a:effectLst>
            </a:endParaRPr>
          </a:p>
          <a:p>
            <a:pPr marL="285750" indent="-285750" algn="just"/>
            <a:r>
              <a:rPr lang="en-US" sz="4000" b="1" dirty="0">
                <a:solidFill>
                  <a:srgbClr val="FF0000"/>
                </a:solidFill>
                <a:effectLst>
                  <a:outerShdw blurRad="38100" dist="38100" dir="2700000" algn="tl">
                    <a:srgbClr val="000000">
                      <a:alpha val="43137"/>
                    </a:srgbClr>
                  </a:outerShdw>
                </a:effectLst>
              </a:rPr>
              <a:t>The first stage of the writing process, followed by drafting, revision, editing and publishing. </a:t>
            </a:r>
            <a:endParaRPr lang="en-US" sz="4000" b="1" dirty="0" smtClean="0">
              <a:solidFill>
                <a:srgbClr val="FF0000"/>
              </a:solidFill>
              <a:effectLst>
                <a:outerShdw blurRad="38100" dist="38100" dir="2700000" algn="tl">
                  <a:srgbClr val="000000">
                    <a:alpha val="43137"/>
                  </a:srgbClr>
                </a:outerShdw>
              </a:effectLst>
            </a:endParaRPr>
          </a:p>
          <a:p>
            <a:pPr algn="just"/>
            <a:r>
              <a:rPr lang="en-US" sz="4000" b="1" dirty="0">
                <a:solidFill>
                  <a:srgbClr val="FF0000"/>
                </a:solidFill>
                <a:effectLst>
                  <a:outerShdw blurRad="38100" dist="38100" dir="2700000" algn="tl">
                    <a:srgbClr val="000000">
                      <a:alpha val="43137"/>
                    </a:srgbClr>
                  </a:outerShdw>
                </a:effectLst>
              </a:rPr>
              <a:t>Collection of ideas related to a particular topic before writing </a:t>
            </a:r>
          </a:p>
          <a:p>
            <a:pPr algn="just"/>
            <a:r>
              <a:rPr lang="en-US" sz="4000" b="1" dirty="0">
                <a:solidFill>
                  <a:srgbClr val="FF0000"/>
                </a:solidFill>
                <a:effectLst>
                  <a:outerShdw blurRad="38100" dist="38100" dir="2700000" algn="tl">
                    <a:srgbClr val="000000">
                      <a:alpha val="43137"/>
                    </a:srgbClr>
                  </a:outerShdw>
                </a:effectLst>
              </a:rPr>
              <a:t>Prewriting deserves much time and attention as it helps solve a problem called "writer's block".</a:t>
            </a:r>
          </a:p>
          <a:p>
            <a:pPr marL="0" indent="0" algn="just">
              <a:buNone/>
            </a:pPr>
            <a:endParaRPr lang="en-US" sz="4000" dirty="0">
              <a:solidFill>
                <a:srgbClr val="FF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8741792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42761"/>
          </a:xfrm>
        </p:spPr>
        <p:txBody>
          <a:bodyPr>
            <a:normAutofit fontScale="90000"/>
          </a:bodyPr>
          <a:lstStyle/>
          <a:p>
            <a:pPr algn="ctr"/>
            <a:r>
              <a:rPr lang="en-US" sz="6000" b="1" dirty="0">
                <a:effectLst>
                  <a:outerShdw blurRad="38100" dist="38100" dir="2700000" algn="tl">
                    <a:srgbClr val="000000">
                      <a:alpha val="43137"/>
                    </a:srgbClr>
                  </a:outerShdw>
                </a:effectLst>
              </a:rPr>
              <a:t>How to get start according to Ramet</a:t>
            </a:r>
            <a:r>
              <a:rPr lang="en-US" dirty="0"/>
              <a:t/>
            </a:r>
            <a:br>
              <a:rPr lang="en-US" dirty="0"/>
            </a:br>
            <a:endParaRPr lang="en-US" dirty="0"/>
          </a:p>
        </p:txBody>
      </p:sp>
      <p:sp>
        <p:nvSpPr>
          <p:cNvPr id="3" name="Content Placeholder 2"/>
          <p:cNvSpPr>
            <a:spLocks noGrp="1"/>
          </p:cNvSpPr>
          <p:nvPr>
            <p:ph idx="1"/>
          </p:nvPr>
        </p:nvSpPr>
        <p:spPr>
          <a:xfrm>
            <a:off x="406401" y="1407886"/>
            <a:ext cx="11437256" cy="5167085"/>
          </a:xfrm>
        </p:spPr>
        <p:txBody>
          <a:bodyPr/>
          <a:lstStyle/>
          <a:p>
            <a:pPr algn="just"/>
            <a:r>
              <a:rPr lang="en-US" sz="3600" dirty="0" smtClean="0"/>
              <a:t>Do </a:t>
            </a:r>
            <a:r>
              <a:rPr lang="en-US" sz="3600" dirty="0"/>
              <a:t>you read extensively? </a:t>
            </a:r>
          </a:p>
          <a:p>
            <a:pPr algn="just"/>
            <a:r>
              <a:rPr lang="en-US" sz="3600" dirty="0" smtClean="0"/>
              <a:t>Have </a:t>
            </a:r>
            <a:r>
              <a:rPr lang="en-US" sz="3600" dirty="0"/>
              <a:t>you set aside a time to write each day? </a:t>
            </a:r>
          </a:p>
          <a:p>
            <a:pPr algn="just"/>
            <a:r>
              <a:rPr lang="en-US" sz="3600" dirty="0" smtClean="0"/>
              <a:t>Do </a:t>
            </a:r>
            <a:r>
              <a:rPr lang="en-US" sz="3600" dirty="0"/>
              <a:t>you keep a notebook of ideas? </a:t>
            </a:r>
          </a:p>
          <a:p>
            <a:pPr algn="just"/>
            <a:r>
              <a:rPr lang="en-US" sz="3600" dirty="0" smtClean="0"/>
              <a:t>Do </a:t>
            </a:r>
            <a:r>
              <a:rPr lang="en-US" sz="3600" dirty="0"/>
              <a:t>you have a good dictionary, thesaurus and access to reference material? </a:t>
            </a:r>
          </a:p>
          <a:p>
            <a:pPr algn="just"/>
            <a:r>
              <a:rPr lang="en-US" sz="3600" dirty="0" smtClean="0"/>
              <a:t>Have </a:t>
            </a:r>
            <a:r>
              <a:rPr lang="en-US" sz="3600" dirty="0"/>
              <a:t>you considered how the use of computers impacts on your own writing </a:t>
            </a:r>
            <a:r>
              <a:rPr lang="en-US" sz="3600" dirty="0" smtClean="0"/>
              <a:t>ambitions?</a:t>
            </a:r>
          </a:p>
          <a:p>
            <a:pPr algn="just"/>
            <a:r>
              <a:rPr lang="en-US" sz="3600" dirty="0" smtClean="0"/>
              <a:t>Are </a:t>
            </a:r>
            <a:r>
              <a:rPr lang="en-US" sz="3600" dirty="0"/>
              <a:t>you writing about what you know?  </a:t>
            </a:r>
          </a:p>
          <a:p>
            <a:pPr marL="0" indent="0">
              <a:buNone/>
            </a:pPr>
            <a:endParaRPr lang="en-US" dirty="0"/>
          </a:p>
        </p:txBody>
      </p:sp>
    </p:spTree>
    <p:extLst>
      <p:ext uri="{BB962C8B-B14F-4D97-AF65-F5344CB8AC3E}">
        <p14:creationId xmlns:p14="http://schemas.microsoft.com/office/powerpoint/2010/main" val="4147602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84704"/>
          </a:xfrm>
        </p:spPr>
        <p:txBody>
          <a:bodyPr>
            <a:normAutofit/>
          </a:bodyPr>
          <a:lstStyle/>
          <a:p>
            <a:pPr algn="ctr"/>
            <a:r>
              <a:rPr lang="en-US" sz="5400" b="1" dirty="0" smtClean="0">
                <a:effectLst>
                  <a:outerShdw blurRad="38100" dist="38100" dir="2700000" algn="tl">
                    <a:srgbClr val="000000">
                      <a:alpha val="43137"/>
                    </a:srgbClr>
                  </a:outerShdw>
                </a:effectLst>
              </a:rPr>
              <a:t>Importance of Pre-writing </a:t>
            </a:r>
            <a:endParaRPr lang="en-US" sz="54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06400" y="1349830"/>
            <a:ext cx="11480800" cy="5167084"/>
          </a:xfrm>
        </p:spPr>
        <p:txBody>
          <a:bodyPr/>
          <a:lstStyle/>
          <a:p>
            <a:pPr algn="just"/>
            <a:r>
              <a:rPr lang="en-US" sz="3200" dirty="0"/>
              <a:t>The purpose of prewriting is to systematically think, which means to understand how the distinct parts </a:t>
            </a:r>
            <a:r>
              <a:rPr lang="en-US" sz="3200" b="1" u="sng" dirty="0">
                <a:solidFill>
                  <a:srgbClr val="FF0000"/>
                </a:solidFill>
                <a:effectLst>
                  <a:outerShdw blurRad="38100" dist="38100" dir="2700000" algn="tl">
                    <a:srgbClr val="000000">
                      <a:alpha val="43137"/>
                    </a:srgbClr>
                  </a:outerShdw>
                </a:effectLst>
              </a:rPr>
              <a:t>(remember: your position + expert opinion = balanced union of ideas) </a:t>
            </a:r>
            <a:r>
              <a:rPr lang="en-US" sz="3200" dirty="0"/>
              <a:t>fit into and influence one another as a whole</a:t>
            </a:r>
            <a:r>
              <a:rPr lang="en-US" sz="3200" dirty="0" smtClean="0"/>
              <a:t>.</a:t>
            </a:r>
          </a:p>
          <a:p>
            <a:pPr algn="just"/>
            <a:r>
              <a:rPr lang="en-US" sz="3200" dirty="0" smtClean="0"/>
              <a:t> </a:t>
            </a:r>
            <a:r>
              <a:rPr lang="en-US" sz="3200" dirty="0"/>
              <a:t>Prewriting techniques help you determine which </a:t>
            </a:r>
            <a:r>
              <a:rPr lang="en-US" sz="3200" b="1" u="sng" dirty="0">
                <a:solidFill>
                  <a:srgbClr val="FF0000"/>
                </a:solidFill>
                <a:effectLst>
                  <a:outerShdw blurRad="38100" dist="38100" dir="2700000" algn="tl">
                    <a:srgbClr val="000000">
                      <a:alpha val="43137"/>
                    </a:srgbClr>
                  </a:outerShdw>
                </a:effectLst>
              </a:rPr>
              <a:t>rhetorical approach </a:t>
            </a:r>
            <a:r>
              <a:rPr lang="en-US" sz="3200" dirty="0"/>
              <a:t>to take and how to implement it</a:t>
            </a:r>
            <a:r>
              <a:rPr lang="en-US" sz="3200" dirty="0" smtClean="0"/>
              <a:t>.</a:t>
            </a:r>
          </a:p>
          <a:p>
            <a:pPr algn="just"/>
            <a:r>
              <a:rPr lang="en-US" sz="3200" dirty="0"/>
              <a:t>It helps to find out clues </a:t>
            </a:r>
            <a:r>
              <a:rPr lang="en-US" sz="3200" b="1" dirty="0">
                <a:solidFill>
                  <a:srgbClr val="FF0000"/>
                </a:solidFill>
                <a:effectLst>
                  <a:outerShdw blurRad="38100" dist="38100" dir="2700000" algn="tl">
                    <a:srgbClr val="000000">
                      <a:alpha val="43137"/>
                    </a:srgbClr>
                  </a:outerShdw>
                </a:effectLst>
              </a:rPr>
              <a:t>how to start.</a:t>
            </a:r>
          </a:p>
          <a:p>
            <a:pPr marL="0" indent="0">
              <a:buNone/>
            </a:pPr>
            <a:endParaRPr lang="en-US" dirty="0"/>
          </a:p>
        </p:txBody>
      </p:sp>
    </p:spTree>
    <p:extLst>
      <p:ext uri="{BB962C8B-B14F-4D97-AF65-F5344CB8AC3E}">
        <p14:creationId xmlns:p14="http://schemas.microsoft.com/office/powerpoint/2010/main" val="333753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3634913496"/>
              </p:ext>
            </p:extLst>
          </p:nvPr>
        </p:nvGraphicFramePr>
        <p:xfrm>
          <a:off x="0" y="154745"/>
          <a:ext cx="12084147" cy="65555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21805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stockphoto-2066272044-612x612"/>
          <p:cNvPicPr>
            <a:picLocks noGrp="1" noChangeAspect="1"/>
          </p:cNvPicPr>
          <p:nvPr isPhoto="1"/>
        </p:nvPicPr>
        <p:blipFill>
          <a:blip r:embed="rId2" cstate="print">
            <a:lum/>
            <a:extLst>
              <a:ext uri="{BEBA8EAE-BF5A-486C-A8C5-ECC9F3942E4B}">
                <a14:imgProps xmlns:a14="http://schemas.microsoft.com/office/drawing/2010/main">
                  <a14:imgLayer r:embed="rId3">
                    <a14:imgEffect>
                      <a14:colorTemperature colorTemp="1500"/>
                    </a14:imgEffect>
                    <a14:imgEffect>
                      <a14:saturation sat="0"/>
                    </a14:imgEffect>
                  </a14:imgLayer>
                </a14:imgProps>
              </a:ext>
              <a:ext uri="{28A0092B-C50C-407E-A947-70E740481C1C}">
                <a14:useLocalDpi xmlns:a14="http://schemas.microsoft.com/office/drawing/2010/main" val="0"/>
              </a:ext>
            </a:extLst>
          </a:blip>
          <a:stretch>
            <a:fillRect/>
          </a:stretch>
        </p:blipFill>
        <p:spPr>
          <a:xfrm>
            <a:off x="0" y="1588"/>
            <a:ext cx="12192000" cy="6853237"/>
          </a:xfrm>
          <a:prstGeom prst="rect">
            <a:avLst/>
          </a:prstGeom>
        </p:spPr>
      </p:pic>
      <p:pic>
        <p:nvPicPr>
          <p:cNvPr id="4" name="Content Placeholder 3"/>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0" y="1153550"/>
            <a:ext cx="12192000" cy="5598942"/>
          </a:xfrm>
        </p:spPr>
      </p:pic>
      <p:sp>
        <p:nvSpPr>
          <p:cNvPr id="2" name="Title 1"/>
          <p:cNvSpPr>
            <a:spLocks noGrp="1"/>
          </p:cNvSpPr>
          <p:nvPr>
            <p:ph type="title"/>
          </p:nvPr>
        </p:nvSpPr>
        <p:spPr>
          <a:xfrm>
            <a:off x="838200" y="154109"/>
            <a:ext cx="10515600" cy="999441"/>
          </a:xfrm>
        </p:spPr>
        <p:txBody>
          <a:bodyPr>
            <a:normAutofit/>
          </a:bodyPr>
          <a:lstStyle/>
          <a:p>
            <a:pPr algn="ctr"/>
            <a:endParaRPr lang="en-US" sz="5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18923859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9103"/>
          </a:xfrm>
        </p:spPr>
        <p:txBody>
          <a:bodyPr>
            <a:normAutofit/>
          </a:bodyPr>
          <a:lstStyle/>
          <a:p>
            <a:pPr algn="ctr"/>
            <a:r>
              <a:rPr lang="en-US" sz="4800" b="1" dirty="0">
                <a:effectLst>
                  <a:outerShdw blurRad="38100" dist="38100" dir="2700000" algn="tl">
                    <a:srgbClr val="000000">
                      <a:alpha val="43137"/>
                    </a:srgbClr>
                  </a:outerShdw>
                </a:effectLst>
              </a:rPr>
              <a:t>Invention activities</a:t>
            </a:r>
            <a:endParaRPr lang="en-US" sz="4800" dirty="0"/>
          </a:p>
        </p:txBody>
      </p:sp>
      <p:pic>
        <p:nvPicPr>
          <p:cNvPr id="4" name="Picture 3" descr="istockphoto-2066272044-612x612"/>
          <p:cNvPicPr>
            <a:picLocks noGrp="1" noChangeAspect="1"/>
          </p:cNvPicPr>
          <p:nvPr isPhoto="1"/>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colorTemperature colorTemp="8989"/>
                    </a14:imgEffect>
                    <a14:imgEffect>
                      <a14:saturation sat="0"/>
                    </a14:imgEffect>
                  </a14:imgLayer>
                </a14:imgProps>
              </a:ext>
              <a:ext uri="{28A0092B-C50C-407E-A947-70E740481C1C}">
                <a14:useLocalDpi xmlns:a14="http://schemas.microsoft.com/office/drawing/2010/main" val="0"/>
              </a:ext>
            </a:extLst>
          </a:blip>
          <a:stretch>
            <a:fillRect/>
          </a:stretch>
        </p:blipFill>
        <p:spPr>
          <a:xfrm>
            <a:off x="0" y="1588"/>
            <a:ext cx="12192000" cy="6853237"/>
          </a:xfrm>
          <a:prstGeom prst="rect">
            <a:avLst/>
          </a:prstGeom>
          <a:pattFill prst="ltUpDiag">
            <a:fgClr>
              <a:schemeClr val="accent1"/>
            </a:fgClr>
            <a:bgClr>
              <a:schemeClr val="bg1"/>
            </a:bgClr>
          </a:pattFill>
        </p:spPr>
      </p:pic>
      <p:sp>
        <p:nvSpPr>
          <p:cNvPr id="3" name="Content Placeholder 2"/>
          <p:cNvSpPr>
            <a:spLocks noGrp="1"/>
          </p:cNvSpPr>
          <p:nvPr>
            <p:ph idx="1"/>
          </p:nvPr>
        </p:nvSpPr>
        <p:spPr>
          <a:xfrm>
            <a:off x="365761" y="365125"/>
            <a:ext cx="11465168" cy="5811838"/>
          </a:xfrm>
          <a:effectLst>
            <a:outerShdw blurRad="50800" dist="50800" dir="5400000" algn="ctr" rotWithShape="0">
              <a:srgbClr val="000000">
                <a:alpha val="43137"/>
              </a:srgbClr>
            </a:outerShdw>
          </a:effectLst>
        </p:spPr>
        <p:txBody>
          <a:bodyPr/>
          <a:lstStyle/>
          <a:p>
            <a:pPr marL="571500" indent="-571500"/>
            <a:r>
              <a:rPr lang="en-US" sz="4000" dirty="0"/>
              <a:t>Invention activities available to the beginning writers to choose </a:t>
            </a:r>
            <a:r>
              <a:rPr lang="en-US" sz="4000" dirty="0">
                <a:solidFill>
                  <a:srgbClr val="FF0000"/>
                </a:solidFill>
              </a:rPr>
              <a:t>what is suitable for them</a:t>
            </a:r>
            <a:r>
              <a:rPr lang="en-US" sz="4000" dirty="0"/>
              <a:t>.</a:t>
            </a:r>
          </a:p>
          <a:p>
            <a:pPr marL="571500" indent="-571500"/>
            <a:r>
              <a:rPr lang="en-US" sz="4000" dirty="0"/>
              <a:t>Out of nonsense and ramblings, something good will come. Some idea will catch fire right there on the page, there will </a:t>
            </a:r>
            <a:r>
              <a:rPr lang="en-US" sz="4000" dirty="0">
                <a:solidFill>
                  <a:srgbClr val="FF0000"/>
                </a:solidFill>
              </a:rPr>
              <a:t>be sparks, and patterns will emerge.</a:t>
            </a:r>
          </a:p>
          <a:p>
            <a:pPr marL="571500" indent="-571500"/>
            <a:r>
              <a:rPr lang="en-US" sz="4000" dirty="0"/>
              <a:t>Hit the nail on the head </a:t>
            </a:r>
          </a:p>
          <a:p>
            <a:pPr marL="0" indent="0">
              <a:buNone/>
            </a:pPr>
            <a:endParaRPr lang="en-US" dirty="0"/>
          </a:p>
        </p:txBody>
      </p:sp>
    </p:spTree>
    <p:extLst>
      <p:ext uri="{BB962C8B-B14F-4D97-AF65-F5344CB8AC3E}">
        <p14:creationId xmlns:p14="http://schemas.microsoft.com/office/powerpoint/2010/main" val="3200762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600" b="1" dirty="0">
                <a:effectLst>
                  <a:outerShdw blurRad="38100" dist="38100" dir="2700000" algn="tl">
                    <a:srgbClr val="000000">
                      <a:alpha val="43137"/>
                    </a:srgbClr>
                  </a:outerShdw>
                </a:effectLst>
              </a:rPr>
              <a:t>Brainstorming</a:t>
            </a:r>
            <a:endParaRPr lang="en-US" sz="6600" dirty="0"/>
          </a:p>
        </p:txBody>
      </p:sp>
      <p:pic>
        <p:nvPicPr>
          <p:cNvPr id="2050" name="Picture 2" descr="Green head"/>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1825625"/>
            <a:ext cx="11353799"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30424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a:effectLst>
                  <a:outerShdw blurRad="38100" dist="38100" dir="2700000" algn="tl">
                    <a:srgbClr val="000000">
                      <a:alpha val="43137"/>
                    </a:srgbClr>
                  </a:outerShdw>
                </a:effectLst>
              </a:rPr>
              <a:t>Brainstorming</a:t>
            </a:r>
          </a:p>
        </p:txBody>
      </p:sp>
      <p:sp>
        <p:nvSpPr>
          <p:cNvPr id="3" name="Content Placeholder 2"/>
          <p:cNvSpPr>
            <a:spLocks noGrp="1"/>
          </p:cNvSpPr>
          <p:nvPr>
            <p:ph sz="half" idx="1"/>
          </p:nvPr>
        </p:nvSpPr>
        <p:spPr>
          <a:xfrm>
            <a:off x="154745" y="1908725"/>
            <a:ext cx="6611815" cy="4268238"/>
          </a:xfrm>
        </p:spPr>
        <p:txBody>
          <a:bodyPr>
            <a:normAutofit/>
          </a:bodyPr>
          <a:lstStyle/>
          <a:p>
            <a:pPr algn="just"/>
            <a:r>
              <a:rPr lang="en-US" dirty="0"/>
              <a:t>Brainstorming entails generating ideas before writing begins. It’s your opportunity to explore different angles, gather inspiration, and start uncovering what you really want to say. There are many ways to brainstorm. Whether you jot down a list, draw a mind map, or </a:t>
            </a:r>
            <a:r>
              <a:rPr lang="en-US" dirty="0" smtClean="0"/>
              <a:t>free write </a:t>
            </a:r>
            <a:r>
              <a:rPr lang="en-US" dirty="0"/>
              <a:t>without stopping, the goal is to open up possibilities without worrying about structure or quality just yet.</a:t>
            </a:r>
          </a:p>
        </p:txBody>
      </p:sp>
      <p:pic>
        <p:nvPicPr>
          <p:cNvPr id="1026" name="Picture 2" descr="Green head"/>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172200" y="1908725"/>
            <a:ext cx="5181600" cy="4185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0345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 </a:t>
            </a:r>
            <a:br>
              <a:rPr lang="en-US" dirty="0"/>
            </a:br>
            <a:r>
              <a:rPr lang="en-US" sz="6700" b="1" dirty="0">
                <a:effectLst>
                  <a:outerShdw blurRad="38100" dist="38100" dir="2700000" algn="tl">
                    <a:srgbClr val="000000">
                      <a:alpha val="43137"/>
                    </a:srgbClr>
                  </a:outerShdw>
                </a:effectLst>
              </a:rPr>
              <a:t>Brainstorming</a:t>
            </a:r>
            <a:r>
              <a:rPr lang="en-US" dirty="0"/>
              <a:t/>
            </a:r>
            <a:br>
              <a:rPr lang="en-US" dirty="0"/>
            </a:br>
            <a:endParaRPr lang="en-US" dirty="0"/>
          </a:p>
        </p:txBody>
      </p:sp>
      <p:sp>
        <p:nvSpPr>
          <p:cNvPr id="3" name="Content Placeholder 2"/>
          <p:cNvSpPr>
            <a:spLocks noGrp="1"/>
          </p:cNvSpPr>
          <p:nvPr>
            <p:ph idx="1"/>
          </p:nvPr>
        </p:nvSpPr>
        <p:spPr/>
        <p:txBody>
          <a:bodyPr/>
          <a:lstStyle/>
          <a:p>
            <a:r>
              <a:rPr lang="en-US" sz="4000" b="1" dirty="0">
                <a:effectLst>
                  <a:outerShdw blurRad="38100" dist="38100" dir="2700000" algn="tl">
                    <a:srgbClr val="000000">
                      <a:alpha val="43137"/>
                    </a:srgbClr>
                  </a:outerShdw>
                </a:effectLst>
              </a:rPr>
              <a:t>Finding many solutions of a </a:t>
            </a:r>
            <a:r>
              <a:rPr lang="en-US" sz="4000" b="1" dirty="0" smtClean="0">
                <a:effectLst>
                  <a:outerShdw blurRad="38100" dist="38100" dir="2700000" algn="tl">
                    <a:srgbClr val="000000">
                      <a:alpha val="43137"/>
                    </a:srgbClr>
                  </a:outerShdw>
                </a:effectLst>
              </a:rPr>
              <a:t>problem. </a:t>
            </a:r>
            <a:endParaRPr lang="en-US" sz="4000" b="1" dirty="0">
              <a:effectLst>
                <a:outerShdw blurRad="38100" dist="38100" dir="2700000" algn="tl">
                  <a:srgbClr val="000000">
                    <a:alpha val="43137"/>
                  </a:srgbClr>
                </a:outerShdw>
              </a:effectLst>
            </a:endParaRPr>
          </a:p>
          <a:p>
            <a:r>
              <a:rPr lang="en-US" sz="4000" b="1" dirty="0">
                <a:effectLst>
                  <a:outerShdw blurRad="38100" dist="38100" dir="2700000" algn="tl">
                    <a:srgbClr val="000000">
                      <a:alpha val="43137"/>
                    </a:srgbClr>
                  </a:outerShdw>
                </a:effectLst>
              </a:rPr>
              <a:t>Thinking new </a:t>
            </a:r>
            <a:r>
              <a:rPr lang="en-US" sz="4000" b="1" dirty="0" smtClean="0">
                <a:effectLst>
                  <a:outerShdw blurRad="38100" dist="38100" dir="2700000" algn="tl">
                    <a:srgbClr val="000000">
                      <a:alpha val="43137"/>
                    </a:srgbClr>
                  </a:outerShdw>
                </a:effectLst>
              </a:rPr>
              <a:t>ideas. </a:t>
            </a:r>
            <a:endParaRPr lang="en-US" sz="4000" b="1" dirty="0">
              <a:effectLst>
                <a:outerShdw blurRad="38100" dist="38100" dir="2700000" algn="tl">
                  <a:srgbClr val="000000">
                    <a:alpha val="43137"/>
                  </a:srgbClr>
                </a:outerShdw>
              </a:effectLst>
            </a:endParaRPr>
          </a:p>
          <a:p>
            <a:r>
              <a:rPr lang="en-US" sz="4000" b="1" dirty="0">
                <a:effectLst>
                  <a:outerShdw blurRad="38100" dist="38100" dir="2700000" algn="tl">
                    <a:srgbClr val="000000">
                      <a:alpha val="43137"/>
                    </a:srgbClr>
                  </a:outerShdw>
                </a:effectLst>
              </a:rPr>
              <a:t>Starting stimulation process to think new </a:t>
            </a:r>
            <a:r>
              <a:rPr lang="en-US" sz="4000" b="1" dirty="0" smtClean="0">
                <a:effectLst>
                  <a:outerShdw blurRad="38100" dist="38100" dir="2700000" algn="tl">
                    <a:srgbClr val="000000">
                      <a:alpha val="43137"/>
                    </a:srgbClr>
                  </a:outerShdw>
                </a:effectLst>
              </a:rPr>
              <a:t>ideas. </a:t>
            </a:r>
            <a:endParaRPr lang="en-US" sz="4000" b="1" dirty="0">
              <a:effectLst>
                <a:outerShdw blurRad="38100" dist="38100" dir="2700000" algn="tl">
                  <a:srgbClr val="000000">
                    <a:alpha val="43137"/>
                  </a:srgbClr>
                </a:outerShdw>
              </a:effectLst>
            </a:endParaRPr>
          </a:p>
          <a:p>
            <a:r>
              <a:rPr lang="en-US" sz="4000" b="1" dirty="0">
                <a:effectLst>
                  <a:outerShdw blurRad="38100" dist="38100" dir="2700000" algn="tl">
                    <a:srgbClr val="000000">
                      <a:alpha val="43137"/>
                    </a:srgbClr>
                  </a:outerShdw>
                </a:effectLst>
              </a:rPr>
              <a:t>Think out of the </a:t>
            </a:r>
            <a:r>
              <a:rPr lang="en-US" sz="4000" b="1" dirty="0" smtClean="0">
                <a:effectLst>
                  <a:outerShdw blurRad="38100" dist="38100" dir="2700000" algn="tl">
                    <a:srgbClr val="000000">
                      <a:alpha val="43137"/>
                    </a:srgbClr>
                  </a:outerShdw>
                </a:effectLst>
              </a:rPr>
              <a:t>box. </a:t>
            </a:r>
            <a:endParaRPr lang="en-US" sz="4000" b="1" dirty="0">
              <a:effectLst>
                <a:outerShdw blurRad="38100" dist="38100" dir="2700000" algn="tl">
                  <a:srgbClr val="000000">
                    <a:alpha val="43137"/>
                  </a:srgbClr>
                </a:outerShdw>
              </a:effectLst>
            </a:endParaRPr>
          </a:p>
          <a:p>
            <a:endParaRPr lang="en-US" dirty="0"/>
          </a:p>
        </p:txBody>
      </p:sp>
    </p:spTree>
    <p:extLst>
      <p:ext uri="{BB962C8B-B14F-4D97-AF65-F5344CB8AC3E}">
        <p14:creationId xmlns:p14="http://schemas.microsoft.com/office/powerpoint/2010/main" val="2712328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098" name="Picture 2" descr="https://contenthub-static.grammarly.com/blog/wp-content/uploads/2025/03/Brainstorming-Methods1-760x428.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84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6000" b="1" dirty="0">
                <a:effectLst>
                  <a:outerShdw blurRad="38100" dist="38100" dir="2700000" algn="tl">
                    <a:srgbClr val="000000">
                      <a:alpha val="43137"/>
                    </a:srgbClr>
                  </a:outerShdw>
                </a:effectLst>
              </a:rPr>
              <a:t>Classic brainstorming techniques</a:t>
            </a:r>
          </a:p>
        </p:txBody>
      </p:sp>
      <p:sp>
        <p:nvSpPr>
          <p:cNvPr id="3" name="Content Placeholder 2"/>
          <p:cNvSpPr>
            <a:spLocks noGrp="1"/>
          </p:cNvSpPr>
          <p:nvPr>
            <p:ph idx="1"/>
          </p:nvPr>
        </p:nvSpPr>
        <p:spPr/>
        <p:txBody>
          <a:bodyPr/>
          <a:lstStyle/>
          <a:p>
            <a:endParaRPr lang="en-US" dirty="0"/>
          </a:p>
        </p:txBody>
      </p:sp>
      <p:graphicFrame>
        <p:nvGraphicFramePr>
          <p:cNvPr id="4" name="Diagram 3"/>
          <p:cNvGraphicFramePr/>
          <p:nvPr>
            <p:extLst>
              <p:ext uri="{D42A27DB-BD31-4B8C-83A1-F6EECF244321}">
                <p14:modId xmlns:p14="http://schemas.microsoft.com/office/powerpoint/2010/main" val="1359976406"/>
              </p:ext>
            </p:extLst>
          </p:nvPr>
        </p:nvGraphicFramePr>
        <p:xfrm>
          <a:off x="112542" y="1825625"/>
          <a:ext cx="12079458" cy="4884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1442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322364"/>
          </a:xfrm>
          <a:solidFill>
            <a:srgbClr val="FFFF00"/>
          </a:solidFill>
        </p:spPr>
        <p:txBody>
          <a:bodyPr>
            <a:normAutofit fontScale="90000"/>
          </a:bodyPr>
          <a:lstStyle/>
          <a:p>
            <a:pPr algn="ctr"/>
            <a:r>
              <a:rPr lang="en-US" sz="6000" b="1" dirty="0" smtClean="0">
                <a:effectLst>
                  <a:outerShdw blurRad="38100" dist="38100" dir="2700000" algn="tl">
                    <a:srgbClr val="000000">
                      <a:alpha val="43137"/>
                    </a:srgbClr>
                  </a:outerShdw>
                </a:effectLst>
              </a:rPr>
              <a:t>Free writing</a:t>
            </a:r>
            <a:r>
              <a:rPr lang="en-US" dirty="0" smtClean="0"/>
              <a:t/>
            </a:r>
            <a:br>
              <a:rPr lang="en-US" dirty="0" smtClean="0"/>
            </a:br>
            <a:endParaRPr lang="en-US" dirty="0"/>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026942"/>
            <a:ext cx="12192000" cy="5831058"/>
          </a:xfrm>
        </p:spPr>
      </p:pic>
    </p:spTree>
    <p:extLst>
      <p:ext uri="{BB962C8B-B14F-4D97-AF65-F5344CB8AC3E}">
        <p14:creationId xmlns:p14="http://schemas.microsoft.com/office/powerpoint/2010/main" val="37469419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57238"/>
          </a:xfrm>
        </p:spPr>
        <p:txBody>
          <a:bodyPr>
            <a:normAutofit fontScale="90000"/>
          </a:bodyPr>
          <a:lstStyle/>
          <a:p>
            <a:pPr algn="ctr"/>
            <a:r>
              <a:rPr lang="en-US" sz="6000" b="1" dirty="0">
                <a:effectLst>
                  <a:outerShdw blurRad="38100" dist="38100" dir="2700000" algn="tl">
                    <a:srgbClr val="000000">
                      <a:alpha val="43137"/>
                    </a:srgbClr>
                  </a:outerShdw>
                </a:effectLst>
              </a:rPr>
              <a:t>Free writing</a:t>
            </a:r>
            <a:r>
              <a:rPr lang="en-US" dirty="0"/>
              <a:t/>
            </a:r>
            <a:br>
              <a:rPr lang="en-US" dirty="0"/>
            </a:br>
            <a:endParaRPr lang="en-US" dirty="0"/>
          </a:p>
        </p:txBody>
      </p:sp>
      <p:sp>
        <p:nvSpPr>
          <p:cNvPr id="3" name="Content Placeholder 2"/>
          <p:cNvSpPr>
            <a:spLocks noGrp="1"/>
          </p:cNvSpPr>
          <p:nvPr>
            <p:ph idx="1"/>
          </p:nvPr>
        </p:nvSpPr>
        <p:spPr>
          <a:xfrm>
            <a:off x="464233" y="1111348"/>
            <a:ext cx="11380763" cy="5584874"/>
          </a:xfrm>
        </p:spPr>
        <p:txBody>
          <a:bodyPr/>
          <a:lstStyle/>
          <a:p>
            <a:pPr algn="just"/>
            <a:r>
              <a:rPr lang="en-US" sz="3600" dirty="0"/>
              <a:t>Non-liner activity </a:t>
            </a:r>
          </a:p>
          <a:p>
            <a:pPr algn="just"/>
            <a:r>
              <a:rPr lang="en-US" sz="3600" dirty="0"/>
              <a:t>Fruits in basket </a:t>
            </a:r>
          </a:p>
          <a:p>
            <a:pPr algn="just"/>
            <a:r>
              <a:rPr lang="en-US" sz="3600" dirty="0"/>
              <a:t>Discard unnecessary ideas </a:t>
            </a:r>
          </a:p>
          <a:p>
            <a:pPr algn="just"/>
            <a:r>
              <a:rPr lang="en-US" sz="3600" dirty="0"/>
              <a:t>Like using bush on </a:t>
            </a:r>
            <a:r>
              <a:rPr lang="en-US" sz="3600" dirty="0" smtClean="0"/>
              <a:t>canvas</a:t>
            </a:r>
          </a:p>
          <a:p>
            <a:pPr algn="just"/>
            <a:r>
              <a:rPr lang="en-US" sz="3600" dirty="0"/>
              <a:t>Freewriting is a writing exercise in which an author writes about whatever they are thinking about, </a:t>
            </a:r>
            <a:r>
              <a:rPr lang="en-US" sz="3600" dirty="0">
                <a:solidFill>
                  <a:srgbClr val="FF0000"/>
                </a:solidFill>
              </a:rPr>
              <a:t>without stopping</a:t>
            </a:r>
            <a:r>
              <a:rPr lang="en-US" sz="3600" dirty="0"/>
              <a:t>, for a prescribed about of time. </a:t>
            </a:r>
            <a:r>
              <a:rPr lang="en-US" sz="3600" b="1" u="sng" dirty="0">
                <a:solidFill>
                  <a:srgbClr val="FF0000"/>
                </a:solidFill>
                <a:effectLst>
                  <a:outerShdw blurRad="38100" dist="38100" dir="2700000" algn="tl">
                    <a:srgbClr val="000000">
                      <a:alpha val="43137"/>
                    </a:srgbClr>
                  </a:outerShdw>
                </a:effectLst>
              </a:rPr>
              <a:t>It is similar to stream-of-consciousness </a:t>
            </a:r>
            <a:r>
              <a:rPr lang="en-US" sz="3600" b="1" u="sng" dirty="0" smtClean="0">
                <a:solidFill>
                  <a:srgbClr val="FF0000"/>
                </a:solidFill>
                <a:effectLst>
                  <a:outerShdw blurRad="38100" dist="38100" dir="2700000" algn="tl">
                    <a:srgbClr val="000000">
                      <a:alpha val="43137"/>
                    </a:srgbClr>
                  </a:outerShdw>
                </a:effectLst>
              </a:rPr>
              <a:t>writing</a:t>
            </a:r>
            <a:r>
              <a:rPr lang="en-US" sz="3600" dirty="0" smtClean="0"/>
              <a:t>.</a:t>
            </a:r>
            <a:endParaRPr lang="en-US" sz="3600" dirty="0"/>
          </a:p>
          <a:p>
            <a:pPr marL="0" indent="0">
              <a:buNone/>
            </a:pPr>
            <a:endParaRPr lang="en-US" dirty="0"/>
          </a:p>
        </p:txBody>
      </p:sp>
    </p:spTree>
    <p:extLst>
      <p:ext uri="{BB962C8B-B14F-4D97-AF65-F5344CB8AC3E}">
        <p14:creationId xmlns:p14="http://schemas.microsoft.com/office/powerpoint/2010/main" val="28588101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7577"/>
          </a:xfrm>
        </p:spPr>
        <p:txBody>
          <a:bodyPr>
            <a:normAutofit/>
          </a:bodyPr>
          <a:lstStyle/>
          <a:p>
            <a:pPr algn="ctr"/>
            <a:r>
              <a:rPr lang="en-US" sz="5400" b="1" dirty="0">
                <a:effectLst>
                  <a:outerShdw blurRad="38100" dist="38100" dir="2700000" algn="tl">
                    <a:srgbClr val="000000">
                      <a:alpha val="43137"/>
                    </a:srgbClr>
                  </a:outerShdw>
                </a:effectLst>
              </a:rPr>
              <a:t>Free writing</a:t>
            </a:r>
            <a:endParaRPr lang="en-US" sz="5400" dirty="0"/>
          </a:p>
        </p:txBody>
      </p:sp>
      <p:sp>
        <p:nvSpPr>
          <p:cNvPr id="3" name="Content Placeholder 2"/>
          <p:cNvSpPr>
            <a:spLocks noGrp="1"/>
          </p:cNvSpPr>
          <p:nvPr>
            <p:ph idx="1"/>
          </p:nvPr>
        </p:nvSpPr>
        <p:spPr>
          <a:xfrm>
            <a:off x="838200" y="1533378"/>
            <a:ext cx="10515600" cy="4671721"/>
          </a:xfrm>
        </p:spPr>
        <p:txBody>
          <a:bodyPr>
            <a:normAutofit/>
          </a:bodyPr>
          <a:lstStyle/>
          <a:p>
            <a:pPr algn="just"/>
            <a:r>
              <a:rPr lang="en-US" sz="3600" dirty="0" smtClean="0"/>
              <a:t>It is about flow. </a:t>
            </a:r>
          </a:p>
          <a:p>
            <a:pPr algn="just"/>
            <a:r>
              <a:rPr lang="en-US" sz="3600" dirty="0" smtClean="0"/>
              <a:t>To get the most from this technique, you need to allow your mind to wonder, making connections that lead from one idea to next.</a:t>
            </a:r>
          </a:p>
          <a:p>
            <a:pPr algn="just"/>
            <a:r>
              <a:rPr lang="en-US" sz="3600" dirty="0" smtClean="0"/>
              <a:t>Rather than listing ideas, you freewrite in paragraph form. </a:t>
            </a:r>
          </a:p>
          <a:p>
            <a:pPr algn="just"/>
            <a:r>
              <a:rPr lang="en-US" sz="3600" dirty="0" smtClean="0"/>
              <a:t>But that doesn't mean you should worry about proper sentence structure, spelling, punctuation, or grammar.   </a:t>
            </a:r>
            <a:endParaRPr lang="en-US" sz="3600" dirty="0"/>
          </a:p>
        </p:txBody>
      </p:sp>
    </p:spTree>
    <p:extLst>
      <p:ext uri="{BB962C8B-B14F-4D97-AF65-F5344CB8AC3E}">
        <p14:creationId xmlns:p14="http://schemas.microsoft.com/office/powerpoint/2010/main" val="30106200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b="1" dirty="0">
                <a:effectLst>
                  <a:outerShdw blurRad="38100" dist="38100" dir="2700000" algn="tl">
                    <a:srgbClr val="000000">
                      <a:alpha val="43137"/>
                    </a:srgbClr>
                  </a:outerShdw>
                </a:effectLst>
              </a:rPr>
              <a:t>Free writing</a:t>
            </a:r>
            <a:endParaRPr lang="en-US" sz="5400" dirty="0"/>
          </a:p>
        </p:txBody>
      </p:sp>
      <p:sp>
        <p:nvSpPr>
          <p:cNvPr id="3" name="Content Placeholder 2"/>
          <p:cNvSpPr>
            <a:spLocks noGrp="1"/>
          </p:cNvSpPr>
          <p:nvPr>
            <p:ph idx="1"/>
          </p:nvPr>
        </p:nvSpPr>
        <p:spPr>
          <a:xfrm>
            <a:off x="697832" y="1576137"/>
            <a:ext cx="11141242" cy="3854868"/>
          </a:xfrm>
        </p:spPr>
        <p:txBody>
          <a:bodyPr>
            <a:normAutofit/>
          </a:bodyPr>
          <a:lstStyle/>
          <a:p>
            <a:pPr algn="just"/>
            <a:r>
              <a:rPr lang="en-US" sz="3200" dirty="0" smtClean="0"/>
              <a:t>Good ideas may not appear in the first few minutes of freewriting.</a:t>
            </a:r>
          </a:p>
          <a:p>
            <a:pPr algn="just"/>
            <a:r>
              <a:rPr lang="en-US" sz="3200" dirty="0" smtClean="0"/>
              <a:t>Don’t judge yourself.</a:t>
            </a:r>
          </a:p>
          <a:p>
            <a:pPr algn="just"/>
            <a:r>
              <a:rPr lang="en-US" sz="3200" dirty="0" smtClean="0"/>
              <a:t>Continue writing until the timer goes off. </a:t>
            </a:r>
            <a:endParaRPr lang="en-US" sz="3200" dirty="0"/>
          </a:p>
        </p:txBody>
      </p:sp>
    </p:spTree>
    <p:extLst>
      <p:ext uri="{BB962C8B-B14F-4D97-AF65-F5344CB8AC3E}">
        <p14:creationId xmlns:p14="http://schemas.microsoft.com/office/powerpoint/2010/main" val="29701657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1929" y="154110"/>
            <a:ext cx="10515600" cy="1325563"/>
          </a:xfrm>
        </p:spPr>
        <p:txBody>
          <a:bodyPr>
            <a:normAutofit/>
          </a:bodyPr>
          <a:lstStyle/>
          <a:p>
            <a:pPr algn="ctr"/>
            <a:r>
              <a:rPr lang="en-US" sz="6600" b="1" dirty="0">
                <a:effectLst>
                  <a:outerShdw blurRad="38100" dist="38100" dir="2700000" algn="tl">
                    <a:srgbClr val="000000">
                      <a:alpha val="43137"/>
                    </a:srgbClr>
                  </a:outerShdw>
                </a:effectLst>
              </a:rPr>
              <a:t>Mind Mapping </a:t>
            </a:r>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25082" y="1690688"/>
            <a:ext cx="11859065" cy="516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72784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3794" y="140042"/>
            <a:ext cx="10515600" cy="1325563"/>
          </a:xfrm>
          <a:solidFill>
            <a:schemeClr val="accent1">
              <a:lumMod val="20000"/>
              <a:lumOff val="80000"/>
            </a:schemeClr>
          </a:solidFill>
        </p:spPr>
        <p:txBody>
          <a:bodyPr>
            <a:normAutofit/>
          </a:bodyPr>
          <a:lstStyle/>
          <a:p>
            <a:pPr algn="ctr"/>
            <a:r>
              <a:rPr lang="en-US" sz="6600" b="1" dirty="0" smtClean="0">
                <a:effectLst>
                  <a:outerShdw blurRad="38100" dist="38100" dir="2700000" algn="tl">
                    <a:srgbClr val="000000">
                      <a:alpha val="43137"/>
                    </a:srgbClr>
                  </a:outerShdw>
                </a:effectLst>
              </a:rPr>
              <a:t>Mind Mapping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295422" y="1690688"/>
            <a:ext cx="11662116" cy="5033669"/>
          </a:xfrm>
        </p:spPr>
        <p:txBody>
          <a:bodyPr>
            <a:normAutofit/>
          </a:bodyPr>
          <a:lstStyle/>
          <a:p>
            <a:r>
              <a:rPr lang="en-US" sz="4000" dirty="0"/>
              <a:t>Mind mapping is a visual brainstorming technique that allows you to see connections between ideas. It provides a clear structure for complex ideas or research topics.</a:t>
            </a:r>
          </a:p>
          <a:p>
            <a:r>
              <a:rPr lang="en-US" sz="4000" b="1" dirty="0"/>
              <a:t>How to do it:</a:t>
            </a:r>
            <a:endParaRPr lang="en-US" sz="4000" dirty="0"/>
          </a:p>
          <a:p>
            <a:r>
              <a:rPr lang="en-US" sz="4000" dirty="0"/>
              <a:t>Write your central idea in the middle of a page.</a:t>
            </a:r>
          </a:p>
          <a:p>
            <a:r>
              <a:rPr lang="en-US" sz="4000" dirty="0"/>
              <a:t>Draw branches outward for related ideas.</a:t>
            </a:r>
          </a:p>
          <a:p>
            <a:r>
              <a:rPr lang="en-US" sz="4000" dirty="0"/>
              <a:t>Expand with subtopics, creating a web-like structure</a:t>
            </a:r>
            <a:r>
              <a:rPr lang="en-US" sz="4000" dirty="0" smtClean="0"/>
              <a:t>.</a:t>
            </a:r>
            <a:endParaRPr lang="en-US" sz="4000" dirty="0"/>
          </a:p>
        </p:txBody>
      </p:sp>
    </p:spTree>
    <p:extLst>
      <p:ext uri="{BB962C8B-B14F-4D97-AF65-F5344CB8AC3E}">
        <p14:creationId xmlns:p14="http://schemas.microsoft.com/office/powerpoint/2010/main" val="2094488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97915"/>
          </a:xfrm>
        </p:spPr>
        <p:txBody>
          <a:bodyPr>
            <a:normAutofit fontScale="90000"/>
          </a:bodyPr>
          <a:lstStyle/>
          <a:p>
            <a:pPr algn="ctr"/>
            <a:r>
              <a:rPr lang="en-US" sz="6700" b="1" dirty="0">
                <a:effectLst>
                  <a:outerShdw blurRad="38100" dist="38100" dir="2700000" algn="tl">
                    <a:srgbClr val="000000">
                      <a:alpha val="43137"/>
                    </a:srgbClr>
                  </a:outerShdw>
                </a:effectLst>
              </a:rPr>
              <a:t>Listing </a:t>
            </a:r>
            <a:r>
              <a:rPr lang="en-US" dirty="0"/>
              <a:t/>
            </a:r>
            <a:br>
              <a:rPr lang="en-US" dirty="0"/>
            </a:b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244990"/>
            <a:ext cx="12191999" cy="5613010"/>
          </a:xfrm>
        </p:spPr>
      </p:pic>
    </p:spTree>
    <p:extLst>
      <p:ext uri="{BB962C8B-B14F-4D97-AF65-F5344CB8AC3E}">
        <p14:creationId xmlns:p14="http://schemas.microsoft.com/office/powerpoint/2010/main" val="21658787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a:effectLst>
                  <a:outerShdw blurRad="38100" dist="38100" dir="2700000" algn="tl">
                    <a:srgbClr val="000000">
                      <a:alpha val="43137"/>
                    </a:srgbClr>
                  </a:outerShdw>
                </a:effectLst>
              </a:rPr>
              <a:t>Listing</a:t>
            </a:r>
            <a:endParaRPr lang="en-US" sz="6000" dirty="0"/>
          </a:p>
        </p:txBody>
      </p:sp>
      <p:sp>
        <p:nvSpPr>
          <p:cNvPr id="3" name="Content Placeholder 2"/>
          <p:cNvSpPr>
            <a:spLocks noGrp="1"/>
          </p:cNvSpPr>
          <p:nvPr>
            <p:ph idx="1"/>
          </p:nvPr>
        </p:nvSpPr>
        <p:spPr>
          <a:xfrm>
            <a:off x="253219" y="1491175"/>
            <a:ext cx="11676184" cy="5120640"/>
          </a:xfrm>
        </p:spPr>
        <p:txBody>
          <a:bodyPr>
            <a:normAutofit/>
          </a:bodyPr>
          <a:lstStyle/>
          <a:p>
            <a:pPr algn="just"/>
            <a:r>
              <a:rPr lang="en-US" sz="3600" dirty="0"/>
              <a:t>Listing is a strategy writers use to brainstorm and write ideas about their chosen topic as they come. </a:t>
            </a:r>
            <a:endParaRPr lang="en-US" sz="3600" dirty="0" smtClean="0"/>
          </a:p>
          <a:p>
            <a:pPr algn="just"/>
            <a:r>
              <a:rPr lang="en-US" sz="3600" dirty="0" smtClean="0"/>
              <a:t>Usually</a:t>
            </a:r>
            <a:r>
              <a:rPr lang="en-US" sz="3600" dirty="0"/>
              <a:t>, writers will place each individual point or idea on its own line, either on loose-leaf/notebook paper or in a Word document</a:t>
            </a:r>
            <a:r>
              <a:rPr lang="en-US" sz="3600" dirty="0" smtClean="0"/>
              <a:t>.</a:t>
            </a:r>
          </a:p>
          <a:p>
            <a:pPr algn="just"/>
            <a:r>
              <a:rPr lang="en-US" sz="3600" dirty="0"/>
              <a:t>Arrangements of </a:t>
            </a:r>
            <a:r>
              <a:rPr lang="en-US" sz="3600" dirty="0" smtClean="0"/>
              <a:t>ideas. </a:t>
            </a:r>
            <a:endParaRPr lang="en-US" sz="3600" dirty="0"/>
          </a:p>
          <a:p>
            <a:pPr algn="just"/>
            <a:r>
              <a:rPr lang="en-US" sz="3600" dirty="0"/>
              <a:t>Use listing to jot down quickly all </a:t>
            </a:r>
            <a:r>
              <a:rPr lang="en-US" sz="3600" dirty="0" smtClean="0"/>
              <a:t>ideas.</a:t>
            </a:r>
            <a:endParaRPr lang="en-US" sz="3600" dirty="0"/>
          </a:p>
          <a:p>
            <a:pPr algn="just"/>
            <a:r>
              <a:rPr lang="en-US" sz="3600" dirty="0"/>
              <a:t>Use listing for summarizing and exploring new idea from existing </a:t>
            </a:r>
            <a:r>
              <a:rPr lang="en-US" sz="3600" dirty="0" smtClean="0"/>
              <a:t>ideas.</a:t>
            </a:r>
            <a:endParaRPr lang="en-US" sz="3600" dirty="0"/>
          </a:p>
          <a:p>
            <a:pPr marL="0" indent="0">
              <a:buNone/>
            </a:pPr>
            <a:endParaRPr lang="en-US" dirty="0"/>
          </a:p>
        </p:txBody>
      </p:sp>
    </p:spTree>
    <p:extLst>
      <p:ext uri="{BB962C8B-B14F-4D97-AF65-F5344CB8AC3E}">
        <p14:creationId xmlns:p14="http://schemas.microsoft.com/office/powerpoint/2010/main" val="38150482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effectLst>
                  <a:outerShdw blurRad="38100" dist="38100" dir="2700000" algn="tl">
                    <a:srgbClr val="000000">
                      <a:alpha val="43137"/>
                    </a:srgbClr>
                  </a:outerShdw>
                </a:effectLst>
              </a:rPr>
              <a:t>Collaborative brainstorming methods</a:t>
            </a:r>
          </a:p>
        </p:txBody>
      </p:sp>
      <p:sp>
        <p:nvSpPr>
          <p:cNvPr id="3" name="Content Placeholder 2"/>
          <p:cNvSpPr>
            <a:spLocks noGrp="1"/>
          </p:cNvSpPr>
          <p:nvPr>
            <p:ph idx="1"/>
          </p:nvPr>
        </p:nvSpPr>
        <p:spPr/>
        <p:txBody>
          <a:bodyPr/>
          <a:lstStyle/>
          <a:p>
            <a:r>
              <a:rPr lang="en-US" sz="4400" b="1" dirty="0"/>
              <a:t>Round-robin </a:t>
            </a:r>
            <a:r>
              <a:rPr lang="en-US" sz="4400" b="1" dirty="0" smtClean="0"/>
              <a:t>brainstorming</a:t>
            </a:r>
          </a:p>
          <a:p>
            <a:r>
              <a:rPr lang="en-US" sz="4400" b="1" dirty="0" smtClean="0"/>
              <a:t>Brain writing</a:t>
            </a:r>
            <a:endParaRPr lang="en-US" sz="4400" b="1" dirty="0"/>
          </a:p>
          <a:p>
            <a:r>
              <a:rPr lang="en-US" sz="4400" b="1" dirty="0"/>
              <a:t>Rapid ideation</a:t>
            </a:r>
          </a:p>
          <a:p>
            <a:pPr marL="0" indent="0">
              <a:buNone/>
            </a:pPr>
            <a:endParaRPr lang="en-US" b="1" dirty="0"/>
          </a:p>
        </p:txBody>
      </p:sp>
    </p:spTree>
    <p:extLst>
      <p:ext uri="{BB962C8B-B14F-4D97-AF65-F5344CB8AC3E}">
        <p14:creationId xmlns:p14="http://schemas.microsoft.com/office/powerpoint/2010/main" val="24542579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8177"/>
            <a:ext cx="12084148" cy="1325563"/>
          </a:xfrm>
        </p:spPr>
        <p:txBody>
          <a:bodyPr>
            <a:normAutofit/>
          </a:bodyPr>
          <a:lstStyle/>
          <a:p>
            <a:pPr algn="ctr"/>
            <a:r>
              <a:rPr lang="en-US" sz="6000" b="1" dirty="0"/>
              <a:t>Round-robin brainstorming</a:t>
            </a:r>
          </a:p>
        </p:txBody>
      </p:sp>
      <p:sp>
        <p:nvSpPr>
          <p:cNvPr id="3" name="Content Placeholder 2"/>
          <p:cNvSpPr>
            <a:spLocks noGrp="1"/>
          </p:cNvSpPr>
          <p:nvPr>
            <p:ph idx="1"/>
          </p:nvPr>
        </p:nvSpPr>
        <p:spPr>
          <a:xfrm>
            <a:off x="126609" y="1493740"/>
            <a:ext cx="11957539" cy="5202482"/>
          </a:xfrm>
        </p:spPr>
        <p:txBody>
          <a:bodyPr/>
          <a:lstStyle/>
          <a:p>
            <a:pPr algn="just"/>
            <a:r>
              <a:rPr lang="en-US" sz="3600" dirty="0"/>
              <a:t>Round-robin brainstorming is a group method where participants take turns contributing ideas. This structure helps ensure equal participation and prevents more dominant voices from taking over the discussion. This method is great for writing groups and workshops</a:t>
            </a:r>
            <a:r>
              <a:rPr lang="en-US" sz="3600" dirty="0" smtClean="0"/>
              <a:t>.</a:t>
            </a:r>
          </a:p>
          <a:p>
            <a:pPr marL="0" indent="0">
              <a:buNone/>
            </a:pPr>
            <a:r>
              <a:rPr lang="en-US" b="1" dirty="0"/>
              <a:t>How to do it:</a:t>
            </a:r>
            <a:endParaRPr lang="en-US" dirty="0"/>
          </a:p>
          <a:p>
            <a:r>
              <a:rPr lang="en-US" sz="3200" dirty="0"/>
              <a:t>Choose a topic.</a:t>
            </a:r>
          </a:p>
          <a:p>
            <a:r>
              <a:rPr lang="en-US" sz="3200" dirty="0"/>
              <a:t>Go around the group, having each person contribute an idea.</a:t>
            </a:r>
          </a:p>
          <a:p>
            <a:r>
              <a:rPr lang="en-US" sz="3200" dirty="0"/>
              <a:t>Continue for a set time or a predetermined number of rounds.</a:t>
            </a:r>
          </a:p>
          <a:p>
            <a:pPr marL="0" indent="0">
              <a:buNone/>
            </a:pPr>
            <a:endParaRPr lang="en-US" dirty="0"/>
          </a:p>
        </p:txBody>
      </p:sp>
    </p:spTree>
    <p:extLst>
      <p:ext uri="{BB962C8B-B14F-4D97-AF65-F5344CB8AC3E}">
        <p14:creationId xmlns:p14="http://schemas.microsoft.com/office/powerpoint/2010/main" val="3218304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6477" y="0"/>
            <a:ext cx="10515600" cy="1325563"/>
          </a:xfrm>
          <a:solidFill>
            <a:srgbClr val="FFC000"/>
          </a:solidFill>
        </p:spPr>
        <p:txBody>
          <a:bodyPr>
            <a:normAutofit/>
          </a:bodyPr>
          <a:lstStyle/>
          <a:p>
            <a:pPr algn="ctr"/>
            <a:r>
              <a:rPr lang="en-US" sz="6000" b="1" dirty="0">
                <a:effectLst>
                  <a:outerShdw blurRad="38100" dist="38100" dir="2700000" algn="tl">
                    <a:srgbClr val="000000">
                      <a:alpha val="43137"/>
                    </a:srgbClr>
                  </a:outerShdw>
                </a:effectLst>
              </a:rPr>
              <a:t>Brain writing</a:t>
            </a:r>
          </a:p>
        </p:txBody>
      </p:sp>
      <p:sp>
        <p:nvSpPr>
          <p:cNvPr id="3" name="Content Placeholder 2"/>
          <p:cNvSpPr>
            <a:spLocks noGrp="1"/>
          </p:cNvSpPr>
          <p:nvPr>
            <p:ph idx="1"/>
          </p:nvPr>
        </p:nvSpPr>
        <p:spPr>
          <a:xfrm>
            <a:off x="140677" y="1561514"/>
            <a:ext cx="11887200" cy="5162843"/>
          </a:xfrm>
        </p:spPr>
        <p:txBody>
          <a:bodyPr>
            <a:normAutofit/>
          </a:bodyPr>
          <a:lstStyle/>
          <a:p>
            <a:pPr algn="just"/>
            <a:r>
              <a:rPr lang="en-US" sz="3200" dirty="0" smtClean="0"/>
              <a:t>Brain writing </a:t>
            </a:r>
            <a:r>
              <a:rPr lang="en-US" sz="3200" dirty="0"/>
              <a:t>is like freewriting—but for teams. Instead of speaking ideas aloud, participants write them down privately before sharing. This method is perfect for introverts, allowing for independent thought before collaboration.</a:t>
            </a:r>
          </a:p>
          <a:p>
            <a:pPr algn="just"/>
            <a:r>
              <a:rPr lang="en-US" sz="3200" b="1" dirty="0"/>
              <a:t>How to do it:</a:t>
            </a:r>
            <a:endParaRPr lang="en-US" sz="3200" dirty="0"/>
          </a:p>
          <a:p>
            <a:pPr algn="just"/>
            <a:r>
              <a:rPr lang="en-US" sz="3200" dirty="0"/>
              <a:t>Each participant writes 3–5 ideas on paper.</a:t>
            </a:r>
          </a:p>
          <a:p>
            <a:pPr algn="just"/>
            <a:r>
              <a:rPr lang="en-US" sz="3200" dirty="0"/>
              <a:t>Pass the papers around so others can build on those ideas.</a:t>
            </a:r>
          </a:p>
          <a:p>
            <a:pPr algn="just"/>
            <a:r>
              <a:rPr lang="en-US" sz="3200" dirty="0"/>
              <a:t>After several rounds, review and discuss the expanded ideas.</a:t>
            </a:r>
          </a:p>
        </p:txBody>
      </p:sp>
    </p:spTree>
    <p:extLst>
      <p:ext uri="{BB962C8B-B14F-4D97-AF65-F5344CB8AC3E}">
        <p14:creationId xmlns:p14="http://schemas.microsoft.com/office/powerpoint/2010/main" val="4193480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a:effectLst>
                  <a:outerShdw blurRad="38100" dist="38100" dir="2700000" algn="tl">
                    <a:srgbClr val="000000">
                      <a:alpha val="43137"/>
                    </a:srgbClr>
                  </a:outerShdw>
                </a:effectLst>
              </a:rPr>
              <a:t>Rapid ideation</a:t>
            </a:r>
          </a:p>
        </p:txBody>
      </p:sp>
      <p:sp>
        <p:nvSpPr>
          <p:cNvPr id="3" name="Content Placeholder 2"/>
          <p:cNvSpPr>
            <a:spLocks noGrp="1"/>
          </p:cNvSpPr>
          <p:nvPr>
            <p:ph idx="1"/>
          </p:nvPr>
        </p:nvSpPr>
        <p:spPr>
          <a:xfrm>
            <a:off x="154745" y="1690688"/>
            <a:ext cx="11901267" cy="5167312"/>
          </a:xfrm>
        </p:spPr>
        <p:txBody>
          <a:bodyPr/>
          <a:lstStyle/>
          <a:p>
            <a:pPr algn="just"/>
            <a:r>
              <a:rPr lang="en-US" sz="3200" dirty="0"/>
              <a:t>This fast-paced technique promotes quick thinking by setting strict time limits. It encourages spontaneity while preventing </a:t>
            </a:r>
            <a:r>
              <a:rPr lang="en-US" sz="3200" dirty="0" smtClean="0"/>
              <a:t>over analysis—great </a:t>
            </a:r>
            <a:r>
              <a:rPr lang="en-US" sz="3200" dirty="0"/>
              <a:t>for tight deadlines or creative jump starts.</a:t>
            </a:r>
          </a:p>
          <a:p>
            <a:pPr algn="just"/>
            <a:r>
              <a:rPr lang="en-US" sz="3200" b="1" dirty="0"/>
              <a:t>How to do it:</a:t>
            </a:r>
            <a:endParaRPr lang="en-US" sz="3200" dirty="0"/>
          </a:p>
          <a:p>
            <a:pPr algn="just"/>
            <a:r>
              <a:rPr lang="en-US" sz="3200" dirty="0"/>
              <a:t>Set a timer for 30–60 seconds per idea.</a:t>
            </a:r>
          </a:p>
          <a:p>
            <a:pPr algn="just"/>
            <a:r>
              <a:rPr lang="en-US" sz="3200" dirty="0"/>
              <a:t>Write down every idea that comes to mind—no pausing, no filtering.</a:t>
            </a:r>
          </a:p>
          <a:p>
            <a:pPr algn="just"/>
            <a:r>
              <a:rPr lang="en-US" sz="3200" dirty="0"/>
              <a:t>Once the time is up, review and refine your ideas.</a:t>
            </a:r>
          </a:p>
          <a:p>
            <a:pPr marL="0" indent="0">
              <a:buNone/>
            </a:pPr>
            <a:endParaRPr lang="en-US" dirty="0"/>
          </a:p>
        </p:txBody>
      </p:sp>
    </p:spTree>
    <p:extLst>
      <p:ext uri="{BB962C8B-B14F-4D97-AF65-F5344CB8AC3E}">
        <p14:creationId xmlns:p14="http://schemas.microsoft.com/office/powerpoint/2010/main" val="3172486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a:effectLst>
                  <a:outerShdw blurRad="38100" dist="38100" dir="2700000" algn="tl">
                    <a:srgbClr val="000000">
                      <a:alpha val="43137"/>
                    </a:srgbClr>
                  </a:outerShdw>
                </a:effectLst>
              </a:rPr>
              <a:t>Visual brainstorming techniques</a:t>
            </a:r>
          </a:p>
        </p:txBody>
      </p:sp>
      <p:sp>
        <p:nvSpPr>
          <p:cNvPr id="3" name="Content Placeholder 2"/>
          <p:cNvSpPr>
            <a:spLocks noGrp="1"/>
          </p:cNvSpPr>
          <p:nvPr>
            <p:ph idx="1"/>
          </p:nvPr>
        </p:nvSpPr>
        <p:spPr/>
        <p:txBody>
          <a:bodyPr/>
          <a:lstStyle/>
          <a:p>
            <a:r>
              <a:rPr lang="en-US" sz="3600" b="1" dirty="0" smtClean="0"/>
              <a:t>Storyboarding</a:t>
            </a:r>
          </a:p>
          <a:p>
            <a:r>
              <a:rPr lang="en-US" sz="3600" b="1" dirty="0"/>
              <a:t>Sketching</a:t>
            </a:r>
          </a:p>
          <a:p>
            <a:r>
              <a:rPr lang="en-US" sz="3600" b="1" dirty="0"/>
              <a:t>The SCAMPER method</a:t>
            </a:r>
          </a:p>
          <a:p>
            <a:endParaRPr lang="en-US" b="1" dirty="0"/>
          </a:p>
        </p:txBody>
      </p:sp>
    </p:spTree>
    <p:extLst>
      <p:ext uri="{BB962C8B-B14F-4D97-AF65-F5344CB8AC3E}">
        <p14:creationId xmlns:p14="http://schemas.microsoft.com/office/powerpoint/2010/main" val="2343606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a:solidFill>
            <a:srgbClr val="FFC000"/>
          </a:solidFill>
        </p:spPr>
        <p:txBody>
          <a:bodyPr>
            <a:normAutofit/>
          </a:bodyPr>
          <a:lstStyle/>
          <a:p>
            <a:pPr algn="ctr"/>
            <a:r>
              <a:rPr lang="en-US" sz="6000" b="1" dirty="0">
                <a:effectLst>
                  <a:outerShdw blurRad="38100" dist="38100" dir="2700000" algn="tl">
                    <a:srgbClr val="000000">
                      <a:alpha val="43137"/>
                    </a:srgbClr>
                  </a:outerShdw>
                </a:effectLst>
              </a:rPr>
              <a:t>Storyboarding</a:t>
            </a:r>
            <a:endParaRPr lang="en-US" sz="60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1325562"/>
            <a:ext cx="12192000" cy="5426929"/>
          </a:xfrm>
        </p:spPr>
        <p:txBody>
          <a:bodyPr>
            <a:normAutofit/>
          </a:bodyPr>
          <a:lstStyle/>
          <a:p>
            <a:pPr algn="just"/>
            <a:r>
              <a:rPr lang="en-US" sz="3200" dirty="0"/>
              <a:t>Storyboarding visually maps out concepts, scenes, or sequences, making it easier to organize ideas and plan narratives. This technique is especially useful for fiction writing, screenplays, and video scripts.</a:t>
            </a:r>
          </a:p>
          <a:p>
            <a:pPr algn="just"/>
            <a:r>
              <a:rPr lang="en-US" sz="3200" b="1" dirty="0"/>
              <a:t>How to do it:</a:t>
            </a:r>
            <a:endParaRPr lang="en-US" sz="3200" dirty="0"/>
          </a:p>
          <a:p>
            <a:pPr algn="just"/>
            <a:r>
              <a:rPr lang="en-US" sz="3200" dirty="0"/>
              <a:t>Draw a sequence of boxes to represent scenes or key ideas.</a:t>
            </a:r>
          </a:p>
          <a:p>
            <a:pPr algn="just"/>
            <a:r>
              <a:rPr lang="en-US" sz="3200" dirty="0"/>
              <a:t>Sketch or write a brief description in each box to outline the flow.</a:t>
            </a:r>
          </a:p>
          <a:p>
            <a:pPr algn="just"/>
            <a:r>
              <a:rPr lang="en-US" sz="3200" dirty="0"/>
              <a:t>Arrange and refine until the story or structure feels cohesive.</a:t>
            </a:r>
          </a:p>
        </p:txBody>
      </p:sp>
    </p:spTree>
    <p:extLst>
      <p:ext uri="{BB962C8B-B14F-4D97-AF65-F5344CB8AC3E}">
        <p14:creationId xmlns:p14="http://schemas.microsoft.com/office/powerpoint/2010/main" val="31329884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a:solidFill>
            <a:schemeClr val="accent2">
              <a:lumMod val="20000"/>
              <a:lumOff val="80000"/>
            </a:schemeClr>
          </a:solidFill>
        </p:spPr>
        <p:txBody>
          <a:bodyPr>
            <a:normAutofit/>
          </a:bodyPr>
          <a:lstStyle/>
          <a:p>
            <a:pPr algn="ctr"/>
            <a:r>
              <a:rPr lang="en-US" sz="6000" b="1" dirty="0">
                <a:effectLst>
                  <a:outerShdw blurRad="38100" dist="38100" dir="2700000" algn="tl">
                    <a:srgbClr val="000000">
                      <a:alpha val="43137"/>
                    </a:srgbClr>
                  </a:outerShdw>
                </a:effectLst>
              </a:rPr>
              <a:t>Sketching</a:t>
            </a:r>
          </a:p>
        </p:txBody>
      </p:sp>
      <p:sp>
        <p:nvSpPr>
          <p:cNvPr id="3" name="Content Placeholder 2"/>
          <p:cNvSpPr>
            <a:spLocks noGrp="1"/>
          </p:cNvSpPr>
          <p:nvPr>
            <p:ph idx="1"/>
          </p:nvPr>
        </p:nvSpPr>
        <p:spPr>
          <a:xfrm>
            <a:off x="126609" y="1325562"/>
            <a:ext cx="12065391" cy="5532437"/>
          </a:xfrm>
        </p:spPr>
        <p:txBody>
          <a:bodyPr>
            <a:normAutofit/>
          </a:bodyPr>
          <a:lstStyle/>
          <a:p>
            <a:r>
              <a:rPr lang="en-US" sz="3600" dirty="0"/>
              <a:t>Some writers think visually, and sketching allows you to use images instead of text to ideate. This approach is great for plot development, scene planning, and article structuring.</a:t>
            </a:r>
          </a:p>
          <a:p>
            <a:r>
              <a:rPr lang="en-US" sz="3600" b="1" dirty="0"/>
              <a:t>How to do it:</a:t>
            </a:r>
            <a:endParaRPr lang="en-US" sz="3600" dirty="0"/>
          </a:p>
          <a:p>
            <a:r>
              <a:rPr lang="en-US" sz="3600" dirty="0"/>
              <a:t>Draw symbols, doodles, or simple diagrams to represent ideas.</a:t>
            </a:r>
          </a:p>
          <a:p>
            <a:r>
              <a:rPr lang="en-US" sz="3600" dirty="0"/>
              <a:t>Use arrows, boxes, or flowcharts to show connections.</a:t>
            </a:r>
          </a:p>
          <a:p>
            <a:r>
              <a:rPr lang="en-US" sz="3600" dirty="0"/>
              <a:t>Don’t worry about artistic skill—focus on capturing concepts visually.</a:t>
            </a:r>
          </a:p>
        </p:txBody>
      </p:sp>
    </p:spTree>
    <p:extLst>
      <p:ext uri="{BB962C8B-B14F-4D97-AF65-F5344CB8AC3E}">
        <p14:creationId xmlns:p14="http://schemas.microsoft.com/office/powerpoint/2010/main" val="10524400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a:solidFill>
            <a:schemeClr val="accent2">
              <a:lumMod val="20000"/>
              <a:lumOff val="80000"/>
            </a:schemeClr>
          </a:solidFill>
        </p:spPr>
        <p:txBody>
          <a:bodyPr>
            <a:normAutofit/>
          </a:bodyPr>
          <a:lstStyle/>
          <a:p>
            <a:pPr algn="ctr"/>
            <a:r>
              <a:rPr lang="en-US" sz="6000" b="1" dirty="0">
                <a:effectLst>
                  <a:outerShdw blurRad="38100" dist="38100" dir="2700000" algn="tl">
                    <a:srgbClr val="000000">
                      <a:alpha val="43137"/>
                    </a:srgbClr>
                  </a:outerShdw>
                </a:effectLst>
              </a:rPr>
              <a:t>The SCAMPER method</a:t>
            </a:r>
          </a:p>
        </p:txBody>
      </p:sp>
      <p:sp>
        <p:nvSpPr>
          <p:cNvPr id="3" name="Content Placeholder 2"/>
          <p:cNvSpPr>
            <a:spLocks noGrp="1"/>
          </p:cNvSpPr>
          <p:nvPr>
            <p:ph idx="1"/>
          </p:nvPr>
        </p:nvSpPr>
        <p:spPr>
          <a:xfrm>
            <a:off x="112542" y="1325562"/>
            <a:ext cx="12079458" cy="5356591"/>
          </a:xfrm>
        </p:spPr>
        <p:txBody>
          <a:bodyPr>
            <a:noAutofit/>
          </a:bodyPr>
          <a:lstStyle/>
          <a:p>
            <a:r>
              <a:rPr lang="en-US" sz="3200" dirty="0"/>
              <a:t>SCAMPER is a creative problem-solving tool that helps generate new ideas by modifying existing ones. The acronym stands for:</a:t>
            </a:r>
          </a:p>
          <a:p>
            <a:r>
              <a:rPr lang="en-US" sz="3200" dirty="0"/>
              <a:t>Substitute – Swap out elements for something new.</a:t>
            </a:r>
          </a:p>
          <a:p>
            <a:r>
              <a:rPr lang="en-US" sz="3200" dirty="0"/>
              <a:t>Combine – Merge ideas to create something fresh.</a:t>
            </a:r>
          </a:p>
          <a:p>
            <a:r>
              <a:rPr lang="en-US" sz="3200" dirty="0"/>
              <a:t>Adapt – Adjust to fit a different context.</a:t>
            </a:r>
          </a:p>
          <a:p>
            <a:r>
              <a:rPr lang="en-US" sz="3200" dirty="0"/>
              <a:t>Modify – Change specific details to enhance impact.</a:t>
            </a:r>
          </a:p>
          <a:p>
            <a:r>
              <a:rPr lang="en-US" sz="3200" dirty="0"/>
              <a:t>Put to another use – Repurpose for a different goal.</a:t>
            </a:r>
          </a:p>
          <a:p>
            <a:r>
              <a:rPr lang="en-US" sz="3200" dirty="0"/>
              <a:t>Eliminate – Remove unnecessary parts.</a:t>
            </a:r>
          </a:p>
          <a:p>
            <a:r>
              <a:rPr lang="en-US" sz="3200" dirty="0"/>
              <a:t>Reverse – Flip the structure for a new perspective.</a:t>
            </a:r>
          </a:p>
        </p:txBody>
      </p:sp>
    </p:spTree>
    <p:extLst>
      <p:ext uri="{BB962C8B-B14F-4D97-AF65-F5344CB8AC3E}">
        <p14:creationId xmlns:p14="http://schemas.microsoft.com/office/powerpoint/2010/main" val="33720868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a:solidFill>
            <a:schemeClr val="accent1">
              <a:lumMod val="20000"/>
              <a:lumOff val="80000"/>
            </a:schemeClr>
          </a:solidFill>
        </p:spPr>
        <p:txBody>
          <a:bodyPr>
            <a:normAutofit/>
          </a:bodyPr>
          <a:lstStyle/>
          <a:p>
            <a:pPr algn="ctr"/>
            <a:r>
              <a:rPr lang="en-US" sz="5400" b="1" dirty="0">
                <a:effectLst>
                  <a:outerShdw blurRad="38100" dist="38100" dir="2700000" algn="tl">
                    <a:srgbClr val="000000">
                      <a:alpha val="43137"/>
                    </a:srgbClr>
                  </a:outerShdw>
                </a:effectLst>
              </a:rPr>
              <a:t>The SCAMPER method</a:t>
            </a:r>
            <a:endParaRPr lang="en-US" sz="54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r>
              <a:rPr lang="en-US" sz="3200" b="1" dirty="0"/>
              <a:t>How to do it:</a:t>
            </a:r>
            <a:endParaRPr lang="en-US" sz="3200" dirty="0"/>
          </a:p>
          <a:p>
            <a:r>
              <a:rPr lang="en-US" sz="3200" dirty="0"/>
              <a:t>Pick an idea, apply each SCAMPER question, and see where it leads.</a:t>
            </a:r>
          </a:p>
          <a:p>
            <a:r>
              <a:rPr lang="en-US" sz="3200" dirty="0"/>
              <a:t>This works well for repurposing blog content, refining stories, and improving essays.</a:t>
            </a:r>
          </a:p>
          <a:p>
            <a:r>
              <a:rPr lang="en-US" sz="3200" dirty="0" smtClean="0"/>
              <a:t>Apply </a:t>
            </a:r>
            <a:r>
              <a:rPr lang="en-US" sz="3200" dirty="0"/>
              <a:t>SCAMPER to an existing draft to explore new ways to improve it.</a:t>
            </a:r>
          </a:p>
        </p:txBody>
      </p:sp>
    </p:spTree>
    <p:extLst>
      <p:ext uri="{BB962C8B-B14F-4D97-AF65-F5344CB8AC3E}">
        <p14:creationId xmlns:p14="http://schemas.microsoft.com/office/powerpoint/2010/main" val="10503674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effectLst>
                  <a:outerShdw blurRad="38100" dist="38100" dir="2700000" algn="tl">
                    <a:srgbClr val="000000">
                      <a:alpha val="43137"/>
                    </a:srgbClr>
                  </a:outerShdw>
                </a:effectLst>
              </a:rPr>
              <a:t>Structured analytical brainstorming</a:t>
            </a:r>
          </a:p>
        </p:txBody>
      </p:sp>
      <p:sp>
        <p:nvSpPr>
          <p:cNvPr id="3" name="Content Placeholder 2"/>
          <p:cNvSpPr>
            <a:spLocks noGrp="1"/>
          </p:cNvSpPr>
          <p:nvPr>
            <p:ph idx="1"/>
          </p:nvPr>
        </p:nvSpPr>
        <p:spPr/>
        <p:txBody>
          <a:bodyPr/>
          <a:lstStyle/>
          <a:p>
            <a:r>
              <a:rPr lang="en-US" sz="4000" b="1" dirty="0"/>
              <a:t>Five Whys </a:t>
            </a:r>
            <a:r>
              <a:rPr lang="en-US" sz="4000" b="1" dirty="0" smtClean="0"/>
              <a:t>analysis</a:t>
            </a:r>
          </a:p>
          <a:p>
            <a:r>
              <a:rPr lang="en-US" sz="4000" b="1" dirty="0"/>
              <a:t>Reverse Brainstorming</a:t>
            </a:r>
          </a:p>
          <a:p>
            <a:r>
              <a:rPr lang="en-US" sz="4000" b="1" dirty="0"/>
              <a:t>Six Thinking Hats</a:t>
            </a:r>
          </a:p>
          <a:p>
            <a:r>
              <a:rPr lang="en-US" sz="4000" b="1" dirty="0" smtClean="0"/>
              <a:t>Star bursting</a:t>
            </a:r>
            <a:endParaRPr lang="en-US" sz="4000" b="1" dirty="0"/>
          </a:p>
          <a:p>
            <a:r>
              <a:rPr lang="en-US" sz="4000" b="1" dirty="0"/>
              <a:t> SWOT analysis</a:t>
            </a:r>
          </a:p>
          <a:p>
            <a:endParaRPr lang="en-US" b="1" dirty="0"/>
          </a:p>
        </p:txBody>
      </p:sp>
    </p:spTree>
    <p:extLst>
      <p:ext uri="{BB962C8B-B14F-4D97-AF65-F5344CB8AC3E}">
        <p14:creationId xmlns:p14="http://schemas.microsoft.com/office/powerpoint/2010/main" val="5253866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1999742" cy="1294228"/>
          </a:xfrm>
        </p:spPr>
        <p:txBody>
          <a:bodyPr>
            <a:normAutofit fontScale="90000"/>
          </a:bodyPr>
          <a:lstStyle/>
          <a:p>
            <a:pPr algn="ctr"/>
            <a:r>
              <a:rPr lang="en-US" sz="6000" b="1" dirty="0" smtClean="0"/>
              <a:t/>
            </a:r>
            <a:br>
              <a:rPr lang="en-US" sz="6000" b="1" dirty="0" smtClean="0"/>
            </a:br>
            <a:r>
              <a:rPr lang="en-US" sz="8000" b="1" dirty="0" smtClean="0">
                <a:effectLst>
                  <a:outerShdw blurRad="38100" dist="38100" dir="2700000" algn="tl">
                    <a:srgbClr val="000000">
                      <a:alpha val="43137"/>
                    </a:srgbClr>
                  </a:outerShdw>
                </a:effectLst>
              </a:rPr>
              <a:t>Five </a:t>
            </a:r>
            <a:r>
              <a:rPr lang="en-US" sz="8000" b="1" dirty="0">
                <a:effectLst>
                  <a:outerShdw blurRad="38100" dist="38100" dir="2700000" algn="tl">
                    <a:srgbClr val="000000">
                      <a:alpha val="43137"/>
                    </a:srgbClr>
                  </a:outerShdw>
                </a:effectLst>
              </a:rPr>
              <a:t>Whys analysis</a:t>
            </a:r>
            <a:r>
              <a:rPr lang="en-US" sz="6000" b="1" dirty="0"/>
              <a:t/>
            </a:r>
            <a:br>
              <a:rPr lang="en-US" sz="6000" b="1" dirty="0"/>
            </a:br>
            <a:endParaRPr lang="en-US" sz="6000"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294228"/>
            <a:ext cx="12192000" cy="5563772"/>
          </a:xfrm>
        </p:spPr>
      </p:pic>
    </p:spTree>
    <p:extLst>
      <p:ext uri="{BB962C8B-B14F-4D97-AF65-F5344CB8AC3E}">
        <p14:creationId xmlns:p14="http://schemas.microsoft.com/office/powerpoint/2010/main" val="40636929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7577"/>
          </a:xfrm>
        </p:spPr>
        <p:txBody>
          <a:bodyPr>
            <a:normAutofit/>
          </a:bodyPr>
          <a:lstStyle/>
          <a:p>
            <a:pPr algn="ctr"/>
            <a:r>
              <a:rPr lang="en-US" sz="5400" b="1" dirty="0">
                <a:effectLst>
                  <a:outerShdw blurRad="38100" dist="38100" dir="2700000" algn="tl">
                    <a:srgbClr val="000000">
                      <a:alpha val="43137"/>
                    </a:srgbClr>
                  </a:outerShdw>
                </a:effectLst>
              </a:rPr>
              <a:t>Questioning </a:t>
            </a:r>
            <a:endParaRPr lang="en-US" sz="5400" dirty="0"/>
          </a:p>
        </p:txBody>
      </p:sp>
      <p:sp>
        <p:nvSpPr>
          <p:cNvPr id="3" name="Content Placeholder 2"/>
          <p:cNvSpPr>
            <a:spLocks noGrp="1"/>
          </p:cNvSpPr>
          <p:nvPr>
            <p:ph idx="1"/>
          </p:nvPr>
        </p:nvSpPr>
        <p:spPr>
          <a:xfrm>
            <a:off x="253219" y="1392702"/>
            <a:ext cx="11605846" cy="5289452"/>
          </a:xfrm>
        </p:spPr>
        <p:txBody>
          <a:bodyPr/>
          <a:lstStyle/>
          <a:p>
            <a:pPr algn="just"/>
            <a:r>
              <a:rPr lang="en-US" sz="3600" dirty="0"/>
              <a:t>Ask questions</a:t>
            </a:r>
          </a:p>
          <a:p>
            <a:pPr algn="just"/>
            <a:r>
              <a:rPr lang="en-US" sz="3600" dirty="0"/>
              <a:t>Use investigation approach to answer basic questions of a specific idea</a:t>
            </a:r>
          </a:p>
          <a:p>
            <a:pPr algn="just"/>
            <a:r>
              <a:rPr lang="en-US" sz="3600" dirty="0"/>
              <a:t>Who? What? When? Where? Why? How?</a:t>
            </a:r>
          </a:p>
          <a:p>
            <a:pPr algn="just"/>
            <a:r>
              <a:rPr lang="en-US" sz="3600" dirty="0"/>
              <a:t>Use focused and phrased question</a:t>
            </a:r>
          </a:p>
          <a:p>
            <a:pPr algn="just"/>
            <a:r>
              <a:rPr lang="en-US" sz="3600" dirty="0"/>
              <a:t>It is </a:t>
            </a:r>
            <a:r>
              <a:rPr lang="en-US" sz="3600" dirty="0" smtClean="0"/>
              <a:t>opposite </a:t>
            </a:r>
            <a:r>
              <a:rPr lang="en-US" sz="3600" dirty="0"/>
              <a:t>to thesis statement</a:t>
            </a:r>
          </a:p>
          <a:p>
            <a:endParaRPr lang="en-US" dirty="0"/>
          </a:p>
        </p:txBody>
      </p:sp>
    </p:spTree>
    <p:extLst>
      <p:ext uri="{BB962C8B-B14F-4D97-AF65-F5344CB8AC3E}">
        <p14:creationId xmlns:p14="http://schemas.microsoft.com/office/powerpoint/2010/main" val="28627479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a:solidFill>
            <a:schemeClr val="accent2">
              <a:lumMod val="20000"/>
              <a:lumOff val="80000"/>
            </a:schemeClr>
          </a:solidFill>
        </p:spPr>
        <p:txBody>
          <a:bodyPr>
            <a:normAutofit/>
          </a:bodyPr>
          <a:lstStyle/>
          <a:p>
            <a:pPr algn="ctr"/>
            <a:r>
              <a:rPr lang="en-US" sz="6000" b="1" dirty="0">
                <a:effectLst>
                  <a:outerShdw blurRad="38100" dist="38100" dir="2700000" algn="tl">
                    <a:srgbClr val="000000">
                      <a:alpha val="43137"/>
                    </a:srgbClr>
                  </a:outerShdw>
                </a:effectLst>
              </a:rPr>
              <a:t>Reverse Brainstorming</a:t>
            </a:r>
          </a:p>
        </p:txBody>
      </p:sp>
      <p:sp>
        <p:nvSpPr>
          <p:cNvPr id="3" name="Content Placeholder 2"/>
          <p:cNvSpPr>
            <a:spLocks noGrp="1"/>
          </p:cNvSpPr>
          <p:nvPr>
            <p:ph idx="1"/>
          </p:nvPr>
        </p:nvSpPr>
        <p:spPr>
          <a:xfrm>
            <a:off x="0" y="1434904"/>
            <a:ext cx="12070080" cy="5423095"/>
          </a:xfrm>
        </p:spPr>
        <p:txBody>
          <a:bodyPr>
            <a:normAutofit/>
          </a:bodyPr>
          <a:lstStyle/>
          <a:p>
            <a:r>
              <a:rPr lang="en-US" sz="4000" dirty="0"/>
              <a:t>Instead of solving a problem, this method flips the approach—focusing on how to cause the problem instead. By identifying what not to do, you can uncover hidden challenges and alternative solutions.</a:t>
            </a:r>
          </a:p>
          <a:p>
            <a:r>
              <a:rPr lang="en-US" sz="4000" b="1" dirty="0"/>
              <a:t>How to do it:</a:t>
            </a:r>
            <a:endParaRPr lang="en-US" sz="4000" dirty="0"/>
          </a:p>
          <a:p>
            <a:r>
              <a:rPr lang="en-US" sz="4000" dirty="0"/>
              <a:t>Identify the problem or challenge.</a:t>
            </a:r>
          </a:p>
          <a:p>
            <a:r>
              <a:rPr lang="en-US" sz="4000" dirty="0"/>
              <a:t>Brainstorm ways to make it worse.</a:t>
            </a:r>
          </a:p>
          <a:p>
            <a:r>
              <a:rPr lang="en-US" sz="4000" dirty="0"/>
              <a:t>Reverse those ideas to find solutions.</a:t>
            </a:r>
          </a:p>
        </p:txBody>
      </p:sp>
    </p:spTree>
    <p:extLst>
      <p:ext uri="{BB962C8B-B14F-4D97-AF65-F5344CB8AC3E}">
        <p14:creationId xmlns:p14="http://schemas.microsoft.com/office/powerpoint/2010/main" val="5406051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a:solidFill>
            <a:schemeClr val="accent2">
              <a:lumMod val="20000"/>
              <a:lumOff val="80000"/>
            </a:schemeClr>
          </a:solidFill>
        </p:spPr>
        <p:txBody>
          <a:bodyPr>
            <a:normAutofit/>
          </a:bodyPr>
          <a:lstStyle/>
          <a:p>
            <a:pPr algn="ctr"/>
            <a:r>
              <a:rPr lang="en-US" sz="6000" b="1" dirty="0">
                <a:effectLst>
                  <a:outerShdw blurRad="38100" dist="38100" dir="2700000" algn="tl">
                    <a:srgbClr val="000000">
                      <a:alpha val="43137"/>
                    </a:srgbClr>
                  </a:outerShdw>
                </a:effectLst>
              </a:rPr>
              <a:t>Six Thinking Hats</a:t>
            </a:r>
          </a:p>
        </p:txBody>
      </p:sp>
      <p:sp>
        <p:nvSpPr>
          <p:cNvPr id="3" name="Content Placeholder 2"/>
          <p:cNvSpPr>
            <a:spLocks noGrp="1"/>
          </p:cNvSpPr>
          <p:nvPr>
            <p:ph idx="1"/>
          </p:nvPr>
        </p:nvSpPr>
        <p:spPr>
          <a:xfrm>
            <a:off x="0" y="1325563"/>
            <a:ext cx="12056012" cy="5352757"/>
          </a:xfrm>
        </p:spPr>
        <p:txBody>
          <a:bodyPr>
            <a:normAutofit/>
          </a:bodyPr>
          <a:lstStyle/>
          <a:p>
            <a:r>
              <a:rPr lang="en-US" sz="3600" dirty="0"/>
              <a:t>The Six Thinking Hats technique encourages writers to look at their ideas from six different perspectives. Each “hat” represents a distinct way of thinking:</a:t>
            </a:r>
          </a:p>
          <a:p>
            <a:r>
              <a:rPr lang="en-US" sz="3600" dirty="0"/>
              <a:t>White Hat: Focuses on facts and data.</a:t>
            </a:r>
          </a:p>
          <a:p>
            <a:r>
              <a:rPr lang="en-US" sz="3600" dirty="0">
                <a:solidFill>
                  <a:srgbClr val="FF0000"/>
                </a:solidFill>
              </a:rPr>
              <a:t>Red Hat</a:t>
            </a:r>
            <a:r>
              <a:rPr lang="en-US" sz="3600" dirty="0"/>
              <a:t>: Considers emotions and intuition.</a:t>
            </a:r>
          </a:p>
          <a:p>
            <a:r>
              <a:rPr lang="en-US" sz="3600" dirty="0"/>
              <a:t>Black Hat: Identifies potential risks and weaknesses.</a:t>
            </a:r>
          </a:p>
          <a:p>
            <a:r>
              <a:rPr lang="en-US" sz="3600" dirty="0">
                <a:solidFill>
                  <a:schemeClr val="tx2">
                    <a:lumMod val="40000"/>
                    <a:lumOff val="60000"/>
                  </a:schemeClr>
                </a:solidFill>
              </a:rPr>
              <a:t>Yellow Hat</a:t>
            </a:r>
            <a:r>
              <a:rPr lang="en-US" sz="3600" dirty="0"/>
              <a:t>: Highlights benefits and positive outcomes.</a:t>
            </a:r>
          </a:p>
          <a:p>
            <a:r>
              <a:rPr lang="en-US" sz="3600" dirty="0">
                <a:solidFill>
                  <a:schemeClr val="accent6">
                    <a:lumMod val="60000"/>
                    <a:lumOff val="40000"/>
                  </a:schemeClr>
                </a:solidFill>
              </a:rPr>
              <a:t>Green Hat</a:t>
            </a:r>
            <a:r>
              <a:rPr lang="en-US" sz="3600" dirty="0"/>
              <a:t>: Explores creativity and new possibilities.</a:t>
            </a:r>
          </a:p>
          <a:p>
            <a:r>
              <a:rPr lang="en-US" sz="3600" dirty="0">
                <a:solidFill>
                  <a:schemeClr val="accent1"/>
                </a:solidFill>
              </a:rPr>
              <a:t>Blue Hat</a:t>
            </a:r>
            <a:r>
              <a:rPr lang="en-US" sz="3600" dirty="0"/>
              <a:t>: Manages the overall process and organization</a:t>
            </a:r>
          </a:p>
        </p:txBody>
      </p:sp>
    </p:spTree>
    <p:extLst>
      <p:ext uri="{BB962C8B-B14F-4D97-AF65-F5344CB8AC3E}">
        <p14:creationId xmlns:p14="http://schemas.microsoft.com/office/powerpoint/2010/main" val="40258820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1000_F_515144924_PvI9ol0hgVUkCvh93FoqXc3QeGJZ19QC"/>
          <p:cNvPicPr>
            <a:picLocks noGrp="1" noChangeAspect="1"/>
          </p:cNvPicPr>
          <p:nvPr isPhoto="1"/>
        </p:nvPicPr>
        <p:blipFill>
          <a:blip r:embed="rId2" cstate="print">
            <a:lum/>
            <a:extLst>
              <a:ext uri="{28A0092B-C50C-407E-A947-70E740481C1C}">
                <a14:useLocalDpi xmlns:a14="http://schemas.microsoft.com/office/drawing/2010/main" val="0"/>
              </a:ext>
            </a:extLst>
          </a:blip>
          <a:stretch>
            <a:fillRect/>
          </a:stretch>
        </p:blipFill>
        <p:spPr>
          <a:xfrm>
            <a:off x="0" y="240633"/>
            <a:ext cx="12067674" cy="6316578"/>
          </a:xfrm>
          <a:prstGeom prst="rect">
            <a:avLst/>
          </a:prstGeom>
        </p:spPr>
      </p:pic>
    </p:spTree>
    <p:extLst>
      <p:ext uri="{BB962C8B-B14F-4D97-AF65-F5344CB8AC3E}">
        <p14:creationId xmlns:p14="http://schemas.microsoft.com/office/powerpoint/2010/main" val="329324417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40000"/>
              <a:lumOff val="60000"/>
            </a:schemeClr>
          </a:solidFill>
        </p:spPr>
        <p:txBody>
          <a:bodyPr>
            <a:normAutofit/>
          </a:bodyPr>
          <a:lstStyle/>
          <a:p>
            <a:pPr algn="ctr"/>
            <a:r>
              <a:rPr lang="en-US" sz="6000" b="1" dirty="0">
                <a:effectLst>
                  <a:outerShdw blurRad="38100" dist="38100" dir="2700000" algn="tl">
                    <a:srgbClr val="000000">
                      <a:alpha val="43137"/>
                    </a:srgbClr>
                  </a:outerShdw>
                </a:effectLst>
              </a:rPr>
              <a:t>Six Thinking Hats</a:t>
            </a:r>
            <a:endParaRPr lang="en-US" sz="60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lstStyle/>
          <a:p>
            <a:r>
              <a:rPr lang="en-US" dirty="0"/>
              <a:t>By mentally “wearing” each hat, writers can develop well-rounded, deeply thought-out ideas. This method is particularly beneficial for persuasive writing, essay planning, and structuring arguments</a:t>
            </a:r>
            <a:r>
              <a:rPr lang="en-US" dirty="0" smtClean="0"/>
              <a:t>.</a:t>
            </a:r>
            <a:endParaRPr lang="en-US" dirty="0"/>
          </a:p>
        </p:txBody>
      </p:sp>
    </p:spTree>
    <p:extLst>
      <p:ext uri="{BB962C8B-B14F-4D97-AF65-F5344CB8AC3E}">
        <p14:creationId xmlns:p14="http://schemas.microsoft.com/office/powerpoint/2010/main" val="10516626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1504" y="0"/>
            <a:ext cx="10515600" cy="1325563"/>
          </a:xfrm>
          <a:solidFill>
            <a:schemeClr val="accent2">
              <a:lumMod val="20000"/>
              <a:lumOff val="80000"/>
            </a:schemeClr>
          </a:solidFill>
        </p:spPr>
        <p:txBody>
          <a:bodyPr>
            <a:normAutofit/>
          </a:bodyPr>
          <a:lstStyle/>
          <a:p>
            <a:pPr algn="ctr"/>
            <a:r>
              <a:rPr lang="en-US" sz="6000" b="1" dirty="0">
                <a:effectLst>
                  <a:outerShdw blurRad="38100" dist="38100" dir="2700000" algn="tl">
                    <a:srgbClr val="000000">
                      <a:alpha val="43137"/>
                    </a:srgbClr>
                  </a:outerShdw>
                </a:effectLst>
              </a:rPr>
              <a:t>Star bursting</a:t>
            </a:r>
          </a:p>
        </p:txBody>
      </p:sp>
      <p:sp>
        <p:nvSpPr>
          <p:cNvPr id="3" name="Content Placeholder 2"/>
          <p:cNvSpPr>
            <a:spLocks noGrp="1"/>
          </p:cNvSpPr>
          <p:nvPr>
            <p:ph idx="1"/>
          </p:nvPr>
        </p:nvSpPr>
        <p:spPr>
          <a:xfrm>
            <a:off x="126609" y="1533378"/>
            <a:ext cx="12065391" cy="5190979"/>
          </a:xfrm>
        </p:spPr>
        <p:txBody>
          <a:bodyPr>
            <a:noAutofit/>
          </a:bodyPr>
          <a:lstStyle/>
          <a:p>
            <a:pPr algn="just"/>
            <a:r>
              <a:rPr lang="en-US" sz="3200" dirty="0" smtClean="0"/>
              <a:t>Star bursting </a:t>
            </a:r>
            <a:r>
              <a:rPr lang="en-US" sz="3200" dirty="0"/>
              <a:t>is a question-driven brainstorming technique that ensures you fully explore an idea before starting a project. It’s especially useful for research-heavy content, blog planning, and structured essays.</a:t>
            </a:r>
          </a:p>
          <a:p>
            <a:pPr algn="just"/>
            <a:r>
              <a:rPr lang="en-US" sz="3200" b="1" dirty="0"/>
              <a:t>How to do it:</a:t>
            </a:r>
            <a:endParaRPr lang="en-US" sz="3200" dirty="0"/>
          </a:p>
          <a:p>
            <a:pPr algn="just"/>
            <a:r>
              <a:rPr lang="en-US" sz="3200" dirty="0"/>
              <a:t>Draw a six-point star with your idea in the center.</a:t>
            </a:r>
          </a:p>
          <a:p>
            <a:pPr algn="just"/>
            <a:r>
              <a:rPr lang="en-US" sz="3200" dirty="0"/>
              <a:t>Label each point with a key question: Who? What? When? Where? Why? How?</a:t>
            </a:r>
          </a:p>
          <a:p>
            <a:pPr algn="just"/>
            <a:r>
              <a:rPr lang="en-US" sz="3200" dirty="0"/>
              <a:t>Brainstorm as many questions as possible under each category.</a:t>
            </a:r>
          </a:p>
        </p:txBody>
      </p:sp>
    </p:spTree>
    <p:extLst>
      <p:ext uri="{BB962C8B-B14F-4D97-AF65-F5344CB8AC3E}">
        <p14:creationId xmlns:p14="http://schemas.microsoft.com/office/powerpoint/2010/main" val="35774958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a:solidFill>
            <a:srgbClr val="00B0F0"/>
          </a:solidFill>
        </p:spPr>
        <p:txBody>
          <a:bodyPr>
            <a:normAutofit/>
          </a:bodyPr>
          <a:lstStyle/>
          <a:p>
            <a:pPr algn="ctr"/>
            <a:r>
              <a:rPr lang="en-US" sz="6000" b="1" dirty="0">
                <a:effectLst>
                  <a:outerShdw blurRad="38100" dist="38100" dir="2700000" algn="tl">
                    <a:srgbClr val="000000">
                      <a:alpha val="43137"/>
                    </a:srgbClr>
                  </a:outerShdw>
                </a:effectLst>
              </a:rPr>
              <a:t>SWOT analysis</a:t>
            </a:r>
          </a:p>
        </p:txBody>
      </p:sp>
      <p:sp>
        <p:nvSpPr>
          <p:cNvPr id="3" name="Content Placeholder 2"/>
          <p:cNvSpPr>
            <a:spLocks noGrp="1"/>
          </p:cNvSpPr>
          <p:nvPr>
            <p:ph idx="1"/>
          </p:nvPr>
        </p:nvSpPr>
        <p:spPr>
          <a:xfrm>
            <a:off x="98474" y="1505242"/>
            <a:ext cx="12093526" cy="5352757"/>
          </a:xfrm>
        </p:spPr>
        <p:txBody>
          <a:bodyPr>
            <a:normAutofit lnSpcReduction="10000"/>
          </a:bodyPr>
          <a:lstStyle/>
          <a:p>
            <a:r>
              <a:rPr lang="en-US" dirty="0"/>
              <a:t>A SWOT analysis helps evaluate the </a:t>
            </a:r>
            <a:r>
              <a:rPr lang="en-US" b="1" dirty="0">
                <a:solidFill>
                  <a:srgbClr val="FF0000"/>
                </a:solidFill>
                <a:effectLst>
                  <a:outerShdw blurRad="38100" dist="38100" dir="2700000" algn="tl">
                    <a:srgbClr val="000000">
                      <a:alpha val="43137"/>
                    </a:srgbClr>
                  </a:outerShdw>
                </a:effectLst>
              </a:rPr>
              <a:t>Strengths, Weaknesses, Opportunities, and Threats </a:t>
            </a:r>
            <a:r>
              <a:rPr lang="en-US" dirty="0"/>
              <a:t>of an idea before execution. It’s a structured approach to brainstorming, especially valuable for business writing, nonfiction projects, and long-form content planning.</a:t>
            </a:r>
          </a:p>
          <a:p>
            <a:r>
              <a:rPr lang="en-US" b="1" dirty="0"/>
              <a:t>How to do it:</a:t>
            </a:r>
            <a:endParaRPr lang="en-US" dirty="0"/>
          </a:p>
          <a:p>
            <a:r>
              <a:rPr lang="en-US" dirty="0"/>
              <a:t>Draw a four-quadrant grid on a page or a whiteboard.</a:t>
            </a:r>
          </a:p>
          <a:p>
            <a:r>
              <a:rPr lang="en-US" dirty="0"/>
              <a:t>Label each section:</a:t>
            </a:r>
          </a:p>
          <a:p>
            <a:pPr lvl="1"/>
            <a:r>
              <a:rPr lang="en-US" sz="2800" dirty="0"/>
              <a:t>Strengths: Identify what works well about your idea.</a:t>
            </a:r>
          </a:p>
          <a:p>
            <a:pPr lvl="1"/>
            <a:r>
              <a:rPr lang="en-US" sz="2800" dirty="0"/>
              <a:t>Weaknesses: Consider the challenges or gaps in your argument.</a:t>
            </a:r>
          </a:p>
          <a:p>
            <a:pPr lvl="1"/>
            <a:r>
              <a:rPr lang="en-US" sz="2800" dirty="0"/>
              <a:t>Opportunities: Explore new directions, potential improvements, or trends supporting your idea.</a:t>
            </a:r>
          </a:p>
          <a:p>
            <a:pPr lvl="1"/>
            <a:r>
              <a:rPr lang="en-US" sz="2800" dirty="0"/>
              <a:t>Threats: Analyze possible risks, opposing viewpoints, or competitive challenges.</a:t>
            </a:r>
          </a:p>
        </p:txBody>
      </p:sp>
    </p:spTree>
    <p:extLst>
      <p:ext uri="{BB962C8B-B14F-4D97-AF65-F5344CB8AC3E}">
        <p14:creationId xmlns:p14="http://schemas.microsoft.com/office/powerpoint/2010/main" val="1251170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4">
              <a:lumMod val="40000"/>
              <a:lumOff val="60000"/>
            </a:schemeClr>
          </a:solidFill>
        </p:spPr>
        <p:txBody>
          <a:bodyPr>
            <a:normAutofit/>
          </a:bodyPr>
          <a:lstStyle/>
          <a:p>
            <a:pPr algn="ctr"/>
            <a:r>
              <a:rPr lang="en-US" sz="6000" b="1" dirty="0">
                <a:effectLst>
                  <a:outerShdw blurRad="38100" dist="38100" dir="2700000" algn="tl">
                    <a:srgbClr val="000000">
                      <a:alpha val="43137"/>
                    </a:srgbClr>
                  </a:outerShdw>
                </a:effectLst>
              </a:rPr>
              <a:t>Digital brainstorming tools</a:t>
            </a:r>
          </a:p>
        </p:txBody>
      </p:sp>
      <p:sp>
        <p:nvSpPr>
          <p:cNvPr id="3" name="Content Placeholder 2"/>
          <p:cNvSpPr>
            <a:spLocks noGrp="1"/>
          </p:cNvSpPr>
          <p:nvPr>
            <p:ph idx="1"/>
          </p:nvPr>
        </p:nvSpPr>
        <p:spPr/>
        <p:txBody>
          <a:bodyPr/>
          <a:lstStyle/>
          <a:p>
            <a:r>
              <a:rPr lang="en-US" sz="4000" b="1" dirty="0"/>
              <a:t>AI-powered idea </a:t>
            </a:r>
            <a:r>
              <a:rPr lang="en-US" sz="4000" b="1" dirty="0" smtClean="0"/>
              <a:t>generators</a:t>
            </a:r>
          </a:p>
          <a:p>
            <a:r>
              <a:rPr lang="en-US" sz="4000" b="1" dirty="0"/>
              <a:t>Mind-mapping software</a:t>
            </a:r>
          </a:p>
          <a:p>
            <a:r>
              <a:rPr lang="en-US" sz="4000" b="1" dirty="0"/>
              <a:t>Voice note brainstorming</a:t>
            </a:r>
          </a:p>
          <a:p>
            <a:endParaRPr lang="en-US" b="1" dirty="0"/>
          </a:p>
        </p:txBody>
      </p:sp>
    </p:spTree>
    <p:extLst>
      <p:ext uri="{BB962C8B-B14F-4D97-AF65-F5344CB8AC3E}">
        <p14:creationId xmlns:p14="http://schemas.microsoft.com/office/powerpoint/2010/main" val="38194009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a:solidFill>
            <a:schemeClr val="accent1">
              <a:lumMod val="40000"/>
              <a:lumOff val="60000"/>
            </a:schemeClr>
          </a:solidFill>
        </p:spPr>
        <p:txBody>
          <a:bodyPr>
            <a:normAutofit/>
          </a:bodyPr>
          <a:lstStyle/>
          <a:p>
            <a:pPr algn="ctr"/>
            <a:r>
              <a:rPr lang="en-US" sz="6000" b="1" dirty="0">
                <a:effectLst>
                  <a:outerShdw blurRad="38100" dist="38100" dir="2700000" algn="tl">
                    <a:srgbClr val="000000">
                      <a:alpha val="43137"/>
                    </a:srgbClr>
                  </a:outerShdw>
                </a:effectLst>
              </a:rPr>
              <a:t>AI-powered idea generators</a:t>
            </a:r>
          </a:p>
        </p:txBody>
      </p:sp>
      <p:sp>
        <p:nvSpPr>
          <p:cNvPr id="3" name="Content Placeholder 2"/>
          <p:cNvSpPr>
            <a:spLocks noGrp="1"/>
          </p:cNvSpPr>
          <p:nvPr>
            <p:ph idx="1"/>
          </p:nvPr>
        </p:nvSpPr>
        <p:spPr>
          <a:xfrm>
            <a:off x="126609" y="1448972"/>
            <a:ext cx="11957539" cy="5303520"/>
          </a:xfrm>
        </p:spPr>
        <p:txBody>
          <a:bodyPr>
            <a:normAutofit/>
          </a:bodyPr>
          <a:lstStyle/>
          <a:p>
            <a:pPr algn="just"/>
            <a:r>
              <a:rPr lang="en-US" sz="3200" dirty="0"/>
              <a:t>AI-powered tools </a:t>
            </a:r>
            <a:r>
              <a:rPr lang="en-US" sz="3200" dirty="0" smtClean="0"/>
              <a:t>offer </a:t>
            </a:r>
            <a:r>
              <a:rPr lang="en-US" sz="3200" dirty="0"/>
              <a:t>instant writing prompts, structured outlines, and content suggestions tailored to your topic. They help jump-start creativity by introducing fresh perspectives and uncovering new angles you might not have considered.</a:t>
            </a:r>
          </a:p>
          <a:p>
            <a:pPr algn="just"/>
            <a:r>
              <a:rPr lang="en-US" sz="3200" b="1" dirty="0"/>
              <a:t>How to use it:</a:t>
            </a:r>
            <a:endParaRPr lang="en-US" sz="3200" dirty="0"/>
          </a:p>
          <a:p>
            <a:pPr algn="just"/>
            <a:r>
              <a:rPr lang="en-US" sz="3200" dirty="0"/>
              <a:t>Struggling to begin an article? Enter a topic or keyword, and </a:t>
            </a:r>
            <a:r>
              <a:rPr lang="en-US" sz="3200" dirty="0" smtClean="0"/>
              <a:t>it can </a:t>
            </a:r>
            <a:r>
              <a:rPr lang="en-US" sz="3200" dirty="0"/>
              <a:t>suggest an outline or tailored writing prompts.</a:t>
            </a:r>
          </a:p>
          <a:p>
            <a:pPr algn="just"/>
            <a:r>
              <a:rPr lang="en-US" sz="3200" dirty="0"/>
              <a:t>Need fresh ideas? AI-generated suggestions help break creative blocks and serve as a springboard for brainstorming.</a:t>
            </a:r>
          </a:p>
          <a:p>
            <a:pPr algn="just"/>
            <a:r>
              <a:rPr lang="en-US" sz="3200" dirty="0"/>
              <a:t>Already have ideas? Use AI to refine and expand them further.</a:t>
            </a:r>
          </a:p>
        </p:txBody>
      </p:sp>
    </p:spTree>
    <p:extLst>
      <p:ext uri="{BB962C8B-B14F-4D97-AF65-F5344CB8AC3E}">
        <p14:creationId xmlns:p14="http://schemas.microsoft.com/office/powerpoint/2010/main" val="5941134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a:solidFill>
            <a:schemeClr val="accent3">
              <a:lumMod val="40000"/>
              <a:lumOff val="60000"/>
            </a:schemeClr>
          </a:solidFill>
        </p:spPr>
        <p:txBody>
          <a:bodyPr>
            <a:normAutofit/>
          </a:bodyPr>
          <a:lstStyle/>
          <a:p>
            <a:pPr algn="ctr"/>
            <a:r>
              <a:rPr lang="en-US" sz="6000" b="1" dirty="0">
                <a:effectLst>
                  <a:outerShdw blurRad="38100" dist="38100" dir="2700000" algn="tl">
                    <a:srgbClr val="000000">
                      <a:alpha val="43137"/>
                    </a:srgbClr>
                  </a:outerShdw>
                </a:effectLst>
              </a:rPr>
              <a:t>Mind-mapping software</a:t>
            </a:r>
          </a:p>
        </p:txBody>
      </p:sp>
      <p:sp>
        <p:nvSpPr>
          <p:cNvPr id="3" name="Content Placeholder 2"/>
          <p:cNvSpPr>
            <a:spLocks noGrp="1"/>
          </p:cNvSpPr>
          <p:nvPr>
            <p:ph idx="1"/>
          </p:nvPr>
        </p:nvSpPr>
        <p:spPr>
          <a:xfrm>
            <a:off x="0" y="1491175"/>
            <a:ext cx="12192000" cy="5219114"/>
          </a:xfrm>
        </p:spPr>
        <p:txBody>
          <a:bodyPr>
            <a:normAutofit/>
          </a:bodyPr>
          <a:lstStyle/>
          <a:p>
            <a:pPr algn="just"/>
            <a:r>
              <a:rPr lang="en-US" sz="3200" dirty="0"/>
              <a:t>Digital mind-mapping tools offer the same benefits as traditional mind maps—but with added flexibility. They help organize ideas visually, connect related concepts, and clarify complex topics. Unlike paper-based mind maps, digital versions make it easy to modify and rearrange ideas effortlessly</a:t>
            </a:r>
            <a:r>
              <a:rPr lang="en-US" sz="3200" dirty="0" smtClean="0"/>
              <a:t>. (</a:t>
            </a:r>
            <a:r>
              <a:rPr lang="en-US" sz="3200" dirty="0" err="1" smtClean="0"/>
              <a:t>Xmind</a:t>
            </a:r>
            <a:r>
              <a:rPr lang="en-US" sz="3200" dirty="0" smtClean="0"/>
              <a:t>, </a:t>
            </a:r>
            <a:r>
              <a:rPr lang="en-US" sz="3200" dirty="0" err="1" smtClean="0"/>
              <a:t>coggle</a:t>
            </a:r>
            <a:endParaRPr lang="en-US" sz="3200" dirty="0"/>
          </a:p>
          <a:p>
            <a:pPr algn="just"/>
            <a:r>
              <a:rPr lang="en-US" sz="3200" b="1" dirty="0"/>
              <a:t>How to use it:</a:t>
            </a:r>
            <a:endParaRPr lang="en-US" sz="3200" dirty="0"/>
          </a:p>
          <a:p>
            <a:pPr algn="just"/>
            <a:r>
              <a:rPr lang="en-US" sz="3200" dirty="0"/>
              <a:t>Start with a central idea and branch out into subtopics.</a:t>
            </a:r>
          </a:p>
          <a:p>
            <a:pPr algn="just"/>
            <a:r>
              <a:rPr lang="en-US" sz="3200" dirty="0"/>
              <a:t>Use drag-and-drop functionality to reorganize ideas as they evolve.</a:t>
            </a:r>
          </a:p>
          <a:p>
            <a:pPr algn="just"/>
            <a:r>
              <a:rPr lang="en-US" sz="3200" dirty="0"/>
              <a:t>Perfect for outlining stories, structuring essays, and planning research projects.</a:t>
            </a:r>
          </a:p>
        </p:txBody>
      </p:sp>
    </p:spTree>
    <p:extLst>
      <p:ext uri="{BB962C8B-B14F-4D97-AF65-F5344CB8AC3E}">
        <p14:creationId xmlns:p14="http://schemas.microsoft.com/office/powerpoint/2010/main" val="33895728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6989"/>
            <a:ext cx="10515600" cy="1041645"/>
          </a:xfrm>
          <a:solidFill>
            <a:schemeClr val="accent2">
              <a:lumMod val="20000"/>
              <a:lumOff val="80000"/>
            </a:schemeClr>
          </a:solidFill>
        </p:spPr>
        <p:txBody>
          <a:bodyPr>
            <a:normAutofit/>
          </a:bodyPr>
          <a:lstStyle/>
          <a:p>
            <a:pPr algn="ctr"/>
            <a:r>
              <a:rPr lang="en-US" sz="6600" b="1" dirty="0">
                <a:effectLst>
                  <a:outerShdw blurRad="38100" dist="38100" dir="2700000" algn="tl">
                    <a:srgbClr val="000000">
                      <a:alpha val="43137"/>
                    </a:srgbClr>
                  </a:outerShdw>
                </a:effectLst>
              </a:rPr>
              <a:t>Voice note brainstorming</a:t>
            </a:r>
          </a:p>
        </p:txBody>
      </p:sp>
      <p:sp>
        <p:nvSpPr>
          <p:cNvPr id="3" name="Content Placeholder 2"/>
          <p:cNvSpPr>
            <a:spLocks noGrp="1"/>
          </p:cNvSpPr>
          <p:nvPr>
            <p:ph idx="1"/>
          </p:nvPr>
        </p:nvSpPr>
        <p:spPr>
          <a:xfrm>
            <a:off x="154745" y="1378634"/>
            <a:ext cx="11802793" cy="5479366"/>
          </a:xfrm>
        </p:spPr>
        <p:txBody>
          <a:bodyPr>
            <a:noAutofit/>
          </a:bodyPr>
          <a:lstStyle/>
          <a:p>
            <a:pPr algn="just"/>
            <a:r>
              <a:rPr lang="en-US" sz="3200" dirty="0"/>
              <a:t>Some ideas flow best when spoken rather than written. Voice note brainstorming lets you capture thoughts quickly by speaking them aloud and recording for later transcription. It’s especially useful for writers who think faster than they type or who prefer verbal brainstorming.</a:t>
            </a:r>
          </a:p>
          <a:p>
            <a:pPr algn="just"/>
            <a:r>
              <a:rPr lang="en-US" sz="3200" b="1" dirty="0"/>
              <a:t>How to use it:</a:t>
            </a:r>
            <a:endParaRPr lang="en-US" sz="3200" dirty="0"/>
          </a:p>
          <a:p>
            <a:pPr algn="just"/>
            <a:r>
              <a:rPr lang="en-US" sz="3200" dirty="0"/>
              <a:t>Open a voice memo app and talk through your ideas naturally.</a:t>
            </a:r>
          </a:p>
          <a:p>
            <a:pPr algn="just"/>
            <a:r>
              <a:rPr lang="en-US" sz="3200" dirty="0"/>
              <a:t>Replay and refine—transcribe notes or organize key points into a structured outline.</a:t>
            </a:r>
          </a:p>
          <a:p>
            <a:pPr algn="just"/>
            <a:r>
              <a:rPr lang="en-US" sz="3200" dirty="0"/>
              <a:t>Mimics natural storytelling, making it ideal for narrative writing, speeches, and brainstorming sessions.</a:t>
            </a:r>
          </a:p>
        </p:txBody>
      </p:sp>
    </p:spTree>
    <p:extLst>
      <p:ext uri="{BB962C8B-B14F-4D97-AF65-F5344CB8AC3E}">
        <p14:creationId xmlns:p14="http://schemas.microsoft.com/office/powerpoint/2010/main" val="27204227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97915"/>
          </a:xfrm>
        </p:spPr>
        <p:txBody>
          <a:bodyPr>
            <a:normAutofit/>
          </a:bodyPr>
          <a:lstStyle/>
          <a:p>
            <a:pPr algn="ctr"/>
            <a:r>
              <a:rPr lang="en-US" sz="5400" b="1" dirty="0">
                <a:effectLst>
                  <a:outerShdw blurRad="38100" dist="38100" dir="2700000" algn="tl">
                    <a:srgbClr val="000000">
                      <a:alpha val="43137"/>
                    </a:srgbClr>
                  </a:outerShdw>
                </a:effectLst>
              </a:rPr>
              <a:t>Arrangement </a:t>
            </a:r>
            <a:r>
              <a:rPr lang="en-US" sz="5400" b="1" dirty="0" smtClean="0">
                <a:effectLst>
                  <a:outerShdw blurRad="38100" dist="38100" dir="2700000" algn="tl">
                    <a:srgbClr val="000000">
                      <a:alpha val="43137"/>
                    </a:srgbClr>
                  </a:outerShdw>
                </a:effectLst>
              </a:rPr>
              <a:t>activities for </a:t>
            </a:r>
            <a:endParaRPr lang="en-US" sz="5400"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471026"/>
            <a:ext cx="12191999" cy="5386974"/>
          </a:xfrm>
        </p:spPr>
      </p:pic>
    </p:spTree>
    <p:extLst>
      <p:ext uri="{BB962C8B-B14F-4D97-AF65-F5344CB8AC3E}">
        <p14:creationId xmlns:p14="http://schemas.microsoft.com/office/powerpoint/2010/main" val="31080283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994" y="111908"/>
            <a:ext cx="10522633" cy="872832"/>
          </a:xfrm>
        </p:spPr>
        <p:txBody>
          <a:bodyPr>
            <a:normAutofit/>
          </a:bodyPr>
          <a:lstStyle/>
          <a:p>
            <a:pPr algn="ctr"/>
            <a:r>
              <a:rPr lang="en-US" sz="4800" b="1" dirty="0">
                <a:effectLst>
                  <a:outerShdw blurRad="38100" dist="38100" dir="2700000" algn="tl">
                    <a:srgbClr val="000000">
                      <a:alpha val="43137"/>
                    </a:srgbClr>
                  </a:outerShdw>
                </a:effectLst>
              </a:rPr>
              <a:t>Arrangement </a:t>
            </a:r>
            <a:r>
              <a:rPr lang="en-US" sz="4800" b="1" dirty="0" smtClean="0">
                <a:effectLst>
                  <a:outerShdw blurRad="38100" dist="38100" dir="2700000" algn="tl">
                    <a:srgbClr val="000000">
                      <a:alpha val="43137"/>
                    </a:srgbClr>
                  </a:outerShdw>
                </a:effectLst>
              </a:rPr>
              <a:t>activities/ outlining </a:t>
            </a:r>
            <a:endParaRPr lang="en-US" sz="4800"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988702446"/>
              </p:ext>
            </p:extLst>
          </p:nvPr>
        </p:nvGraphicFramePr>
        <p:xfrm>
          <a:off x="576263" y="1111250"/>
          <a:ext cx="11071225" cy="50657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58564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54185"/>
          </a:xfrm>
        </p:spPr>
        <p:txBody>
          <a:bodyPr>
            <a:normAutofit fontScale="90000"/>
          </a:bodyPr>
          <a:lstStyle/>
          <a:p>
            <a:pPr algn="ctr"/>
            <a:r>
              <a:rPr lang="en-US" sz="5300" b="1" dirty="0" smtClean="0">
                <a:effectLst>
                  <a:outerShdw blurRad="38100" dist="38100" dir="2700000" algn="tl">
                    <a:srgbClr val="000000">
                      <a:alpha val="43137"/>
                    </a:srgbClr>
                  </a:outerShdw>
                </a:effectLst>
              </a:rPr>
              <a:t>Flowcharts</a:t>
            </a:r>
            <a:r>
              <a:rPr lang="en-US" dirty="0" smtClean="0"/>
              <a:t/>
            </a:r>
            <a:br>
              <a:rPr lang="en-US" dirty="0" smtClean="0"/>
            </a:br>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32111" y="1125414"/>
            <a:ext cx="11569157" cy="5514537"/>
          </a:xfrm>
        </p:spPr>
      </p:pic>
    </p:spTree>
    <p:extLst>
      <p:ext uri="{BB962C8B-B14F-4D97-AF65-F5344CB8AC3E}">
        <p14:creationId xmlns:p14="http://schemas.microsoft.com/office/powerpoint/2010/main" val="40258462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126050"/>
          </a:xfrm>
        </p:spPr>
        <p:txBody>
          <a:bodyPr>
            <a:normAutofit/>
          </a:bodyPr>
          <a:lstStyle/>
          <a:p>
            <a:pPr lvl="0" algn="ctr"/>
            <a:r>
              <a:rPr lang="en-US" sz="5400" b="1" dirty="0" smtClean="0">
                <a:effectLst>
                  <a:outerShdw blurRad="38100" dist="38100" dir="2700000" algn="tl">
                    <a:srgbClr val="000000">
                      <a:alpha val="43137"/>
                    </a:srgbClr>
                  </a:outerShdw>
                </a:effectLst>
              </a:rPr>
              <a:t>Series of events chain</a:t>
            </a:r>
            <a:endParaRPr lang="en-US" sz="5400"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378634"/>
            <a:ext cx="12191999" cy="5479366"/>
          </a:xfrm>
        </p:spPr>
      </p:pic>
    </p:spTree>
    <p:extLst>
      <p:ext uri="{BB962C8B-B14F-4D97-AF65-F5344CB8AC3E}">
        <p14:creationId xmlns:p14="http://schemas.microsoft.com/office/powerpoint/2010/main" val="864852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000" b="1" dirty="0" smtClean="0">
                <a:effectLst>
                  <a:outerShdw blurRad="38100" dist="38100" dir="2700000" algn="tl">
                    <a:srgbClr val="000000">
                      <a:alpha val="43137"/>
                    </a:srgbClr>
                  </a:outerShdw>
                </a:effectLst>
              </a:rPr>
              <a:t>Story maps</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a:t>Story Maps are used for teaching students to work with story structure for better </a:t>
            </a:r>
            <a:r>
              <a:rPr lang="en-US" dirty="0" smtClean="0"/>
              <a:t>comprehension or Understanding </a:t>
            </a:r>
            <a:r>
              <a:rPr lang="en-US" dirty="0"/>
              <a:t>the meaning of text by reading actively and with purpose (for learning, understanding, or enjoyment</a:t>
            </a:r>
            <a:r>
              <a:rPr lang="en-US" dirty="0" smtClean="0"/>
              <a:t>).</a:t>
            </a:r>
          </a:p>
          <a:p>
            <a:r>
              <a:rPr lang="en-US" dirty="0" smtClean="0"/>
              <a:t> </a:t>
            </a:r>
            <a:r>
              <a:rPr lang="en-US" dirty="0"/>
              <a:t>This technique uses visual representations to help students organize important elements of a story.</a:t>
            </a:r>
          </a:p>
        </p:txBody>
      </p:sp>
    </p:spTree>
    <p:extLst>
      <p:ext uri="{BB962C8B-B14F-4D97-AF65-F5344CB8AC3E}">
        <p14:creationId xmlns:p14="http://schemas.microsoft.com/office/powerpoint/2010/main" val="18960149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b="1" dirty="0">
                <a:effectLst>
                  <a:outerShdw blurRad="38100" dist="38100" dir="2700000" algn="tl">
                    <a:srgbClr val="000000">
                      <a:alpha val="43137"/>
                    </a:srgbClr>
                  </a:outerShdw>
                </a:effectLst>
              </a:rPr>
              <a:t>Charts</a:t>
            </a:r>
            <a:endParaRPr lang="en-US" sz="5400"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5083" y="1690688"/>
            <a:ext cx="11966917" cy="4991466"/>
          </a:xfrm>
        </p:spPr>
      </p:pic>
    </p:spTree>
    <p:extLst>
      <p:ext uri="{BB962C8B-B14F-4D97-AF65-F5344CB8AC3E}">
        <p14:creationId xmlns:p14="http://schemas.microsoft.com/office/powerpoint/2010/main" val="11218439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6000" b="1" dirty="0" smtClean="0">
                <a:effectLst>
                  <a:outerShdw blurRad="38100" dist="38100" dir="2700000" algn="tl">
                    <a:srgbClr val="000000">
                      <a:alpha val="43137"/>
                    </a:srgbClr>
                  </a:outerShdw>
                </a:effectLst>
              </a:rPr>
              <a:t>Charts</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lgn="just"/>
            <a:r>
              <a:rPr lang="en-US" sz="3200" dirty="0"/>
              <a:t> "charts" refer to </a:t>
            </a:r>
            <a:r>
              <a:rPr lang="en-US" sz="3200" dirty="0" smtClean="0"/>
              <a:t>a visual organization tool used to brainstorm.</a:t>
            </a:r>
          </a:p>
          <a:p>
            <a:pPr algn="just"/>
            <a:r>
              <a:rPr lang="en-US" sz="3200" dirty="0"/>
              <a:t>S</a:t>
            </a:r>
            <a:r>
              <a:rPr lang="en-US" sz="3200" dirty="0" smtClean="0"/>
              <a:t>tructure ideas for a piece of writing by visually mapping out different aspects of a topic.</a:t>
            </a:r>
          </a:p>
          <a:p>
            <a:pPr algn="just"/>
            <a:r>
              <a:rPr lang="en-US" sz="3200" dirty="0"/>
              <a:t>O</a:t>
            </a:r>
            <a:r>
              <a:rPr lang="en-US" sz="3200" dirty="0" smtClean="0"/>
              <a:t>ften including categories, subcategories, and key details</a:t>
            </a:r>
            <a:r>
              <a:rPr lang="en-US" sz="3200" dirty="0"/>
              <a:t>, helping writers organize their thoughts before starting a </a:t>
            </a:r>
            <a:r>
              <a:rPr lang="en-US" sz="3200" dirty="0" smtClean="0"/>
              <a:t>draft.</a:t>
            </a:r>
            <a:endParaRPr lang="en-US" sz="3200" dirty="0"/>
          </a:p>
        </p:txBody>
      </p:sp>
    </p:spTree>
    <p:extLst>
      <p:ext uri="{BB962C8B-B14F-4D97-AF65-F5344CB8AC3E}">
        <p14:creationId xmlns:p14="http://schemas.microsoft.com/office/powerpoint/2010/main" val="4648283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lgn="ctr"/>
            <a:r>
              <a:rPr lang="en-US" sz="6000" b="1" dirty="0" smtClean="0">
                <a:effectLst>
                  <a:outerShdw blurRad="38100" dist="38100" dir="2700000" algn="tl">
                    <a:srgbClr val="000000">
                      <a:alpha val="43137"/>
                    </a:srgbClr>
                  </a:outerShdw>
                </a:effectLst>
              </a:rPr>
              <a:t>Fishbone map</a:t>
            </a:r>
            <a:endParaRPr lang="en-US" sz="6000" b="1" dirty="0">
              <a:effectLst>
                <a:outerShdw blurRad="38100" dist="38100" dir="2700000" algn="tl">
                  <a:srgbClr val="000000">
                    <a:alpha val="43137"/>
                  </a:srgbClr>
                </a:outerShdw>
              </a:effectLst>
            </a:endParaRP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53218" y="2039632"/>
            <a:ext cx="11591779" cy="4529980"/>
          </a:xfrm>
        </p:spPr>
      </p:pic>
    </p:spTree>
    <p:extLst>
      <p:ext uri="{BB962C8B-B14F-4D97-AF65-F5344CB8AC3E}">
        <p14:creationId xmlns:p14="http://schemas.microsoft.com/office/powerpoint/2010/main" val="17958146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6000" b="1" dirty="0">
                <a:effectLst>
                  <a:outerShdw blurRad="38100" dist="38100" dir="2700000" algn="tl">
                    <a:srgbClr val="000000">
                      <a:alpha val="43137"/>
                    </a:srgbClr>
                  </a:outerShdw>
                </a:effectLst>
              </a:rPr>
              <a:t>Fishbone map</a:t>
            </a:r>
            <a:endParaRPr lang="en-US" sz="6000" dirty="0"/>
          </a:p>
        </p:txBody>
      </p:sp>
      <p:sp>
        <p:nvSpPr>
          <p:cNvPr id="3" name="Content Placeholder 2"/>
          <p:cNvSpPr>
            <a:spLocks noGrp="1"/>
          </p:cNvSpPr>
          <p:nvPr>
            <p:ph idx="1"/>
          </p:nvPr>
        </p:nvSpPr>
        <p:spPr/>
        <p:txBody>
          <a:bodyPr/>
          <a:lstStyle/>
          <a:p>
            <a:r>
              <a:rPr lang="en-US" dirty="0"/>
              <a:t>A </a:t>
            </a:r>
            <a:r>
              <a:rPr lang="en-US" b="1" dirty="0"/>
              <a:t>fishbone </a:t>
            </a:r>
            <a:r>
              <a:rPr lang="en-US" b="1" dirty="0" smtClean="0"/>
              <a:t>map</a:t>
            </a:r>
            <a:r>
              <a:rPr lang="en-US" dirty="0"/>
              <a:t> is a visual brainstorming tool that helps with finding causes of a problem. It is called a fishbone diagram because the finished diagram looks somewhat like the skeleton of a fish</a:t>
            </a:r>
            <a:r>
              <a:rPr lang="en-US" dirty="0" smtClean="0"/>
              <a:t>.</a:t>
            </a:r>
          </a:p>
          <a:p>
            <a:endParaRPr lang="en-US" dirty="0"/>
          </a:p>
        </p:txBody>
      </p:sp>
    </p:spTree>
    <p:extLst>
      <p:ext uri="{BB962C8B-B14F-4D97-AF65-F5344CB8AC3E}">
        <p14:creationId xmlns:p14="http://schemas.microsoft.com/office/powerpoint/2010/main" val="20819582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p:cNvGrpSpPr/>
          <p:nvPr/>
        </p:nvGrpSpPr>
        <p:grpSpPr>
          <a:xfrm>
            <a:off x="0" y="168812"/>
            <a:ext cx="12084148" cy="6689188"/>
            <a:chOff x="0" y="168812"/>
            <a:chExt cx="12084148" cy="6689188"/>
          </a:xfrm>
        </p:grpSpPr>
        <p:sp>
          <p:nvSpPr>
            <p:cNvPr id="2" name="TextBox 1"/>
            <p:cNvSpPr txBox="1"/>
            <p:nvPr/>
          </p:nvSpPr>
          <p:spPr>
            <a:xfrm>
              <a:off x="4332850" y="168812"/>
              <a:ext cx="4093698" cy="830997"/>
            </a:xfrm>
            <a:prstGeom prst="rect">
              <a:avLst/>
            </a:prstGeom>
            <a:solidFill>
              <a:srgbClr val="FFFF00"/>
            </a:solidFill>
          </p:spPr>
          <p:txBody>
            <a:bodyPr wrap="square" rtlCol="0">
              <a:spAutoFit/>
            </a:bodyPr>
            <a:lstStyle/>
            <a:p>
              <a:r>
                <a:rPr lang="en-US" sz="4800" b="1" dirty="0">
                  <a:effectLst>
                    <a:outerShdw blurRad="38100" dist="38100" dir="2700000" algn="tl">
                      <a:srgbClr val="000000">
                        <a:alpha val="43137"/>
                      </a:srgbClr>
                    </a:outerShdw>
                  </a:effectLst>
                </a:rPr>
                <a:t>Fishbone map</a:t>
              </a:r>
              <a:endParaRPr lang="en-US" sz="4800" dirty="0"/>
            </a:p>
          </p:txBody>
        </p:sp>
        <p:sp>
          <p:nvSpPr>
            <p:cNvPr id="4" name="Rectangle 3"/>
            <p:cNvSpPr/>
            <p:nvPr/>
          </p:nvSpPr>
          <p:spPr>
            <a:xfrm>
              <a:off x="0" y="999809"/>
              <a:ext cx="12084148" cy="585819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6" name="Straight Connector 5"/>
            <p:cNvCxnSpPr/>
            <p:nvPr/>
          </p:nvCxnSpPr>
          <p:spPr>
            <a:xfrm flipV="1">
              <a:off x="562708" y="4220306"/>
              <a:ext cx="9889587" cy="1"/>
            </a:xfrm>
            <a:prstGeom prst="line">
              <a:avLst/>
            </a:prstGeom>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0466363" y="3793383"/>
              <a:ext cx="1603717" cy="769441"/>
            </a:xfrm>
            <a:prstGeom prst="rect">
              <a:avLst/>
            </a:prstGeom>
            <a:solidFill>
              <a:srgbClr val="FFC000"/>
            </a:solidFill>
          </p:spPr>
          <p:txBody>
            <a:bodyPr wrap="square" rtlCol="0">
              <a:spAutoFit/>
            </a:bodyPr>
            <a:lstStyle/>
            <a:p>
              <a:r>
                <a:rPr lang="en-US" sz="4400" dirty="0" smtClean="0"/>
                <a:t>Effect</a:t>
              </a:r>
              <a:r>
                <a:rPr lang="en-US" dirty="0" smtClean="0"/>
                <a:t> </a:t>
              </a:r>
              <a:endParaRPr lang="en-US" dirty="0"/>
            </a:p>
          </p:txBody>
        </p:sp>
        <p:cxnSp>
          <p:nvCxnSpPr>
            <p:cNvPr id="14" name="Straight Connector 13"/>
            <p:cNvCxnSpPr/>
            <p:nvPr/>
          </p:nvCxnSpPr>
          <p:spPr>
            <a:xfrm>
              <a:off x="2686929" y="1617785"/>
              <a:ext cx="1997613" cy="2602521"/>
            </a:xfrm>
            <a:prstGeom prst="line">
              <a:avLst/>
            </a:prstGeom>
          </p:spPr>
          <p:style>
            <a:lnRef idx="1">
              <a:schemeClr val="dk1"/>
            </a:lnRef>
            <a:fillRef idx="0">
              <a:schemeClr val="dk1"/>
            </a:fillRef>
            <a:effectRef idx="0">
              <a:schemeClr val="dk1"/>
            </a:effectRef>
            <a:fontRef idx="minor">
              <a:schemeClr val="tx1"/>
            </a:fontRef>
          </p:style>
        </p:cxnSp>
        <p:cxnSp>
          <p:nvCxnSpPr>
            <p:cNvPr id="15" name="Straight Connector 14"/>
            <p:cNvCxnSpPr/>
            <p:nvPr/>
          </p:nvCxnSpPr>
          <p:spPr>
            <a:xfrm>
              <a:off x="6808763" y="1617784"/>
              <a:ext cx="1997613" cy="2602521"/>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a:off x="6316394" y="4149971"/>
              <a:ext cx="1315328" cy="2602521"/>
            </a:xfrm>
            <a:prstGeom prst="line">
              <a:avLst/>
            </a:prstGeom>
            <a:effectLst>
              <a:reflection blurRad="6350" stA="50000" endA="300" endPos="55000" dir="5400000" sy="-100000" algn="bl" rotWithShape="0"/>
            </a:effectLst>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flipH="1">
              <a:off x="2535703" y="4164039"/>
              <a:ext cx="1315328" cy="2602521"/>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a:off x="562708" y="3123028"/>
              <a:ext cx="11507372" cy="42203"/>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a:off x="576776" y="5397100"/>
              <a:ext cx="11507372" cy="42203"/>
            </a:xfrm>
            <a:prstGeom prst="line">
              <a:avLst/>
            </a:prstGeom>
          </p:spPr>
          <p:style>
            <a:lnRef idx="1">
              <a:schemeClr val="dk1"/>
            </a:lnRef>
            <a:fillRef idx="0">
              <a:schemeClr val="dk1"/>
            </a:fillRef>
            <a:effectRef idx="0">
              <a:schemeClr val="dk1"/>
            </a:effectRef>
            <a:fontRef idx="minor">
              <a:schemeClr val="tx1"/>
            </a:fontRef>
          </p:style>
        </p:cxnSp>
        <p:sp>
          <p:nvSpPr>
            <p:cNvPr id="22" name="TextBox 21"/>
            <p:cNvSpPr txBox="1"/>
            <p:nvPr/>
          </p:nvSpPr>
          <p:spPr>
            <a:xfrm>
              <a:off x="1223888" y="2067953"/>
              <a:ext cx="1772529" cy="369332"/>
            </a:xfrm>
            <a:prstGeom prst="rect">
              <a:avLst/>
            </a:prstGeom>
            <a:noFill/>
          </p:spPr>
          <p:txBody>
            <a:bodyPr wrap="square" rtlCol="0">
              <a:spAutoFit/>
            </a:bodyPr>
            <a:lstStyle/>
            <a:p>
              <a:r>
                <a:rPr lang="en-US" dirty="0" smtClean="0"/>
                <a:t>Cause category </a:t>
              </a:r>
              <a:endParaRPr lang="en-US" dirty="0"/>
            </a:p>
          </p:txBody>
        </p:sp>
        <p:sp>
          <p:nvSpPr>
            <p:cNvPr id="23" name="TextBox 22"/>
            <p:cNvSpPr txBox="1"/>
            <p:nvPr/>
          </p:nvSpPr>
          <p:spPr>
            <a:xfrm>
              <a:off x="7329269" y="2067168"/>
              <a:ext cx="1969476" cy="369332"/>
            </a:xfrm>
            <a:prstGeom prst="rect">
              <a:avLst/>
            </a:prstGeom>
            <a:noFill/>
          </p:spPr>
          <p:txBody>
            <a:bodyPr wrap="square" rtlCol="0">
              <a:spAutoFit/>
            </a:bodyPr>
            <a:lstStyle/>
            <a:p>
              <a:r>
                <a:rPr lang="en-US" dirty="0" smtClean="0"/>
                <a:t>Cause category </a:t>
              </a:r>
              <a:endParaRPr lang="en-US" dirty="0"/>
            </a:p>
          </p:txBody>
        </p:sp>
        <p:sp>
          <p:nvSpPr>
            <p:cNvPr id="24" name="TextBox 23"/>
            <p:cNvSpPr txBox="1"/>
            <p:nvPr/>
          </p:nvSpPr>
          <p:spPr>
            <a:xfrm>
              <a:off x="7948247" y="2774797"/>
              <a:ext cx="1969476" cy="369332"/>
            </a:xfrm>
            <a:prstGeom prst="rect">
              <a:avLst/>
            </a:prstGeom>
            <a:noFill/>
          </p:spPr>
          <p:txBody>
            <a:bodyPr wrap="square" rtlCol="0">
              <a:spAutoFit/>
            </a:bodyPr>
            <a:lstStyle/>
            <a:p>
              <a:r>
                <a:rPr lang="en-US" dirty="0" smtClean="0"/>
                <a:t>Cause category </a:t>
              </a:r>
              <a:endParaRPr lang="en-US" dirty="0"/>
            </a:p>
          </p:txBody>
        </p:sp>
        <p:sp>
          <p:nvSpPr>
            <p:cNvPr id="25" name="TextBox 24"/>
            <p:cNvSpPr txBox="1"/>
            <p:nvPr/>
          </p:nvSpPr>
          <p:spPr>
            <a:xfrm>
              <a:off x="3713872" y="2725562"/>
              <a:ext cx="1969476" cy="369332"/>
            </a:xfrm>
            <a:prstGeom prst="rect">
              <a:avLst/>
            </a:prstGeom>
            <a:noFill/>
          </p:spPr>
          <p:txBody>
            <a:bodyPr wrap="square" rtlCol="0">
              <a:spAutoFit/>
            </a:bodyPr>
            <a:lstStyle/>
            <a:p>
              <a:r>
                <a:rPr lang="en-US" dirty="0" smtClean="0"/>
                <a:t>Cause category </a:t>
              </a:r>
              <a:endParaRPr lang="en-US" dirty="0"/>
            </a:p>
          </p:txBody>
        </p:sp>
        <p:sp>
          <p:nvSpPr>
            <p:cNvPr id="26" name="TextBox 25"/>
            <p:cNvSpPr txBox="1"/>
            <p:nvPr/>
          </p:nvSpPr>
          <p:spPr>
            <a:xfrm>
              <a:off x="2700997" y="6111640"/>
              <a:ext cx="1969476" cy="369332"/>
            </a:xfrm>
            <a:prstGeom prst="rect">
              <a:avLst/>
            </a:prstGeom>
            <a:noFill/>
          </p:spPr>
          <p:txBody>
            <a:bodyPr wrap="square" rtlCol="0">
              <a:spAutoFit/>
            </a:bodyPr>
            <a:lstStyle/>
            <a:p>
              <a:r>
                <a:rPr lang="en-US" dirty="0" smtClean="0"/>
                <a:t>Cause category </a:t>
              </a:r>
              <a:endParaRPr lang="en-US" dirty="0"/>
            </a:p>
          </p:txBody>
        </p:sp>
        <p:sp>
          <p:nvSpPr>
            <p:cNvPr id="27" name="TextBox 26"/>
            <p:cNvSpPr txBox="1"/>
            <p:nvPr/>
          </p:nvSpPr>
          <p:spPr>
            <a:xfrm>
              <a:off x="7199141" y="5071144"/>
              <a:ext cx="1969476" cy="369332"/>
            </a:xfrm>
            <a:prstGeom prst="rect">
              <a:avLst/>
            </a:prstGeom>
            <a:noFill/>
          </p:spPr>
          <p:txBody>
            <a:bodyPr wrap="square" rtlCol="0">
              <a:spAutoFit/>
            </a:bodyPr>
            <a:lstStyle/>
            <a:p>
              <a:r>
                <a:rPr lang="en-US" dirty="0" smtClean="0"/>
                <a:t>Cause category </a:t>
              </a:r>
              <a:endParaRPr lang="en-US" dirty="0"/>
            </a:p>
          </p:txBody>
        </p:sp>
        <p:sp>
          <p:nvSpPr>
            <p:cNvPr id="28" name="TextBox 27"/>
            <p:cNvSpPr txBox="1"/>
            <p:nvPr/>
          </p:nvSpPr>
          <p:spPr>
            <a:xfrm>
              <a:off x="3283050" y="5054582"/>
              <a:ext cx="1969476" cy="369332"/>
            </a:xfrm>
            <a:prstGeom prst="rect">
              <a:avLst/>
            </a:prstGeom>
            <a:noFill/>
          </p:spPr>
          <p:txBody>
            <a:bodyPr wrap="square" rtlCol="0">
              <a:spAutoFit/>
            </a:bodyPr>
            <a:lstStyle/>
            <a:p>
              <a:r>
                <a:rPr lang="en-US" dirty="0" smtClean="0"/>
                <a:t>Cause category </a:t>
              </a:r>
              <a:endParaRPr lang="en-US" dirty="0"/>
            </a:p>
          </p:txBody>
        </p:sp>
        <p:cxnSp>
          <p:nvCxnSpPr>
            <p:cNvPr id="31" name="Straight Connector 30"/>
            <p:cNvCxnSpPr/>
            <p:nvPr/>
          </p:nvCxnSpPr>
          <p:spPr>
            <a:xfrm>
              <a:off x="1237957" y="2436500"/>
              <a:ext cx="2045093"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2" name="Straight Connector 31"/>
            <p:cNvCxnSpPr/>
            <p:nvPr/>
          </p:nvCxnSpPr>
          <p:spPr>
            <a:xfrm>
              <a:off x="7404001" y="2394742"/>
              <a:ext cx="2045093"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3" name="Straight Connector 32"/>
            <p:cNvCxnSpPr/>
            <p:nvPr/>
          </p:nvCxnSpPr>
          <p:spPr>
            <a:xfrm>
              <a:off x="2700997" y="6495484"/>
              <a:ext cx="2045093"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49163975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37428" y="126609"/>
            <a:ext cx="3151163" cy="1292662"/>
          </a:xfrm>
          <a:prstGeom prst="rect">
            <a:avLst/>
          </a:prstGeom>
          <a:noFill/>
        </p:spPr>
        <p:txBody>
          <a:bodyPr wrap="square" rtlCol="0">
            <a:spAutoFit/>
          </a:bodyPr>
          <a:lstStyle/>
          <a:p>
            <a:r>
              <a:rPr lang="en-US" sz="6000" b="1" dirty="0" smtClean="0">
                <a:effectLst>
                  <a:outerShdw blurRad="38100" dist="38100" dir="2700000" algn="tl">
                    <a:srgbClr val="000000">
                      <a:alpha val="43137"/>
                    </a:srgbClr>
                  </a:outerShdw>
                </a:effectLst>
              </a:rPr>
              <a:t>Webbing</a:t>
            </a:r>
          </a:p>
          <a:p>
            <a:endParaRPr lang="en-US" dirty="0"/>
          </a:p>
        </p:txBody>
      </p:sp>
      <p:sp>
        <p:nvSpPr>
          <p:cNvPr id="3" name="TextBox 2"/>
          <p:cNvSpPr txBox="1"/>
          <p:nvPr/>
        </p:nvSpPr>
        <p:spPr>
          <a:xfrm>
            <a:off x="464234" y="1419271"/>
            <a:ext cx="11507372" cy="3139321"/>
          </a:xfrm>
          <a:prstGeom prst="rect">
            <a:avLst/>
          </a:prstGeom>
          <a:noFill/>
        </p:spPr>
        <p:txBody>
          <a:bodyPr wrap="square" rtlCol="0">
            <a:spAutoFit/>
          </a:bodyPr>
          <a:lstStyle/>
          <a:p>
            <a:pPr marL="571500" indent="-571500" algn="just">
              <a:buFont typeface="Arial" panose="020B0604020202020204" pitchFamily="34" charset="0"/>
              <a:buChar char="•"/>
            </a:pPr>
            <a:r>
              <a:rPr lang="en-US" sz="3600" dirty="0"/>
              <a:t>Write your topic idea in the middle of a page.</a:t>
            </a:r>
          </a:p>
          <a:p>
            <a:pPr marL="571500" indent="-571500" algn="just">
              <a:buFont typeface="Arial" panose="020B0604020202020204" pitchFamily="34" charset="0"/>
              <a:buChar char="•"/>
            </a:pPr>
            <a:r>
              <a:rPr lang="en-US" sz="3600" dirty="0"/>
              <a:t>Draw lines that radiate out from the topic.</a:t>
            </a:r>
          </a:p>
          <a:p>
            <a:pPr marL="571500" indent="-571500" algn="just">
              <a:buFont typeface="Arial" panose="020B0604020202020204" pitchFamily="34" charset="0"/>
              <a:buChar char="•"/>
            </a:pPr>
            <a:r>
              <a:rPr lang="en-US" sz="3600" dirty="0"/>
              <a:t>At the end of each line, write down ideas that come to you.</a:t>
            </a:r>
          </a:p>
          <a:p>
            <a:pPr marL="571500" indent="-571500" algn="just">
              <a:buFont typeface="Arial" panose="020B0604020202020204" pitchFamily="34" charset="0"/>
              <a:buChar char="•"/>
            </a:pPr>
            <a:r>
              <a:rPr lang="en-US" sz="3600" dirty="0"/>
              <a:t>Choose one or more of the ideas and repeat the process.</a:t>
            </a:r>
          </a:p>
          <a:p>
            <a:endParaRPr lang="en-US" dirty="0"/>
          </a:p>
        </p:txBody>
      </p:sp>
    </p:spTree>
    <p:extLst>
      <p:ext uri="{BB962C8B-B14F-4D97-AF65-F5344CB8AC3E}">
        <p14:creationId xmlns:p14="http://schemas.microsoft.com/office/powerpoint/2010/main" val="14235807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ebbing – cursodeinglesv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625" y="253219"/>
            <a:ext cx="11648049" cy="6457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7650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US" dirty="0" smtClean="0"/>
              <a:t>Venn diagrams</a:t>
            </a:r>
            <a:endParaRPr lang="en-US" dirty="0"/>
          </a:p>
        </p:txBody>
      </p:sp>
      <p:sp>
        <p:nvSpPr>
          <p:cNvPr id="3" name="Content Placeholder 2"/>
          <p:cNvSpPr>
            <a:spLocks noGrp="1"/>
          </p:cNvSpPr>
          <p:nvPr>
            <p:ph idx="1"/>
          </p:nvPr>
        </p:nvSpPr>
        <p:spPr/>
        <p:txBody>
          <a:bodyPr>
            <a:normAutofit/>
          </a:bodyPr>
          <a:lstStyle/>
          <a:p>
            <a:pPr algn="just"/>
            <a:r>
              <a:rPr lang="en-US" sz="3200" dirty="0"/>
              <a:t>A Venn diagram in writing is a visual tool used to compare and contrast two or more ideas, concepts, or items by depicting their similarities and differences through overlapping circles, </a:t>
            </a:r>
            <a:endParaRPr lang="en-US" sz="3200" dirty="0" smtClean="0"/>
          </a:p>
          <a:p>
            <a:pPr algn="just"/>
            <a:r>
              <a:rPr lang="en-US" sz="3200" dirty="0" smtClean="0"/>
              <a:t>where </a:t>
            </a:r>
            <a:r>
              <a:rPr lang="en-US" sz="3200" dirty="0"/>
              <a:t>the overlapping area represents shared characteristics and the separate circles represent unique attributes; essentially acting as a graphic organizer to help structure a compare and contrast essay or analysis by visually displaying key points of </a:t>
            </a:r>
            <a:r>
              <a:rPr lang="en-US" sz="3200" dirty="0" smtClean="0"/>
              <a:t>comparison.</a:t>
            </a:r>
            <a:endParaRPr lang="en-US" sz="3200" dirty="0"/>
          </a:p>
        </p:txBody>
      </p:sp>
    </p:spTree>
    <p:extLst>
      <p:ext uri="{BB962C8B-B14F-4D97-AF65-F5344CB8AC3E}">
        <p14:creationId xmlns:p14="http://schemas.microsoft.com/office/powerpoint/2010/main" val="242686728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25083" y="98475"/>
            <a:ext cx="11633982" cy="67595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54923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6000" b="1" dirty="0" smtClean="0">
                <a:effectLst>
                  <a:outerShdw blurRad="38100" dist="38100" dir="2700000" algn="tl">
                    <a:srgbClr val="000000">
                      <a:alpha val="43137"/>
                    </a:srgbClr>
                  </a:outerShdw>
                </a:effectLst>
              </a:rPr>
              <a:t>Outlining</a:t>
            </a:r>
            <a:r>
              <a:rPr lang="en-US" dirty="0" smtClean="0"/>
              <a:t> </a:t>
            </a:r>
            <a:endParaRPr lang="en-US" dirty="0"/>
          </a:p>
        </p:txBody>
      </p:sp>
      <p:sp>
        <p:nvSpPr>
          <p:cNvPr id="4" name="Content Placeholder 3"/>
          <p:cNvSpPr>
            <a:spLocks noGrp="1"/>
          </p:cNvSpPr>
          <p:nvPr>
            <p:ph sz="half" idx="2"/>
          </p:nvPr>
        </p:nvSpPr>
        <p:spPr>
          <a:xfrm>
            <a:off x="6096000" y="1825625"/>
            <a:ext cx="5181600" cy="4351338"/>
          </a:xfrm>
        </p:spPr>
        <p:txBody>
          <a:bodyPr>
            <a:normAutofit lnSpcReduction="10000"/>
          </a:bodyPr>
          <a:lstStyle/>
          <a:p>
            <a:pPr marL="0" indent="0" algn="just">
              <a:buNone/>
            </a:pPr>
            <a:r>
              <a:rPr lang="en-US" dirty="0"/>
              <a:t>Outlining is the act of organizing your ideas into a clear, logical structure. This step helps you decide what belongs where—laying out your introduction, key points, evidence, and conclusion in a way that makes sense. Choosing the right type of outline for your project creates a roadmap that keeps your writing on track and your message focused.</a:t>
            </a:r>
          </a:p>
        </p:txBody>
      </p:sp>
      <p:pic>
        <p:nvPicPr>
          <p:cNvPr id="2054" name="Picture 6" descr="Document with bullet points"/>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12543" y="1879678"/>
            <a:ext cx="5983458" cy="4476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957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229" y="239151"/>
            <a:ext cx="11957539" cy="1153550"/>
          </a:xfrm>
          <a:solidFill>
            <a:schemeClr val="accent3">
              <a:lumMod val="20000"/>
              <a:lumOff val="80000"/>
            </a:schemeClr>
          </a:solidFill>
        </p:spPr>
        <p:txBody>
          <a:bodyPr>
            <a:normAutofit fontScale="90000"/>
          </a:bodyPr>
          <a:lstStyle/>
          <a:p>
            <a:pPr algn="ctr"/>
            <a:r>
              <a:rPr lang="en-US" sz="7300" b="1" dirty="0">
                <a:effectLst>
                  <a:outerShdw blurRad="38100" dist="38100" dir="2700000" algn="tl">
                    <a:srgbClr val="000000">
                      <a:alpha val="43137"/>
                    </a:srgbClr>
                  </a:outerShdw>
                </a:effectLst>
              </a:rPr>
              <a:t>Why create an outline?</a:t>
            </a:r>
            <a:r>
              <a:rPr lang="en-US" dirty="0"/>
              <a:t/>
            </a:r>
            <a:br>
              <a:rPr lang="en-US" dirty="0"/>
            </a:br>
            <a:endParaRPr lang="en-US" dirty="0"/>
          </a:p>
        </p:txBody>
      </p:sp>
      <p:sp>
        <p:nvSpPr>
          <p:cNvPr id="3" name="Content Placeholder 2"/>
          <p:cNvSpPr>
            <a:spLocks noGrp="1"/>
          </p:cNvSpPr>
          <p:nvPr>
            <p:ph idx="1"/>
          </p:nvPr>
        </p:nvSpPr>
        <p:spPr>
          <a:xfrm>
            <a:off x="117229" y="1519310"/>
            <a:ext cx="11957539" cy="5338689"/>
          </a:xfrm>
        </p:spPr>
        <p:txBody>
          <a:bodyPr>
            <a:normAutofit/>
          </a:bodyPr>
          <a:lstStyle/>
          <a:p>
            <a:pPr algn="just"/>
            <a:r>
              <a:rPr lang="en-US" sz="4000" dirty="0"/>
              <a:t>Creating an outline can help you organize </a:t>
            </a:r>
            <a:r>
              <a:rPr lang="en-US" sz="4000" dirty="0">
                <a:solidFill>
                  <a:srgbClr val="FF0000"/>
                </a:solidFill>
              </a:rPr>
              <a:t>your ideas, visualize your paper’s potential structure</a:t>
            </a:r>
            <a:r>
              <a:rPr lang="en-US" sz="4000" dirty="0"/>
              <a:t>, and further flesh out and develop your points. </a:t>
            </a:r>
            <a:endParaRPr lang="en-US" sz="4000" dirty="0" smtClean="0"/>
          </a:p>
          <a:p>
            <a:pPr algn="just"/>
            <a:r>
              <a:rPr lang="en-US" sz="4000" dirty="0" smtClean="0"/>
              <a:t>It </a:t>
            </a:r>
            <a:r>
              <a:rPr lang="en-US" sz="4000" dirty="0"/>
              <a:t>allows you to understand how you will connect information to support your thesis statement and the </a:t>
            </a:r>
            <a:r>
              <a:rPr lang="en-US" sz="4000" dirty="0" smtClean="0"/>
              <a:t>claims.</a:t>
            </a:r>
          </a:p>
          <a:p>
            <a:pPr algn="just"/>
            <a:r>
              <a:rPr lang="en-US" sz="4000" dirty="0" smtClean="0"/>
              <a:t>An </a:t>
            </a:r>
            <a:r>
              <a:rPr lang="en-US" sz="4000" dirty="0"/>
              <a:t>outline provides you with a space to consider ideas easily without needing to write complete paragraphs or sentences.</a:t>
            </a:r>
            <a:endParaRPr lang="en-US" sz="4000" dirty="0"/>
          </a:p>
        </p:txBody>
      </p:sp>
    </p:spTree>
    <p:extLst>
      <p:ext uri="{BB962C8B-B14F-4D97-AF65-F5344CB8AC3E}">
        <p14:creationId xmlns:p14="http://schemas.microsoft.com/office/powerpoint/2010/main" val="4769703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5451" y="154744"/>
            <a:ext cx="9961098" cy="973236"/>
          </a:xfrm>
          <a:solidFill>
            <a:schemeClr val="accent2"/>
          </a:solidFill>
        </p:spPr>
        <p:txBody>
          <a:bodyPr>
            <a:noAutofit/>
          </a:bodyPr>
          <a:lstStyle/>
          <a:p>
            <a:pPr algn="ctr"/>
            <a:r>
              <a:rPr lang="en-US" sz="6600" b="1" dirty="0" smtClean="0">
                <a:effectLst>
                  <a:outerShdw blurRad="38100" dist="38100" dir="2700000" algn="tl">
                    <a:srgbClr val="000000">
                      <a:alpha val="43137"/>
                    </a:srgbClr>
                  </a:outerShdw>
                </a:effectLst>
              </a:rPr>
              <a:t>How to create outline</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82880" y="1266092"/>
            <a:ext cx="11873132" cy="5591908"/>
          </a:xfrm>
        </p:spPr>
        <p:txBody>
          <a:bodyPr>
            <a:normAutofit/>
          </a:bodyPr>
          <a:lstStyle/>
          <a:p>
            <a:pPr algn="just"/>
            <a:r>
              <a:rPr lang="en-US" sz="3200" dirty="0"/>
              <a:t>Before beginning an outline, it is useful to </a:t>
            </a:r>
            <a:r>
              <a:rPr lang="en-US" sz="3200" dirty="0">
                <a:solidFill>
                  <a:srgbClr val="FF0000"/>
                </a:solidFill>
              </a:rPr>
              <a:t>have a clear thesis statement </a:t>
            </a:r>
            <a:r>
              <a:rPr lang="en-US" sz="3200" dirty="0"/>
              <a:t>or </a:t>
            </a:r>
            <a:r>
              <a:rPr lang="en-US" sz="3200" dirty="0">
                <a:solidFill>
                  <a:srgbClr val="FF0000"/>
                </a:solidFill>
              </a:rPr>
              <a:t>clear purpose or argument</a:t>
            </a:r>
            <a:r>
              <a:rPr lang="en-US" sz="3200" dirty="0"/>
              <a:t>, as everything else in the outline is going to work to support the thesis</a:t>
            </a:r>
            <a:r>
              <a:rPr lang="en-US" sz="3200" dirty="0" smtClean="0"/>
              <a:t>.</a:t>
            </a:r>
          </a:p>
          <a:p>
            <a:pPr algn="just"/>
            <a:r>
              <a:rPr lang="en-US" dirty="0"/>
              <a:t> </a:t>
            </a:r>
            <a:r>
              <a:rPr lang="en-US" sz="3200" dirty="0" smtClean="0"/>
              <a:t>The </a:t>
            </a:r>
            <a:r>
              <a:rPr lang="en-US" sz="3200" dirty="0"/>
              <a:t>outline might help </a:t>
            </a:r>
            <a:r>
              <a:rPr lang="en-US" sz="3200" dirty="0">
                <a:solidFill>
                  <a:srgbClr val="FF0000"/>
                </a:solidFill>
              </a:rPr>
              <a:t>inform the thesis</a:t>
            </a:r>
            <a:r>
              <a:rPr lang="en-US" sz="3200" dirty="0"/>
              <a:t>, and therefore your thesis might change or develop within the outlining process</a:t>
            </a:r>
            <a:r>
              <a:rPr lang="en-US" sz="3200" dirty="0" smtClean="0"/>
              <a:t>.</a:t>
            </a:r>
          </a:p>
          <a:p>
            <a:pPr algn="just"/>
            <a:r>
              <a:rPr lang="en-US" sz="3200" dirty="0"/>
              <a:t>Organize your outline in whatever </a:t>
            </a:r>
            <a:r>
              <a:rPr lang="en-US" sz="3200" dirty="0">
                <a:solidFill>
                  <a:srgbClr val="FF0000"/>
                </a:solidFill>
              </a:rPr>
              <a:t>format fits into the structure needed for the type of paper </a:t>
            </a:r>
            <a:r>
              <a:rPr lang="en-US" sz="3200" dirty="0"/>
              <a:t>you are writing. One common outline format uses </a:t>
            </a:r>
            <a:r>
              <a:rPr lang="en-US" sz="3200" dirty="0">
                <a:solidFill>
                  <a:srgbClr val="FF0000"/>
                </a:solidFill>
              </a:rPr>
              <a:t>Roman numerals, letters, and numbers</a:t>
            </a:r>
            <a:r>
              <a:rPr lang="en-US" sz="3200" dirty="0"/>
              <a:t>. Other outlines can </a:t>
            </a:r>
            <a:r>
              <a:rPr lang="en-US" sz="3200" dirty="0">
                <a:solidFill>
                  <a:srgbClr val="FF0000"/>
                </a:solidFill>
              </a:rPr>
              <a:t>use bullet points</a:t>
            </a:r>
            <a:r>
              <a:rPr lang="en-US" sz="3200" dirty="0"/>
              <a:t> or other symbols. </a:t>
            </a:r>
            <a:endParaRPr lang="en-US" sz="4000" dirty="0"/>
          </a:p>
        </p:txBody>
      </p:sp>
    </p:spTree>
    <p:extLst>
      <p:ext uri="{BB962C8B-B14F-4D97-AF65-F5344CB8AC3E}">
        <p14:creationId xmlns:p14="http://schemas.microsoft.com/office/powerpoint/2010/main" val="17952306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191999" cy="1055712"/>
          </a:xfrm>
          <a:solidFill>
            <a:schemeClr val="accent2">
              <a:lumMod val="40000"/>
              <a:lumOff val="60000"/>
            </a:schemeClr>
          </a:solidFill>
        </p:spPr>
        <p:txBody>
          <a:bodyPr>
            <a:normAutofit/>
          </a:bodyPr>
          <a:lstStyle/>
          <a:p>
            <a:pPr algn="ctr"/>
            <a:r>
              <a:rPr lang="en-US" sz="6000" b="1" dirty="0" smtClean="0">
                <a:effectLst>
                  <a:outerShdw blurRad="38100" dist="38100" dir="2700000" algn="tl">
                    <a:srgbClr val="000000">
                      <a:alpha val="43137"/>
                    </a:srgbClr>
                  </a:outerShdw>
                </a:effectLst>
              </a:rPr>
              <a:t>How to create outline </a:t>
            </a:r>
            <a:endParaRPr lang="en-US" sz="6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1" y="1055712"/>
            <a:ext cx="12192000" cy="5682713"/>
          </a:xfrm>
        </p:spPr>
        <p:txBody>
          <a:bodyPr>
            <a:normAutofit/>
          </a:bodyPr>
          <a:lstStyle/>
          <a:p>
            <a:pPr algn="just"/>
            <a:r>
              <a:rPr lang="en-US" sz="3600" dirty="0"/>
              <a:t>You can use whatever </a:t>
            </a:r>
            <a:r>
              <a:rPr lang="en-US" sz="3600" dirty="0">
                <a:solidFill>
                  <a:schemeClr val="accent2"/>
                </a:solidFill>
              </a:rPr>
              <a:t>organizational patterns</a:t>
            </a:r>
            <a:r>
              <a:rPr lang="en-US" sz="3600" dirty="0"/>
              <a:t> work best for you and your paper, as long as you understand your own organizational tools. </a:t>
            </a:r>
            <a:endParaRPr lang="en-US" sz="3600" dirty="0" smtClean="0"/>
          </a:p>
          <a:p>
            <a:pPr algn="just"/>
            <a:r>
              <a:rPr lang="en-US" sz="3600" dirty="0" smtClean="0"/>
              <a:t>Outlines </a:t>
            </a:r>
            <a:r>
              <a:rPr lang="en-US" sz="3600" dirty="0"/>
              <a:t>can be written using </a:t>
            </a:r>
            <a:r>
              <a:rPr lang="en-US" sz="3600" dirty="0">
                <a:solidFill>
                  <a:srgbClr val="FF0000"/>
                </a:solidFill>
              </a:rPr>
              <a:t>complete sentences or fragments or a mix of the two</a:t>
            </a:r>
            <a:r>
              <a:rPr lang="en-US" sz="3600" dirty="0" smtClean="0">
                <a:solidFill>
                  <a:srgbClr val="FF0000"/>
                </a:solidFill>
              </a:rPr>
              <a:t>.</a:t>
            </a:r>
          </a:p>
          <a:p>
            <a:pPr algn="just"/>
            <a:r>
              <a:rPr lang="en-US" sz="3600" dirty="0"/>
              <a:t>After creating your outline, you may decide to reorganize your ideas by putting them in a different order. </a:t>
            </a:r>
            <a:endParaRPr lang="en-US" sz="3600" dirty="0" smtClean="0"/>
          </a:p>
          <a:p>
            <a:pPr algn="just"/>
            <a:r>
              <a:rPr lang="en-US" sz="3600" dirty="0" smtClean="0"/>
              <a:t>Furthermore</a:t>
            </a:r>
            <a:r>
              <a:rPr lang="en-US" sz="3600" dirty="0"/>
              <a:t>, as you are writing you might make some discoveries and can, of course, always adjust or deviate from the outline as needed.</a:t>
            </a:r>
            <a:endParaRPr lang="en-US" sz="3600" dirty="0"/>
          </a:p>
        </p:txBody>
      </p:sp>
    </p:spTree>
    <p:extLst>
      <p:ext uri="{BB962C8B-B14F-4D97-AF65-F5344CB8AC3E}">
        <p14:creationId xmlns:p14="http://schemas.microsoft.com/office/powerpoint/2010/main" val="4489499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US" b="1" dirty="0">
                <a:solidFill>
                  <a:schemeClr val="tx1">
                    <a:lumMod val="75000"/>
                    <a:lumOff val="25000"/>
                  </a:schemeClr>
                </a:solidFill>
                <a:latin typeface="Candara" pitchFamily="34" charset="0"/>
                <a:cs typeface="Arial" pitchFamily="34" charset="0"/>
              </a:rPr>
              <a:t>Topic Sentences</a:t>
            </a:r>
            <a:br>
              <a:rPr lang="en-US" altLang="en-US" b="1" dirty="0">
                <a:solidFill>
                  <a:schemeClr val="tx1">
                    <a:lumMod val="75000"/>
                    <a:lumOff val="25000"/>
                  </a:schemeClr>
                </a:solidFill>
                <a:latin typeface="Candara" pitchFamily="34" charset="0"/>
                <a:cs typeface="Arial" pitchFamily="34" charset="0"/>
              </a:rPr>
            </a:br>
            <a:endParaRPr lang="en-US" dirty="0"/>
          </a:p>
        </p:txBody>
      </p:sp>
      <p:sp>
        <p:nvSpPr>
          <p:cNvPr id="3" name="Content Placeholder 2"/>
          <p:cNvSpPr>
            <a:spLocks noGrp="1"/>
          </p:cNvSpPr>
          <p:nvPr>
            <p:ph idx="1"/>
          </p:nvPr>
        </p:nvSpPr>
        <p:spPr>
          <a:xfrm>
            <a:off x="0" y="1203158"/>
            <a:ext cx="12027876" cy="5521199"/>
          </a:xfrm>
        </p:spPr>
        <p:txBody>
          <a:bodyPr>
            <a:noAutofit/>
          </a:bodyPr>
          <a:lstStyle/>
          <a:p>
            <a:pPr lvl="1" algn="just">
              <a:spcBef>
                <a:spcPts val="6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sz="2800" dirty="0">
                <a:solidFill>
                  <a:schemeClr val="tx1">
                    <a:lumMod val="75000"/>
                    <a:lumOff val="25000"/>
                  </a:schemeClr>
                </a:solidFill>
                <a:cs typeface="Arial" pitchFamily="34" charset="0"/>
              </a:rPr>
              <a:t>Each paragraph should begin with a topic sentence that states the main idea of that paragraph.</a:t>
            </a:r>
          </a:p>
          <a:p>
            <a:pPr lvl="1" algn="just">
              <a:lnSpc>
                <a:spcPct val="150000"/>
              </a:lnSpc>
              <a:spcBef>
                <a:spcPts val="6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sz="2800" dirty="0">
                <a:solidFill>
                  <a:schemeClr val="tx1">
                    <a:lumMod val="75000"/>
                    <a:lumOff val="25000"/>
                  </a:schemeClr>
                </a:solidFill>
                <a:cs typeface="Arial" pitchFamily="34" charset="0"/>
              </a:rPr>
              <a:t>Just like the thesis statement, the topic sentence lets you know what the paragraph contains. </a:t>
            </a:r>
          </a:p>
          <a:p>
            <a:pPr lvl="1" algn="just">
              <a:lnSpc>
                <a:spcPct val="150000"/>
              </a:lnSpc>
              <a:spcBef>
                <a:spcPts val="6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sz="2800" dirty="0">
                <a:solidFill>
                  <a:schemeClr val="tx1">
                    <a:lumMod val="75000"/>
                    <a:lumOff val="25000"/>
                  </a:schemeClr>
                </a:solidFill>
                <a:cs typeface="Arial" pitchFamily="34" charset="0"/>
              </a:rPr>
              <a:t>For example, for the first paragraph on the causes of smoking, you might write a topic sentence that states: </a:t>
            </a:r>
            <a:r>
              <a:rPr lang="en-US" sz="2800" dirty="0">
                <a:solidFill>
                  <a:srgbClr val="FF0000"/>
                </a:solidFill>
                <a:cs typeface="Arial" pitchFamily="34" charset="0"/>
              </a:rPr>
              <a:t>“The most compelling cause of smoking is genetics.”</a:t>
            </a:r>
          </a:p>
          <a:p>
            <a:pPr lvl="1" algn="just">
              <a:lnSpc>
                <a:spcPct val="150000"/>
              </a:lnSpc>
              <a:spcBef>
                <a:spcPts val="600"/>
              </a:spcBef>
              <a:tabLst>
                <a:tab pos="454025" algn="l"/>
                <a:tab pos="911225" algn="l"/>
                <a:tab pos="1368425" algn="l"/>
                <a:tab pos="1825625" algn="l"/>
                <a:tab pos="2282825" algn="l"/>
                <a:tab pos="2740025" algn="l"/>
                <a:tab pos="3197225" algn="l"/>
                <a:tab pos="3654425" algn="l"/>
                <a:tab pos="4111625" algn="l"/>
                <a:tab pos="4568825" algn="l"/>
                <a:tab pos="5026025" algn="l"/>
                <a:tab pos="5483225" algn="l"/>
                <a:tab pos="5940425" algn="l"/>
                <a:tab pos="6397625" algn="l"/>
                <a:tab pos="6854825" algn="l"/>
                <a:tab pos="7312025" algn="l"/>
                <a:tab pos="7769225" algn="l"/>
                <a:tab pos="8226425" algn="l"/>
                <a:tab pos="8683625" algn="l"/>
                <a:tab pos="9140825" algn="l"/>
              </a:tabLst>
            </a:pPr>
            <a:r>
              <a:rPr lang="en-US" sz="2800" dirty="0">
                <a:solidFill>
                  <a:schemeClr val="tx1">
                    <a:lumMod val="75000"/>
                    <a:lumOff val="25000"/>
                  </a:schemeClr>
                </a:solidFill>
                <a:cs typeface="Arial" pitchFamily="34" charset="0"/>
              </a:rPr>
              <a:t>From this, the reader will know that you will  cover the concept of heredity and smoking within this paragraph</a:t>
            </a:r>
            <a:endParaRPr lang="en-US" sz="3200" dirty="0"/>
          </a:p>
        </p:txBody>
      </p:sp>
    </p:spTree>
    <p:extLst>
      <p:ext uri="{BB962C8B-B14F-4D97-AF65-F5344CB8AC3E}">
        <p14:creationId xmlns:p14="http://schemas.microsoft.com/office/powerpoint/2010/main" val="35072764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4110"/>
            <a:ext cx="10515600" cy="1325563"/>
          </a:xfrm>
        </p:spPr>
        <p:txBody>
          <a:bodyPr>
            <a:normAutofit/>
          </a:bodyPr>
          <a:lstStyle/>
          <a:p>
            <a:pPr algn="ctr"/>
            <a:r>
              <a:rPr lang="en-US" sz="5400" b="1" dirty="0" smtClean="0">
                <a:effectLst>
                  <a:outerShdw blurRad="38100" dist="38100" dir="2700000" algn="tl">
                    <a:srgbClr val="000000">
                      <a:alpha val="43137"/>
                    </a:srgbClr>
                  </a:outerShdw>
                </a:effectLst>
                <a:latin typeface="+mn-lt"/>
              </a:rPr>
              <a:t>Thesis </a:t>
            </a:r>
            <a:r>
              <a:rPr lang="en-US" sz="5400" b="1" dirty="0">
                <a:effectLst>
                  <a:outerShdw blurRad="38100" dist="38100" dir="2700000" algn="tl">
                    <a:srgbClr val="000000">
                      <a:alpha val="43137"/>
                    </a:srgbClr>
                  </a:outerShdw>
                </a:effectLst>
                <a:latin typeface="+mn-lt"/>
              </a:rPr>
              <a:t>statement</a:t>
            </a:r>
          </a:p>
        </p:txBody>
      </p:sp>
      <p:sp>
        <p:nvSpPr>
          <p:cNvPr id="3" name="Content Placeholder 2"/>
          <p:cNvSpPr>
            <a:spLocks noGrp="1"/>
          </p:cNvSpPr>
          <p:nvPr>
            <p:ph idx="1"/>
          </p:nvPr>
        </p:nvSpPr>
        <p:spPr>
          <a:xfrm>
            <a:off x="838200" y="1322363"/>
            <a:ext cx="10515600" cy="4854600"/>
          </a:xfrm>
        </p:spPr>
        <p:txBody>
          <a:bodyPr/>
          <a:lstStyle/>
          <a:p>
            <a:pPr algn="just"/>
            <a:r>
              <a:rPr lang="en-US" sz="3200" dirty="0"/>
              <a:t>A </a:t>
            </a:r>
            <a:r>
              <a:rPr lang="en-US" sz="3200" b="1" dirty="0"/>
              <a:t>thesis statement</a:t>
            </a:r>
            <a:r>
              <a:rPr lang="en-US" sz="3200" dirty="0"/>
              <a:t> is a clear, concise sentence (or two) that presents the main argument or central idea of an essay, research paper, or article. It sets the direction for the rest of the writing and tells the reader what to expect</a:t>
            </a:r>
            <a:r>
              <a:rPr lang="en-US" sz="3200" dirty="0" smtClean="0"/>
              <a:t>.</a:t>
            </a:r>
          </a:p>
          <a:p>
            <a:pPr marL="0" indent="0" algn="just">
              <a:buNone/>
            </a:pPr>
            <a:endParaRPr lang="en-US" sz="3200" dirty="0"/>
          </a:p>
          <a:p>
            <a:pPr marL="0" indent="0" algn="just">
              <a:buNone/>
            </a:pPr>
            <a:endParaRPr lang="en-US" sz="3200" dirty="0" smtClean="0"/>
          </a:p>
          <a:p>
            <a:pPr marL="0" indent="0">
              <a:buNone/>
            </a:pPr>
            <a:r>
              <a:rPr lang="en-US" sz="3200" dirty="0">
                <a:solidFill>
                  <a:srgbClr val="002060"/>
                </a:solidFill>
              </a:rPr>
              <a:t>"Regular exercise improves mental health by reducing stress, increasing serotonin levels, and boosting self-confidence."</a:t>
            </a:r>
          </a:p>
        </p:txBody>
      </p:sp>
    </p:spTree>
    <p:extLst>
      <p:ext uri="{BB962C8B-B14F-4D97-AF65-F5344CB8AC3E}">
        <p14:creationId xmlns:p14="http://schemas.microsoft.com/office/powerpoint/2010/main" val="28346311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971306"/>
          </a:xfrm>
          <a:solidFill>
            <a:schemeClr val="accent2"/>
          </a:solidFill>
        </p:spPr>
        <p:txBody>
          <a:bodyPr>
            <a:noAutofit/>
          </a:bodyPr>
          <a:lstStyle/>
          <a:p>
            <a:pPr algn="ctr"/>
            <a:r>
              <a:rPr lang="en-US" sz="6600" b="1" dirty="0" smtClean="0">
                <a:effectLst>
                  <a:outerShdw blurRad="38100" dist="38100" dir="2700000" algn="tl">
                    <a:srgbClr val="000000">
                      <a:alpha val="43137"/>
                    </a:srgbClr>
                  </a:outerShdw>
                </a:effectLst>
              </a:rPr>
              <a:t>Sample of outline </a:t>
            </a:r>
            <a:endParaRPr lang="en-US" sz="66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0" y="971306"/>
            <a:ext cx="12192000" cy="5886694"/>
          </a:xfrm>
        </p:spPr>
        <p:txBody>
          <a:bodyPr>
            <a:noAutofit/>
          </a:bodyPr>
          <a:lstStyle/>
          <a:p>
            <a:r>
              <a:rPr lang="en-US" dirty="0"/>
              <a:t>Introduction</a:t>
            </a:r>
            <a:br>
              <a:rPr lang="en-US" dirty="0"/>
            </a:br>
            <a:r>
              <a:rPr lang="en-US" dirty="0"/>
              <a:t>A. Background information</a:t>
            </a:r>
            <a:br>
              <a:rPr lang="en-US" dirty="0"/>
            </a:br>
            <a:r>
              <a:rPr lang="en-US" dirty="0"/>
              <a:t>B. Thesis</a:t>
            </a:r>
          </a:p>
          <a:p>
            <a:r>
              <a:rPr lang="en-US" dirty="0"/>
              <a:t>Reason 1</a:t>
            </a:r>
            <a:br>
              <a:rPr lang="en-US" dirty="0"/>
            </a:br>
            <a:r>
              <a:rPr lang="en-US" dirty="0"/>
              <a:t>A. Use quotes from x</a:t>
            </a:r>
            <a:br>
              <a:rPr lang="en-US" dirty="0"/>
            </a:br>
            <a:r>
              <a:rPr lang="en-US" dirty="0"/>
              <a:t>B. Use evidence from y</a:t>
            </a:r>
          </a:p>
          <a:p>
            <a:r>
              <a:rPr lang="en-US" dirty="0"/>
              <a:t>Reason 2</a:t>
            </a:r>
            <a:br>
              <a:rPr lang="en-US" dirty="0"/>
            </a:br>
            <a:r>
              <a:rPr lang="en-US" dirty="0"/>
              <a:t>A. Counterargument</a:t>
            </a:r>
            <a:br>
              <a:rPr lang="en-US" dirty="0"/>
            </a:br>
            <a:r>
              <a:rPr lang="en-US" dirty="0"/>
              <a:t>    1. They might say…</a:t>
            </a:r>
            <a:br>
              <a:rPr lang="en-US" dirty="0"/>
            </a:br>
            <a:r>
              <a:rPr lang="en-US" dirty="0"/>
              <a:t>    2. But…</a:t>
            </a:r>
          </a:p>
          <a:p>
            <a:r>
              <a:rPr lang="en-US" dirty="0"/>
              <a:t>Conclusion</a:t>
            </a:r>
            <a:br>
              <a:rPr lang="en-US" dirty="0"/>
            </a:br>
            <a:r>
              <a:rPr lang="en-US" dirty="0"/>
              <a:t>A. Connect back to thesis</a:t>
            </a:r>
            <a:br>
              <a:rPr lang="en-US" dirty="0"/>
            </a:br>
            <a:r>
              <a:rPr lang="en-US" dirty="0"/>
              <a:t>B. Answer the “so what” or “what now” question</a:t>
            </a:r>
            <a:br>
              <a:rPr lang="en-US" dirty="0"/>
            </a:br>
            <a:r>
              <a:rPr lang="en-US" dirty="0"/>
              <a:t>C. End on a memorable note</a:t>
            </a:r>
          </a:p>
        </p:txBody>
      </p:sp>
    </p:spTree>
    <p:extLst>
      <p:ext uri="{BB962C8B-B14F-4D97-AF65-F5344CB8AC3E}">
        <p14:creationId xmlns:p14="http://schemas.microsoft.com/office/powerpoint/2010/main" val="4120195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677" y="1"/>
            <a:ext cx="12051323" cy="1406768"/>
          </a:xfrm>
        </p:spPr>
        <p:txBody>
          <a:bodyPr>
            <a:normAutofit fontScale="90000"/>
          </a:bodyPr>
          <a:lstStyle/>
          <a:p>
            <a:r>
              <a:rPr lang="en-US" sz="3600" dirty="0"/>
              <a:t>Cybercrimes in Pakistan: Challenges, Responses, and the Road Ahead</a:t>
            </a:r>
            <a:r>
              <a:rPr lang="en-US" dirty="0"/>
              <a:t/>
            </a:r>
            <a:br>
              <a:rPr lang="en-US" dirty="0"/>
            </a:br>
            <a:endParaRPr lang="en-US" dirty="0"/>
          </a:p>
        </p:txBody>
      </p:sp>
      <p:sp>
        <p:nvSpPr>
          <p:cNvPr id="3" name="Content Placeholder 2"/>
          <p:cNvSpPr>
            <a:spLocks noGrp="1"/>
          </p:cNvSpPr>
          <p:nvPr>
            <p:ph idx="1"/>
          </p:nvPr>
        </p:nvSpPr>
        <p:spPr>
          <a:xfrm>
            <a:off x="0" y="1041008"/>
            <a:ext cx="12079705" cy="5816991"/>
          </a:xfrm>
        </p:spPr>
        <p:txBody>
          <a:bodyPr>
            <a:normAutofit/>
          </a:bodyPr>
          <a:lstStyle/>
          <a:p>
            <a:pPr algn="just"/>
            <a:r>
              <a:rPr lang="en-US" sz="3600" b="1" dirty="0" smtClean="0"/>
              <a:t>Introduction</a:t>
            </a:r>
          </a:p>
          <a:p>
            <a:pPr marL="514350" indent="-514350" algn="just">
              <a:buFont typeface="+mj-lt"/>
              <a:buAutoNum type="alphaLcPeriod"/>
            </a:pPr>
            <a:r>
              <a:rPr lang="en-US" sz="3600" b="1" dirty="0" smtClean="0"/>
              <a:t>Hook (A relatable scenario highlighting digital vulnerability)</a:t>
            </a:r>
          </a:p>
          <a:p>
            <a:pPr marL="514350" indent="-514350" algn="just">
              <a:buFont typeface="+mj-lt"/>
              <a:buAutoNum type="alphaLcPeriod"/>
            </a:pPr>
            <a:r>
              <a:rPr lang="en-US" sz="3600" b="1" dirty="0" smtClean="0"/>
              <a:t>Background context (Pakistan’s rapid digitalization) </a:t>
            </a:r>
          </a:p>
          <a:p>
            <a:pPr marL="514350" indent="-514350" algn="just">
              <a:buFont typeface="+mj-lt"/>
              <a:buAutoNum type="alphaLcPeriod"/>
            </a:pPr>
            <a:r>
              <a:rPr lang="en-US" sz="3600" b="1" dirty="0" smtClean="0">
                <a:solidFill>
                  <a:srgbClr val="FF0000"/>
                </a:solidFill>
              </a:rPr>
              <a:t>Thesis statement </a:t>
            </a:r>
            <a:r>
              <a:rPr lang="en-US" sz="3600" b="1" dirty="0" smtClean="0"/>
              <a:t>( while Pakistan has taken legislative and institutional steps to combat cybercrimes, the nation remains highly vulnerable due to a combination of low digital literacy</a:t>
            </a:r>
            <a:r>
              <a:rPr lang="en-US" sz="3600" b="1" dirty="0"/>
              <a:t>, an evolving legal framework, and the sophisticated, transnational nature of modern cyber threats, necessitating a multi-faceted approach for effective </a:t>
            </a:r>
            <a:r>
              <a:rPr lang="en-US" sz="3600" b="1" dirty="0" smtClean="0"/>
              <a:t>mitigation)</a:t>
            </a:r>
            <a:endParaRPr lang="en-US" sz="3600" b="1" dirty="0"/>
          </a:p>
        </p:txBody>
      </p:sp>
      <p:sp>
        <p:nvSpPr>
          <p:cNvPr id="4" name="Rectangle 1"/>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smtClean="0">
                <a:ln>
                  <a:noFill/>
                </a:ln>
                <a:solidFill>
                  <a:srgbClr val="F9FAFB"/>
                </a:solidFill>
                <a:effectLst/>
                <a:latin typeface="Menlo"/>
              </a:rPr>
              <a:t>a relatable scenario highlighting digital vulnerability</a:t>
            </a:r>
            <a:r>
              <a:rPr kumimoji="0" lang="en-US" altLang="en-US" sz="11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
        <p:nvSpPr>
          <p:cNvPr id="6" name="Rectangle 3"/>
          <p:cNvSpPr>
            <a:spLocks noChangeArrowheads="1"/>
          </p:cNvSpPr>
          <p:nvPr/>
        </p:nvSpPr>
        <p:spPr bwMode="auto">
          <a:xfrm>
            <a:off x="152400" y="1524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smtClean="0">
                <a:ln>
                  <a:noFill/>
                </a:ln>
                <a:solidFill>
                  <a:srgbClr val="F9FAFB"/>
                </a:solidFill>
                <a:effectLst/>
                <a:latin typeface="Menlo"/>
              </a:rPr>
              <a:t>a relatable scenario highlighting digital vulnerability</a:t>
            </a:r>
            <a:r>
              <a:rPr kumimoji="0" lang="en-US" altLang="en-US" sz="11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854740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378" y="144379"/>
            <a:ext cx="11911263" cy="6581274"/>
          </a:xfrm>
        </p:spPr>
        <p:txBody>
          <a:bodyPr>
            <a:normAutofit fontScale="92500" lnSpcReduction="10000"/>
          </a:bodyPr>
          <a:lstStyle/>
          <a:p>
            <a:r>
              <a:rPr lang="en-US" b="1" dirty="0"/>
              <a:t>The Landscape of Prevalent Cybercrimes in </a:t>
            </a:r>
            <a:r>
              <a:rPr lang="en-US" b="1" dirty="0" smtClean="0"/>
              <a:t>Pakistan</a:t>
            </a:r>
          </a:p>
          <a:p>
            <a:pPr marL="514350" indent="-514350">
              <a:buFont typeface="+mj-lt"/>
              <a:buAutoNum type="alphaLcPeriod"/>
            </a:pPr>
            <a:r>
              <a:rPr lang="en-US" b="1" dirty="0" smtClean="0"/>
              <a:t>Financial cybercrimes</a:t>
            </a:r>
          </a:p>
          <a:p>
            <a:pPr marL="514350" indent="-514350">
              <a:buFont typeface="+mj-lt"/>
              <a:buAutoNum type="alphaLcPeriod"/>
            </a:pPr>
            <a:r>
              <a:rPr lang="en-US" b="1" dirty="0" smtClean="0"/>
              <a:t>Cyber Harassment and Threats to individuals </a:t>
            </a:r>
          </a:p>
          <a:p>
            <a:pPr marL="514350" indent="-514350">
              <a:buFont typeface="+mj-lt"/>
              <a:buAutoNum type="alphaLcPeriod"/>
            </a:pPr>
            <a:r>
              <a:rPr lang="en-US" b="1" dirty="0" smtClean="0"/>
              <a:t>Attacks on institutions and National Security </a:t>
            </a:r>
          </a:p>
          <a:p>
            <a:pPr marL="514350" indent="-514350">
              <a:buFont typeface="+mj-lt"/>
              <a:buAutoNum type="alphaLcPeriod"/>
            </a:pPr>
            <a:r>
              <a:rPr lang="en-US" b="1" dirty="0" smtClean="0"/>
              <a:t>Other crimes </a:t>
            </a:r>
          </a:p>
          <a:p>
            <a:r>
              <a:rPr lang="en-US" b="1" dirty="0" smtClean="0"/>
              <a:t>Root causes and contributing factors </a:t>
            </a:r>
          </a:p>
          <a:p>
            <a:pPr marL="514350" indent="-514350">
              <a:buFont typeface="+mj-lt"/>
              <a:buAutoNum type="alphaLcPeriod"/>
            </a:pPr>
            <a:r>
              <a:rPr lang="en-US" b="1" dirty="0" smtClean="0"/>
              <a:t>Low digital literacy and public awareness</a:t>
            </a:r>
          </a:p>
          <a:p>
            <a:pPr marL="514350" indent="-514350">
              <a:buFont typeface="+mj-lt"/>
              <a:buAutoNum type="alphaLcPeriod"/>
            </a:pPr>
            <a:r>
              <a:rPr lang="en-US" b="1" dirty="0" smtClean="0"/>
              <a:t>Socio-Economic Factors</a:t>
            </a:r>
          </a:p>
          <a:p>
            <a:pPr marL="514350" indent="-514350">
              <a:buFont typeface="+mj-lt"/>
              <a:buAutoNum type="alphaLcPeriod"/>
            </a:pPr>
            <a:r>
              <a:rPr lang="en-US" b="1" dirty="0" smtClean="0"/>
              <a:t>Inadequate Technological infrastructure</a:t>
            </a:r>
          </a:p>
          <a:p>
            <a:pPr marL="514350" indent="-514350">
              <a:buFont typeface="+mj-lt"/>
              <a:buAutoNum type="alphaLcPeriod"/>
            </a:pPr>
            <a:r>
              <a:rPr lang="en-US" b="1" dirty="0" smtClean="0"/>
              <a:t>Transnational Nature of Crimes </a:t>
            </a:r>
          </a:p>
          <a:p>
            <a:r>
              <a:rPr lang="en-US" b="1" dirty="0" smtClean="0"/>
              <a:t>The legal and institutional Response </a:t>
            </a:r>
          </a:p>
          <a:p>
            <a:pPr marL="514350" indent="-514350">
              <a:buFont typeface="+mj-lt"/>
              <a:buAutoNum type="alphaLcPeriod"/>
            </a:pPr>
            <a:r>
              <a:rPr lang="en-US" b="1" dirty="0" smtClean="0"/>
              <a:t>PECA 2016</a:t>
            </a:r>
          </a:p>
          <a:p>
            <a:pPr marL="514350" indent="-514350">
              <a:buFont typeface="+mj-lt"/>
              <a:buAutoNum type="alphaLcPeriod"/>
            </a:pPr>
            <a:r>
              <a:rPr lang="en-US" b="1" dirty="0" smtClean="0"/>
              <a:t>Key institutions (FIA, PTA)</a:t>
            </a:r>
          </a:p>
          <a:p>
            <a:pPr marL="514350" indent="-514350">
              <a:buFont typeface="+mj-lt"/>
              <a:buAutoNum type="alphaLcPeriod"/>
            </a:pPr>
            <a:r>
              <a:rPr lang="en-US" b="1" dirty="0" smtClean="0"/>
              <a:t>International cooperation (INTERPOL) </a:t>
            </a:r>
          </a:p>
        </p:txBody>
      </p:sp>
    </p:spTree>
    <p:extLst>
      <p:ext uri="{BB962C8B-B14F-4D97-AF65-F5344CB8AC3E}">
        <p14:creationId xmlns:p14="http://schemas.microsoft.com/office/powerpoint/2010/main" val="32791779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306" y="0"/>
            <a:ext cx="12075694" cy="6858000"/>
          </a:xfrm>
        </p:spPr>
        <p:txBody>
          <a:bodyPr>
            <a:normAutofit lnSpcReduction="10000"/>
          </a:bodyPr>
          <a:lstStyle/>
          <a:p>
            <a:r>
              <a:rPr lang="en-US" b="1" dirty="0"/>
              <a:t>Challenges and gapes in combating </a:t>
            </a:r>
            <a:r>
              <a:rPr lang="en-US" b="1" dirty="0" smtClean="0"/>
              <a:t>cybercrimes</a:t>
            </a:r>
          </a:p>
          <a:p>
            <a:pPr marL="514350" indent="-514350">
              <a:buFont typeface="+mj-lt"/>
              <a:buAutoNum type="alphaLcPeriod"/>
            </a:pPr>
            <a:r>
              <a:rPr lang="en-US" b="1" dirty="0" smtClean="0"/>
              <a:t>Investigation and Prosecution Hurdles</a:t>
            </a:r>
          </a:p>
          <a:p>
            <a:pPr marL="514350" indent="-514350">
              <a:buFont typeface="+mj-lt"/>
              <a:buAutoNum type="alphaLcPeriod"/>
            </a:pPr>
            <a:r>
              <a:rPr lang="en-US" b="1" dirty="0" smtClean="0"/>
              <a:t>Underreporting of crimes </a:t>
            </a:r>
          </a:p>
          <a:p>
            <a:pPr marL="514350" indent="-514350">
              <a:buFont typeface="+mj-lt"/>
              <a:buAutoNum type="alphaLcPeriod"/>
            </a:pPr>
            <a:r>
              <a:rPr lang="en-US" b="1" dirty="0" smtClean="0"/>
              <a:t>Rapidly evolving threat landscape </a:t>
            </a:r>
          </a:p>
          <a:p>
            <a:r>
              <a:rPr lang="en-US" b="1" dirty="0" smtClean="0"/>
              <a:t>Recommendations for a safer cyber future </a:t>
            </a:r>
          </a:p>
          <a:p>
            <a:pPr marL="514350" indent="-514350">
              <a:buFont typeface="+mj-lt"/>
              <a:buAutoNum type="alphaLcPeriod"/>
            </a:pPr>
            <a:r>
              <a:rPr lang="en-US" b="1" dirty="0" smtClean="0"/>
              <a:t>Awareness campaigns </a:t>
            </a:r>
          </a:p>
          <a:p>
            <a:pPr marL="514350" indent="-514350">
              <a:buFont typeface="+mj-lt"/>
              <a:buAutoNum type="alphaLcPeriod"/>
            </a:pPr>
            <a:r>
              <a:rPr lang="en-US" b="1" dirty="0" smtClean="0"/>
              <a:t>Capacity building </a:t>
            </a:r>
          </a:p>
          <a:p>
            <a:pPr marL="514350" indent="-514350">
              <a:buFont typeface="+mj-lt"/>
              <a:buAutoNum type="alphaLcPeriod"/>
            </a:pPr>
            <a:r>
              <a:rPr lang="en-US" b="1" dirty="0" smtClean="0"/>
              <a:t>Legal Reforms </a:t>
            </a:r>
          </a:p>
          <a:p>
            <a:pPr marL="514350" indent="-514350">
              <a:buFont typeface="+mj-lt"/>
              <a:buAutoNum type="alphaLcPeriod"/>
            </a:pPr>
            <a:r>
              <a:rPr lang="en-US" b="1" dirty="0" smtClean="0"/>
              <a:t>Corporate Responsibility </a:t>
            </a:r>
          </a:p>
          <a:p>
            <a:pPr marL="514350" indent="-514350">
              <a:buFont typeface="+mj-lt"/>
              <a:buAutoNum type="alphaLcPeriod"/>
            </a:pPr>
            <a:r>
              <a:rPr lang="en-US" b="1" dirty="0" smtClean="0"/>
              <a:t>NGO involvement </a:t>
            </a:r>
          </a:p>
          <a:p>
            <a:r>
              <a:rPr lang="en-US" b="1" dirty="0" smtClean="0"/>
              <a:t>Conclusion</a:t>
            </a:r>
          </a:p>
          <a:p>
            <a:pPr marL="514350" indent="-514350">
              <a:buFont typeface="+mj-lt"/>
              <a:buAutoNum type="alphaLcPeriod"/>
            </a:pPr>
            <a:r>
              <a:rPr lang="en-US" b="1" dirty="0" smtClean="0"/>
              <a:t>Restate thesis </a:t>
            </a:r>
          </a:p>
          <a:p>
            <a:pPr marL="514350" indent="-514350">
              <a:buFont typeface="+mj-lt"/>
              <a:buAutoNum type="alphaLcPeriod"/>
            </a:pPr>
            <a:r>
              <a:rPr lang="en-US" b="1" dirty="0" smtClean="0"/>
              <a:t>Summarize key points </a:t>
            </a:r>
          </a:p>
          <a:p>
            <a:pPr marL="514350" indent="-514350">
              <a:buFont typeface="+mj-lt"/>
              <a:buAutoNum type="alphaLcPeriod"/>
            </a:pPr>
            <a:r>
              <a:rPr lang="en-US" b="1" dirty="0" smtClean="0"/>
              <a:t>Concluding thought    </a:t>
            </a:r>
          </a:p>
          <a:p>
            <a:pPr marL="514350" indent="-514350">
              <a:buFont typeface="+mj-lt"/>
              <a:buAutoNum type="alphaLcPeriod"/>
            </a:pPr>
            <a:endParaRPr lang="en-US" b="1" dirty="0"/>
          </a:p>
        </p:txBody>
      </p:sp>
    </p:spTree>
    <p:extLst>
      <p:ext uri="{BB962C8B-B14F-4D97-AF65-F5344CB8AC3E}">
        <p14:creationId xmlns:p14="http://schemas.microsoft.com/office/powerpoint/2010/main" val="24652191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4">
    <wetp:webextensionref xmlns:r="http://schemas.openxmlformats.org/officeDocument/2006/relationships" r:id="rId1"/>
  </wetp:taskpane>
  <wetp:taskpane dockstate="right" visibility="0" width="116" row="4">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9152404C-EB8C-453D-BDF2-9570789C8769}">
  <we:reference id="wa104381063" version="1.0.0.1" store="en-US" storeType="OMEX"/>
  <we:alternateReferences>
    <we:reference id="WA104381063" version="1.0.0.1" store="WA104381063"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2716508D-FD1A-44E7-953F-BA7542DC3D7B}">
  <we:reference id="wa200005594" version="1.0.0.0" store="en-US" storeType="OMEX"/>
  <we:alternateReferences>
    <we:reference id="WA200005594" version="1.0.0.0" store="WA200005594"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641</TotalTime>
  <Words>3144</Words>
  <Application>Microsoft Office PowerPoint</Application>
  <PresentationFormat>Widescreen</PresentationFormat>
  <Paragraphs>311</Paragraphs>
  <Slides>70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70</vt:i4>
      </vt:variant>
    </vt:vector>
  </HeadingPairs>
  <TitlesOfParts>
    <vt:vector size="76" baseType="lpstr">
      <vt:lpstr>Arial</vt:lpstr>
      <vt:lpstr>Calibri</vt:lpstr>
      <vt:lpstr>Calibri Light</vt:lpstr>
      <vt:lpstr>Candara</vt:lpstr>
      <vt:lpstr>Menlo</vt:lpstr>
      <vt:lpstr>Office Theme</vt:lpstr>
      <vt:lpstr>PowerPoint Presentation</vt:lpstr>
      <vt:lpstr>PowerPoint Presentation</vt:lpstr>
      <vt:lpstr>PowerPoint Presentation</vt:lpstr>
      <vt:lpstr>Revising </vt:lpstr>
      <vt:lpstr>Proofreading </vt:lpstr>
      <vt:lpstr>What is Pre-Writing ? </vt:lpstr>
      <vt:lpstr>How to get start according to Ramet </vt:lpstr>
      <vt:lpstr>Importance of Pre-writing </vt:lpstr>
      <vt:lpstr>PowerPoint Presentation</vt:lpstr>
      <vt:lpstr>PowerPoint Presentation</vt:lpstr>
      <vt:lpstr>Invention activities</vt:lpstr>
      <vt:lpstr>Brainstorming</vt:lpstr>
      <vt:lpstr>Brainstorming</vt:lpstr>
      <vt:lpstr>  Brainstorming </vt:lpstr>
      <vt:lpstr>PowerPoint Presentation</vt:lpstr>
      <vt:lpstr>Classic brainstorming techniques</vt:lpstr>
      <vt:lpstr>Free writing </vt:lpstr>
      <vt:lpstr>Free writing </vt:lpstr>
      <vt:lpstr>Free writing</vt:lpstr>
      <vt:lpstr>Free writing</vt:lpstr>
      <vt:lpstr>Mind Mapping </vt:lpstr>
      <vt:lpstr>Mind Mapping </vt:lpstr>
      <vt:lpstr>Listing  </vt:lpstr>
      <vt:lpstr>Listing</vt:lpstr>
      <vt:lpstr>Collaborative brainstorming methods</vt:lpstr>
      <vt:lpstr>Round-robin brainstorming</vt:lpstr>
      <vt:lpstr>Brain writing</vt:lpstr>
      <vt:lpstr>Rapid ideation</vt:lpstr>
      <vt:lpstr>Visual brainstorming techniques</vt:lpstr>
      <vt:lpstr>Storyboarding</vt:lpstr>
      <vt:lpstr>Sketching</vt:lpstr>
      <vt:lpstr>The SCAMPER method</vt:lpstr>
      <vt:lpstr>The SCAMPER method</vt:lpstr>
      <vt:lpstr>Structured analytical brainstorming</vt:lpstr>
      <vt:lpstr> Five Whys analysis </vt:lpstr>
      <vt:lpstr>Questioning </vt:lpstr>
      <vt:lpstr>Reverse Brainstorming</vt:lpstr>
      <vt:lpstr>Six Thinking Hats</vt:lpstr>
      <vt:lpstr>PowerPoint Presentation</vt:lpstr>
      <vt:lpstr>Six Thinking Hats</vt:lpstr>
      <vt:lpstr>Star bursting</vt:lpstr>
      <vt:lpstr>SWOT analysis</vt:lpstr>
      <vt:lpstr>Digital brainstorming tools</vt:lpstr>
      <vt:lpstr>AI-powered idea generators</vt:lpstr>
      <vt:lpstr>Mind-mapping software</vt:lpstr>
      <vt:lpstr>Voice note brainstorming</vt:lpstr>
      <vt:lpstr>Arrangement activities for </vt:lpstr>
      <vt:lpstr>Arrangement activities/ outlining </vt:lpstr>
      <vt:lpstr>Flowcharts </vt:lpstr>
      <vt:lpstr>Series of events chain</vt:lpstr>
      <vt:lpstr>Story maps </vt:lpstr>
      <vt:lpstr>Charts</vt:lpstr>
      <vt:lpstr>Charts </vt:lpstr>
      <vt:lpstr>Fishbone map</vt:lpstr>
      <vt:lpstr>Fishbone map</vt:lpstr>
      <vt:lpstr>PowerPoint Presentation</vt:lpstr>
      <vt:lpstr>PowerPoint Presentation</vt:lpstr>
      <vt:lpstr>PowerPoint Presentation</vt:lpstr>
      <vt:lpstr>Venn diagrams</vt:lpstr>
      <vt:lpstr>PowerPoint Presentation</vt:lpstr>
      <vt:lpstr>Outlining </vt:lpstr>
      <vt:lpstr>Why create an outline? </vt:lpstr>
      <vt:lpstr>How to create outline</vt:lpstr>
      <vt:lpstr>How to create outline </vt:lpstr>
      <vt:lpstr>Topic Sentences </vt:lpstr>
      <vt:lpstr>Thesis statement</vt:lpstr>
      <vt:lpstr>Sample of outline </vt:lpstr>
      <vt:lpstr>Cybercrimes in Pakistan: Challenges, Responses, and the Road Ahead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Tab &amp; Tech</dc:creator>
  <cp:lastModifiedBy>Tab &amp; Tech</cp:lastModifiedBy>
  <cp:revision>58</cp:revision>
  <dcterms:created xsi:type="dcterms:W3CDTF">2025-03-05T00:20:54Z</dcterms:created>
  <dcterms:modified xsi:type="dcterms:W3CDTF">2025-09-26T05:39:28Z</dcterms:modified>
</cp:coreProperties>
</file>