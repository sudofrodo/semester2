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DC3C24-41BA-4A75-9CFB-39F0F177F827}"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C85FA42-DB31-48B1-808D-DFA5095E0E7E}">
      <dgm:prSet phldrT="[Text]"/>
      <dgm:spPr/>
      <dgm:t>
        <a:bodyPr/>
        <a:lstStyle/>
        <a:p>
          <a:r>
            <a:rPr lang="en-US" dirty="0" smtClean="0"/>
            <a:t>Intellectual Property</a:t>
          </a:r>
          <a:endParaRPr lang="en-US" dirty="0"/>
        </a:p>
      </dgm:t>
    </dgm:pt>
    <dgm:pt modelId="{735C970D-20AF-49EF-B390-3C01B0DE3BAD}" type="parTrans" cxnId="{EC9CE483-573F-46AB-BEA1-916DF174B476}">
      <dgm:prSet/>
      <dgm:spPr/>
      <dgm:t>
        <a:bodyPr/>
        <a:lstStyle/>
        <a:p>
          <a:endParaRPr lang="en-US"/>
        </a:p>
      </dgm:t>
    </dgm:pt>
    <dgm:pt modelId="{1AE49C5E-FE59-4639-90BA-7C6730014A27}" type="sibTrans" cxnId="{EC9CE483-573F-46AB-BEA1-916DF174B476}">
      <dgm:prSet/>
      <dgm:spPr/>
      <dgm:t>
        <a:bodyPr/>
        <a:lstStyle/>
        <a:p>
          <a:endParaRPr lang="en-US"/>
        </a:p>
      </dgm:t>
    </dgm:pt>
    <dgm:pt modelId="{323F4B3F-AEDA-496B-AD8F-C0103659B106}">
      <dgm:prSet phldrT="[Text]"/>
      <dgm:spPr/>
      <dgm:t>
        <a:bodyPr/>
        <a:lstStyle/>
        <a:p>
          <a:r>
            <a:rPr lang="en-US" dirty="0" smtClean="0"/>
            <a:t>Access</a:t>
          </a:r>
          <a:endParaRPr lang="en-US" dirty="0"/>
        </a:p>
      </dgm:t>
    </dgm:pt>
    <dgm:pt modelId="{D0F85EED-19BC-4235-B41D-E6D6A023902A}" type="parTrans" cxnId="{0D52FAFF-BB4D-4626-9FC0-B746934F1C41}">
      <dgm:prSet/>
      <dgm:spPr/>
      <dgm:t>
        <a:bodyPr/>
        <a:lstStyle/>
        <a:p>
          <a:endParaRPr lang="en-US"/>
        </a:p>
      </dgm:t>
    </dgm:pt>
    <dgm:pt modelId="{8B4933B7-261F-4E6D-8FAC-4F9497702A06}" type="sibTrans" cxnId="{0D52FAFF-BB4D-4626-9FC0-B746934F1C41}">
      <dgm:prSet/>
      <dgm:spPr/>
      <dgm:t>
        <a:bodyPr/>
        <a:lstStyle/>
        <a:p>
          <a:endParaRPr lang="en-US"/>
        </a:p>
      </dgm:t>
    </dgm:pt>
    <dgm:pt modelId="{E9CEF609-A5BF-49F0-A570-860A823FAC57}">
      <dgm:prSet phldrT="[Text]"/>
      <dgm:spPr/>
      <dgm:t>
        <a:bodyPr/>
        <a:lstStyle/>
        <a:p>
          <a:r>
            <a:rPr lang="en-US" dirty="0" smtClean="0"/>
            <a:t>Economy</a:t>
          </a:r>
          <a:endParaRPr lang="en-US" dirty="0"/>
        </a:p>
      </dgm:t>
    </dgm:pt>
    <dgm:pt modelId="{814C4CE9-257F-4A01-BABF-9E0E1A7432AA}" type="parTrans" cxnId="{969294E0-5B80-4478-AE40-7C209D61BA8C}">
      <dgm:prSet/>
      <dgm:spPr/>
      <dgm:t>
        <a:bodyPr/>
        <a:lstStyle/>
        <a:p>
          <a:endParaRPr lang="en-US"/>
        </a:p>
      </dgm:t>
    </dgm:pt>
    <dgm:pt modelId="{66EABFE7-F673-4BBA-933A-2FFD7030DB33}" type="sibTrans" cxnId="{969294E0-5B80-4478-AE40-7C209D61BA8C}">
      <dgm:prSet/>
      <dgm:spPr/>
      <dgm:t>
        <a:bodyPr/>
        <a:lstStyle/>
        <a:p>
          <a:endParaRPr lang="en-US"/>
        </a:p>
      </dgm:t>
    </dgm:pt>
    <dgm:pt modelId="{057F04F9-43B9-413A-8403-40E2EE19BAB8}">
      <dgm:prSet phldrT="[Text]"/>
      <dgm:spPr/>
      <dgm:t>
        <a:bodyPr/>
        <a:lstStyle/>
        <a:p>
          <a:r>
            <a:rPr lang="en-US" dirty="0" smtClean="0"/>
            <a:t>Standardization</a:t>
          </a:r>
          <a:endParaRPr lang="en-US" dirty="0"/>
        </a:p>
      </dgm:t>
    </dgm:pt>
    <dgm:pt modelId="{92AF824C-AEE4-48B1-9D2C-C8F13721F385}" type="parTrans" cxnId="{AE501943-1A58-4CC8-8D17-AFFF92C267DC}">
      <dgm:prSet/>
      <dgm:spPr/>
      <dgm:t>
        <a:bodyPr/>
        <a:lstStyle/>
        <a:p>
          <a:endParaRPr lang="en-US"/>
        </a:p>
      </dgm:t>
    </dgm:pt>
    <dgm:pt modelId="{06D2E265-83EB-4974-A1E8-F0D422F48F37}" type="sibTrans" cxnId="{AE501943-1A58-4CC8-8D17-AFFF92C267DC}">
      <dgm:prSet/>
      <dgm:spPr/>
      <dgm:t>
        <a:bodyPr/>
        <a:lstStyle/>
        <a:p>
          <a:endParaRPr lang="en-US"/>
        </a:p>
      </dgm:t>
    </dgm:pt>
    <dgm:pt modelId="{65CF69EF-F27F-4B76-8C26-EFE2CE8674CD}">
      <dgm:prSet phldrT="[Text]"/>
      <dgm:spPr/>
      <dgm:t>
        <a:bodyPr/>
        <a:lstStyle/>
        <a:p>
          <a:r>
            <a:rPr lang="en-US" dirty="0" smtClean="0"/>
            <a:t>Transparency</a:t>
          </a:r>
          <a:endParaRPr lang="en-US" dirty="0"/>
        </a:p>
      </dgm:t>
    </dgm:pt>
    <dgm:pt modelId="{B8FA6432-7ACB-4117-8D5C-A1806CBAB6F2}" type="parTrans" cxnId="{09D35714-00C0-43E1-AE9F-A62E7E47328D}">
      <dgm:prSet/>
      <dgm:spPr/>
      <dgm:t>
        <a:bodyPr/>
        <a:lstStyle/>
        <a:p>
          <a:endParaRPr lang="en-US"/>
        </a:p>
      </dgm:t>
    </dgm:pt>
    <dgm:pt modelId="{9C20E13D-185E-433F-A021-D1694D11D03C}" type="sibTrans" cxnId="{09D35714-00C0-43E1-AE9F-A62E7E47328D}">
      <dgm:prSet/>
      <dgm:spPr/>
      <dgm:t>
        <a:bodyPr/>
        <a:lstStyle/>
        <a:p>
          <a:endParaRPr lang="en-US"/>
        </a:p>
      </dgm:t>
    </dgm:pt>
    <dgm:pt modelId="{5F72AE90-5148-4C33-B728-9599722403B8}" type="pres">
      <dgm:prSet presAssocID="{27DC3C24-41BA-4A75-9CFB-39F0F177F827}" presName="diagram" presStyleCnt="0">
        <dgm:presLayoutVars>
          <dgm:dir/>
          <dgm:resizeHandles val="exact"/>
        </dgm:presLayoutVars>
      </dgm:prSet>
      <dgm:spPr/>
      <dgm:t>
        <a:bodyPr/>
        <a:lstStyle/>
        <a:p>
          <a:endParaRPr lang="en-US"/>
        </a:p>
      </dgm:t>
    </dgm:pt>
    <dgm:pt modelId="{EE1A687D-C18F-4C43-91DA-00978F43DE12}" type="pres">
      <dgm:prSet presAssocID="{3C85FA42-DB31-48B1-808D-DFA5095E0E7E}" presName="node" presStyleLbl="node1" presStyleIdx="0" presStyleCnt="5">
        <dgm:presLayoutVars>
          <dgm:bulletEnabled val="1"/>
        </dgm:presLayoutVars>
      </dgm:prSet>
      <dgm:spPr/>
      <dgm:t>
        <a:bodyPr/>
        <a:lstStyle/>
        <a:p>
          <a:endParaRPr lang="en-US"/>
        </a:p>
      </dgm:t>
    </dgm:pt>
    <dgm:pt modelId="{84F67960-A223-4933-85A2-B5B4DB08C848}" type="pres">
      <dgm:prSet presAssocID="{1AE49C5E-FE59-4639-90BA-7C6730014A27}" presName="sibTrans" presStyleCnt="0"/>
      <dgm:spPr/>
    </dgm:pt>
    <dgm:pt modelId="{6B94B516-DD30-4F18-99D0-DF55EFC59EAD}" type="pres">
      <dgm:prSet presAssocID="{323F4B3F-AEDA-496B-AD8F-C0103659B106}" presName="node" presStyleLbl="node1" presStyleIdx="1" presStyleCnt="5">
        <dgm:presLayoutVars>
          <dgm:bulletEnabled val="1"/>
        </dgm:presLayoutVars>
      </dgm:prSet>
      <dgm:spPr/>
      <dgm:t>
        <a:bodyPr/>
        <a:lstStyle/>
        <a:p>
          <a:endParaRPr lang="en-US"/>
        </a:p>
      </dgm:t>
    </dgm:pt>
    <dgm:pt modelId="{A0319A23-B5A7-43E6-B12B-C574FE28BE92}" type="pres">
      <dgm:prSet presAssocID="{8B4933B7-261F-4E6D-8FAC-4F9497702A06}" presName="sibTrans" presStyleCnt="0"/>
      <dgm:spPr/>
    </dgm:pt>
    <dgm:pt modelId="{76E9DA95-3016-40DD-B49B-96A4A2AA42BE}" type="pres">
      <dgm:prSet presAssocID="{E9CEF609-A5BF-49F0-A570-860A823FAC57}" presName="node" presStyleLbl="node1" presStyleIdx="2" presStyleCnt="5">
        <dgm:presLayoutVars>
          <dgm:bulletEnabled val="1"/>
        </dgm:presLayoutVars>
      </dgm:prSet>
      <dgm:spPr/>
      <dgm:t>
        <a:bodyPr/>
        <a:lstStyle/>
        <a:p>
          <a:endParaRPr lang="en-US"/>
        </a:p>
      </dgm:t>
    </dgm:pt>
    <dgm:pt modelId="{434E7412-F3DB-4CDE-BBB0-2E44A45C6715}" type="pres">
      <dgm:prSet presAssocID="{66EABFE7-F673-4BBA-933A-2FFD7030DB33}" presName="sibTrans" presStyleCnt="0"/>
      <dgm:spPr/>
    </dgm:pt>
    <dgm:pt modelId="{9FA53800-30DE-4161-B95B-7D4BCCABE916}" type="pres">
      <dgm:prSet presAssocID="{057F04F9-43B9-413A-8403-40E2EE19BAB8}" presName="node" presStyleLbl="node1" presStyleIdx="3" presStyleCnt="5">
        <dgm:presLayoutVars>
          <dgm:bulletEnabled val="1"/>
        </dgm:presLayoutVars>
      </dgm:prSet>
      <dgm:spPr/>
      <dgm:t>
        <a:bodyPr/>
        <a:lstStyle/>
        <a:p>
          <a:endParaRPr lang="en-US"/>
        </a:p>
      </dgm:t>
    </dgm:pt>
    <dgm:pt modelId="{9220E047-9817-4963-BBE4-3D51C10E5B90}" type="pres">
      <dgm:prSet presAssocID="{06D2E265-83EB-4974-A1E8-F0D422F48F37}" presName="sibTrans" presStyleCnt="0"/>
      <dgm:spPr/>
    </dgm:pt>
    <dgm:pt modelId="{427A41E7-6783-4B53-AFD3-013C75E1D06B}" type="pres">
      <dgm:prSet presAssocID="{65CF69EF-F27F-4B76-8C26-EFE2CE8674CD}" presName="node" presStyleLbl="node1" presStyleIdx="4" presStyleCnt="5">
        <dgm:presLayoutVars>
          <dgm:bulletEnabled val="1"/>
        </dgm:presLayoutVars>
      </dgm:prSet>
      <dgm:spPr/>
      <dgm:t>
        <a:bodyPr/>
        <a:lstStyle/>
        <a:p>
          <a:endParaRPr lang="en-US"/>
        </a:p>
      </dgm:t>
    </dgm:pt>
  </dgm:ptLst>
  <dgm:cxnLst>
    <dgm:cxn modelId="{F2EB3B36-3B61-4783-A4A3-47818315B9D4}" type="presOf" srcId="{E9CEF609-A5BF-49F0-A570-860A823FAC57}" destId="{76E9DA95-3016-40DD-B49B-96A4A2AA42BE}" srcOrd="0" destOrd="0" presId="urn:microsoft.com/office/officeart/2005/8/layout/default"/>
    <dgm:cxn modelId="{CB538466-C4B6-44CC-8CAF-063341936CD5}" type="presOf" srcId="{27DC3C24-41BA-4A75-9CFB-39F0F177F827}" destId="{5F72AE90-5148-4C33-B728-9599722403B8}" srcOrd="0" destOrd="0" presId="urn:microsoft.com/office/officeart/2005/8/layout/default"/>
    <dgm:cxn modelId="{0D52FAFF-BB4D-4626-9FC0-B746934F1C41}" srcId="{27DC3C24-41BA-4A75-9CFB-39F0F177F827}" destId="{323F4B3F-AEDA-496B-AD8F-C0103659B106}" srcOrd="1" destOrd="0" parTransId="{D0F85EED-19BC-4235-B41D-E6D6A023902A}" sibTransId="{8B4933B7-261F-4E6D-8FAC-4F9497702A06}"/>
    <dgm:cxn modelId="{EC9CE483-573F-46AB-BEA1-916DF174B476}" srcId="{27DC3C24-41BA-4A75-9CFB-39F0F177F827}" destId="{3C85FA42-DB31-48B1-808D-DFA5095E0E7E}" srcOrd="0" destOrd="0" parTransId="{735C970D-20AF-49EF-B390-3C01B0DE3BAD}" sibTransId="{1AE49C5E-FE59-4639-90BA-7C6730014A27}"/>
    <dgm:cxn modelId="{969294E0-5B80-4478-AE40-7C209D61BA8C}" srcId="{27DC3C24-41BA-4A75-9CFB-39F0F177F827}" destId="{E9CEF609-A5BF-49F0-A570-860A823FAC57}" srcOrd="2" destOrd="0" parTransId="{814C4CE9-257F-4A01-BABF-9E0E1A7432AA}" sibTransId="{66EABFE7-F673-4BBA-933A-2FFD7030DB33}"/>
    <dgm:cxn modelId="{F24961DA-2452-467D-A5E3-46C0F6CB2A7C}" type="presOf" srcId="{65CF69EF-F27F-4B76-8C26-EFE2CE8674CD}" destId="{427A41E7-6783-4B53-AFD3-013C75E1D06B}" srcOrd="0" destOrd="0" presId="urn:microsoft.com/office/officeart/2005/8/layout/default"/>
    <dgm:cxn modelId="{54569403-1EE8-4487-B52F-741594342422}" type="presOf" srcId="{323F4B3F-AEDA-496B-AD8F-C0103659B106}" destId="{6B94B516-DD30-4F18-99D0-DF55EFC59EAD}" srcOrd="0" destOrd="0" presId="urn:microsoft.com/office/officeart/2005/8/layout/default"/>
    <dgm:cxn modelId="{0083D397-5100-4F84-AF22-531A52B87B40}" type="presOf" srcId="{3C85FA42-DB31-48B1-808D-DFA5095E0E7E}" destId="{EE1A687D-C18F-4C43-91DA-00978F43DE12}" srcOrd="0" destOrd="0" presId="urn:microsoft.com/office/officeart/2005/8/layout/default"/>
    <dgm:cxn modelId="{09D35714-00C0-43E1-AE9F-A62E7E47328D}" srcId="{27DC3C24-41BA-4A75-9CFB-39F0F177F827}" destId="{65CF69EF-F27F-4B76-8C26-EFE2CE8674CD}" srcOrd="4" destOrd="0" parTransId="{B8FA6432-7ACB-4117-8D5C-A1806CBAB6F2}" sibTransId="{9C20E13D-185E-433F-A021-D1694D11D03C}"/>
    <dgm:cxn modelId="{F03D4B6C-2ED2-40CA-A038-90E5837EB987}" type="presOf" srcId="{057F04F9-43B9-413A-8403-40E2EE19BAB8}" destId="{9FA53800-30DE-4161-B95B-7D4BCCABE916}" srcOrd="0" destOrd="0" presId="urn:microsoft.com/office/officeart/2005/8/layout/default"/>
    <dgm:cxn modelId="{AE501943-1A58-4CC8-8D17-AFFF92C267DC}" srcId="{27DC3C24-41BA-4A75-9CFB-39F0F177F827}" destId="{057F04F9-43B9-413A-8403-40E2EE19BAB8}" srcOrd="3" destOrd="0" parTransId="{92AF824C-AEE4-48B1-9D2C-C8F13721F385}" sibTransId="{06D2E265-83EB-4974-A1E8-F0D422F48F37}"/>
    <dgm:cxn modelId="{3C20E8AF-FE4A-4927-BBC1-9CFD3C368255}" type="presParOf" srcId="{5F72AE90-5148-4C33-B728-9599722403B8}" destId="{EE1A687D-C18F-4C43-91DA-00978F43DE12}" srcOrd="0" destOrd="0" presId="urn:microsoft.com/office/officeart/2005/8/layout/default"/>
    <dgm:cxn modelId="{532FC338-E853-4246-8F1E-F48AA7E3FDED}" type="presParOf" srcId="{5F72AE90-5148-4C33-B728-9599722403B8}" destId="{84F67960-A223-4933-85A2-B5B4DB08C848}" srcOrd="1" destOrd="0" presId="urn:microsoft.com/office/officeart/2005/8/layout/default"/>
    <dgm:cxn modelId="{6E4CAB51-85B0-4326-B273-F7A303D76166}" type="presParOf" srcId="{5F72AE90-5148-4C33-B728-9599722403B8}" destId="{6B94B516-DD30-4F18-99D0-DF55EFC59EAD}" srcOrd="2" destOrd="0" presId="urn:microsoft.com/office/officeart/2005/8/layout/default"/>
    <dgm:cxn modelId="{B806EB4D-2F5B-4E1B-9C6E-02F148A8FFED}" type="presParOf" srcId="{5F72AE90-5148-4C33-B728-9599722403B8}" destId="{A0319A23-B5A7-43E6-B12B-C574FE28BE92}" srcOrd="3" destOrd="0" presId="urn:microsoft.com/office/officeart/2005/8/layout/default"/>
    <dgm:cxn modelId="{64465D90-2D21-4E39-B80D-5043EC7C2FFF}" type="presParOf" srcId="{5F72AE90-5148-4C33-B728-9599722403B8}" destId="{76E9DA95-3016-40DD-B49B-96A4A2AA42BE}" srcOrd="4" destOrd="0" presId="urn:microsoft.com/office/officeart/2005/8/layout/default"/>
    <dgm:cxn modelId="{04F9F61F-B307-4D7D-B5B2-63B99D49871A}" type="presParOf" srcId="{5F72AE90-5148-4C33-B728-9599722403B8}" destId="{434E7412-F3DB-4CDE-BBB0-2E44A45C6715}" srcOrd="5" destOrd="0" presId="urn:microsoft.com/office/officeart/2005/8/layout/default"/>
    <dgm:cxn modelId="{F986E093-6430-4364-B543-BA92460C7EE9}" type="presParOf" srcId="{5F72AE90-5148-4C33-B728-9599722403B8}" destId="{9FA53800-30DE-4161-B95B-7D4BCCABE916}" srcOrd="6" destOrd="0" presId="urn:microsoft.com/office/officeart/2005/8/layout/default"/>
    <dgm:cxn modelId="{FCDDB603-2729-4B29-A252-1457C3C59A33}" type="presParOf" srcId="{5F72AE90-5148-4C33-B728-9599722403B8}" destId="{9220E047-9817-4963-BBE4-3D51C10E5B90}" srcOrd="7" destOrd="0" presId="urn:microsoft.com/office/officeart/2005/8/layout/default"/>
    <dgm:cxn modelId="{70F30D55-11C3-4EB0-BEF8-EA3D757C7358}" type="presParOf" srcId="{5F72AE90-5148-4C33-B728-9599722403B8}" destId="{427A41E7-6783-4B53-AFD3-013C75E1D06B}"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A687D-C18F-4C43-91DA-00978F43DE12}">
      <dsp:nvSpPr>
        <dsp:cNvPr id="0" name=""/>
        <dsp:cNvSpPr/>
      </dsp:nvSpPr>
      <dsp:spPr>
        <a:xfrm>
          <a:off x="0" y="39687"/>
          <a:ext cx="3286125" cy="197167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Intellectual Property</a:t>
          </a:r>
          <a:endParaRPr lang="en-US" sz="3700" kern="1200" dirty="0"/>
        </a:p>
      </dsp:txBody>
      <dsp:txXfrm>
        <a:off x="0" y="39687"/>
        <a:ext cx="3286125" cy="1971675"/>
      </dsp:txXfrm>
    </dsp:sp>
    <dsp:sp modelId="{6B94B516-DD30-4F18-99D0-DF55EFC59EAD}">
      <dsp:nvSpPr>
        <dsp:cNvPr id="0" name=""/>
        <dsp:cNvSpPr/>
      </dsp:nvSpPr>
      <dsp:spPr>
        <a:xfrm>
          <a:off x="3614737" y="39687"/>
          <a:ext cx="3286125" cy="197167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Access</a:t>
          </a:r>
          <a:endParaRPr lang="en-US" sz="3700" kern="1200" dirty="0"/>
        </a:p>
      </dsp:txBody>
      <dsp:txXfrm>
        <a:off x="3614737" y="39687"/>
        <a:ext cx="3286125" cy="1971675"/>
      </dsp:txXfrm>
    </dsp:sp>
    <dsp:sp modelId="{76E9DA95-3016-40DD-B49B-96A4A2AA42BE}">
      <dsp:nvSpPr>
        <dsp:cNvPr id="0" name=""/>
        <dsp:cNvSpPr/>
      </dsp:nvSpPr>
      <dsp:spPr>
        <a:xfrm>
          <a:off x="7229475" y="39687"/>
          <a:ext cx="3286125" cy="197167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Economy</a:t>
          </a:r>
          <a:endParaRPr lang="en-US" sz="3700" kern="1200" dirty="0"/>
        </a:p>
      </dsp:txBody>
      <dsp:txXfrm>
        <a:off x="7229475" y="39687"/>
        <a:ext cx="3286125" cy="1971675"/>
      </dsp:txXfrm>
    </dsp:sp>
    <dsp:sp modelId="{9FA53800-30DE-4161-B95B-7D4BCCABE916}">
      <dsp:nvSpPr>
        <dsp:cNvPr id="0" name=""/>
        <dsp:cNvSpPr/>
      </dsp:nvSpPr>
      <dsp:spPr>
        <a:xfrm>
          <a:off x="1807368" y="2339975"/>
          <a:ext cx="3286125" cy="197167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Standardization</a:t>
          </a:r>
          <a:endParaRPr lang="en-US" sz="3700" kern="1200" dirty="0"/>
        </a:p>
      </dsp:txBody>
      <dsp:txXfrm>
        <a:off x="1807368" y="2339975"/>
        <a:ext cx="3286125" cy="1971675"/>
      </dsp:txXfrm>
    </dsp:sp>
    <dsp:sp modelId="{427A41E7-6783-4B53-AFD3-013C75E1D06B}">
      <dsp:nvSpPr>
        <dsp:cNvPr id="0" name=""/>
        <dsp:cNvSpPr/>
      </dsp:nvSpPr>
      <dsp:spPr>
        <a:xfrm>
          <a:off x="5422106" y="2339975"/>
          <a:ext cx="3286125" cy="197167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lvl="0" algn="ctr" defTabSz="1644650">
            <a:lnSpc>
              <a:spcPct val="90000"/>
            </a:lnSpc>
            <a:spcBef>
              <a:spcPct val="0"/>
            </a:spcBef>
            <a:spcAft>
              <a:spcPct val="35000"/>
            </a:spcAft>
          </a:pPr>
          <a:r>
            <a:rPr lang="en-US" sz="3700" kern="1200" dirty="0" smtClean="0"/>
            <a:t>Transparency</a:t>
          </a:r>
          <a:endParaRPr lang="en-US" sz="3700" kern="1200" dirty="0"/>
        </a:p>
      </dsp:txBody>
      <dsp:txXfrm>
        <a:off x="5422106" y="2339975"/>
        <a:ext cx="3286125" cy="197167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74EAB-FB16-4344-961C-4E0D2468B658}"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4F6A2D-BFD9-4635-99CF-7A97E1D61B5F}" type="slidenum">
              <a:rPr lang="en-US" smtClean="0"/>
              <a:t>‹#›</a:t>
            </a:fld>
            <a:endParaRPr lang="en-US"/>
          </a:p>
        </p:txBody>
      </p:sp>
    </p:spTree>
    <p:extLst>
      <p:ext uri="{BB962C8B-B14F-4D97-AF65-F5344CB8AC3E}">
        <p14:creationId xmlns:p14="http://schemas.microsoft.com/office/powerpoint/2010/main" val="409577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4F6A2D-BFD9-4635-99CF-7A97E1D61B5F}" type="slidenum">
              <a:rPr lang="en-US" smtClean="0"/>
              <a:t>9</a:t>
            </a:fld>
            <a:endParaRPr lang="en-US"/>
          </a:p>
        </p:txBody>
      </p:sp>
    </p:spTree>
    <p:extLst>
      <p:ext uri="{BB962C8B-B14F-4D97-AF65-F5344CB8AC3E}">
        <p14:creationId xmlns:p14="http://schemas.microsoft.com/office/powerpoint/2010/main" val="1195160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4F6A2D-BFD9-4635-99CF-7A97E1D61B5F}" type="slidenum">
              <a:rPr lang="en-US" smtClean="0"/>
              <a:t>11</a:t>
            </a:fld>
            <a:endParaRPr lang="en-US"/>
          </a:p>
        </p:txBody>
      </p:sp>
    </p:spTree>
    <p:extLst>
      <p:ext uri="{BB962C8B-B14F-4D97-AF65-F5344CB8AC3E}">
        <p14:creationId xmlns:p14="http://schemas.microsoft.com/office/powerpoint/2010/main" val="1909353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D1AEF29-2116-4B7D-A58B-F591A55CAB5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2178887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1AEF29-2116-4B7D-A58B-F591A55CAB5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2640354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D1AEF29-2116-4B7D-A58B-F591A55CAB5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1573472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D1AEF29-2116-4B7D-A58B-F591A55CAB5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30255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D1AEF29-2116-4B7D-A58B-F591A55CAB55}"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1946104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D1AEF29-2116-4B7D-A58B-F591A55CAB55}"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193814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1AEF29-2116-4B7D-A58B-F591A55CAB55}"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295063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AEF29-2116-4B7D-A58B-F591A55CAB5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320019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D1AEF29-2116-4B7D-A58B-F591A55CAB55}"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3888104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1AEF29-2116-4B7D-A58B-F591A55CAB5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200641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1AEF29-2116-4B7D-A58B-F591A55CAB55}"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359827-5969-46D6-9F4A-0D3AA91B42EF}" type="slidenum">
              <a:rPr lang="en-US" smtClean="0"/>
              <a:t>‹#›</a:t>
            </a:fld>
            <a:endParaRPr lang="en-US"/>
          </a:p>
        </p:txBody>
      </p:sp>
    </p:spTree>
    <p:extLst>
      <p:ext uri="{BB962C8B-B14F-4D97-AF65-F5344CB8AC3E}">
        <p14:creationId xmlns:p14="http://schemas.microsoft.com/office/powerpoint/2010/main" val="3231752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1AEF29-2116-4B7D-A58B-F591A55CAB55}" type="datetimeFigureOut">
              <a:rPr lang="en-US" smtClean="0"/>
              <a:t>11/30/2025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359827-5969-46D6-9F4A-0D3AA91B42EF}" type="slidenum">
              <a:rPr lang="en-US" smtClean="0"/>
              <a:t>‹#›</a:t>
            </a:fld>
            <a:endParaRPr lang="en-US"/>
          </a:p>
        </p:txBody>
      </p:sp>
    </p:spTree>
    <p:extLst>
      <p:ext uri="{BB962C8B-B14F-4D97-AF65-F5344CB8AC3E}">
        <p14:creationId xmlns:p14="http://schemas.microsoft.com/office/powerpoint/2010/main" val="3671163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Referencing </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7262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39" y="365125"/>
            <a:ext cx="10805161" cy="1325563"/>
          </a:xfrm>
          <a:solidFill>
            <a:srgbClr val="FFC000"/>
          </a:solidFill>
        </p:spPr>
        <p:txBody>
          <a:bodyPr>
            <a:normAutofit/>
          </a:bodyPr>
          <a:lstStyle/>
          <a:p>
            <a:pPr algn="ctr"/>
            <a:r>
              <a:rPr lang="en-US" sz="6000" b="1" dirty="0">
                <a:effectLst>
                  <a:outerShdw blurRad="38100" dist="38100" dir="2700000" algn="tl">
                    <a:srgbClr val="000000">
                      <a:alpha val="43137"/>
                    </a:srgbClr>
                  </a:outerShdw>
                </a:effectLst>
              </a:rPr>
              <a:t>Referencing</a:t>
            </a:r>
          </a:p>
        </p:txBody>
      </p:sp>
      <p:sp>
        <p:nvSpPr>
          <p:cNvPr id="3" name="Content Placeholder 2"/>
          <p:cNvSpPr>
            <a:spLocks noGrp="1"/>
          </p:cNvSpPr>
          <p:nvPr>
            <p:ph idx="1"/>
          </p:nvPr>
        </p:nvSpPr>
        <p:spPr>
          <a:xfrm>
            <a:off x="548639" y="1825624"/>
            <a:ext cx="11310425" cy="5032375"/>
          </a:xfrm>
        </p:spPr>
        <p:txBody>
          <a:bodyPr>
            <a:noAutofit/>
          </a:bodyPr>
          <a:lstStyle/>
          <a:p>
            <a:pPr algn="just"/>
            <a:r>
              <a:rPr lang="en-US" sz="3200" dirty="0"/>
              <a:t>Education needs ideas, arguments and perspectives to thrive, but these have to </a:t>
            </a:r>
            <a:r>
              <a:rPr lang="en-US" sz="3200" u="sng" dirty="0" smtClean="0">
                <a:solidFill>
                  <a:srgbClr val="002060"/>
                </a:solidFill>
              </a:rPr>
              <a:t>be tested </a:t>
            </a:r>
            <a:r>
              <a:rPr lang="en-US" sz="3200" u="sng" dirty="0">
                <a:solidFill>
                  <a:srgbClr val="002060"/>
                </a:solidFill>
              </a:rPr>
              <a:t>rigorously and subjected to the critical scrutiny of others. </a:t>
            </a:r>
            <a:endParaRPr lang="en-US" sz="3200" u="sng" dirty="0" smtClean="0">
              <a:solidFill>
                <a:srgbClr val="002060"/>
              </a:solidFill>
            </a:endParaRPr>
          </a:p>
          <a:p>
            <a:pPr algn="just"/>
            <a:r>
              <a:rPr lang="en-US" sz="3200" dirty="0" smtClean="0"/>
              <a:t>This </a:t>
            </a:r>
            <a:r>
              <a:rPr lang="en-US" sz="3200" dirty="0"/>
              <a:t>is done </a:t>
            </a:r>
            <a:r>
              <a:rPr lang="en-US" sz="3200" dirty="0" smtClean="0"/>
              <a:t>by </a:t>
            </a:r>
            <a:r>
              <a:rPr lang="en-US" sz="3200" b="1" u="sng" dirty="0" smtClean="0">
                <a:effectLst>
                  <a:outerShdw blurRad="38100" dist="38100" dir="2700000" algn="tl">
                    <a:srgbClr val="000000">
                      <a:alpha val="43137"/>
                    </a:srgbClr>
                  </a:outerShdw>
                </a:effectLst>
              </a:rPr>
              <a:t>researching</a:t>
            </a:r>
            <a:r>
              <a:rPr lang="en-US" sz="3200" b="1" u="sng" dirty="0">
                <a:effectLst>
                  <a:outerShdw blurRad="38100" dist="38100" dir="2700000" algn="tl">
                    <a:srgbClr val="000000">
                      <a:alpha val="43137"/>
                    </a:srgbClr>
                  </a:outerShdw>
                </a:effectLst>
              </a:rPr>
              <a:t>, preparing and presenting work to the public domain. </a:t>
            </a:r>
            <a:endParaRPr lang="en-US" sz="3200" b="1" u="sng" dirty="0" smtClean="0">
              <a:effectLst>
                <a:outerShdw blurRad="38100" dist="38100" dir="2700000" algn="tl">
                  <a:srgbClr val="000000">
                    <a:alpha val="43137"/>
                  </a:srgbClr>
                </a:outerShdw>
              </a:effectLst>
            </a:endParaRPr>
          </a:p>
          <a:p>
            <a:pPr algn="just"/>
            <a:r>
              <a:rPr lang="en-US" sz="3200" dirty="0" smtClean="0"/>
              <a:t>This </a:t>
            </a:r>
            <a:r>
              <a:rPr lang="en-US" sz="3200" dirty="0"/>
              <a:t>is a </a:t>
            </a:r>
            <a:r>
              <a:rPr lang="en-US" sz="3200" b="1" u="sng" dirty="0" smtClean="0"/>
              <a:t>formidable task </a:t>
            </a:r>
            <a:r>
              <a:rPr lang="en-US" sz="3200" dirty="0"/>
              <a:t>for any writer or commentator, and one that can take years to achieve. </a:t>
            </a:r>
            <a:endParaRPr lang="en-US" sz="3200" dirty="0" smtClean="0"/>
          </a:p>
          <a:p>
            <a:pPr algn="just"/>
            <a:r>
              <a:rPr lang="en-US" sz="3200" dirty="0" smtClean="0"/>
              <a:t>Referencing is</a:t>
            </a:r>
            <a:r>
              <a:rPr lang="en-US" sz="3200" dirty="0"/>
              <a:t>, then, </a:t>
            </a:r>
            <a:r>
              <a:rPr lang="en-US" sz="3200" b="1" u="sng" dirty="0">
                <a:solidFill>
                  <a:srgbClr val="FF0000"/>
                </a:solidFill>
              </a:rPr>
              <a:t>about respecting and honouring the hard work of writers and </a:t>
            </a:r>
            <a:r>
              <a:rPr lang="en-US" sz="3200" b="1" u="sng" dirty="0" smtClean="0">
                <a:solidFill>
                  <a:srgbClr val="FF0000"/>
                </a:solidFill>
              </a:rPr>
              <a:t>commentators by </a:t>
            </a:r>
            <a:r>
              <a:rPr lang="en-US" sz="3200" b="1" u="sng" dirty="0">
                <a:solidFill>
                  <a:srgbClr val="FF0000"/>
                </a:solidFill>
              </a:rPr>
              <a:t>acknowledging them in your assignments.</a:t>
            </a:r>
          </a:p>
        </p:txBody>
      </p:sp>
    </p:spTree>
    <p:extLst>
      <p:ext uri="{BB962C8B-B14F-4D97-AF65-F5344CB8AC3E}">
        <p14:creationId xmlns:p14="http://schemas.microsoft.com/office/powerpoint/2010/main" val="4095288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referencing</a:t>
            </a:r>
          </a:p>
        </p:txBody>
      </p:sp>
      <p:sp>
        <p:nvSpPr>
          <p:cNvPr id="3" name="Content Placeholder 2"/>
          <p:cNvSpPr>
            <a:spLocks noGrp="1"/>
          </p:cNvSpPr>
          <p:nvPr>
            <p:ph idx="1"/>
          </p:nvPr>
        </p:nvSpPr>
        <p:spPr/>
        <p:txBody>
          <a:bodyPr/>
          <a:lstStyle/>
          <a:p>
            <a:r>
              <a:rPr lang="en-US" dirty="0"/>
              <a:t>The principle of intellectual </a:t>
            </a:r>
            <a:r>
              <a:rPr lang="en-US" dirty="0" smtClean="0"/>
              <a:t>property.</a:t>
            </a:r>
          </a:p>
          <a:p>
            <a:r>
              <a:rPr lang="en-US" dirty="0"/>
              <a:t>The principle of </a:t>
            </a:r>
            <a:r>
              <a:rPr lang="en-US" dirty="0" smtClean="0"/>
              <a:t>access.</a:t>
            </a:r>
          </a:p>
          <a:p>
            <a:r>
              <a:rPr lang="en-US" dirty="0"/>
              <a:t>The principle of </a:t>
            </a:r>
            <a:r>
              <a:rPr lang="en-US" dirty="0" smtClean="0"/>
              <a:t>economy.</a:t>
            </a:r>
          </a:p>
          <a:p>
            <a:r>
              <a:rPr lang="en-US" dirty="0"/>
              <a:t>The principle of </a:t>
            </a:r>
            <a:r>
              <a:rPr lang="en-US" dirty="0" smtClean="0"/>
              <a:t>standardization.</a:t>
            </a:r>
          </a:p>
          <a:p>
            <a:r>
              <a:rPr lang="en-US" dirty="0"/>
              <a:t>The principle of </a:t>
            </a:r>
            <a:r>
              <a:rPr lang="en-US" dirty="0" smtClean="0"/>
              <a:t>transparency. </a:t>
            </a:r>
          </a:p>
          <a:p>
            <a:pPr marL="0" indent="0">
              <a:buNone/>
            </a:pPr>
            <a:endParaRPr lang="en-US" dirty="0"/>
          </a:p>
        </p:txBody>
      </p:sp>
    </p:spTree>
    <p:extLst>
      <p:ext uri="{BB962C8B-B14F-4D97-AF65-F5344CB8AC3E}">
        <p14:creationId xmlns:p14="http://schemas.microsoft.com/office/powerpoint/2010/main" val="1390197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Principles of referencing</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74259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948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effectLst>
                  <a:outerShdw blurRad="38100" dist="38100" dir="2700000" algn="tl">
                    <a:srgbClr val="000000">
                      <a:alpha val="43137"/>
                    </a:srgbClr>
                  </a:outerShdw>
                </a:effectLst>
              </a:rPr>
              <a:t>The principle of intellectual property.</a:t>
            </a:r>
          </a:p>
        </p:txBody>
      </p:sp>
      <p:sp>
        <p:nvSpPr>
          <p:cNvPr id="3" name="Content Placeholder 2"/>
          <p:cNvSpPr>
            <a:spLocks noGrp="1"/>
          </p:cNvSpPr>
          <p:nvPr>
            <p:ph idx="1"/>
          </p:nvPr>
        </p:nvSpPr>
        <p:spPr/>
        <p:txBody>
          <a:bodyPr>
            <a:normAutofit/>
          </a:bodyPr>
          <a:lstStyle/>
          <a:p>
            <a:pPr marL="0" indent="0" algn="just">
              <a:buNone/>
            </a:pPr>
            <a:r>
              <a:rPr lang="en-US" sz="3600" dirty="0"/>
              <a:t>C</a:t>
            </a:r>
            <a:r>
              <a:rPr lang="en-US" sz="3600" dirty="0" smtClean="0"/>
              <a:t>oncepts </a:t>
            </a:r>
            <a:r>
              <a:rPr lang="en-US" sz="3600" dirty="0"/>
              <a:t>of plagiarism are based on an economic model of capitalism and the </a:t>
            </a:r>
            <a:r>
              <a:rPr lang="en-US" sz="3600" dirty="0" smtClean="0"/>
              <a:t>notion that </a:t>
            </a:r>
            <a:r>
              <a:rPr lang="en-US" sz="3600" dirty="0"/>
              <a:t>someone can claim ownership of an idea if it has been presented in a ‘fixed’ </a:t>
            </a:r>
            <a:r>
              <a:rPr lang="en-US" sz="3600" dirty="0" smtClean="0"/>
              <a:t>way, for </a:t>
            </a:r>
            <a:r>
              <a:rPr lang="en-US" sz="3600" dirty="0"/>
              <a:t>example, published or presented in the public domain.</a:t>
            </a:r>
          </a:p>
        </p:txBody>
      </p:sp>
    </p:spTree>
    <p:extLst>
      <p:ext uri="{BB962C8B-B14F-4D97-AF65-F5344CB8AC3E}">
        <p14:creationId xmlns:p14="http://schemas.microsoft.com/office/powerpoint/2010/main" val="3513029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The principle of access</a:t>
            </a:r>
          </a:p>
        </p:txBody>
      </p:sp>
      <p:sp>
        <p:nvSpPr>
          <p:cNvPr id="3" name="Content Placeholder 2"/>
          <p:cNvSpPr>
            <a:spLocks noGrp="1"/>
          </p:cNvSpPr>
          <p:nvPr>
            <p:ph idx="1"/>
          </p:nvPr>
        </p:nvSpPr>
        <p:spPr/>
        <p:txBody>
          <a:bodyPr>
            <a:normAutofit/>
          </a:bodyPr>
          <a:lstStyle/>
          <a:p>
            <a:pPr algn="just"/>
            <a:r>
              <a:rPr lang="en-US" sz="3600" dirty="0"/>
              <a:t>References help readers easily and quickly identify </a:t>
            </a:r>
            <a:r>
              <a:rPr lang="en-US" sz="3600" dirty="0" smtClean="0"/>
              <a:t>and locate </a:t>
            </a:r>
            <a:r>
              <a:rPr lang="en-US" sz="3600" dirty="0"/>
              <a:t>documents referred to in a text. </a:t>
            </a:r>
            <a:endParaRPr lang="en-US" sz="3600" dirty="0" smtClean="0"/>
          </a:p>
          <a:p>
            <a:pPr algn="just"/>
            <a:r>
              <a:rPr lang="en-US" sz="3600" dirty="0" smtClean="0"/>
              <a:t>This </a:t>
            </a:r>
            <a:r>
              <a:rPr lang="en-US" sz="3600" dirty="0"/>
              <a:t>helps to spread knowledge, as </a:t>
            </a:r>
            <a:r>
              <a:rPr lang="en-US" sz="3600" dirty="0" smtClean="0"/>
              <a:t>the reader </a:t>
            </a:r>
            <a:r>
              <a:rPr lang="en-US" sz="3600" dirty="0"/>
              <a:t>may then be able to use the information for his or her own </a:t>
            </a:r>
            <a:r>
              <a:rPr lang="en-US" sz="3600" dirty="0" smtClean="0"/>
              <a:t>learning purposes</a:t>
            </a:r>
            <a:r>
              <a:rPr lang="en-US" sz="3600" dirty="0"/>
              <a:t>.</a:t>
            </a:r>
          </a:p>
        </p:txBody>
      </p:sp>
    </p:spTree>
    <p:extLst>
      <p:ext uri="{BB962C8B-B14F-4D97-AF65-F5344CB8AC3E}">
        <p14:creationId xmlns:p14="http://schemas.microsoft.com/office/powerpoint/2010/main" val="1035809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The principle of economy</a:t>
            </a:r>
          </a:p>
        </p:txBody>
      </p:sp>
      <p:sp>
        <p:nvSpPr>
          <p:cNvPr id="3" name="Content Placeholder 2"/>
          <p:cNvSpPr>
            <a:spLocks noGrp="1"/>
          </p:cNvSpPr>
          <p:nvPr>
            <p:ph idx="1"/>
          </p:nvPr>
        </p:nvSpPr>
        <p:spPr/>
        <p:txBody>
          <a:bodyPr>
            <a:normAutofit/>
          </a:bodyPr>
          <a:lstStyle/>
          <a:p>
            <a:pPr algn="just"/>
            <a:r>
              <a:rPr lang="en-US" sz="3600" dirty="0"/>
              <a:t>The references should include as much information </a:t>
            </a:r>
            <a:r>
              <a:rPr lang="en-US" sz="3600" dirty="0" smtClean="0"/>
              <a:t>as necessary </a:t>
            </a:r>
            <a:r>
              <a:rPr lang="en-US" sz="3600" dirty="0"/>
              <a:t>to help readers locate the sources cited. </a:t>
            </a:r>
            <a:endParaRPr lang="en-US" sz="3600" dirty="0" smtClean="0"/>
          </a:p>
          <a:p>
            <a:pPr algn="just"/>
            <a:r>
              <a:rPr lang="en-US" sz="3600" dirty="0" smtClean="0"/>
              <a:t>However</a:t>
            </a:r>
            <a:r>
              <a:rPr lang="en-US" sz="3600" dirty="0"/>
              <a:t>, they should also </a:t>
            </a:r>
            <a:r>
              <a:rPr lang="en-US" sz="3600" dirty="0" smtClean="0"/>
              <a:t>be presented </a:t>
            </a:r>
            <a:r>
              <a:rPr lang="en-US" sz="3600" dirty="0"/>
              <a:t>in such a way as to reduce the need for lengthy explanations in the </a:t>
            </a:r>
            <a:r>
              <a:rPr lang="en-US" sz="3600" dirty="0" smtClean="0"/>
              <a:t>text, and </a:t>
            </a:r>
            <a:r>
              <a:rPr lang="en-US" sz="3600" dirty="0"/>
              <a:t>to speed up the process of reading.</a:t>
            </a:r>
          </a:p>
        </p:txBody>
      </p:sp>
    </p:spTree>
    <p:extLst>
      <p:ext uri="{BB962C8B-B14F-4D97-AF65-F5344CB8AC3E}">
        <p14:creationId xmlns:p14="http://schemas.microsoft.com/office/powerpoint/2010/main" val="1401000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365125"/>
            <a:ext cx="11465170" cy="1325563"/>
          </a:xfrm>
        </p:spPr>
        <p:txBody>
          <a:bodyPr/>
          <a:lstStyle/>
          <a:p>
            <a:r>
              <a:rPr lang="en-US" dirty="0"/>
              <a:t>The principle of standardization+ </a:t>
            </a:r>
            <a:r>
              <a:rPr lang="en-US" dirty="0">
                <a:solidFill>
                  <a:srgbClr val="FF0000"/>
                </a:solidFill>
              </a:rPr>
              <a:t>T</a:t>
            </a:r>
            <a:r>
              <a:rPr lang="en-US" dirty="0" smtClean="0">
                <a:solidFill>
                  <a:srgbClr val="FF0000"/>
                </a:solidFill>
              </a:rPr>
              <a:t>ransparency</a:t>
            </a:r>
            <a:endParaRPr lang="en-US" dirty="0">
              <a:solidFill>
                <a:srgbClr val="FF0000"/>
              </a:solidFill>
            </a:endParaRPr>
          </a:p>
        </p:txBody>
      </p:sp>
      <p:sp>
        <p:nvSpPr>
          <p:cNvPr id="3" name="Content Placeholder 2"/>
          <p:cNvSpPr>
            <a:spLocks noGrp="1"/>
          </p:cNvSpPr>
          <p:nvPr>
            <p:ph idx="1"/>
          </p:nvPr>
        </p:nvSpPr>
        <p:spPr/>
        <p:txBody>
          <a:bodyPr>
            <a:normAutofit/>
          </a:bodyPr>
          <a:lstStyle/>
          <a:p>
            <a:pPr algn="just"/>
            <a:r>
              <a:rPr lang="en-US" sz="3600" dirty="0"/>
              <a:t>References should be presented in such a </a:t>
            </a:r>
            <a:r>
              <a:rPr lang="en-US" sz="3600" dirty="0" smtClean="0"/>
              <a:t>way that </a:t>
            </a:r>
            <a:r>
              <a:rPr lang="en-US" sz="3600" dirty="0"/>
              <a:t>allows everyone who has learned the practice to recognize and understand </a:t>
            </a:r>
            <a:r>
              <a:rPr lang="en-US" sz="3600" dirty="0" smtClean="0"/>
              <a:t>the meaning </a:t>
            </a:r>
            <a:r>
              <a:rPr lang="en-US" sz="3600" dirty="0"/>
              <a:t>of codes and formulas presented. </a:t>
            </a:r>
          </a:p>
          <a:p>
            <a:pPr algn="just"/>
            <a:r>
              <a:rPr lang="en-US" sz="3600" dirty="0" smtClean="0"/>
              <a:t>Different </a:t>
            </a:r>
            <a:r>
              <a:rPr lang="en-US" sz="3600" dirty="0"/>
              <a:t>styles of referencing build </a:t>
            </a:r>
            <a:r>
              <a:rPr lang="en-US" sz="3600" dirty="0" smtClean="0"/>
              <a:t>a standardized </a:t>
            </a:r>
            <a:r>
              <a:rPr lang="en-US" sz="3600" dirty="0"/>
              <a:t>framework for this to happen</a:t>
            </a:r>
            <a:r>
              <a:rPr lang="en-US" sz="3600" dirty="0" smtClean="0"/>
              <a:t>.</a:t>
            </a:r>
          </a:p>
          <a:p>
            <a:pPr algn="just"/>
            <a:r>
              <a:rPr lang="en-US" sz="3600" dirty="0">
                <a:solidFill>
                  <a:srgbClr val="FF0000"/>
                </a:solidFill>
              </a:rPr>
              <a:t>There must be no ambiguity in terms and </a:t>
            </a:r>
            <a:r>
              <a:rPr lang="en-US" sz="3600" dirty="0" smtClean="0">
                <a:solidFill>
                  <a:srgbClr val="FF0000"/>
                </a:solidFill>
              </a:rPr>
              <a:t>expressions </a:t>
            </a:r>
            <a:r>
              <a:rPr lang="en-US" sz="3600" dirty="0">
                <a:solidFill>
                  <a:srgbClr val="FF0000"/>
                </a:solidFill>
              </a:rPr>
              <a:t>used.</a:t>
            </a:r>
          </a:p>
        </p:txBody>
      </p:sp>
    </p:spTree>
    <p:extLst>
      <p:ext uri="{BB962C8B-B14F-4D97-AF65-F5344CB8AC3E}">
        <p14:creationId xmlns:p14="http://schemas.microsoft.com/office/powerpoint/2010/main" val="779532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Why referencing is important</a:t>
            </a:r>
          </a:p>
        </p:txBody>
      </p:sp>
      <p:sp>
        <p:nvSpPr>
          <p:cNvPr id="3" name="Content Placeholder 2"/>
          <p:cNvSpPr>
            <a:spLocks noGrp="1"/>
          </p:cNvSpPr>
          <p:nvPr>
            <p:ph idx="1"/>
          </p:nvPr>
        </p:nvSpPr>
        <p:spPr>
          <a:xfrm>
            <a:off x="838200" y="1622914"/>
            <a:ext cx="10515600" cy="5032375"/>
          </a:xfrm>
        </p:spPr>
        <p:txBody>
          <a:bodyPr>
            <a:noAutofit/>
          </a:bodyPr>
          <a:lstStyle/>
          <a:p>
            <a:r>
              <a:rPr lang="en-US" sz="3200" dirty="0"/>
              <a:t>Tracing the origin of </a:t>
            </a:r>
            <a:r>
              <a:rPr lang="en-US" sz="3200" dirty="0" smtClean="0"/>
              <a:t>ideas</a:t>
            </a:r>
          </a:p>
          <a:p>
            <a:r>
              <a:rPr lang="en-US" sz="3200" dirty="0"/>
              <a:t>Building a web of </a:t>
            </a:r>
            <a:r>
              <a:rPr lang="en-US" sz="3200" dirty="0" smtClean="0"/>
              <a:t>ideas</a:t>
            </a:r>
          </a:p>
          <a:p>
            <a:r>
              <a:rPr lang="en-US" sz="3200" dirty="0"/>
              <a:t>Finding your own </a:t>
            </a:r>
            <a:r>
              <a:rPr lang="en-US" sz="3200" dirty="0" smtClean="0"/>
              <a:t>voice</a:t>
            </a:r>
          </a:p>
          <a:p>
            <a:r>
              <a:rPr lang="en-US" sz="3200" dirty="0"/>
              <a:t>Validity of </a:t>
            </a:r>
            <a:r>
              <a:rPr lang="en-US" sz="3200" dirty="0" smtClean="0"/>
              <a:t>arguments</a:t>
            </a:r>
          </a:p>
          <a:p>
            <a:r>
              <a:rPr lang="en-US" sz="3200" dirty="0"/>
              <a:t>Spreading </a:t>
            </a:r>
            <a:r>
              <a:rPr lang="en-US" sz="3200" dirty="0" smtClean="0"/>
              <a:t>knowledge</a:t>
            </a:r>
          </a:p>
          <a:p>
            <a:r>
              <a:rPr lang="en-US" sz="3200" dirty="0" smtClean="0"/>
              <a:t>Influences</a:t>
            </a:r>
          </a:p>
          <a:p>
            <a:r>
              <a:rPr lang="en-US" sz="3200" dirty="0"/>
              <a:t>Marking </a:t>
            </a:r>
            <a:r>
              <a:rPr lang="en-US" sz="3200" dirty="0" smtClean="0"/>
              <a:t>criteria</a:t>
            </a:r>
          </a:p>
          <a:p>
            <a:r>
              <a:rPr lang="en-US" sz="3200" dirty="0"/>
              <a:t>Avoid plagiarism</a:t>
            </a:r>
          </a:p>
        </p:txBody>
      </p:sp>
    </p:spTree>
    <p:extLst>
      <p:ext uri="{BB962C8B-B14F-4D97-AF65-F5344CB8AC3E}">
        <p14:creationId xmlns:p14="http://schemas.microsoft.com/office/powerpoint/2010/main" val="919533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0042"/>
            <a:ext cx="12192000" cy="1325563"/>
          </a:xfrm>
        </p:spPr>
        <p:txBody>
          <a:bodyPr>
            <a:normAutofit/>
          </a:bodyPr>
          <a:lstStyle/>
          <a:p>
            <a:pPr algn="ctr"/>
            <a:r>
              <a:rPr lang="en-US" sz="6000" b="1" dirty="0">
                <a:effectLst>
                  <a:outerShdw blurRad="38100" dist="38100" dir="2700000" algn="tl">
                    <a:srgbClr val="000000">
                      <a:alpha val="43137"/>
                    </a:srgbClr>
                  </a:outerShdw>
                </a:effectLst>
              </a:rPr>
              <a:t>APA Citation Basics</a:t>
            </a:r>
          </a:p>
        </p:txBody>
      </p:sp>
      <p:sp>
        <p:nvSpPr>
          <p:cNvPr id="3" name="Content Placeholder 2"/>
          <p:cNvSpPr>
            <a:spLocks noGrp="1"/>
          </p:cNvSpPr>
          <p:nvPr>
            <p:ph idx="1"/>
          </p:nvPr>
        </p:nvSpPr>
        <p:spPr>
          <a:xfrm>
            <a:off x="295422" y="1465605"/>
            <a:ext cx="11676184" cy="5118075"/>
          </a:xfrm>
        </p:spPr>
        <p:txBody>
          <a:bodyPr/>
          <a:lstStyle/>
          <a:p>
            <a:pPr algn="just"/>
            <a:r>
              <a:rPr lang="en-US" sz="3600" dirty="0"/>
              <a:t>When using APA format, follow the </a:t>
            </a:r>
            <a:r>
              <a:rPr lang="en-US" sz="3600" b="1" u="sng" dirty="0">
                <a:solidFill>
                  <a:srgbClr val="FF0000"/>
                </a:solidFill>
                <a:effectLst>
                  <a:outerShdw blurRad="38100" dist="38100" dir="2700000" algn="tl">
                    <a:srgbClr val="000000">
                      <a:alpha val="43137"/>
                    </a:srgbClr>
                  </a:outerShdw>
                </a:effectLst>
              </a:rPr>
              <a:t>author-date method </a:t>
            </a:r>
            <a:r>
              <a:rPr lang="en-US" sz="3600" dirty="0"/>
              <a:t>of in-text </a:t>
            </a:r>
            <a:r>
              <a:rPr lang="en-US" sz="3600" dirty="0" smtClean="0"/>
              <a:t>citation.</a:t>
            </a:r>
          </a:p>
          <a:p>
            <a:pPr algn="just"/>
            <a:r>
              <a:rPr lang="en-US" sz="3600" dirty="0" smtClean="0"/>
              <a:t>This </a:t>
            </a:r>
            <a:r>
              <a:rPr lang="en-US" sz="3600" dirty="0"/>
              <a:t>means that </a:t>
            </a:r>
            <a:r>
              <a:rPr lang="en-US" sz="3600" b="1" u="sng" dirty="0">
                <a:solidFill>
                  <a:srgbClr val="FF0000"/>
                </a:solidFill>
                <a:effectLst>
                  <a:outerShdw blurRad="38100" dist="38100" dir="2700000" algn="tl">
                    <a:srgbClr val="000000">
                      <a:alpha val="43137"/>
                    </a:srgbClr>
                  </a:outerShdw>
                </a:effectLst>
              </a:rPr>
              <a:t>the author's last name and the year of publication </a:t>
            </a:r>
            <a:r>
              <a:rPr lang="en-US" sz="3600" dirty="0"/>
              <a:t>for the source should appear in the text, like, for example, (Jones, 1998).</a:t>
            </a:r>
            <a:r>
              <a:rPr lang="en-US" dirty="0"/>
              <a:t> </a:t>
            </a:r>
          </a:p>
        </p:txBody>
      </p:sp>
    </p:spTree>
    <p:extLst>
      <p:ext uri="{BB962C8B-B14F-4D97-AF65-F5344CB8AC3E}">
        <p14:creationId xmlns:p14="http://schemas.microsoft.com/office/powerpoint/2010/main" val="1132359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68811" y="688975"/>
            <a:ext cx="11760591" cy="5487988"/>
          </a:xfrm>
        </p:spPr>
        <p:txBody>
          <a:bodyPr>
            <a:normAutofit/>
          </a:bodyPr>
          <a:lstStyle/>
          <a:p>
            <a:pPr algn="just"/>
            <a:endParaRPr lang="en-US" sz="3600" dirty="0" smtClean="0"/>
          </a:p>
          <a:p>
            <a:pPr algn="just"/>
            <a:endParaRPr lang="en-US" sz="3600" dirty="0"/>
          </a:p>
          <a:p>
            <a:pPr marL="0" indent="0" algn="just">
              <a:buNone/>
            </a:pPr>
            <a:r>
              <a:rPr lang="en-US" sz="3600" dirty="0" smtClean="0"/>
              <a:t>If </a:t>
            </a:r>
            <a:r>
              <a:rPr lang="en-US" sz="3600" dirty="0"/>
              <a:t>you are referring to an idea from another work but </a:t>
            </a:r>
            <a:r>
              <a:rPr lang="en-US" sz="3600" b="1" dirty="0"/>
              <a:t>NOT</a:t>
            </a:r>
            <a:r>
              <a:rPr lang="en-US" sz="3600" dirty="0"/>
              <a:t> directly quoting the material, or making reference to </a:t>
            </a:r>
            <a:r>
              <a:rPr lang="en-US" sz="3600" b="1" u="sng" dirty="0">
                <a:solidFill>
                  <a:srgbClr val="FF0000"/>
                </a:solidFill>
                <a:effectLst>
                  <a:outerShdw blurRad="38100" dist="38100" dir="2700000" algn="tl">
                    <a:srgbClr val="000000">
                      <a:alpha val="43137"/>
                    </a:srgbClr>
                  </a:outerShdw>
                </a:effectLst>
              </a:rPr>
              <a:t>an entire book, article or other work</a:t>
            </a:r>
            <a:r>
              <a:rPr lang="en-US" sz="3600" dirty="0"/>
              <a:t>, you only have to make reference to </a:t>
            </a:r>
            <a:r>
              <a:rPr lang="en-US" sz="3600" b="1" u="sng" dirty="0">
                <a:solidFill>
                  <a:srgbClr val="FFC000"/>
                </a:solidFill>
                <a:effectLst>
                  <a:outerShdw blurRad="38100" dist="38100" dir="2700000" algn="tl">
                    <a:srgbClr val="000000">
                      <a:alpha val="43137"/>
                    </a:srgbClr>
                  </a:outerShdw>
                </a:effectLst>
              </a:rPr>
              <a:t>the author and year of publication </a:t>
            </a:r>
            <a:r>
              <a:rPr lang="en-US" sz="3600" dirty="0"/>
              <a:t>and not the page number in your in-text reference</a:t>
            </a:r>
            <a:r>
              <a:rPr lang="en-US" sz="3600" dirty="0" smtClean="0"/>
              <a:t>.</a:t>
            </a:r>
          </a:p>
          <a:p>
            <a:pPr marL="0" indent="0" algn="just">
              <a:buNone/>
            </a:pPr>
            <a:r>
              <a:rPr lang="en-US" sz="3600" dirty="0" smtClean="0"/>
              <a:t>(Hemingway, 1945)</a:t>
            </a:r>
            <a:endParaRPr lang="en-US" sz="3600" dirty="0"/>
          </a:p>
        </p:txBody>
      </p:sp>
    </p:spTree>
    <p:extLst>
      <p:ext uri="{BB962C8B-B14F-4D97-AF65-F5344CB8AC3E}">
        <p14:creationId xmlns:p14="http://schemas.microsoft.com/office/powerpoint/2010/main" val="2796202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963" y="436098"/>
            <a:ext cx="11437033" cy="6161650"/>
          </a:xfrm>
        </p:spPr>
        <p:txBody>
          <a:bodyPr>
            <a:normAutofit/>
          </a:bodyPr>
          <a:lstStyle/>
          <a:p>
            <a:pPr algn="just"/>
            <a:r>
              <a:rPr lang="en-US" sz="3600" dirty="0"/>
              <a:t> </a:t>
            </a:r>
            <a:r>
              <a:rPr lang="en-US" sz="3600" dirty="0" smtClean="0"/>
              <a:t>If </a:t>
            </a:r>
            <a:r>
              <a:rPr lang="en-US" sz="3600" dirty="0"/>
              <a:t>you are directly quoting or borrowing from another work, you should include the page number at the end of the parenthetical citation. </a:t>
            </a:r>
            <a:endParaRPr lang="en-US" sz="3600" dirty="0" smtClean="0"/>
          </a:p>
          <a:p>
            <a:pPr algn="just"/>
            <a:r>
              <a:rPr lang="en-US" sz="3600" dirty="0" smtClean="0"/>
              <a:t>Use </a:t>
            </a:r>
            <a:r>
              <a:rPr lang="en-US" sz="3600" dirty="0"/>
              <a:t>the abbreviation “p.” (for one page) or “pp.” (for multiple pages) before listing the page number(s). Use an </a:t>
            </a:r>
            <a:r>
              <a:rPr lang="en-US" sz="3600" dirty="0" err="1"/>
              <a:t>en</a:t>
            </a:r>
            <a:r>
              <a:rPr lang="en-US" sz="3600" dirty="0"/>
              <a:t> dash for page ranges. </a:t>
            </a:r>
            <a:endParaRPr lang="en-US" sz="3600" dirty="0" smtClean="0"/>
          </a:p>
          <a:p>
            <a:pPr algn="just"/>
            <a:r>
              <a:rPr lang="en-US" sz="3600" dirty="0" smtClean="0"/>
              <a:t>For </a:t>
            </a:r>
            <a:r>
              <a:rPr lang="en-US" sz="3600" dirty="0"/>
              <a:t>example, you might write (Jones, 1998, p. 199) or (Jones, 1998, pp. 199–201</a:t>
            </a:r>
            <a:r>
              <a:rPr lang="en-US" sz="3600" dirty="0" smtClean="0"/>
              <a:t>).</a:t>
            </a:r>
            <a:endParaRPr lang="en-US" sz="3600" dirty="0"/>
          </a:p>
          <a:p>
            <a:pPr algn="just"/>
            <a:r>
              <a:rPr lang="en-US" sz="4000" dirty="0">
                <a:solidFill>
                  <a:srgbClr val="FF0000"/>
                </a:solidFill>
              </a:rPr>
              <a:t>Regardless of how they are referenced, all sources that are cited in the text must appear in the reference list at the end of the paper</a:t>
            </a:r>
            <a:r>
              <a:rPr lang="en-US" dirty="0">
                <a:solidFill>
                  <a:srgbClr val="FF0000"/>
                </a:solidFill>
              </a:rPr>
              <a:t>.</a:t>
            </a:r>
            <a:endParaRPr lang="en-US" sz="3600" dirty="0">
              <a:solidFill>
                <a:srgbClr val="FF0000"/>
              </a:solidFill>
            </a:endParaRPr>
          </a:p>
        </p:txBody>
      </p:sp>
    </p:spTree>
    <p:extLst>
      <p:ext uri="{BB962C8B-B14F-4D97-AF65-F5344CB8AC3E}">
        <p14:creationId xmlns:p14="http://schemas.microsoft.com/office/powerpoint/2010/main" val="3007177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5400" b="1" dirty="0">
                <a:effectLst>
                  <a:outerShdw blurRad="38100" dist="38100" dir="2700000" algn="tl">
                    <a:srgbClr val="000000">
                      <a:alpha val="43137"/>
                    </a:srgbClr>
                  </a:outerShdw>
                </a:effectLst>
              </a:rPr>
              <a:t>In-text citation capitalization, quotes, and italics/underlining</a:t>
            </a:r>
            <a:endParaRPr lang="en-US" sz="54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just"/>
            <a:r>
              <a:rPr lang="en-US" sz="3600" dirty="0"/>
              <a:t>Always capitalize proper nouns, including author names and initials: </a:t>
            </a:r>
            <a:r>
              <a:rPr lang="en-US" sz="3600" b="1" dirty="0">
                <a:solidFill>
                  <a:srgbClr val="FF0000"/>
                </a:solidFill>
                <a:effectLst>
                  <a:outerShdw blurRad="38100" dist="38100" dir="2700000" algn="tl">
                    <a:srgbClr val="000000">
                      <a:alpha val="43137"/>
                    </a:srgbClr>
                  </a:outerShdw>
                </a:effectLst>
              </a:rPr>
              <a:t>D. Jones</a:t>
            </a:r>
            <a:r>
              <a:rPr lang="en-US" sz="3600" b="1" dirty="0" smtClean="0">
                <a:solidFill>
                  <a:srgbClr val="FF0000"/>
                </a:solidFill>
                <a:effectLst>
                  <a:outerShdw blurRad="38100" dist="38100" dir="2700000" algn="tl">
                    <a:srgbClr val="000000">
                      <a:alpha val="43137"/>
                    </a:srgbClr>
                  </a:outerShdw>
                </a:effectLst>
              </a:rPr>
              <a:t>.</a:t>
            </a:r>
          </a:p>
          <a:p>
            <a:pPr algn="just"/>
            <a:r>
              <a:rPr lang="en-US" dirty="0"/>
              <a:t>If you refer to the title of a source within your paper, capitalize all words that are four letters long or greater within the title of a source: </a:t>
            </a:r>
            <a:r>
              <a:rPr lang="en-US" i="1" dirty="0"/>
              <a:t>Permanence and Change</a:t>
            </a:r>
            <a:r>
              <a:rPr lang="en-US" dirty="0"/>
              <a:t>. Exceptions apply to short words that are verbs, nouns, pronouns, adjectives, and adverbs: </a:t>
            </a:r>
            <a:r>
              <a:rPr lang="en-US" i="1" dirty="0"/>
              <a:t>Writing New Media</a:t>
            </a:r>
            <a:r>
              <a:rPr lang="en-US" dirty="0"/>
              <a:t>, </a:t>
            </a:r>
            <a:r>
              <a:rPr lang="en-US" i="1" dirty="0"/>
              <a:t>There Is Nothing Left to Lose</a:t>
            </a:r>
            <a:r>
              <a:rPr lang="en-US" dirty="0"/>
              <a:t>.</a:t>
            </a:r>
          </a:p>
          <a:p>
            <a:pPr algn="just"/>
            <a:endParaRPr lang="en-US" sz="3600" b="1" dirty="0">
              <a:solidFill>
                <a:srgbClr val="FF000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3621585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182880" y="140678"/>
            <a:ext cx="11901268" cy="6717322"/>
          </a:xfrm>
        </p:spPr>
        <p:txBody>
          <a:bodyPr>
            <a:normAutofit/>
          </a:bodyPr>
          <a:lstStyle/>
          <a:p>
            <a:pPr algn="just"/>
            <a:r>
              <a:rPr lang="en-US" sz="3600" dirty="0"/>
              <a:t>When capitalizing titles, capitalize both words in a hyphenated compound word: </a:t>
            </a:r>
            <a:r>
              <a:rPr lang="en-US" sz="3600" i="1" dirty="0"/>
              <a:t>Natural-Born Cyborgs</a:t>
            </a:r>
            <a:r>
              <a:rPr lang="en-US" sz="3600" dirty="0"/>
              <a:t>.</a:t>
            </a:r>
          </a:p>
          <a:p>
            <a:pPr algn="just"/>
            <a:r>
              <a:rPr lang="en-US" sz="3600" dirty="0"/>
              <a:t>Capitalize the first word after a dash or colon: "Defining Film Rhetoric: The Case of Hitchcock's </a:t>
            </a:r>
            <a:r>
              <a:rPr lang="en-US" sz="3600" i="1" dirty="0"/>
              <a:t>Vertigo</a:t>
            </a:r>
            <a:r>
              <a:rPr lang="en-US" sz="3600" dirty="0"/>
              <a:t>."</a:t>
            </a:r>
          </a:p>
          <a:p>
            <a:pPr algn="just"/>
            <a:r>
              <a:rPr lang="en-US" sz="3600" dirty="0"/>
              <a:t>If the title of the work is italicized in your reference list, italicize it and use title case capitalization in the text: </a:t>
            </a:r>
            <a:r>
              <a:rPr lang="en-US" sz="3600" i="1" dirty="0"/>
              <a:t>The Closing of the American Mind</a:t>
            </a:r>
            <a:r>
              <a:rPr lang="en-US" sz="3600" dirty="0"/>
              <a:t>; </a:t>
            </a:r>
            <a:r>
              <a:rPr lang="en-US" sz="3600" i="1" dirty="0"/>
              <a:t>The Wizard of Oz</a:t>
            </a:r>
            <a:r>
              <a:rPr lang="en-US" sz="3600" dirty="0"/>
              <a:t>; </a:t>
            </a:r>
            <a:r>
              <a:rPr lang="en-US" sz="3600" i="1" dirty="0"/>
              <a:t>Friends</a:t>
            </a:r>
            <a:r>
              <a:rPr lang="en-US" sz="3600" dirty="0"/>
              <a:t>.</a:t>
            </a:r>
          </a:p>
          <a:p>
            <a:pPr algn="just"/>
            <a:r>
              <a:rPr lang="en-US" sz="3600" dirty="0"/>
              <a:t>If the title of the work is not italicized in your reference list, use double quotation marks and title case capitalization (even though the reference list uses sentence case): "Multimedia Narration: Constructing Possible Worlds;" "The One Where Chandler Can't Cry."</a:t>
            </a:r>
          </a:p>
        </p:txBody>
      </p:sp>
    </p:spTree>
    <p:extLst>
      <p:ext uri="{BB962C8B-B14F-4D97-AF65-F5344CB8AC3E}">
        <p14:creationId xmlns:p14="http://schemas.microsoft.com/office/powerpoint/2010/main" val="3131613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0"/>
            <a:ext cx="12051323" cy="1702191"/>
          </a:xfrm>
          <a:solidFill>
            <a:srgbClr val="FFC000"/>
          </a:solidFill>
        </p:spPr>
        <p:txBody>
          <a:bodyPr>
            <a:normAutofit/>
          </a:bodyPr>
          <a:lstStyle/>
          <a:p>
            <a:pPr algn="ctr"/>
            <a:r>
              <a:rPr lang="en-US" sz="6700" b="1" cap="all" dirty="0">
                <a:effectLst>
                  <a:outerShdw blurRad="38100" dist="38100" dir="2700000" algn="tl">
                    <a:srgbClr val="000000">
                      <a:alpha val="43137"/>
                    </a:srgbClr>
                  </a:outerShdw>
                </a:effectLst>
              </a:rPr>
              <a:t>Short quotations</a:t>
            </a:r>
            <a:r>
              <a:rPr lang="en-US" cap="all" dirty="0"/>
              <a:t/>
            </a:r>
            <a:br>
              <a:rPr lang="en-US" cap="all" dirty="0"/>
            </a:br>
            <a:endParaRPr lang="en-US" dirty="0"/>
          </a:p>
        </p:txBody>
      </p:sp>
      <p:sp>
        <p:nvSpPr>
          <p:cNvPr id="3" name="Content Placeholder 2"/>
          <p:cNvSpPr>
            <a:spLocks noGrp="1"/>
          </p:cNvSpPr>
          <p:nvPr>
            <p:ph idx="1"/>
          </p:nvPr>
        </p:nvSpPr>
        <p:spPr>
          <a:xfrm>
            <a:off x="140677" y="1825625"/>
            <a:ext cx="11929403" cy="4898732"/>
          </a:xfrm>
        </p:spPr>
        <p:txBody>
          <a:bodyPr>
            <a:normAutofit/>
          </a:bodyPr>
          <a:lstStyle/>
          <a:p>
            <a:pPr algn="just"/>
            <a:r>
              <a:rPr lang="en-US" sz="3200" dirty="0"/>
              <a:t>If you are directly quoting from a work, you will need to include the author, year of publication, and page number for the reference (preceded by "p." for a single page and “pp.” for a span of multiple pages, with the page numbers separated by an </a:t>
            </a:r>
            <a:r>
              <a:rPr lang="en-US" sz="3200" dirty="0" err="1" smtClean="0"/>
              <a:t>endash</a:t>
            </a:r>
            <a:r>
              <a:rPr lang="en-US" sz="3200" dirty="0" smtClean="0"/>
              <a:t>).</a:t>
            </a:r>
          </a:p>
          <a:p>
            <a:pPr algn="just"/>
            <a:r>
              <a:rPr lang="en-US" sz="3200" dirty="0"/>
              <a:t>You can introduce the quotation with a signal phrase that includes the author's last name followed by the date of publication in parentheses.</a:t>
            </a:r>
            <a:endParaRPr lang="en-US" sz="4000" dirty="0" smtClean="0"/>
          </a:p>
          <a:p>
            <a:pPr algn="just"/>
            <a:endParaRPr lang="en-US" sz="3600" dirty="0" smtClean="0"/>
          </a:p>
          <a:p>
            <a:pPr algn="just"/>
            <a:endParaRPr lang="en-US" sz="3600" dirty="0"/>
          </a:p>
        </p:txBody>
      </p:sp>
    </p:spTree>
    <p:extLst>
      <p:ext uri="{BB962C8B-B14F-4D97-AF65-F5344CB8AC3E}">
        <p14:creationId xmlns:p14="http://schemas.microsoft.com/office/powerpoint/2010/main" val="4233531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8812" y="168812"/>
            <a:ext cx="11901268" cy="6513342"/>
          </a:xfrm>
        </p:spPr>
        <p:txBody>
          <a:bodyPr/>
          <a:lstStyle/>
          <a:p>
            <a:r>
              <a:rPr lang="en-US" dirty="0"/>
              <a:t>According to Jones (1998), "students often had difficulty using APA style, especially when it was their first time" (p. 199).</a:t>
            </a:r>
          </a:p>
          <a:p>
            <a:r>
              <a:rPr lang="en-US" dirty="0"/>
              <a:t>Jones (1998) found "students often had difficulty using APA style" (p. 199); what implications does this have for teachers?</a:t>
            </a:r>
          </a:p>
          <a:p>
            <a:r>
              <a:rPr lang="en-US" dirty="0"/>
              <a:t>If you do not include the author’s name in the text of the sentence, place the author's last name, the year of publication, and the page number in parentheses after the quotation</a:t>
            </a:r>
            <a:r>
              <a:rPr lang="en-US" dirty="0" smtClean="0"/>
              <a:t>.</a:t>
            </a:r>
          </a:p>
          <a:p>
            <a:r>
              <a:rPr lang="en-US" dirty="0"/>
              <a:t>She stated, "students often had difficulty using APA style" (Jones, 1998, p. 199), but she did not offer an explanation as to why</a:t>
            </a:r>
            <a:r>
              <a:rPr lang="en-US" dirty="0" smtClean="0"/>
              <a:t>.</a:t>
            </a:r>
          </a:p>
          <a:p>
            <a:endParaRPr lang="en-US" dirty="0"/>
          </a:p>
        </p:txBody>
      </p:sp>
    </p:spTree>
    <p:extLst>
      <p:ext uri="{BB962C8B-B14F-4D97-AF65-F5344CB8AC3E}">
        <p14:creationId xmlns:p14="http://schemas.microsoft.com/office/powerpoint/2010/main" val="226482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36431"/>
          </a:xfrm>
          <a:solidFill>
            <a:srgbClr val="FFC000"/>
          </a:solidFill>
        </p:spPr>
        <p:txBody>
          <a:bodyPr>
            <a:normAutofit fontScale="90000"/>
          </a:bodyPr>
          <a:lstStyle/>
          <a:p>
            <a:pPr algn="ctr"/>
            <a:r>
              <a:rPr lang="en-US" sz="6000" b="1" cap="all" dirty="0">
                <a:effectLst>
                  <a:outerShdw blurRad="38100" dist="38100" dir="2700000" algn="tl">
                    <a:srgbClr val="000000">
                      <a:alpha val="43137"/>
                    </a:srgbClr>
                  </a:outerShdw>
                </a:effectLst>
              </a:rPr>
              <a:t>Long quotations</a:t>
            </a:r>
            <a:r>
              <a:rPr lang="en-US" cap="all" dirty="0"/>
              <a:t/>
            </a:r>
            <a:br>
              <a:rPr lang="en-US" cap="all" dirty="0"/>
            </a:br>
            <a:endParaRPr lang="en-US" dirty="0"/>
          </a:p>
        </p:txBody>
      </p:sp>
      <p:sp>
        <p:nvSpPr>
          <p:cNvPr id="3" name="Content Placeholder 2"/>
          <p:cNvSpPr>
            <a:spLocks noGrp="1"/>
          </p:cNvSpPr>
          <p:nvPr>
            <p:ph idx="1"/>
          </p:nvPr>
        </p:nvSpPr>
        <p:spPr>
          <a:xfrm>
            <a:off x="0" y="1336430"/>
            <a:ext cx="12192000" cy="5416061"/>
          </a:xfrm>
        </p:spPr>
        <p:txBody>
          <a:bodyPr/>
          <a:lstStyle/>
          <a:p>
            <a:r>
              <a:rPr lang="en-US" dirty="0"/>
              <a:t>Place direct quotations that are 40 words or longer in a free-standing block of typewritten lines and omit quotation marks. </a:t>
            </a:r>
            <a:endParaRPr lang="en-US" dirty="0" smtClean="0"/>
          </a:p>
          <a:p>
            <a:r>
              <a:rPr lang="en-US" dirty="0" smtClean="0"/>
              <a:t>Start </a:t>
            </a:r>
            <a:r>
              <a:rPr lang="en-US" dirty="0"/>
              <a:t>the quotation on a new line, indented 1/2 inch from the left margin, i.e., in the same place you would begin a new paragraph. </a:t>
            </a:r>
            <a:endParaRPr lang="en-US" dirty="0" smtClean="0"/>
          </a:p>
          <a:p>
            <a:r>
              <a:rPr lang="en-US" dirty="0" smtClean="0"/>
              <a:t>Type </a:t>
            </a:r>
            <a:r>
              <a:rPr lang="en-US" dirty="0"/>
              <a:t>the entire quotation on the new margin, and indent the first line of any subsequent paragraph within the quotation 1/2 inch from the new </a:t>
            </a:r>
            <a:r>
              <a:rPr lang="en-US" dirty="0" smtClean="0"/>
              <a:t>margin.</a:t>
            </a:r>
          </a:p>
          <a:p>
            <a:r>
              <a:rPr lang="en-US" dirty="0" smtClean="0"/>
              <a:t>Maintain </a:t>
            </a:r>
            <a:r>
              <a:rPr lang="en-US" dirty="0"/>
              <a:t>double-spacing throughout, but do not add an extra blank line before or after it. </a:t>
            </a:r>
            <a:endParaRPr lang="en-US" dirty="0" smtClean="0"/>
          </a:p>
          <a:p>
            <a:r>
              <a:rPr lang="en-US" dirty="0" smtClean="0"/>
              <a:t>The </a:t>
            </a:r>
            <a:r>
              <a:rPr lang="en-US" dirty="0"/>
              <a:t>parenthetical citation should come after the closing punctuation mark</a:t>
            </a:r>
          </a:p>
        </p:txBody>
      </p:sp>
    </p:spTree>
    <p:extLst>
      <p:ext uri="{BB962C8B-B14F-4D97-AF65-F5344CB8AC3E}">
        <p14:creationId xmlns:p14="http://schemas.microsoft.com/office/powerpoint/2010/main" val="2972189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all" dirty="0"/>
              <a:t>Quotations from sources without pages</a:t>
            </a:r>
            <a:br>
              <a:rPr lang="en-US" cap="all" dirty="0"/>
            </a:br>
            <a:endParaRPr lang="en-US" dirty="0"/>
          </a:p>
        </p:txBody>
      </p:sp>
      <p:sp>
        <p:nvSpPr>
          <p:cNvPr id="3" name="Content Placeholder 2"/>
          <p:cNvSpPr>
            <a:spLocks noGrp="1"/>
          </p:cNvSpPr>
          <p:nvPr>
            <p:ph idx="1"/>
          </p:nvPr>
        </p:nvSpPr>
        <p:spPr>
          <a:xfrm>
            <a:off x="182880" y="1097280"/>
            <a:ext cx="11901268" cy="5542671"/>
          </a:xfrm>
        </p:spPr>
        <p:txBody>
          <a:bodyPr>
            <a:normAutofit/>
          </a:bodyPr>
          <a:lstStyle/>
          <a:p>
            <a:pPr algn="just"/>
            <a:r>
              <a:rPr lang="en-US" sz="3200" dirty="0"/>
              <a:t>Direct quotations from sources that do not contain pages should not reference a page number. </a:t>
            </a:r>
            <a:endParaRPr lang="en-US" sz="3200" dirty="0" smtClean="0"/>
          </a:p>
          <a:p>
            <a:pPr algn="just"/>
            <a:r>
              <a:rPr lang="en-US" sz="3200" dirty="0" smtClean="0"/>
              <a:t>Instead</a:t>
            </a:r>
            <a:r>
              <a:rPr lang="en-US" sz="3200" dirty="0"/>
              <a:t>, you may reference another logical identifying element: a paragraph, a chapter number, a section number, a table number, or something else. </a:t>
            </a:r>
            <a:endParaRPr lang="en-US" sz="3200" dirty="0" smtClean="0"/>
          </a:p>
          <a:p>
            <a:pPr algn="just"/>
            <a:r>
              <a:rPr lang="en-US" sz="3200" dirty="0" smtClean="0"/>
              <a:t>Older </a:t>
            </a:r>
            <a:r>
              <a:rPr lang="en-US" sz="3200" dirty="0"/>
              <a:t>works (like religious texts) can also incorporate special location identifiers like verse numbers. </a:t>
            </a:r>
            <a:endParaRPr lang="en-US" sz="3200" dirty="0" smtClean="0"/>
          </a:p>
          <a:p>
            <a:pPr algn="just"/>
            <a:r>
              <a:rPr lang="en-US" sz="3200" dirty="0" smtClean="0"/>
              <a:t>In </a:t>
            </a:r>
            <a:r>
              <a:rPr lang="en-US" sz="3200" dirty="0"/>
              <a:t>short: pick a substitute for page numbers that makes sense for your source.</a:t>
            </a:r>
          </a:p>
          <a:p>
            <a:pPr algn="just"/>
            <a:r>
              <a:rPr lang="en-US" sz="3200" dirty="0"/>
              <a:t>Jones (1998) found a variety of causes for student dissatisfaction with prevailing citation practices (paras. 4–5).</a:t>
            </a:r>
          </a:p>
        </p:txBody>
      </p:sp>
    </p:spTree>
    <p:extLst>
      <p:ext uri="{BB962C8B-B14F-4D97-AF65-F5344CB8AC3E}">
        <p14:creationId xmlns:p14="http://schemas.microsoft.com/office/powerpoint/2010/main" val="3477337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TotalTime>
  <Words>1219</Words>
  <Application>Microsoft Office PowerPoint</Application>
  <PresentationFormat>Widescreen</PresentationFormat>
  <Paragraphs>78</Paragraphs>
  <Slides>18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Referencing </vt:lpstr>
      <vt:lpstr>Referencing</vt:lpstr>
      <vt:lpstr>Principles of referencing</vt:lpstr>
      <vt:lpstr>Principles of referencing</vt:lpstr>
      <vt:lpstr>The principle of intellectual property.</vt:lpstr>
      <vt:lpstr>The principle of access</vt:lpstr>
      <vt:lpstr>The principle of economy</vt:lpstr>
      <vt:lpstr>The principle of standardization+ Transparency</vt:lpstr>
      <vt:lpstr>Why referencing is important</vt:lpstr>
      <vt:lpstr>APA Citation Basics</vt:lpstr>
      <vt:lpstr>PowerPoint Presentation</vt:lpstr>
      <vt:lpstr>PowerPoint Presentation</vt:lpstr>
      <vt:lpstr>In-text citation capitalization, quotes, and italics/underlining</vt:lpstr>
      <vt:lpstr>PowerPoint Presentation</vt:lpstr>
      <vt:lpstr>Short quotations </vt:lpstr>
      <vt:lpstr>PowerPoint Presentation</vt:lpstr>
      <vt:lpstr>Long quotations </vt:lpstr>
      <vt:lpstr>Quotations from sources without pages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Referencing </dc:title>
  <dc:creator>Tab &amp; Tech</dc:creator>
  <cp:lastModifiedBy>Tab &amp; Tech</cp:lastModifiedBy>
  <cp:revision>15</cp:revision>
  <dcterms:created xsi:type="dcterms:W3CDTF">2025-05-23T11:33:06Z</dcterms:created>
  <dcterms:modified xsi:type="dcterms:W3CDTF">2025-11-30T13:15:53Z</dcterms:modified>
</cp:coreProperties>
</file>