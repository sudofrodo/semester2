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76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2" r:id="rId16"/>
    <p:sldId id="274" r:id="rId17"/>
    <p:sldId id="27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2C0148-762E-422B-8BAB-64457AF2B1F1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4B5F0F5-F1F7-4348-9B5C-20419B53E464}">
      <dgm:prSet/>
      <dgm:spPr/>
      <dgm:t>
        <a:bodyPr/>
        <a:lstStyle/>
        <a:p>
          <a:r>
            <a:rPr lang="en-US" smtClean="0"/>
            <a:t>Information Memo</a:t>
          </a:r>
          <a:endParaRPr lang="en-US"/>
        </a:p>
      </dgm:t>
    </dgm:pt>
    <dgm:pt modelId="{9FDA427D-9E8D-40DB-98D5-E3D7BCEEDC50}" type="parTrans" cxnId="{D13757C4-4651-48F5-849B-F4CB68A41496}">
      <dgm:prSet/>
      <dgm:spPr/>
      <dgm:t>
        <a:bodyPr/>
        <a:lstStyle/>
        <a:p>
          <a:endParaRPr lang="en-US"/>
        </a:p>
      </dgm:t>
    </dgm:pt>
    <dgm:pt modelId="{7E4DB015-A51F-4F9D-B8A9-EF569DAF2BFB}" type="sibTrans" cxnId="{D13757C4-4651-48F5-849B-F4CB68A41496}">
      <dgm:prSet/>
      <dgm:spPr/>
      <dgm:t>
        <a:bodyPr/>
        <a:lstStyle/>
        <a:p>
          <a:endParaRPr lang="en-US"/>
        </a:p>
      </dgm:t>
    </dgm:pt>
    <dgm:pt modelId="{1C4A2F56-83C0-4772-84F5-A1515342C8DC}">
      <dgm:prSet/>
      <dgm:spPr/>
      <dgm:t>
        <a:bodyPr/>
        <a:lstStyle/>
        <a:p>
          <a:r>
            <a:rPr lang="en-US" smtClean="0"/>
            <a:t>Problem Solving Memo </a:t>
          </a:r>
          <a:endParaRPr lang="en-US"/>
        </a:p>
      </dgm:t>
    </dgm:pt>
    <dgm:pt modelId="{C1498F5D-9BB0-4B78-8258-CCF8E9A41F1D}" type="parTrans" cxnId="{83135F8B-B1D2-4547-BB9A-EEA111711EFE}">
      <dgm:prSet/>
      <dgm:spPr/>
      <dgm:t>
        <a:bodyPr/>
        <a:lstStyle/>
        <a:p>
          <a:endParaRPr lang="en-US"/>
        </a:p>
      </dgm:t>
    </dgm:pt>
    <dgm:pt modelId="{A7BDAF87-11DB-4A1C-9C3E-5CC564294874}" type="sibTrans" cxnId="{83135F8B-B1D2-4547-BB9A-EEA111711EFE}">
      <dgm:prSet/>
      <dgm:spPr/>
      <dgm:t>
        <a:bodyPr/>
        <a:lstStyle/>
        <a:p>
          <a:endParaRPr lang="en-US"/>
        </a:p>
      </dgm:t>
    </dgm:pt>
    <dgm:pt modelId="{6BF30E53-1B43-417E-85CC-558E70CE4A18}">
      <dgm:prSet/>
      <dgm:spPr/>
      <dgm:t>
        <a:bodyPr/>
        <a:lstStyle/>
        <a:p>
          <a:r>
            <a:rPr lang="en-US" smtClean="0"/>
            <a:t> Persuasion Memo</a:t>
          </a:r>
          <a:endParaRPr lang="en-US"/>
        </a:p>
      </dgm:t>
    </dgm:pt>
    <dgm:pt modelId="{A3B423D8-DCA7-4CEF-B6EA-A71CF9624B6B}" type="parTrans" cxnId="{C90D47DD-E374-48DA-B81A-7692B6530B95}">
      <dgm:prSet/>
      <dgm:spPr/>
      <dgm:t>
        <a:bodyPr/>
        <a:lstStyle/>
        <a:p>
          <a:endParaRPr lang="en-US"/>
        </a:p>
      </dgm:t>
    </dgm:pt>
    <dgm:pt modelId="{D9A1A96C-5DB1-456E-B15A-824B7D864E3B}" type="sibTrans" cxnId="{C90D47DD-E374-48DA-B81A-7692B6530B95}">
      <dgm:prSet/>
      <dgm:spPr/>
      <dgm:t>
        <a:bodyPr/>
        <a:lstStyle/>
        <a:p>
          <a:endParaRPr lang="en-US"/>
        </a:p>
      </dgm:t>
    </dgm:pt>
    <dgm:pt modelId="{5E1BC0B1-4FBA-4D58-8CEA-908685786CF3}">
      <dgm:prSet/>
      <dgm:spPr/>
      <dgm:t>
        <a:bodyPr/>
        <a:lstStyle/>
        <a:p>
          <a:r>
            <a:rPr lang="en-US" smtClean="0"/>
            <a:t>Internal Memo Proposal</a:t>
          </a:r>
          <a:endParaRPr lang="en-US"/>
        </a:p>
      </dgm:t>
    </dgm:pt>
    <dgm:pt modelId="{F0815C84-192C-4118-9704-37437E0A1634}" type="parTrans" cxnId="{B90A3F01-290F-4468-BA4C-D13AA9829BB0}">
      <dgm:prSet/>
      <dgm:spPr/>
      <dgm:t>
        <a:bodyPr/>
        <a:lstStyle/>
        <a:p>
          <a:endParaRPr lang="en-US"/>
        </a:p>
      </dgm:t>
    </dgm:pt>
    <dgm:pt modelId="{523BC25F-7F44-4B45-A47E-EB46181034CB}" type="sibTrans" cxnId="{B90A3F01-290F-4468-BA4C-D13AA9829BB0}">
      <dgm:prSet/>
      <dgm:spPr/>
      <dgm:t>
        <a:bodyPr/>
        <a:lstStyle/>
        <a:p>
          <a:endParaRPr lang="en-US"/>
        </a:p>
      </dgm:t>
    </dgm:pt>
    <dgm:pt modelId="{9EB70F21-2B2C-4307-9766-94EF5FD342F9}">
      <dgm:prSet/>
      <dgm:spPr/>
      <dgm:t>
        <a:bodyPr/>
        <a:lstStyle/>
        <a:p>
          <a:r>
            <a:rPr lang="en-US" smtClean="0"/>
            <a:t>Directive Memo </a:t>
          </a:r>
          <a:endParaRPr lang="en-US"/>
        </a:p>
      </dgm:t>
    </dgm:pt>
    <dgm:pt modelId="{1CEA3174-57C2-482C-8B6D-24B2B41DC9E2}" type="parTrans" cxnId="{A9F07145-6ADB-498C-80F1-D67D8303893F}">
      <dgm:prSet/>
      <dgm:spPr/>
      <dgm:t>
        <a:bodyPr/>
        <a:lstStyle/>
        <a:p>
          <a:endParaRPr lang="en-US"/>
        </a:p>
      </dgm:t>
    </dgm:pt>
    <dgm:pt modelId="{C645DF5A-1F16-4838-9865-667C79125A41}" type="sibTrans" cxnId="{A9F07145-6ADB-498C-80F1-D67D8303893F}">
      <dgm:prSet/>
      <dgm:spPr/>
      <dgm:t>
        <a:bodyPr/>
        <a:lstStyle/>
        <a:p>
          <a:endParaRPr lang="en-US"/>
        </a:p>
      </dgm:t>
    </dgm:pt>
    <dgm:pt modelId="{C4761875-F580-4B5F-A812-C7FC59919E99}">
      <dgm:prSet/>
      <dgm:spPr/>
      <dgm:t>
        <a:bodyPr/>
        <a:lstStyle/>
        <a:p>
          <a:r>
            <a:rPr lang="en-US" smtClean="0"/>
            <a:t>Response to an Inquiry Memo</a:t>
          </a:r>
          <a:endParaRPr lang="en-US"/>
        </a:p>
      </dgm:t>
    </dgm:pt>
    <dgm:pt modelId="{B5508DA9-91FE-41CF-9B23-12E6742B95AE}" type="parTrans" cxnId="{65508F46-E65F-483A-B5FA-BBB5AD29E5D9}">
      <dgm:prSet/>
      <dgm:spPr/>
      <dgm:t>
        <a:bodyPr/>
        <a:lstStyle/>
        <a:p>
          <a:endParaRPr lang="en-US"/>
        </a:p>
      </dgm:t>
    </dgm:pt>
    <dgm:pt modelId="{5AB60E2E-CA39-48F4-9DE7-8389F72A1629}" type="sibTrans" cxnId="{65508F46-E65F-483A-B5FA-BBB5AD29E5D9}">
      <dgm:prSet/>
      <dgm:spPr/>
      <dgm:t>
        <a:bodyPr/>
        <a:lstStyle/>
        <a:p>
          <a:endParaRPr lang="en-US"/>
        </a:p>
      </dgm:t>
    </dgm:pt>
    <dgm:pt modelId="{FC4B6BF9-2E0D-4E16-99D6-9614FCBDD07B}">
      <dgm:prSet/>
      <dgm:spPr/>
      <dgm:t>
        <a:bodyPr/>
        <a:lstStyle/>
        <a:p>
          <a:r>
            <a:rPr lang="en-US" smtClean="0"/>
            <a:t>Trip Report Memo</a:t>
          </a:r>
          <a:endParaRPr lang="en-US"/>
        </a:p>
      </dgm:t>
    </dgm:pt>
    <dgm:pt modelId="{990E1080-5F1A-447E-B899-ADD82842F0F5}" type="parTrans" cxnId="{3103BFE5-39EE-488F-BAB3-84AEB42BB890}">
      <dgm:prSet/>
      <dgm:spPr/>
      <dgm:t>
        <a:bodyPr/>
        <a:lstStyle/>
        <a:p>
          <a:endParaRPr lang="en-US"/>
        </a:p>
      </dgm:t>
    </dgm:pt>
    <dgm:pt modelId="{CAC4E814-E9CE-4682-82B9-0324F836C095}" type="sibTrans" cxnId="{3103BFE5-39EE-488F-BAB3-84AEB42BB890}">
      <dgm:prSet/>
      <dgm:spPr/>
      <dgm:t>
        <a:bodyPr/>
        <a:lstStyle/>
        <a:p>
          <a:endParaRPr lang="en-US"/>
        </a:p>
      </dgm:t>
    </dgm:pt>
    <dgm:pt modelId="{778B689A-6C11-4DC8-AD7D-6EEC63E8CE9C}">
      <dgm:prSet/>
      <dgm:spPr/>
      <dgm:t>
        <a:bodyPr/>
        <a:lstStyle/>
        <a:p>
          <a:r>
            <a:rPr lang="en-US" smtClean="0"/>
            <a:t>Field Report/Lab Report Memo </a:t>
          </a:r>
          <a:endParaRPr lang="en-US"/>
        </a:p>
      </dgm:t>
    </dgm:pt>
    <dgm:pt modelId="{3E9AA617-E2FC-4AD4-8FF2-DAE17A277AA3}" type="parTrans" cxnId="{467B02FE-B09F-4E46-BF69-D4D34F58BE06}">
      <dgm:prSet/>
      <dgm:spPr/>
      <dgm:t>
        <a:bodyPr/>
        <a:lstStyle/>
        <a:p>
          <a:endParaRPr lang="en-US"/>
        </a:p>
      </dgm:t>
    </dgm:pt>
    <dgm:pt modelId="{F1FE776B-6672-45DA-B7F6-92BE0D23B023}" type="sibTrans" cxnId="{467B02FE-B09F-4E46-BF69-D4D34F58BE06}">
      <dgm:prSet/>
      <dgm:spPr/>
      <dgm:t>
        <a:bodyPr/>
        <a:lstStyle/>
        <a:p>
          <a:endParaRPr lang="en-US"/>
        </a:p>
      </dgm:t>
    </dgm:pt>
    <dgm:pt modelId="{DBBEA65E-BEB4-499F-8E1A-A7CCE6D27C45}" type="pres">
      <dgm:prSet presAssocID="{472C0148-762E-422B-8BAB-64457AF2B1F1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C221532-93DF-4604-9B03-C522D3C4C5C7}" type="pres">
      <dgm:prSet presAssocID="{6BF30E53-1B43-417E-85CC-558E70CE4A18}" presName="node" presStyleLbl="node1" presStyleIdx="0" presStyleCnt="8" custLinFactX="100000" custLinFactNeighborX="118881" custLinFactNeighborY="20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5763124-044A-45CA-A254-B5964BF8EE2F}" type="pres">
      <dgm:prSet presAssocID="{D9A1A96C-5DB1-456E-B15A-824B7D864E3B}" presName="sibTrans" presStyleCnt="0"/>
      <dgm:spPr/>
    </dgm:pt>
    <dgm:pt modelId="{904BAD16-77DB-4A8D-82FE-F6647D911C7D}" type="pres">
      <dgm:prSet presAssocID="{1C4A2F56-83C0-4772-84F5-A1515342C8DC}" presName="node" presStyleLbl="node1" presStyleIdx="1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807F937-25AB-4399-8374-64DC2B773D14}" type="pres">
      <dgm:prSet presAssocID="{A7BDAF87-11DB-4A1C-9C3E-5CC564294874}" presName="sibTrans" presStyleCnt="0"/>
      <dgm:spPr/>
    </dgm:pt>
    <dgm:pt modelId="{1EE83CCC-5A4A-46C8-857D-55822C1DF1B2}" type="pres">
      <dgm:prSet presAssocID="{C4B5F0F5-F1F7-4348-9B5C-20419B53E464}" presName="node" presStyleLbl="node1" presStyleIdx="2" presStyleCnt="8" custLinFactX="-100000" custLinFactNeighborX="-132186" custLinFactNeighborY="20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222D94-BF7D-4721-960E-B6120176BF12}" type="pres">
      <dgm:prSet presAssocID="{7E4DB015-A51F-4F9D-B8A9-EF569DAF2BFB}" presName="sibTrans" presStyleCnt="0"/>
      <dgm:spPr/>
    </dgm:pt>
    <dgm:pt modelId="{5DA26A12-90FC-4DBB-B048-EBECBE41C1E9}" type="pres">
      <dgm:prSet presAssocID="{5E1BC0B1-4FBA-4D58-8CEA-908685786CF3}" presName="node" presStyleLbl="node1" presStyleIdx="3" presStyleCnt="8" custLinFactNeighborX="-12507" custLinFactNeighborY="6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8246AB-0287-48DC-961E-D98726AB2280}" type="pres">
      <dgm:prSet presAssocID="{523BC25F-7F44-4B45-A47E-EB46181034CB}" presName="sibTrans" presStyleCnt="0"/>
      <dgm:spPr/>
    </dgm:pt>
    <dgm:pt modelId="{25E09A4D-14F3-447A-BA38-25CC3AC81F4F}" type="pres">
      <dgm:prSet presAssocID="{9EB70F21-2B2C-4307-9766-94EF5FD342F9}" presName="node" presStyleLbl="node1" presStyleIdx="4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9E477ED-63A9-4DF9-90F0-D02DF56581E9}" type="pres">
      <dgm:prSet presAssocID="{C645DF5A-1F16-4838-9865-667C79125A41}" presName="sibTrans" presStyleCnt="0"/>
      <dgm:spPr/>
    </dgm:pt>
    <dgm:pt modelId="{6B5DB14E-D107-4833-BD04-E4F238318E62}" type="pres">
      <dgm:prSet presAssocID="{FC4B6BF9-2E0D-4E16-99D6-9614FCBDD07B}" presName="node" presStyleLbl="node1" presStyleIdx="5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5C6D8E9-ACC9-4253-A94A-54C6AE0940F2}" type="pres">
      <dgm:prSet presAssocID="{CAC4E814-E9CE-4682-82B9-0324F836C095}" presName="sibTrans" presStyleCnt="0"/>
      <dgm:spPr/>
    </dgm:pt>
    <dgm:pt modelId="{495AC258-5C8B-4442-9F98-B1851B3579B9}" type="pres">
      <dgm:prSet presAssocID="{C4761875-F580-4B5F-A812-C7FC59919E99}" presName="node" presStyleLbl="node1" presStyleIdx="6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64265C-79B3-4A21-8BBF-2166EBC6FB3D}" type="pres">
      <dgm:prSet presAssocID="{5AB60E2E-CA39-48F4-9DE7-8389F72A1629}" presName="sibTrans" presStyleCnt="0"/>
      <dgm:spPr/>
    </dgm:pt>
    <dgm:pt modelId="{29962EAE-C8A2-44A0-95FE-8004D439962E}" type="pres">
      <dgm:prSet presAssocID="{778B689A-6C11-4DC8-AD7D-6EEC63E8CE9C}" presName="node" presStyleLbl="node1" presStyleIdx="7" presStyleCnt="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67D83ED-8073-472C-B954-D333662EEDF8}" type="presOf" srcId="{778B689A-6C11-4DC8-AD7D-6EEC63E8CE9C}" destId="{29962EAE-C8A2-44A0-95FE-8004D439962E}" srcOrd="0" destOrd="0" presId="urn:microsoft.com/office/officeart/2005/8/layout/default"/>
    <dgm:cxn modelId="{ADA2DCC0-4B7F-47EA-935C-3411FE27AEFB}" type="presOf" srcId="{472C0148-762E-422B-8BAB-64457AF2B1F1}" destId="{DBBEA65E-BEB4-499F-8E1A-A7CCE6D27C45}" srcOrd="0" destOrd="0" presId="urn:microsoft.com/office/officeart/2005/8/layout/default"/>
    <dgm:cxn modelId="{83135F8B-B1D2-4547-BB9A-EEA111711EFE}" srcId="{472C0148-762E-422B-8BAB-64457AF2B1F1}" destId="{1C4A2F56-83C0-4772-84F5-A1515342C8DC}" srcOrd="1" destOrd="0" parTransId="{C1498F5D-9BB0-4B78-8258-CCF8E9A41F1D}" sibTransId="{A7BDAF87-11DB-4A1C-9C3E-5CC564294874}"/>
    <dgm:cxn modelId="{A9F07145-6ADB-498C-80F1-D67D8303893F}" srcId="{472C0148-762E-422B-8BAB-64457AF2B1F1}" destId="{9EB70F21-2B2C-4307-9766-94EF5FD342F9}" srcOrd="4" destOrd="0" parTransId="{1CEA3174-57C2-482C-8B6D-24B2B41DC9E2}" sibTransId="{C645DF5A-1F16-4838-9865-667C79125A41}"/>
    <dgm:cxn modelId="{467B02FE-B09F-4E46-BF69-D4D34F58BE06}" srcId="{472C0148-762E-422B-8BAB-64457AF2B1F1}" destId="{778B689A-6C11-4DC8-AD7D-6EEC63E8CE9C}" srcOrd="7" destOrd="0" parTransId="{3E9AA617-E2FC-4AD4-8FF2-DAE17A277AA3}" sibTransId="{F1FE776B-6672-45DA-B7F6-92BE0D23B023}"/>
    <dgm:cxn modelId="{7C1FD290-5AEC-49FE-8D07-0C1AC0DD2CA4}" type="presOf" srcId="{C4B5F0F5-F1F7-4348-9B5C-20419B53E464}" destId="{1EE83CCC-5A4A-46C8-857D-55822C1DF1B2}" srcOrd="0" destOrd="0" presId="urn:microsoft.com/office/officeart/2005/8/layout/default"/>
    <dgm:cxn modelId="{86AD0ACB-350B-49DE-82D9-BE64D0C35D08}" type="presOf" srcId="{6BF30E53-1B43-417E-85CC-558E70CE4A18}" destId="{DC221532-93DF-4604-9B03-C522D3C4C5C7}" srcOrd="0" destOrd="0" presId="urn:microsoft.com/office/officeart/2005/8/layout/default"/>
    <dgm:cxn modelId="{EC376151-409D-486A-8739-C2B4E3A84F70}" type="presOf" srcId="{FC4B6BF9-2E0D-4E16-99D6-9614FCBDD07B}" destId="{6B5DB14E-D107-4833-BD04-E4F238318E62}" srcOrd="0" destOrd="0" presId="urn:microsoft.com/office/officeart/2005/8/layout/default"/>
    <dgm:cxn modelId="{3103BFE5-39EE-488F-BAB3-84AEB42BB890}" srcId="{472C0148-762E-422B-8BAB-64457AF2B1F1}" destId="{FC4B6BF9-2E0D-4E16-99D6-9614FCBDD07B}" srcOrd="5" destOrd="0" parTransId="{990E1080-5F1A-447E-B899-ADD82842F0F5}" sibTransId="{CAC4E814-E9CE-4682-82B9-0324F836C095}"/>
    <dgm:cxn modelId="{B90A3F01-290F-4468-BA4C-D13AA9829BB0}" srcId="{472C0148-762E-422B-8BAB-64457AF2B1F1}" destId="{5E1BC0B1-4FBA-4D58-8CEA-908685786CF3}" srcOrd="3" destOrd="0" parTransId="{F0815C84-192C-4118-9704-37437E0A1634}" sibTransId="{523BC25F-7F44-4B45-A47E-EB46181034CB}"/>
    <dgm:cxn modelId="{65508F46-E65F-483A-B5FA-BBB5AD29E5D9}" srcId="{472C0148-762E-422B-8BAB-64457AF2B1F1}" destId="{C4761875-F580-4B5F-A812-C7FC59919E99}" srcOrd="6" destOrd="0" parTransId="{B5508DA9-91FE-41CF-9B23-12E6742B95AE}" sibTransId="{5AB60E2E-CA39-48F4-9DE7-8389F72A1629}"/>
    <dgm:cxn modelId="{C90D47DD-E374-48DA-B81A-7692B6530B95}" srcId="{472C0148-762E-422B-8BAB-64457AF2B1F1}" destId="{6BF30E53-1B43-417E-85CC-558E70CE4A18}" srcOrd="0" destOrd="0" parTransId="{A3B423D8-DCA7-4CEF-B6EA-A71CF9624B6B}" sibTransId="{D9A1A96C-5DB1-456E-B15A-824B7D864E3B}"/>
    <dgm:cxn modelId="{BC240396-3CAE-4A8F-9DB1-63AB85F4D446}" type="presOf" srcId="{5E1BC0B1-4FBA-4D58-8CEA-908685786CF3}" destId="{5DA26A12-90FC-4DBB-B048-EBECBE41C1E9}" srcOrd="0" destOrd="0" presId="urn:microsoft.com/office/officeart/2005/8/layout/default"/>
    <dgm:cxn modelId="{D13757C4-4651-48F5-849B-F4CB68A41496}" srcId="{472C0148-762E-422B-8BAB-64457AF2B1F1}" destId="{C4B5F0F5-F1F7-4348-9B5C-20419B53E464}" srcOrd="2" destOrd="0" parTransId="{9FDA427D-9E8D-40DB-98D5-E3D7BCEEDC50}" sibTransId="{7E4DB015-A51F-4F9D-B8A9-EF569DAF2BFB}"/>
    <dgm:cxn modelId="{7FAD665E-741C-48E9-836F-2E886249D3BC}" type="presOf" srcId="{1C4A2F56-83C0-4772-84F5-A1515342C8DC}" destId="{904BAD16-77DB-4A8D-82FE-F6647D911C7D}" srcOrd="0" destOrd="0" presId="urn:microsoft.com/office/officeart/2005/8/layout/default"/>
    <dgm:cxn modelId="{469F19E4-6643-4A82-BE68-EE70DDD6528F}" type="presOf" srcId="{9EB70F21-2B2C-4307-9766-94EF5FD342F9}" destId="{25E09A4D-14F3-447A-BA38-25CC3AC81F4F}" srcOrd="0" destOrd="0" presId="urn:microsoft.com/office/officeart/2005/8/layout/default"/>
    <dgm:cxn modelId="{40A9D04D-91C9-48A4-BF0A-7259D3725705}" type="presOf" srcId="{C4761875-F580-4B5F-A812-C7FC59919E99}" destId="{495AC258-5C8B-4442-9F98-B1851B3579B9}" srcOrd="0" destOrd="0" presId="urn:microsoft.com/office/officeart/2005/8/layout/default"/>
    <dgm:cxn modelId="{2F85E4DD-7A12-4052-A933-5A12E4E54198}" type="presParOf" srcId="{DBBEA65E-BEB4-499F-8E1A-A7CCE6D27C45}" destId="{DC221532-93DF-4604-9B03-C522D3C4C5C7}" srcOrd="0" destOrd="0" presId="urn:microsoft.com/office/officeart/2005/8/layout/default"/>
    <dgm:cxn modelId="{410B17DA-D976-4B46-90FB-F6D082E5F7A4}" type="presParOf" srcId="{DBBEA65E-BEB4-499F-8E1A-A7CCE6D27C45}" destId="{15763124-044A-45CA-A254-B5964BF8EE2F}" srcOrd="1" destOrd="0" presId="urn:microsoft.com/office/officeart/2005/8/layout/default"/>
    <dgm:cxn modelId="{A347A9B3-634B-46AA-988E-B07C8407578D}" type="presParOf" srcId="{DBBEA65E-BEB4-499F-8E1A-A7CCE6D27C45}" destId="{904BAD16-77DB-4A8D-82FE-F6647D911C7D}" srcOrd="2" destOrd="0" presId="urn:microsoft.com/office/officeart/2005/8/layout/default"/>
    <dgm:cxn modelId="{6545D718-2E83-448C-A5F4-5B4A12E51703}" type="presParOf" srcId="{DBBEA65E-BEB4-499F-8E1A-A7CCE6D27C45}" destId="{B807F937-25AB-4399-8374-64DC2B773D14}" srcOrd="3" destOrd="0" presId="urn:microsoft.com/office/officeart/2005/8/layout/default"/>
    <dgm:cxn modelId="{7002B94B-3BF7-4ECD-AEC7-D477A8DCC9C7}" type="presParOf" srcId="{DBBEA65E-BEB4-499F-8E1A-A7CCE6D27C45}" destId="{1EE83CCC-5A4A-46C8-857D-55822C1DF1B2}" srcOrd="4" destOrd="0" presId="urn:microsoft.com/office/officeart/2005/8/layout/default"/>
    <dgm:cxn modelId="{0A1B17B3-1A80-4181-A366-CA288E3AB906}" type="presParOf" srcId="{DBBEA65E-BEB4-499F-8E1A-A7CCE6D27C45}" destId="{03222D94-BF7D-4721-960E-B6120176BF12}" srcOrd="5" destOrd="0" presId="urn:microsoft.com/office/officeart/2005/8/layout/default"/>
    <dgm:cxn modelId="{993E108E-3C20-4DC6-8690-2A788F1CC69E}" type="presParOf" srcId="{DBBEA65E-BEB4-499F-8E1A-A7CCE6D27C45}" destId="{5DA26A12-90FC-4DBB-B048-EBECBE41C1E9}" srcOrd="6" destOrd="0" presId="urn:microsoft.com/office/officeart/2005/8/layout/default"/>
    <dgm:cxn modelId="{89B52900-9592-4554-8CFF-A991B91E0653}" type="presParOf" srcId="{DBBEA65E-BEB4-499F-8E1A-A7CCE6D27C45}" destId="{648246AB-0287-48DC-961E-D98726AB2280}" srcOrd="7" destOrd="0" presId="urn:microsoft.com/office/officeart/2005/8/layout/default"/>
    <dgm:cxn modelId="{1AC961F6-AF83-4811-A048-029C426E5590}" type="presParOf" srcId="{DBBEA65E-BEB4-499F-8E1A-A7CCE6D27C45}" destId="{25E09A4D-14F3-447A-BA38-25CC3AC81F4F}" srcOrd="8" destOrd="0" presId="urn:microsoft.com/office/officeart/2005/8/layout/default"/>
    <dgm:cxn modelId="{68A4E4A1-2433-433B-BEB4-1540608323D5}" type="presParOf" srcId="{DBBEA65E-BEB4-499F-8E1A-A7CCE6D27C45}" destId="{C9E477ED-63A9-4DF9-90F0-D02DF56581E9}" srcOrd="9" destOrd="0" presId="urn:microsoft.com/office/officeart/2005/8/layout/default"/>
    <dgm:cxn modelId="{B94B5A1C-AD24-435B-93DA-E05E4D9B9807}" type="presParOf" srcId="{DBBEA65E-BEB4-499F-8E1A-A7CCE6D27C45}" destId="{6B5DB14E-D107-4833-BD04-E4F238318E62}" srcOrd="10" destOrd="0" presId="urn:microsoft.com/office/officeart/2005/8/layout/default"/>
    <dgm:cxn modelId="{61894125-2FF8-4D3C-BD6A-7497548A24E6}" type="presParOf" srcId="{DBBEA65E-BEB4-499F-8E1A-A7CCE6D27C45}" destId="{05C6D8E9-ACC9-4253-A94A-54C6AE0940F2}" srcOrd="11" destOrd="0" presId="urn:microsoft.com/office/officeart/2005/8/layout/default"/>
    <dgm:cxn modelId="{959727AB-4EF6-4CF5-8550-2C393CF51E9D}" type="presParOf" srcId="{DBBEA65E-BEB4-499F-8E1A-A7CCE6D27C45}" destId="{495AC258-5C8B-4442-9F98-B1851B3579B9}" srcOrd="12" destOrd="0" presId="urn:microsoft.com/office/officeart/2005/8/layout/default"/>
    <dgm:cxn modelId="{12F2AEC9-759E-48D2-9D55-6B9DB69C0337}" type="presParOf" srcId="{DBBEA65E-BEB4-499F-8E1A-A7CCE6D27C45}" destId="{E464265C-79B3-4A21-8BBF-2166EBC6FB3D}" srcOrd="13" destOrd="0" presId="urn:microsoft.com/office/officeart/2005/8/layout/default"/>
    <dgm:cxn modelId="{47763543-F8CF-4F66-ABD7-D92C42524236}" type="presParOf" srcId="{DBBEA65E-BEB4-499F-8E1A-A7CCE6D27C45}" destId="{29962EAE-C8A2-44A0-95FE-8004D439962E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221532-93DF-4604-9B03-C522D3C4C5C7}">
      <dsp:nvSpPr>
        <dsp:cNvPr id="0" name=""/>
        <dsp:cNvSpPr/>
      </dsp:nvSpPr>
      <dsp:spPr>
        <a:xfrm>
          <a:off x="7853006" y="47747"/>
          <a:ext cx="3374226" cy="202453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smtClean="0"/>
            <a:t> Persuasion Memo</a:t>
          </a:r>
          <a:endParaRPr lang="en-US" sz="4000" kern="1200"/>
        </a:p>
      </dsp:txBody>
      <dsp:txXfrm>
        <a:off x="7853006" y="47747"/>
        <a:ext cx="3374226" cy="2024536"/>
      </dsp:txXfrm>
    </dsp:sp>
    <dsp:sp modelId="{904BAD16-77DB-4A8D-82FE-F6647D911C7D}">
      <dsp:nvSpPr>
        <dsp:cNvPr id="0" name=""/>
        <dsp:cNvSpPr/>
      </dsp:nvSpPr>
      <dsp:spPr>
        <a:xfrm>
          <a:off x="4179114" y="5536"/>
          <a:ext cx="3374226" cy="202453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smtClean="0"/>
            <a:t>Problem Solving Memo </a:t>
          </a:r>
          <a:endParaRPr lang="en-US" sz="4000" kern="1200"/>
        </a:p>
      </dsp:txBody>
      <dsp:txXfrm>
        <a:off x="4179114" y="5536"/>
        <a:ext cx="3374226" cy="2024536"/>
      </dsp:txXfrm>
    </dsp:sp>
    <dsp:sp modelId="{1EE83CCC-5A4A-46C8-857D-55822C1DF1B2}">
      <dsp:nvSpPr>
        <dsp:cNvPr id="0" name=""/>
        <dsp:cNvSpPr/>
      </dsp:nvSpPr>
      <dsp:spPr>
        <a:xfrm>
          <a:off x="56281" y="47747"/>
          <a:ext cx="3374226" cy="202453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smtClean="0"/>
            <a:t>Information Memo</a:t>
          </a:r>
          <a:endParaRPr lang="en-US" sz="4000" kern="1200"/>
        </a:p>
      </dsp:txBody>
      <dsp:txXfrm>
        <a:off x="56281" y="47747"/>
        <a:ext cx="3374226" cy="2024536"/>
      </dsp:txXfrm>
    </dsp:sp>
    <dsp:sp modelId="{5DA26A12-90FC-4DBB-B048-EBECBE41C1E9}">
      <dsp:nvSpPr>
        <dsp:cNvPr id="0" name=""/>
        <dsp:cNvSpPr/>
      </dsp:nvSpPr>
      <dsp:spPr>
        <a:xfrm>
          <a:off x="45450" y="2381565"/>
          <a:ext cx="3374226" cy="202453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smtClean="0"/>
            <a:t>Internal Memo Proposal</a:t>
          </a:r>
          <a:endParaRPr lang="en-US" sz="4000" kern="1200"/>
        </a:p>
      </dsp:txBody>
      <dsp:txXfrm>
        <a:off x="45450" y="2381565"/>
        <a:ext cx="3374226" cy="2024536"/>
      </dsp:txXfrm>
    </dsp:sp>
    <dsp:sp modelId="{25E09A4D-14F3-447A-BA38-25CC3AC81F4F}">
      <dsp:nvSpPr>
        <dsp:cNvPr id="0" name=""/>
        <dsp:cNvSpPr/>
      </dsp:nvSpPr>
      <dsp:spPr>
        <a:xfrm>
          <a:off x="4179114" y="2367494"/>
          <a:ext cx="3374226" cy="202453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smtClean="0"/>
            <a:t>Directive Memo </a:t>
          </a:r>
          <a:endParaRPr lang="en-US" sz="4000" kern="1200"/>
        </a:p>
      </dsp:txBody>
      <dsp:txXfrm>
        <a:off x="4179114" y="2367494"/>
        <a:ext cx="3374226" cy="2024536"/>
      </dsp:txXfrm>
    </dsp:sp>
    <dsp:sp modelId="{6B5DB14E-D107-4833-BD04-E4F238318E62}">
      <dsp:nvSpPr>
        <dsp:cNvPr id="0" name=""/>
        <dsp:cNvSpPr/>
      </dsp:nvSpPr>
      <dsp:spPr>
        <a:xfrm>
          <a:off x="7890764" y="2367494"/>
          <a:ext cx="3374226" cy="202453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smtClean="0"/>
            <a:t>Trip Report Memo</a:t>
          </a:r>
          <a:endParaRPr lang="en-US" sz="4000" kern="1200"/>
        </a:p>
      </dsp:txBody>
      <dsp:txXfrm>
        <a:off x="7890764" y="2367494"/>
        <a:ext cx="3374226" cy="2024536"/>
      </dsp:txXfrm>
    </dsp:sp>
    <dsp:sp modelId="{495AC258-5C8B-4442-9F98-B1851B3579B9}">
      <dsp:nvSpPr>
        <dsp:cNvPr id="0" name=""/>
        <dsp:cNvSpPr/>
      </dsp:nvSpPr>
      <dsp:spPr>
        <a:xfrm>
          <a:off x="2323289" y="4729453"/>
          <a:ext cx="3374226" cy="202453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smtClean="0"/>
            <a:t>Response to an Inquiry Memo</a:t>
          </a:r>
          <a:endParaRPr lang="en-US" sz="4000" kern="1200"/>
        </a:p>
      </dsp:txBody>
      <dsp:txXfrm>
        <a:off x="2323289" y="4729453"/>
        <a:ext cx="3374226" cy="2024536"/>
      </dsp:txXfrm>
    </dsp:sp>
    <dsp:sp modelId="{29962EAE-C8A2-44A0-95FE-8004D439962E}">
      <dsp:nvSpPr>
        <dsp:cNvPr id="0" name=""/>
        <dsp:cNvSpPr/>
      </dsp:nvSpPr>
      <dsp:spPr>
        <a:xfrm>
          <a:off x="6034939" y="4729453"/>
          <a:ext cx="3374226" cy="202453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smtClean="0"/>
            <a:t>Field Report/Lab Report Memo </a:t>
          </a:r>
          <a:endParaRPr lang="en-US" sz="4000" kern="1200"/>
        </a:p>
      </dsp:txBody>
      <dsp:txXfrm>
        <a:off x="6034939" y="4729453"/>
        <a:ext cx="3374226" cy="20245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1C6BC-4EB9-4C33-A574-160CCFE533BE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BC0A-D961-4D7E-91DC-994DDB747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511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1C6BC-4EB9-4C33-A574-160CCFE533BE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BC0A-D961-4D7E-91DC-994DDB747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624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1C6BC-4EB9-4C33-A574-160CCFE533BE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BC0A-D961-4D7E-91DC-994DDB747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829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1C6BC-4EB9-4C33-A574-160CCFE533BE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BC0A-D961-4D7E-91DC-994DDB747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184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1C6BC-4EB9-4C33-A574-160CCFE533BE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BC0A-D961-4D7E-91DC-994DDB747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602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1C6BC-4EB9-4C33-A574-160CCFE533BE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BC0A-D961-4D7E-91DC-994DDB747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38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1C6BC-4EB9-4C33-A574-160CCFE533BE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BC0A-D961-4D7E-91DC-994DDB747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997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1C6BC-4EB9-4C33-A574-160CCFE533BE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BC0A-D961-4D7E-91DC-994DDB747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428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1C6BC-4EB9-4C33-A574-160CCFE533BE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BC0A-D961-4D7E-91DC-994DDB747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532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1C6BC-4EB9-4C33-A574-160CCFE533BE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BC0A-D961-4D7E-91DC-994DDB747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63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71C6BC-4EB9-4C33-A574-160CCFE533BE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5BC0A-D961-4D7E-91DC-994DDB747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266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71C6BC-4EB9-4C33-A574-160CCFE533BE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5BC0A-D961-4D7E-91DC-994DDB747B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198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938289"/>
            <a:ext cx="12070080" cy="2387600"/>
          </a:xfrm>
          <a:solidFill>
            <a:srgbClr val="FFFF00"/>
          </a:solidFill>
        </p:spPr>
        <p:txBody>
          <a:bodyPr>
            <a:normAutofit/>
          </a:bodyPr>
          <a:lstStyle/>
          <a:p>
            <a:r>
              <a:rPr lang="en-US" sz="8000" dirty="0">
                <a:latin typeface="Algerian" panose="04020705040A02060702" pitchFamily="82" charset="0"/>
              </a:rPr>
              <a:t>Types of Memorandum</a:t>
            </a:r>
          </a:p>
        </p:txBody>
      </p:sp>
    </p:spTree>
    <p:extLst>
      <p:ext uri="{BB962C8B-B14F-4D97-AF65-F5344CB8AC3E}">
        <p14:creationId xmlns:p14="http://schemas.microsoft.com/office/powerpoint/2010/main" val="1734764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587582103"/>
              </p:ext>
            </p:extLst>
          </p:nvPr>
        </p:nvGraphicFramePr>
        <p:xfrm>
          <a:off x="309489" y="98474"/>
          <a:ext cx="11732456" cy="67595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8948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FFC000"/>
          </a:solidFill>
        </p:spPr>
        <p:txBody>
          <a:bodyPr>
            <a:normAutofit/>
          </a:bodyPr>
          <a:lstStyle/>
          <a:p>
            <a:pPr algn="ctr"/>
            <a:r>
              <a:rPr lang="en-US" sz="6600" dirty="0"/>
              <a:t>Information Memo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25562"/>
            <a:ext cx="12192000" cy="5426929"/>
          </a:xfrm>
          <a:blipFill>
            <a:blip r:embed="rId2"/>
            <a:tile tx="0" ty="0" sx="100000" sy="100000" flip="none" algn="tl"/>
          </a:blip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Information memo is used to deliver or request information or assistance. </a:t>
            </a:r>
          </a:p>
          <a:p>
            <a:pPr marL="0" indent="0">
              <a:buNone/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Structure:</a:t>
            </a:r>
            <a:r>
              <a:rPr lang="en-US" sz="4000" dirty="0"/>
              <a:t> </a:t>
            </a:r>
          </a:p>
          <a:p>
            <a:r>
              <a:rPr lang="en-US" sz="4000" dirty="0" smtClean="0"/>
              <a:t>First </a:t>
            </a:r>
            <a:r>
              <a:rPr lang="en-US" sz="4000" dirty="0"/>
              <a:t>part provides main idea. </a:t>
            </a:r>
          </a:p>
          <a:p>
            <a:r>
              <a:rPr lang="en-US" sz="4000" dirty="0" smtClean="0"/>
              <a:t>Second </a:t>
            </a:r>
            <a:r>
              <a:rPr lang="en-US" sz="4000" dirty="0"/>
              <a:t>part expands on the details. </a:t>
            </a:r>
          </a:p>
          <a:p>
            <a:r>
              <a:rPr lang="en-US" sz="4000" dirty="0" smtClean="0"/>
              <a:t>Third </a:t>
            </a:r>
            <a:r>
              <a:rPr lang="en-US" sz="4000" dirty="0"/>
              <a:t>part outlines the action required. </a:t>
            </a:r>
          </a:p>
        </p:txBody>
      </p:sp>
    </p:spTree>
    <p:extLst>
      <p:ext uri="{BB962C8B-B14F-4D97-AF65-F5344CB8AC3E}">
        <p14:creationId xmlns:p14="http://schemas.microsoft.com/office/powerpoint/2010/main" val="3773105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880"/>
            <a:ext cx="11957538" cy="656961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b="1" i="1" dirty="0"/>
              <a:t>To:</a:t>
            </a:r>
            <a:r>
              <a:rPr lang="en-US" i="1" dirty="0"/>
              <a:t> All employees in the procurement </a:t>
            </a:r>
            <a:r>
              <a:rPr lang="en-US" i="1" dirty="0" smtClean="0"/>
              <a:t>department</a:t>
            </a:r>
          </a:p>
          <a:p>
            <a:pPr marL="0" indent="0" algn="just">
              <a:buNone/>
            </a:pPr>
            <a:r>
              <a:rPr lang="en-US" b="1" i="1" dirty="0" smtClean="0"/>
              <a:t>From</a:t>
            </a:r>
            <a:r>
              <a:rPr lang="en-US" b="1" i="1" dirty="0"/>
              <a:t>:</a:t>
            </a:r>
            <a:r>
              <a:rPr lang="en-US" i="1" dirty="0"/>
              <a:t> Barry Buttonwood, Assistant Manager, Staff Training and </a:t>
            </a:r>
            <a:r>
              <a:rPr lang="en-US" i="1" dirty="0" smtClean="0"/>
              <a:t>Development</a:t>
            </a:r>
          </a:p>
          <a:p>
            <a:pPr marL="0" indent="0" algn="just">
              <a:buNone/>
            </a:pPr>
            <a:r>
              <a:rPr lang="en-US" b="1" i="1" dirty="0" smtClean="0"/>
              <a:t>Date</a:t>
            </a:r>
            <a:r>
              <a:rPr lang="en-US" b="1" i="1" dirty="0"/>
              <a:t>:</a:t>
            </a:r>
            <a:r>
              <a:rPr lang="en-US" i="1" dirty="0"/>
              <a:t> August 22, </a:t>
            </a:r>
            <a:r>
              <a:rPr lang="en-US" i="1" dirty="0" smtClean="0"/>
              <a:t>2020</a:t>
            </a:r>
          </a:p>
          <a:p>
            <a:pPr marL="0" indent="0" algn="just">
              <a:buNone/>
            </a:pPr>
            <a:r>
              <a:rPr lang="en-US" b="1" i="1" dirty="0" smtClean="0"/>
              <a:t>Subject</a:t>
            </a:r>
            <a:r>
              <a:rPr lang="en-US" b="1" i="1" dirty="0"/>
              <a:t>:</a:t>
            </a:r>
            <a:r>
              <a:rPr lang="en-US" i="1" dirty="0"/>
              <a:t> Mandatory training for new </a:t>
            </a:r>
            <a:r>
              <a:rPr lang="en-US" i="1" dirty="0" smtClean="0"/>
              <a:t>software</a:t>
            </a:r>
          </a:p>
          <a:p>
            <a:pPr marL="0" indent="0" algn="just">
              <a:buNone/>
            </a:pPr>
            <a:r>
              <a:rPr lang="en-US" i="1" dirty="0" smtClean="0"/>
              <a:t>You </a:t>
            </a:r>
            <a:r>
              <a:rPr lang="en-US" i="1" dirty="0"/>
              <a:t>are all aware of the company's recent adoption of a new </a:t>
            </a:r>
            <a:r>
              <a:rPr lang="en-US" dirty="0"/>
              <a:t>supply chain management </a:t>
            </a:r>
            <a:r>
              <a:rPr lang="en-US" i="1" dirty="0"/>
              <a:t>software. The company invested in the new application to improve communication with our vendors, enhance order tracking and reduce delays to the barest minimum to save cost and boost efficiency</a:t>
            </a:r>
            <a:r>
              <a:rPr lang="en-US" i="1" dirty="0" smtClean="0"/>
              <a:t>.</a:t>
            </a:r>
          </a:p>
          <a:p>
            <a:pPr marL="0" indent="0" algn="just">
              <a:buNone/>
            </a:pPr>
            <a:r>
              <a:rPr lang="en-US" i="1" dirty="0" smtClean="0"/>
              <a:t>We </a:t>
            </a:r>
            <a:r>
              <a:rPr lang="en-US" i="1" dirty="0"/>
              <a:t>will hold a training workshop to familiarize department staff with the new software on August 25, 2018. We hope this training will allow everyone to make a smooth transition to the new application. All departmental staff must attend the training event.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007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150" y="109341"/>
            <a:ext cx="11816861" cy="1325563"/>
          </a:xfrm>
          <a:solidFill>
            <a:srgbClr val="FFFF00"/>
          </a:solidFill>
        </p:spPr>
        <p:txBody>
          <a:bodyPr/>
          <a:lstStyle/>
          <a:p>
            <a:pPr algn="ctr"/>
            <a:r>
              <a:rPr lang="en-US" dirty="0"/>
              <a:t> </a:t>
            </a:r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Solving Memo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151" y="1434904"/>
            <a:ext cx="11816861" cy="5176911"/>
          </a:xfrm>
          <a:solidFill>
            <a:srgbClr val="FFC000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/>
              <a:t>This type of memo suggests a specific action to improve a situation</a:t>
            </a:r>
            <a:r>
              <a:rPr lang="en-US" sz="4000" dirty="0" smtClean="0"/>
              <a:t>.</a:t>
            </a:r>
          </a:p>
          <a:p>
            <a:pPr marL="0" indent="0">
              <a:buNone/>
            </a:pPr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</a:t>
            </a: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</a:t>
            </a:r>
          </a:p>
          <a:p>
            <a:pPr algn="just"/>
            <a:r>
              <a:rPr lang="en-US" sz="3200" dirty="0" smtClean="0"/>
              <a:t>First </a:t>
            </a:r>
            <a:r>
              <a:rPr lang="en-US" sz="3200" dirty="0"/>
              <a:t>part states the problem and gets right to it. </a:t>
            </a:r>
          </a:p>
          <a:p>
            <a:pPr algn="just"/>
            <a:r>
              <a:rPr lang="en-US" sz="3200" dirty="0" smtClean="0"/>
              <a:t>Second </a:t>
            </a:r>
            <a:r>
              <a:rPr lang="en-US" sz="3200" dirty="0"/>
              <a:t>part analyzes the problem with details pertaining to who and what is affected by the </a:t>
            </a:r>
            <a:r>
              <a:rPr lang="en-US" sz="3200" dirty="0" smtClean="0"/>
              <a:t>problem</a:t>
            </a:r>
            <a:r>
              <a:rPr lang="en-US" sz="3200" dirty="0"/>
              <a:t>. </a:t>
            </a:r>
          </a:p>
          <a:p>
            <a:pPr algn="just"/>
            <a:r>
              <a:rPr lang="en-US" sz="3200" dirty="0" smtClean="0"/>
              <a:t>Third </a:t>
            </a:r>
            <a:r>
              <a:rPr lang="en-US" sz="3200" dirty="0"/>
              <a:t>part makes a recommendation. When making a recommendation, include not only the </a:t>
            </a:r>
            <a:r>
              <a:rPr lang="en-US" sz="3200" dirty="0" smtClean="0"/>
              <a:t>positive </a:t>
            </a:r>
            <a:r>
              <a:rPr lang="en-US" sz="3200" dirty="0"/>
              <a:t>details but also the drawbacks and diffuse them yourself to minimize the problem. </a:t>
            </a:r>
          </a:p>
        </p:txBody>
      </p:sp>
    </p:spTree>
    <p:extLst>
      <p:ext uri="{BB962C8B-B14F-4D97-AF65-F5344CB8AC3E}">
        <p14:creationId xmlns:p14="http://schemas.microsoft.com/office/powerpoint/2010/main" val="2392686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532"/>
            <a:ext cx="11854375" cy="6442080"/>
          </a:xfrm>
        </p:spPr>
      </p:pic>
    </p:spTree>
    <p:extLst>
      <p:ext uri="{BB962C8B-B14F-4D97-AF65-F5344CB8AC3E}">
        <p14:creationId xmlns:p14="http://schemas.microsoft.com/office/powerpoint/2010/main" val="2310114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86" y="548640"/>
            <a:ext cx="11605845" cy="5628323"/>
          </a:xfrm>
        </p:spPr>
      </p:pic>
    </p:spTree>
    <p:extLst>
      <p:ext uri="{BB962C8B-B14F-4D97-AF65-F5344CB8AC3E}">
        <p14:creationId xmlns:p14="http://schemas.microsoft.com/office/powerpoint/2010/main" val="3693995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" y="0"/>
            <a:ext cx="12070080" cy="1325563"/>
          </a:xfrm>
          <a:solidFill>
            <a:srgbClr val="FFC000"/>
          </a:solidFill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Persuasion Memo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825624"/>
            <a:ext cx="12192000" cy="4926867"/>
          </a:xfrm>
        </p:spPr>
        <p:txBody>
          <a:bodyPr>
            <a:noAutofit/>
          </a:bodyPr>
          <a:lstStyle/>
          <a:p>
            <a:r>
              <a:rPr lang="en-US" sz="3200" dirty="0"/>
              <a:t>Persuasion memo is used to encourage the reader to cooperate in a desired action. </a:t>
            </a:r>
          </a:p>
          <a:p>
            <a:pPr marL="0" indent="0">
              <a:buNone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Structure: </a:t>
            </a:r>
          </a:p>
          <a:p>
            <a:r>
              <a:rPr lang="en-US" sz="3200" dirty="0" smtClean="0"/>
              <a:t>First </a:t>
            </a:r>
            <a:r>
              <a:rPr lang="en-US" sz="3200" dirty="0"/>
              <a:t>part begins with an agreeable point </a:t>
            </a:r>
          </a:p>
          <a:p>
            <a:r>
              <a:rPr lang="en-US" sz="3200" dirty="0" smtClean="0"/>
              <a:t>Second </a:t>
            </a:r>
            <a:r>
              <a:rPr lang="en-US" sz="3200" dirty="0"/>
              <a:t>part introduces the </a:t>
            </a:r>
            <a:r>
              <a:rPr lang="en-US" sz="3200" dirty="0" smtClean="0"/>
              <a:t>idea</a:t>
            </a:r>
          </a:p>
          <a:p>
            <a:r>
              <a:rPr lang="en-US" sz="3200" dirty="0" smtClean="0"/>
              <a:t>Third </a:t>
            </a:r>
            <a:r>
              <a:rPr lang="en-US" sz="3200" dirty="0"/>
              <a:t>part states benefit to the reader </a:t>
            </a:r>
          </a:p>
          <a:p>
            <a:r>
              <a:rPr lang="en-US" sz="3200" dirty="0" smtClean="0"/>
              <a:t>Fourth </a:t>
            </a:r>
            <a:r>
              <a:rPr lang="en-US" sz="3200" dirty="0"/>
              <a:t>part outlines the action required </a:t>
            </a:r>
          </a:p>
          <a:p>
            <a:r>
              <a:rPr lang="en-US" sz="3200" dirty="0" smtClean="0"/>
              <a:t>Final </a:t>
            </a:r>
            <a:r>
              <a:rPr lang="en-US" sz="3200" dirty="0"/>
              <a:t>part ends with a call to action </a:t>
            </a:r>
          </a:p>
        </p:txBody>
      </p:sp>
    </p:spTree>
    <p:extLst>
      <p:ext uri="{BB962C8B-B14F-4D97-AF65-F5344CB8AC3E}">
        <p14:creationId xmlns:p14="http://schemas.microsoft.com/office/powerpoint/2010/main" val="4109843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ersuasive Memo Example - To: FRONT Board of Directors From ..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00150" y="-281354"/>
            <a:ext cx="14592300" cy="9330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6937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325563"/>
          </a:xfrm>
          <a:solidFill>
            <a:srgbClr val="FFC000"/>
          </a:solidFill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Internal Proposal Memo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25563"/>
            <a:ext cx="1219199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Such a memo is used to convey suggestions to senior management. </a:t>
            </a:r>
          </a:p>
          <a:p>
            <a:pPr marL="0" indent="0">
              <a:buNone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Structure: </a:t>
            </a:r>
          </a:p>
          <a:p>
            <a:r>
              <a:rPr lang="en-US" sz="3200" dirty="0" smtClean="0"/>
              <a:t>First </a:t>
            </a:r>
            <a:r>
              <a:rPr lang="en-US" sz="3200" dirty="0"/>
              <a:t>part states reason for writing </a:t>
            </a:r>
          </a:p>
          <a:p>
            <a:r>
              <a:rPr lang="en-US" sz="3200" dirty="0" smtClean="0"/>
              <a:t>Second </a:t>
            </a:r>
            <a:r>
              <a:rPr lang="en-US" sz="3200" dirty="0"/>
              <a:t>part outlines present situation and states writer's proposal </a:t>
            </a:r>
          </a:p>
          <a:p>
            <a:r>
              <a:rPr lang="en-US" sz="3200" dirty="0" smtClean="0"/>
              <a:t>Third </a:t>
            </a:r>
            <a:r>
              <a:rPr lang="en-US" sz="3200" dirty="0"/>
              <a:t>part describes advantage(s) </a:t>
            </a:r>
          </a:p>
          <a:p>
            <a:r>
              <a:rPr lang="en-US" sz="3200" dirty="0" smtClean="0"/>
              <a:t>Fourth </a:t>
            </a:r>
            <a:r>
              <a:rPr lang="en-US" sz="3200" dirty="0"/>
              <a:t>part mentions and diffuses disadvantage(s) </a:t>
            </a:r>
          </a:p>
          <a:p>
            <a:r>
              <a:rPr lang="en-US" sz="3200" dirty="0" smtClean="0"/>
              <a:t>Fifth </a:t>
            </a:r>
            <a:r>
              <a:rPr lang="en-US" sz="3200" dirty="0"/>
              <a:t>part ends with a call to action </a:t>
            </a:r>
          </a:p>
        </p:txBody>
      </p:sp>
    </p:spTree>
    <p:extLst>
      <p:ext uri="{BB962C8B-B14F-4D97-AF65-F5344CB8AC3E}">
        <p14:creationId xmlns:p14="http://schemas.microsoft.com/office/powerpoint/2010/main" val="963357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FFFF00"/>
          </a:solidFill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Directive Memo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221" y="1325563"/>
            <a:ext cx="12107779" cy="4351338"/>
          </a:xfrm>
        </p:spPr>
        <p:txBody>
          <a:bodyPr>
            <a:normAutofit/>
          </a:bodyPr>
          <a:lstStyle/>
          <a:p>
            <a:r>
              <a:rPr lang="en-US" dirty="0"/>
              <a:t>A directive memo states a policy or procedure you want the reader or co-worker to follow. </a:t>
            </a:r>
            <a:endParaRPr lang="en-US" dirty="0" smtClean="0"/>
          </a:p>
          <a:p>
            <a:pPr marL="0" indent="0">
              <a:buNone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Structure: </a:t>
            </a:r>
          </a:p>
          <a:p>
            <a:pPr algn="just"/>
            <a:r>
              <a:rPr lang="en-US" dirty="0" smtClean="0"/>
              <a:t>Length </a:t>
            </a:r>
            <a:r>
              <a:rPr lang="en-US" dirty="0"/>
              <a:t>depends on space required for explanation. This is determined by nature of the audiences. </a:t>
            </a:r>
          </a:p>
          <a:p>
            <a:pPr algn="just"/>
            <a:r>
              <a:rPr lang="en-US" dirty="0" smtClean="0"/>
              <a:t>The </a:t>
            </a:r>
            <a:r>
              <a:rPr lang="en-US" dirty="0"/>
              <a:t>memo should begin with a clear and concise statement of purpose. </a:t>
            </a:r>
            <a:endParaRPr lang="en-US" dirty="0" smtClean="0"/>
          </a:p>
          <a:p>
            <a:pPr algn="just"/>
            <a:r>
              <a:rPr lang="en-US" dirty="0" smtClean="0"/>
              <a:t>Example</a:t>
            </a:r>
            <a:r>
              <a:rPr lang="en-US" dirty="0"/>
              <a:t>: The purpose of </a:t>
            </a:r>
            <a:r>
              <a:rPr lang="en-US" dirty="0" smtClean="0"/>
              <a:t>this </a:t>
            </a:r>
            <a:r>
              <a:rPr lang="en-US" dirty="0"/>
              <a:t>memo is to let all members of the ABC Department know that doughnuts will be provided </a:t>
            </a:r>
            <a:r>
              <a:rPr lang="en-US" dirty="0" smtClean="0"/>
              <a:t>every </a:t>
            </a:r>
            <a:r>
              <a:rPr lang="en-US" dirty="0"/>
              <a:t>Friday morning at 9:00 AM. </a:t>
            </a:r>
          </a:p>
          <a:p>
            <a:pPr algn="just"/>
            <a:r>
              <a:rPr lang="en-US" dirty="0" smtClean="0"/>
              <a:t>Purpose </a:t>
            </a:r>
            <a:r>
              <a:rPr lang="en-US" dirty="0"/>
              <a:t>is followed by statements providing a rationale.</a:t>
            </a:r>
          </a:p>
        </p:txBody>
      </p:sp>
    </p:spTree>
    <p:extLst>
      <p:ext uri="{BB962C8B-B14F-4D97-AF65-F5344CB8AC3E}">
        <p14:creationId xmlns:p14="http://schemas.microsoft.com/office/powerpoint/2010/main" val="2055818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0"/>
            <a:ext cx="13010147" cy="8614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0153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  <a:solidFill>
            <a:srgbClr val="FFC000"/>
          </a:solidFill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Response to an Inquiry Memo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295" y="1825624"/>
            <a:ext cx="12079705" cy="5032375"/>
          </a:xfrm>
        </p:spPr>
        <p:txBody>
          <a:bodyPr>
            <a:normAutofit lnSpcReduction="10000"/>
          </a:bodyPr>
          <a:lstStyle/>
          <a:p>
            <a:pPr algn="justLow"/>
            <a:r>
              <a:rPr lang="en-US" sz="3200" dirty="0"/>
              <a:t>The purpose of this memo is to provide the audience with desired information. </a:t>
            </a:r>
          </a:p>
          <a:p>
            <a:pPr algn="justLow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Structure: </a:t>
            </a:r>
            <a:endParaRPr lang="en-US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algn="justLow">
              <a:buNone/>
            </a:pPr>
            <a:r>
              <a:rPr lang="en-US" sz="3200" dirty="0" smtClean="0"/>
              <a:t>First </a:t>
            </a:r>
            <a:r>
              <a:rPr lang="en-US" sz="3200" dirty="0"/>
              <a:t>part states purpose statement, which is to respond to a request. </a:t>
            </a:r>
          </a:p>
          <a:p>
            <a:pPr marL="0" indent="0" algn="justLow">
              <a:buNone/>
            </a:pPr>
            <a:r>
              <a:rPr lang="en-US" sz="3200" dirty="0" smtClean="0"/>
              <a:t>Second </a:t>
            </a:r>
            <a:r>
              <a:rPr lang="en-US" sz="3200" dirty="0"/>
              <a:t>part summarizes the requested information. </a:t>
            </a:r>
          </a:p>
          <a:p>
            <a:pPr marL="0" indent="0" algn="justLow">
              <a:buNone/>
            </a:pPr>
            <a:r>
              <a:rPr lang="en-US" sz="3200" dirty="0" smtClean="0"/>
              <a:t>Third </a:t>
            </a:r>
            <a:r>
              <a:rPr lang="en-US" sz="3200" dirty="0"/>
              <a:t>part has a discussion, highlighting and emphasizing the important information. </a:t>
            </a:r>
          </a:p>
          <a:p>
            <a:pPr marL="0" indent="0" algn="justLow">
              <a:buNone/>
            </a:pPr>
            <a:r>
              <a:rPr lang="en-US" sz="3200" dirty="0" smtClean="0"/>
              <a:t>Final </a:t>
            </a:r>
            <a:r>
              <a:rPr lang="en-US" sz="3200" dirty="0"/>
              <a:t>part is call to action. </a:t>
            </a:r>
          </a:p>
          <a:p>
            <a:pPr algn="justLow"/>
            <a:r>
              <a:rPr lang="en-US" sz="3200" dirty="0"/>
              <a:t>Remember to state the additional action to be taken to rightly address the issue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7503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358" y="-1507958"/>
            <a:ext cx="11004883" cy="10716125"/>
          </a:xfrm>
        </p:spPr>
      </p:pic>
    </p:spTree>
    <p:extLst>
      <p:ext uri="{BB962C8B-B14F-4D97-AF65-F5344CB8AC3E}">
        <p14:creationId xmlns:p14="http://schemas.microsoft.com/office/powerpoint/2010/main" val="2751422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solidFill>
            <a:srgbClr val="FFC000"/>
          </a:solidFill>
        </p:spPr>
        <p:txBody>
          <a:bodyPr>
            <a:normAutofit/>
          </a:bodyPr>
          <a:lstStyle/>
          <a:p>
            <a:pPr algn="ctr"/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Trip Report Memo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79" y="1325563"/>
            <a:ext cx="11903242" cy="5181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In professional scenarios, a trip memo is used for a supervisor after an employee returns from a business </a:t>
            </a:r>
            <a:r>
              <a:rPr lang="en-US" sz="3200" dirty="0" smtClean="0"/>
              <a:t>venture.</a:t>
            </a:r>
          </a:p>
          <a:p>
            <a:pPr marL="0" indent="0">
              <a:buNone/>
            </a:pPr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Structure: </a:t>
            </a:r>
          </a:p>
          <a:p>
            <a:r>
              <a:rPr lang="en-US" sz="3200" dirty="0" smtClean="0"/>
              <a:t>First </a:t>
            </a:r>
            <a:r>
              <a:rPr lang="en-US" sz="3200" dirty="0"/>
              <a:t>part has statement of purposes, i.e., provides information on trip. </a:t>
            </a:r>
          </a:p>
          <a:p>
            <a:r>
              <a:rPr lang="en-US" sz="3200" dirty="0" smtClean="0"/>
              <a:t>Second </a:t>
            </a:r>
            <a:r>
              <a:rPr lang="en-US" sz="3200" dirty="0"/>
              <a:t>summarizes clearly and concisely (ideally!) outline of your trip. </a:t>
            </a:r>
          </a:p>
          <a:p>
            <a:r>
              <a:rPr lang="en-US" sz="3200" dirty="0" smtClean="0"/>
              <a:t>Third </a:t>
            </a:r>
            <a:r>
              <a:rPr lang="en-US" sz="3200" dirty="0"/>
              <a:t>part involves a discussion, which highlights and emphasizes important information. </a:t>
            </a:r>
          </a:p>
          <a:p>
            <a:r>
              <a:rPr lang="en-US" sz="3200" dirty="0" smtClean="0"/>
              <a:t>Final </a:t>
            </a:r>
            <a:r>
              <a:rPr lang="en-US" sz="3200" dirty="0"/>
              <a:t>part includes action to be taken to rightly address the issue.</a:t>
            </a:r>
          </a:p>
        </p:txBody>
      </p:sp>
    </p:spTree>
    <p:extLst>
      <p:ext uri="{BB962C8B-B14F-4D97-AF65-F5344CB8AC3E}">
        <p14:creationId xmlns:p14="http://schemas.microsoft.com/office/powerpoint/2010/main" val="3027287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338" y="176463"/>
            <a:ext cx="11839072" cy="1325563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en-US" dirty="0"/>
              <a:t> </a:t>
            </a:r>
            <a:r>
              <a:rPr lang="en-US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Field Report Memo 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337" y="1825624"/>
            <a:ext cx="11839073" cy="4879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Memos are often used to report on inspection and procedures. These memos, known as field or lab </a:t>
            </a:r>
            <a:r>
              <a:rPr lang="en-US" dirty="0" smtClean="0"/>
              <a:t>reports</a:t>
            </a:r>
            <a:r>
              <a:rPr lang="en-US" dirty="0"/>
              <a:t>, include the problem, methods, results, and conclusions, but spend less time on the methods </a:t>
            </a:r>
            <a:r>
              <a:rPr lang="en-US" dirty="0" smtClean="0"/>
              <a:t>section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sz="3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Structure:</a:t>
            </a:r>
          </a:p>
          <a:p>
            <a:r>
              <a:rPr lang="en-US" dirty="0" smtClean="0"/>
              <a:t>Naturally</a:t>
            </a:r>
            <a:r>
              <a:rPr lang="en-US" dirty="0"/>
              <a:t>, a field or report memo should begin with a purpose. This varies according to nature of work. </a:t>
            </a:r>
            <a:endParaRPr lang="en-US" dirty="0" smtClean="0"/>
          </a:p>
          <a:p>
            <a:r>
              <a:rPr lang="en-US" dirty="0" smtClean="0"/>
              <a:t>In the </a:t>
            </a:r>
            <a:r>
              <a:rPr lang="en-US" dirty="0"/>
              <a:t>next section, a summary of the complete memo should be provided. </a:t>
            </a:r>
            <a:endParaRPr lang="en-US" dirty="0" smtClean="0"/>
          </a:p>
          <a:p>
            <a:r>
              <a:rPr lang="en-US" dirty="0" smtClean="0"/>
              <a:t>Problem </a:t>
            </a:r>
            <a:r>
              <a:rPr lang="en-US" dirty="0"/>
              <a:t>leading to the decision </a:t>
            </a:r>
            <a:r>
              <a:rPr lang="en-US" dirty="0" smtClean="0"/>
              <a:t>to </a:t>
            </a:r>
            <a:r>
              <a:rPr lang="en-US" dirty="0"/>
              <a:t>perform the procedure is discussed next followed by methods, results, conclusions and </a:t>
            </a:r>
            <a:r>
              <a:rPr lang="en-US" dirty="0" smtClean="0"/>
              <a:t>recommendations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14898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FC000"/>
          </a:solidFill>
        </p:spPr>
        <p:txBody>
          <a:bodyPr/>
          <a:lstStyle/>
          <a:p>
            <a:pPr algn="ctr"/>
            <a:r>
              <a:rPr lang="en-US" sz="8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Assignment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Explain the Trip </a:t>
            </a: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Report Memo </a:t>
            </a:r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</a:t>
            </a:r>
            <a:r>
              <a:rPr 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Field Report </a:t>
            </a:r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 with examples  in the next class. </a:t>
            </a:r>
          </a:p>
          <a:p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 based assignment.  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6249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750</Words>
  <Application>Microsoft Office PowerPoint</Application>
  <PresentationFormat>Widescreen</PresentationFormat>
  <Paragraphs>74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Algerian</vt:lpstr>
      <vt:lpstr>Arial</vt:lpstr>
      <vt:lpstr>Calibri</vt:lpstr>
      <vt:lpstr>Calibri Light</vt:lpstr>
      <vt:lpstr>Office Theme</vt:lpstr>
      <vt:lpstr>Types of Memorandum</vt:lpstr>
      <vt:lpstr>PowerPoint Presentation</vt:lpstr>
      <vt:lpstr>Information Memo</vt:lpstr>
      <vt:lpstr>PowerPoint Presentation</vt:lpstr>
      <vt:lpstr> Problem Solving Memo</vt:lpstr>
      <vt:lpstr>PowerPoint Presentation</vt:lpstr>
      <vt:lpstr>PowerPoint Presentation</vt:lpstr>
      <vt:lpstr>Persuasion Memo</vt:lpstr>
      <vt:lpstr>PowerPoint Presentation</vt:lpstr>
      <vt:lpstr>Internal Proposal Memo</vt:lpstr>
      <vt:lpstr>Directive Memo </vt:lpstr>
      <vt:lpstr>PowerPoint Presentation</vt:lpstr>
      <vt:lpstr>Response to an Inquiry Memo </vt:lpstr>
      <vt:lpstr>PowerPoint Presentation</vt:lpstr>
      <vt:lpstr>Trip Report Memo </vt:lpstr>
      <vt:lpstr> Field Report Memo </vt:lpstr>
      <vt:lpstr>Assignment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Tab &amp; Tech</dc:creator>
  <cp:lastModifiedBy>Tab &amp; Tech</cp:lastModifiedBy>
  <cp:revision>12</cp:revision>
  <dcterms:created xsi:type="dcterms:W3CDTF">2025-04-12T22:48:29Z</dcterms:created>
  <dcterms:modified xsi:type="dcterms:W3CDTF">2025-05-13T10:43:31Z</dcterms:modified>
</cp:coreProperties>
</file>