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93" r:id="rId2"/>
    <p:sldId id="258" r:id="rId3"/>
    <p:sldId id="307" r:id="rId4"/>
    <p:sldId id="303" r:id="rId5"/>
    <p:sldId id="259" r:id="rId6"/>
    <p:sldId id="260" r:id="rId7"/>
    <p:sldId id="261" r:id="rId8"/>
    <p:sldId id="262" r:id="rId9"/>
    <p:sldId id="263" r:id="rId10"/>
    <p:sldId id="264" r:id="rId11"/>
    <p:sldId id="265" r:id="rId12"/>
    <p:sldId id="294" r:id="rId13"/>
    <p:sldId id="266" r:id="rId14"/>
    <p:sldId id="295"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98" r:id="rId33"/>
    <p:sldId id="284" r:id="rId34"/>
    <p:sldId id="285" r:id="rId35"/>
    <p:sldId id="286" r:id="rId36"/>
    <p:sldId id="299" r:id="rId37"/>
    <p:sldId id="287" r:id="rId38"/>
    <p:sldId id="288" r:id="rId39"/>
    <p:sldId id="289" r:id="rId40"/>
    <p:sldId id="290" r:id="rId41"/>
    <p:sldId id="291" r:id="rId42"/>
    <p:sldId id="292" r:id="rId43"/>
    <p:sldId id="300" r:id="rId44"/>
    <p:sldId id="304" r:id="rId45"/>
    <p:sldId id="305" r:id="rId46"/>
    <p:sldId id="306" r:id="rId47"/>
    <p:sldId id="30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66"/>
    <a:srgbClr val="90CE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C36C11-40FC-4BAA-9F6A-EDF1577188E7}" type="doc">
      <dgm:prSet loTypeId="urn:microsoft.com/office/officeart/2005/8/layout/radial3" loCatId="relationship" qsTypeId="urn:microsoft.com/office/officeart/2005/8/quickstyle/simple1" qsCatId="simple" csTypeId="urn:microsoft.com/office/officeart/2005/8/colors/colorful4" csCatId="colorful" phldr="1"/>
      <dgm:spPr/>
      <dgm:t>
        <a:bodyPr/>
        <a:lstStyle/>
        <a:p>
          <a:endParaRPr lang="en-US"/>
        </a:p>
      </dgm:t>
    </dgm:pt>
    <dgm:pt modelId="{9CC310FC-5EAE-423D-85C0-9691C92330B0}">
      <dgm:prSet phldrT="[Text]"/>
      <dgm:spPr/>
      <dgm:t>
        <a:bodyPr/>
        <a:lstStyle/>
        <a:p>
          <a:r>
            <a:rPr lang="en-US" dirty="0" smtClean="0"/>
            <a:t>Writing  </a:t>
          </a:r>
          <a:endParaRPr lang="en-US" dirty="0"/>
        </a:p>
      </dgm:t>
    </dgm:pt>
    <dgm:pt modelId="{673251B3-EBF9-4111-A006-D5E7C0CE7972}" type="parTrans" cxnId="{4EFAF26C-0F1B-4841-AFE3-7973D3231031}">
      <dgm:prSet/>
      <dgm:spPr/>
      <dgm:t>
        <a:bodyPr/>
        <a:lstStyle/>
        <a:p>
          <a:endParaRPr lang="en-US"/>
        </a:p>
      </dgm:t>
    </dgm:pt>
    <dgm:pt modelId="{B5877207-E8D9-4663-8B97-CCFFE7B20D90}" type="sibTrans" cxnId="{4EFAF26C-0F1B-4841-AFE3-7973D3231031}">
      <dgm:prSet/>
      <dgm:spPr/>
      <dgm:t>
        <a:bodyPr/>
        <a:lstStyle/>
        <a:p>
          <a:endParaRPr lang="en-US"/>
        </a:p>
      </dgm:t>
    </dgm:pt>
    <dgm:pt modelId="{F45C1F45-3FC3-407B-8AAC-7D15ABD3FE78}">
      <dgm:prSet phldrT="[Text]"/>
      <dgm:spPr/>
      <dgm:t>
        <a:bodyPr/>
        <a:lstStyle/>
        <a:p>
          <a:r>
            <a:rPr lang="en-US" dirty="0" smtClean="0"/>
            <a:t>Pre writing </a:t>
          </a:r>
          <a:endParaRPr lang="en-US" dirty="0"/>
        </a:p>
      </dgm:t>
    </dgm:pt>
    <dgm:pt modelId="{A5793FA1-1CD0-468A-BCDB-5D7809A807EA}" type="parTrans" cxnId="{0071DBE9-08BF-4996-9069-408D44B98820}">
      <dgm:prSet/>
      <dgm:spPr/>
      <dgm:t>
        <a:bodyPr/>
        <a:lstStyle/>
        <a:p>
          <a:endParaRPr lang="en-US"/>
        </a:p>
      </dgm:t>
    </dgm:pt>
    <dgm:pt modelId="{59CA9069-B956-44C5-A39D-1BD167D9CB60}" type="sibTrans" cxnId="{0071DBE9-08BF-4996-9069-408D44B98820}">
      <dgm:prSet/>
      <dgm:spPr/>
      <dgm:t>
        <a:bodyPr/>
        <a:lstStyle/>
        <a:p>
          <a:endParaRPr lang="en-US"/>
        </a:p>
      </dgm:t>
    </dgm:pt>
    <dgm:pt modelId="{6DB39AA8-AA80-48FD-AE9D-8164DF679325}">
      <dgm:prSet phldrT="[Text]"/>
      <dgm:spPr/>
      <dgm:t>
        <a:bodyPr/>
        <a:lstStyle/>
        <a:p>
          <a:r>
            <a:rPr lang="en-US" dirty="0" smtClean="0"/>
            <a:t>Post writing </a:t>
          </a:r>
          <a:endParaRPr lang="en-US" dirty="0"/>
        </a:p>
      </dgm:t>
    </dgm:pt>
    <dgm:pt modelId="{FA8EC05C-2594-47C0-AE42-6712FE7661E7}" type="parTrans" cxnId="{BBA0654D-F9B9-4E7B-BB63-4E7B70E3DE66}">
      <dgm:prSet/>
      <dgm:spPr/>
      <dgm:t>
        <a:bodyPr/>
        <a:lstStyle/>
        <a:p>
          <a:endParaRPr lang="en-US"/>
        </a:p>
      </dgm:t>
    </dgm:pt>
    <dgm:pt modelId="{DC69D4A3-C063-43A1-986A-3308857D3B24}" type="sibTrans" cxnId="{BBA0654D-F9B9-4E7B-BB63-4E7B70E3DE66}">
      <dgm:prSet/>
      <dgm:spPr/>
      <dgm:t>
        <a:bodyPr/>
        <a:lstStyle/>
        <a:p>
          <a:endParaRPr lang="en-US"/>
        </a:p>
      </dgm:t>
    </dgm:pt>
    <dgm:pt modelId="{0E0243D7-DAC6-4E8D-9BCE-AEB9BC3C3385}">
      <dgm:prSet phldrT="[Text]"/>
      <dgm:spPr/>
      <dgm:t>
        <a:bodyPr/>
        <a:lstStyle/>
        <a:p>
          <a:r>
            <a:rPr lang="en-US" dirty="0" smtClean="0"/>
            <a:t>Drafting </a:t>
          </a:r>
          <a:endParaRPr lang="en-US" dirty="0"/>
        </a:p>
      </dgm:t>
    </dgm:pt>
    <dgm:pt modelId="{1524FF6D-EB74-430C-93E7-ED64D141C47D}" type="parTrans" cxnId="{503C20B3-CBE1-4E94-A168-26AED524DBE0}">
      <dgm:prSet/>
      <dgm:spPr/>
      <dgm:t>
        <a:bodyPr/>
        <a:lstStyle/>
        <a:p>
          <a:endParaRPr lang="en-US"/>
        </a:p>
      </dgm:t>
    </dgm:pt>
    <dgm:pt modelId="{C9ADDF96-DD3D-409B-A3EF-0E5CBFF39725}" type="sibTrans" cxnId="{503C20B3-CBE1-4E94-A168-26AED524DBE0}">
      <dgm:prSet/>
      <dgm:spPr/>
      <dgm:t>
        <a:bodyPr/>
        <a:lstStyle/>
        <a:p>
          <a:endParaRPr lang="en-US"/>
        </a:p>
      </dgm:t>
    </dgm:pt>
    <dgm:pt modelId="{C189BAE9-1984-4445-83B3-7246D7F74472}" type="pres">
      <dgm:prSet presAssocID="{5AC36C11-40FC-4BAA-9F6A-EDF1577188E7}" presName="composite" presStyleCnt="0">
        <dgm:presLayoutVars>
          <dgm:chMax val="1"/>
          <dgm:dir/>
          <dgm:resizeHandles val="exact"/>
        </dgm:presLayoutVars>
      </dgm:prSet>
      <dgm:spPr/>
      <dgm:t>
        <a:bodyPr/>
        <a:lstStyle/>
        <a:p>
          <a:endParaRPr lang="en-US"/>
        </a:p>
      </dgm:t>
    </dgm:pt>
    <dgm:pt modelId="{EE0B374D-179E-4541-B832-DD25F17FCFC7}" type="pres">
      <dgm:prSet presAssocID="{5AC36C11-40FC-4BAA-9F6A-EDF1577188E7}" presName="radial" presStyleCnt="0">
        <dgm:presLayoutVars>
          <dgm:animLvl val="ctr"/>
        </dgm:presLayoutVars>
      </dgm:prSet>
      <dgm:spPr/>
    </dgm:pt>
    <dgm:pt modelId="{C94A40F1-747E-4BA8-AB66-C658E01D5381}" type="pres">
      <dgm:prSet presAssocID="{9CC310FC-5EAE-423D-85C0-9691C92330B0}" presName="centerShape" presStyleLbl="vennNode1" presStyleIdx="0" presStyleCnt="4"/>
      <dgm:spPr/>
      <dgm:t>
        <a:bodyPr/>
        <a:lstStyle/>
        <a:p>
          <a:endParaRPr lang="en-US"/>
        </a:p>
      </dgm:t>
    </dgm:pt>
    <dgm:pt modelId="{0217AE9A-DB6B-4FBF-A774-D7A0CC01E1B6}" type="pres">
      <dgm:prSet presAssocID="{F45C1F45-3FC3-407B-8AAC-7D15ABD3FE78}" presName="node" presStyleLbl="vennNode1" presStyleIdx="1" presStyleCnt="4" custScaleX="224659">
        <dgm:presLayoutVars>
          <dgm:bulletEnabled val="1"/>
        </dgm:presLayoutVars>
      </dgm:prSet>
      <dgm:spPr/>
      <dgm:t>
        <a:bodyPr/>
        <a:lstStyle/>
        <a:p>
          <a:endParaRPr lang="en-US"/>
        </a:p>
      </dgm:t>
    </dgm:pt>
    <dgm:pt modelId="{4441CC33-CEA7-4C10-8180-A687C2C77ED4}" type="pres">
      <dgm:prSet presAssocID="{6DB39AA8-AA80-48FD-AE9D-8164DF679325}" presName="node" presStyleLbl="vennNode1" presStyleIdx="2" presStyleCnt="4" custScaleX="224346" custRadScaleRad="129137" custRadScaleInc="-13030">
        <dgm:presLayoutVars>
          <dgm:bulletEnabled val="1"/>
        </dgm:presLayoutVars>
      </dgm:prSet>
      <dgm:spPr/>
      <dgm:t>
        <a:bodyPr/>
        <a:lstStyle/>
        <a:p>
          <a:endParaRPr lang="en-US"/>
        </a:p>
      </dgm:t>
    </dgm:pt>
    <dgm:pt modelId="{602B4213-39E0-4663-9DC5-89366A64BCCC}" type="pres">
      <dgm:prSet presAssocID="{0E0243D7-DAC6-4E8D-9BCE-AEB9BC3C3385}" presName="node" presStyleLbl="vennNode1" presStyleIdx="3" presStyleCnt="4" custScaleX="195798" custRadScaleRad="113895" custRadScaleInc="10487">
        <dgm:presLayoutVars>
          <dgm:bulletEnabled val="1"/>
        </dgm:presLayoutVars>
      </dgm:prSet>
      <dgm:spPr/>
      <dgm:t>
        <a:bodyPr/>
        <a:lstStyle/>
        <a:p>
          <a:endParaRPr lang="en-US"/>
        </a:p>
      </dgm:t>
    </dgm:pt>
  </dgm:ptLst>
  <dgm:cxnLst>
    <dgm:cxn modelId="{BBA0654D-F9B9-4E7B-BB63-4E7B70E3DE66}" srcId="{9CC310FC-5EAE-423D-85C0-9691C92330B0}" destId="{6DB39AA8-AA80-48FD-AE9D-8164DF679325}" srcOrd="1" destOrd="0" parTransId="{FA8EC05C-2594-47C0-AE42-6712FE7661E7}" sibTransId="{DC69D4A3-C063-43A1-986A-3308857D3B24}"/>
    <dgm:cxn modelId="{B638EFA1-54DE-4764-9F9E-ED3A68A7FD2E}" type="presOf" srcId="{6DB39AA8-AA80-48FD-AE9D-8164DF679325}" destId="{4441CC33-CEA7-4C10-8180-A687C2C77ED4}" srcOrd="0" destOrd="0" presId="urn:microsoft.com/office/officeart/2005/8/layout/radial3"/>
    <dgm:cxn modelId="{4EFAF26C-0F1B-4841-AFE3-7973D3231031}" srcId="{5AC36C11-40FC-4BAA-9F6A-EDF1577188E7}" destId="{9CC310FC-5EAE-423D-85C0-9691C92330B0}" srcOrd="0" destOrd="0" parTransId="{673251B3-EBF9-4111-A006-D5E7C0CE7972}" sibTransId="{B5877207-E8D9-4663-8B97-CCFFE7B20D90}"/>
    <dgm:cxn modelId="{86BBC6CB-35BC-4CFC-A579-0A222704019C}" type="presOf" srcId="{5AC36C11-40FC-4BAA-9F6A-EDF1577188E7}" destId="{C189BAE9-1984-4445-83B3-7246D7F74472}" srcOrd="0" destOrd="0" presId="urn:microsoft.com/office/officeart/2005/8/layout/radial3"/>
    <dgm:cxn modelId="{95BC1F3C-D0A4-4CFA-91A8-689E44C90B5B}" type="presOf" srcId="{9CC310FC-5EAE-423D-85C0-9691C92330B0}" destId="{C94A40F1-747E-4BA8-AB66-C658E01D5381}" srcOrd="0" destOrd="0" presId="urn:microsoft.com/office/officeart/2005/8/layout/radial3"/>
    <dgm:cxn modelId="{503C20B3-CBE1-4E94-A168-26AED524DBE0}" srcId="{9CC310FC-5EAE-423D-85C0-9691C92330B0}" destId="{0E0243D7-DAC6-4E8D-9BCE-AEB9BC3C3385}" srcOrd="2" destOrd="0" parTransId="{1524FF6D-EB74-430C-93E7-ED64D141C47D}" sibTransId="{C9ADDF96-DD3D-409B-A3EF-0E5CBFF39725}"/>
    <dgm:cxn modelId="{B2ED5335-CFD1-4CFD-A089-C616CD3ECB77}" type="presOf" srcId="{0E0243D7-DAC6-4E8D-9BCE-AEB9BC3C3385}" destId="{602B4213-39E0-4663-9DC5-89366A64BCCC}" srcOrd="0" destOrd="0" presId="urn:microsoft.com/office/officeart/2005/8/layout/radial3"/>
    <dgm:cxn modelId="{0071DBE9-08BF-4996-9069-408D44B98820}" srcId="{9CC310FC-5EAE-423D-85C0-9691C92330B0}" destId="{F45C1F45-3FC3-407B-8AAC-7D15ABD3FE78}" srcOrd="0" destOrd="0" parTransId="{A5793FA1-1CD0-468A-BCDB-5D7809A807EA}" sibTransId="{59CA9069-B956-44C5-A39D-1BD167D9CB60}"/>
    <dgm:cxn modelId="{E4B86874-72B0-4E1C-9C4D-EA6EBFB174E3}" type="presOf" srcId="{F45C1F45-3FC3-407B-8AAC-7D15ABD3FE78}" destId="{0217AE9A-DB6B-4FBF-A774-D7A0CC01E1B6}" srcOrd="0" destOrd="0" presId="urn:microsoft.com/office/officeart/2005/8/layout/radial3"/>
    <dgm:cxn modelId="{EC156F02-6FC9-49A3-BD34-F37BB5176F1F}" type="presParOf" srcId="{C189BAE9-1984-4445-83B3-7246D7F74472}" destId="{EE0B374D-179E-4541-B832-DD25F17FCFC7}" srcOrd="0" destOrd="0" presId="urn:microsoft.com/office/officeart/2005/8/layout/radial3"/>
    <dgm:cxn modelId="{53202302-5CBF-4638-9271-EC9B2A70A742}" type="presParOf" srcId="{EE0B374D-179E-4541-B832-DD25F17FCFC7}" destId="{C94A40F1-747E-4BA8-AB66-C658E01D5381}" srcOrd="0" destOrd="0" presId="urn:microsoft.com/office/officeart/2005/8/layout/radial3"/>
    <dgm:cxn modelId="{7BC3BEE0-DD3E-4B31-AD6B-0ABA4AC663D6}" type="presParOf" srcId="{EE0B374D-179E-4541-B832-DD25F17FCFC7}" destId="{0217AE9A-DB6B-4FBF-A774-D7A0CC01E1B6}" srcOrd="1" destOrd="0" presId="urn:microsoft.com/office/officeart/2005/8/layout/radial3"/>
    <dgm:cxn modelId="{B1E1B5F3-BAA0-4F4F-9907-25EFEA021E86}" type="presParOf" srcId="{EE0B374D-179E-4541-B832-DD25F17FCFC7}" destId="{4441CC33-CEA7-4C10-8180-A687C2C77ED4}" srcOrd="2" destOrd="0" presId="urn:microsoft.com/office/officeart/2005/8/layout/radial3"/>
    <dgm:cxn modelId="{74D92FE8-B15E-40C0-9F0A-371AB6D75B80}" type="presParOf" srcId="{EE0B374D-179E-4541-B832-DD25F17FCFC7}" destId="{602B4213-39E0-4663-9DC5-89366A64BCCC}" srcOrd="3"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3B0DE98-DF57-4AC4-9C79-6261BC4567EA}"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n-US"/>
        </a:p>
      </dgm:t>
    </dgm:pt>
    <dgm:pt modelId="{125445A7-2834-4B0D-B6A6-5AB20F289DED}">
      <dgm:prSet phldrT="[Text]"/>
      <dgm:spPr/>
      <dgm:t>
        <a:bodyPr/>
        <a:lstStyle/>
        <a:p>
          <a:r>
            <a:rPr lang="en-US" dirty="0" smtClean="0"/>
            <a:t>Editing </a:t>
          </a:r>
          <a:endParaRPr lang="en-US" dirty="0"/>
        </a:p>
      </dgm:t>
    </dgm:pt>
    <dgm:pt modelId="{081032A5-A2F0-44A0-9FEE-F88E890C5783}" type="parTrans" cxnId="{2E47E6F3-1533-4B36-87C7-8E378AE3F41C}">
      <dgm:prSet/>
      <dgm:spPr/>
      <dgm:t>
        <a:bodyPr/>
        <a:lstStyle/>
        <a:p>
          <a:endParaRPr lang="en-US"/>
        </a:p>
      </dgm:t>
    </dgm:pt>
    <dgm:pt modelId="{9E7F45D4-BFC6-488F-A00C-16CE5229DF36}" type="sibTrans" cxnId="{2E47E6F3-1533-4B36-87C7-8E378AE3F41C}">
      <dgm:prSet/>
      <dgm:spPr/>
      <dgm:t>
        <a:bodyPr/>
        <a:lstStyle/>
        <a:p>
          <a:endParaRPr lang="en-US"/>
        </a:p>
      </dgm:t>
    </dgm:pt>
    <dgm:pt modelId="{EA2B54D2-66C1-4E60-8A26-C0AD8D7777AD}">
      <dgm:prSet phldrT="[Text]"/>
      <dgm:spPr/>
      <dgm:t>
        <a:bodyPr/>
        <a:lstStyle/>
        <a:p>
          <a:r>
            <a:rPr lang="en-US" dirty="0" smtClean="0"/>
            <a:t>Proof writing </a:t>
          </a:r>
          <a:endParaRPr lang="en-US" dirty="0"/>
        </a:p>
      </dgm:t>
    </dgm:pt>
    <dgm:pt modelId="{218FDB16-6239-4596-9E22-64989E322CAE}" type="parTrans" cxnId="{8256B815-7CEF-4A24-8021-D2BCB28A3E99}">
      <dgm:prSet/>
      <dgm:spPr/>
      <dgm:t>
        <a:bodyPr/>
        <a:lstStyle/>
        <a:p>
          <a:endParaRPr lang="en-US"/>
        </a:p>
      </dgm:t>
    </dgm:pt>
    <dgm:pt modelId="{D52314DC-64C8-49DC-8A60-7566A54E26DA}" type="sibTrans" cxnId="{8256B815-7CEF-4A24-8021-D2BCB28A3E99}">
      <dgm:prSet/>
      <dgm:spPr/>
      <dgm:t>
        <a:bodyPr/>
        <a:lstStyle/>
        <a:p>
          <a:endParaRPr lang="en-US"/>
        </a:p>
      </dgm:t>
    </dgm:pt>
    <dgm:pt modelId="{AEC674E1-335A-49DC-BB67-FAE829C3FD48}">
      <dgm:prSet phldrT="[Text]"/>
      <dgm:spPr/>
      <dgm:t>
        <a:bodyPr/>
        <a:lstStyle/>
        <a:p>
          <a:r>
            <a:rPr lang="en-US" dirty="0" smtClean="0"/>
            <a:t>Peer Review </a:t>
          </a:r>
          <a:endParaRPr lang="en-US" dirty="0"/>
        </a:p>
      </dgm:t>
    </dgm:pt>
    <dgm:pt modelId="{C19E422A-8480-430D-BC68-4C65CB534D9F}" type="parTrans" cxnId="{2F78EE08-B663-476B-BD51-F4273CD868BF}">
      <dgm:prSet/>
      <dgm:spPr/>
      <dgm:t>
        <a:bodyPr/>
        <a:lstStyle/>
        <a:p>
          <a:endParaRPr lang="en-US"/>
        </a:p>
      </dgm:t>
    </dgm:pt>
    <dgm:pt modelId="{93DAAE81-3F2C-4105-82CD-6BC979E1BDE1}" type="sibTrans" cxnId="{2F78EE08-B663-476B-BD51-F4273CD868BF}">
      <dgm:prSet/>
      <dgm:spPr/>
      <dgm:t>
        <a:bodyPr/>
        <a:lstStyle/>
        <a:p>
          <a:endParaRPr lang="en-US"/>
        </a:p>
      </dgm:t>
    </dgm:pt>
    <dgm:pt modelId="{E42F7EBE-CF67-4948-953A-07870ED84F0E}">
      <dgm:prSet phldrT="[Text]"/>
      <dgm:spPr/>
      <dgm:t>
        <a:bodyPr/>
        <a:lstStyle/>
        <a:p>
          <a:r>
            <a:rPr lang="en-US" b="0" i="0" dirty="0" smtClean="0"/>
            <a:t>Revising</a:t>
          </a:r>
          <a:endParaRPr lang="en-US" dirty="0"/>
        </a:p>
      </dgm:t>
    </dgm:pt>
    <dgm:pt modelId="{4D9D6E34-C84D-4DAD-BD5E-A95806E51697}" type="sibTrans" cxnId="{766007DD-6671-48EF-AE7D-07F202ED9769}">
      <dgm:prSet/>
      <dgm:spPr/>
      <dgm:t>
        <a:bodyPr/>
        <a:lstStyle/>
        <a:p>
          <a:endParaRPr lang="en-US"/>
        </a:p>
      </dgm:t>
    </dgm:pt>
    <dgm:pt modelId="{5494A7DD-876A-410B-88C7-D3F36FF0C7D0}" type="parTrans" cxnId="{766007DD-6671-48EF-AE7D-07F202ED9769}">
      <dgm:prSet/>
      <dgm:spPr/>
      <dgm:t>
        <a:bodyPr/>
        <a:lstStyle/>
        <a:p>
          <a:endParaRPr lang="en-US"/>
        </a:p>
      </dgm:t>
    </dgm:pt>
    <dgm:pt modelId="{59E57278-30AA-441E-90AE-88DE5C718934}" type="pres">
      <dgm:prSet presAssocID="{73B0DE98-DF57-4AC4-9C79-6261BC4567EA}" presName="diagram" presStyleCnt="0">
        <dgm:presLayoutVars>
          <dgm:dir/>
          <dgm:resizeHandles val="exact"/>
        </dgm:presLayoutVars>
      </dgm:prSet>
      <dgm:spPr/>
      <dgm:t>
        <a:bodyPr/>
        <a:lstStyle/>
        <a:p>
          <a:endParaRPr lang="en-US"/>
        </a:p>
      </dgm:t>
    </dgm:pt>
    <dgm:pt modelId="{9E42B931-628D-474D-A6EE-DCADE25269E9}" type="pres">
      <dgm:prSet presAssocID="{125445A7-2834-4B0D-B6A6-5AB20F289DED}" presName="node" presStyleLbl="node1" presStyleIdx="0" presStyleCnt="4" custLinFactX="10011" custLinFactNeighborX="100000" custLinFactNeighborY="3771">
        <dgm:presLayoutVars>
          <dgm:bulletEnabled val="1"/>
        </dgm:presLayoutVars>
      </dgm:prSet>
      <dgm:spPr/>
      <dgm:t>
        <a:bodyPr/>
        <a:lstStyle/>
        <a:p>
          <a:endParaRPr lang="en-US"/>
        </a:p>
      </dgm:t>
    </dgm:pt>
    <dgm:pt modelId="{4DD29BAA-7A14-428D-8E1A-A2D4DC383992}" type="pres">
      <dgm:prSet presAssocID="{9E7F45D4-BFC6-488F-A00C-16CE5229DF36}" presName="sibTrans" presStyleCnt="0"/>
      <dgm:spPr/>
    </dgm:pt>
    <dgm:pt modelId="{8E6FDF51-7A31-417D-A4A6-C82B1C80BABF}" type="pres">
      <dgm:prSet presAssocID="{EA2B54D2-66C1-4E60-8A26-C0AD8D7777AD}" presName="node" presStyleLbl="node1" presStyleIdx="1" presStyleCnt="4" custLinFactX="-8789" custLinFactY="10765" custLinFactNeighborX="-100000" custLinFactNeighborY="100000">
        <dgm:presLayoutVars>
          <dgm:bulletEnabled val="1"/>
        </dgm:presLayoutVars>
      </dgm:prSet>
      <dgm:spPr/>
      <dgm:t>
        <a:bodyPr/>
        <a:lstStyle/>
        <a:p>
          <a:endParaRPr lang="en-US"/>
        </a:p>
      </dgm:t>
    </dgm:pt>
    <dgm:pt modelId="{63CC922D-8D0B-4B30-AA76-D9F3E4A45CC7}" type="pres">
      <dgm:prSet presAssocID="{D52314DC-64C8-49DC-8A60-7566A54E26DA}" presName="sibTrans" presStyleCnt="0"/>
      <dgm:spPr/>
    </dgm:pt>
    <dgm:pt modelId="{166CCDC1-5AF6-44C5-8B59-8D7FDDCC62B1}" type="pres">
      <dgm:prSet presAssocID="{AEC674E1-335A-49DC-BB67-FAE829C3FD48}" presName="node" presStyleLbl="node1" presStyleIdx="2" presStyleCnt="4" custLinFactX="11425" custLinFactNeighborX="100000" custLinFactNeighborY="-2828">
        <dgm:presLayoutVars>
          <dgm:bulletEnabled val="1"/>
        </dgm:presLayoutVars>
      </dgm:prSet>
      <dgm:spPr/>
      <dgm:t>
        <a:bodyPr/>
        <a:lstStyle/>
        <a:p>
          <a:endParaRPr lang="en-US"/>
        </a:p>
      </dgm:t>
    </dgm:pt>
    <dgm:pt modelId="{FA815A20-8B66-49B4-88AB-DB7EA4C2AB61}" type="pres">
      <dgm:prSet presAssocID="{93DAAE81-3F2C-4105-82CD-6BC979E1BDE1}" presName="sibTrans" presStyleCnt="0"/>
      <dgm:spPr/>
    </dgm:pt>
    <dgm:pt modelId="{03037689-67C6-4299-9315-749CF5A57611}" type="pres">
      <dgm:prSet presAssocID="{E42F7EBE-CF67-4948-953A-07870ED84F0E}" presName="node" presStyleLbl="node1" presStyleIdx="3" presStyleCnt="4" custLinFactX="-8031" custLinFactY="-13122" custLinFactNeighborX="-100000" custLinFactNeighborY="-100000">
        <dgm:presLayoutVars>
          <dgm:bulletEnabled val="1"/>
        </dgm:presLayoutVars>
      </dgm:prSet>
      <dgm:spPr/>
      <dgm:t>
        <a:bodyPr/>
        <a:lstStyle/>
        <a:p>
          <a:endParaRPr lang="en-US"/>
        </a:p>
      </dgm:t>
    </dgm:pt>
  </dgm:ptLst>
  <dgm:cxnLst>
    <dgm:cxn modelId="{2E47E6F3-1533-4B36-87C7-8E378AE3F41C}" srcId="{73B0DE98-DF57-4AC4-9C79-6261BC4567EA}" destId="{125445A7-2834-4B0D-B6A6-5AB20F289DED}" srcOrd="0" destOrd="0" parTransId="{081032A5-A2F0-44A0-9FEE-F88E890C5783}" sibTransId="{9E7F45D4-BFC6-488F-A00C-16CE5229DF36}"/>
    <dgm:cxn modelId="{2D48CE96-E9CD-4D42-9AEE-799B307B01AC}" type="presOf" srcId="{E42F7EBE-CF67-4948-953A-07870ED84F0E}" destId="{03037689-67C6-4299-9315-749CF5A57611}" srcOrd="0" destOrd="0" presId="urn:microsoft.com/office/officeart/2005/8/layout/default"/>
    <dgm:cxn modelId="{6C18B069-A81E-4AF8-9EAE-E3335006159E}" type="presOf" srcId="{73B0DE98-DF57-4AC4-9C79-6261BC4567EA}" destId="{59E57278-30AA-441E-90AE-88DE5C718934}" srcOrd="0" destOrd="0" presId="urn:microsoft.com/office/officeart/2005/8/layout/default"/>
    <dgm:cxn modelId="{2F78EE08-B663-476B-BD51-F4273CD868BF}" srcId="{73B0DE98-DF57-4AC4-9C79-6261BC4567EA}" destId="{AEC674E1-335A-49DC-BB67-FAE829C3FD48}" srcOrd="2" destOrd="0" parTransId="{C19E422A-8480-430D-BC68-4C65CB534D9F}" sibTransId="{93DAAE81-3F2C-4105-82CD-6BC979E1BDE1}"/>
    <dgm:cxn modelId="{C9B611FE-220B-42B9-B7FD-773E2750C64A}" type="presOf" srcId="{EA2B54D2-66C1-4E60-8A26-C0AD8D7777AD}" destId="{8E6FDF51-7A31-417D-A4A6-C82B1C80BABF}" srcOrd="0" destOrd="0" presId="urn:microsoft.com/office/officeart/2005/8/layout/default"/>
    <dgm:cxn modelId="{8256B815-7CEF-4A24-8021-D2BCB28A3E99}" srcId="{73B0DE98-DF57-4AC4-9C79-6261BC4567EA}" destId="{EA2B54D2-66C1-4E60-8A26-C0AD8D7777AD}" srcOrd="1" destOrd="0" parTransId="{218FDB16-6239-4596-9E22-64989E322CAE}" sibTransId="{D52314DC-64C8-49DC-8A60-7566A54E26DA}"/>
    <dgm:cxn modelId="{766007DD-6671-48EF-AE7D-07F202ED9769}" srcId="{73B0DE98-DF57-4AC4-9C79-6261BC4567EA}" destId="{E42F7EBE-CF67-4948-953A-07870ED84F0E}" srcOrd="3" destOrd="0" parTransId="{5494A7DD-876A-410B-88C7-D3F36FF0C7D0}" sibTransId="{4D9D6E34-C84D-4DAD-BD5E-A95806E51697}"/>
    <dgm:cxn modelId="{53CF8F1C-340B-4740-9759-CB55964477C9}" type="presOf" srcId="{AEC674E1-335A-49DC-BB67-FAE829C3FD48}" destId="{166CCDC1-5AF6-44C5-8B59-8D7FDDCC62B1}" srcOrd="0" destOrd="0" presId="urn:microsoft.com/office/officeart/2005/8/layout/default"/>
    <dgm:cxn modelId="{25DBC7F2-F1E4-4C7C-894E-F1B2244A3501}" type="presOf" srcId="{125445A7-2834-4B0D-B6A6-5AB20F289DED}" destId="{9E42B931-628D-474D-A6EE-DCADE25269E9}" srcOrd="0" destOrd="0" presId="urn:microsoft.com/office/officeart/2005/8/layout/default"/>
    <dgm:cxn modelId="{46FE4C0F-EF64-48EC-B32B-4C6C229403EC}" type="presParOf" srcId="{59E57278-30AA-441E-90AE-88DE5C718934}" destId="{9E42B931-628D-474D-A6EE-DCADE25269E9}" srcOrd="0" destOrd="0" presId="urn:microsoft.com/office/officeart/2005/8/layout/default"/>
    <dgm:cxn modelId="{24415AE5-E569-4BA5-A3DA-987856ED65BD}" type="presParOf" srcId="{59E57278-30AA-441E-90AE-88DE5C718934}" destId="{4DD29BAA-7A14-428D-8E1A-A2D4DC383992}" srcOrd="1" destOrd="0" presId="urn:microsoft.com/office/officeart/2005/8/layout/default"/>
    <dgm:cxn modelId="{56CB9858-E2C4-421D-A41E-62C37C918CA7}" type="presParOf" srcId="{59E57278-30AA-441E-90AE-88DE5C718934}" destId="{8E6FDF51-7A31-417D-A4A6-C82B1C80BABF}" srcOrd="2" destOrd="0" presId="urn:microsoft.com/office/officeart/2005/8/layout/default"/>
    <dgm:cxn modelId="{EA685CB8-3B80-4BF9-AFA5-907F497DC2AE}" type="presParOf" srcId="{59E57278-30AA-441E-90AE-88DE5C718934}" destId="{63CC922D-8D0B-4B30-AA76-D9F3E4A45CC7}" srcOrd="3" destOrd="0" presId="urn:microsoft.com/office/officeart/2005/8/layout/default"/>
    <dgm:cxn modelId="{2A3BEA39-340E-4200-B80F-5E4C139C3D98}" type="presParOf" srcId="{59E57278-30AA-441E-90AE-88DE5C718934}" destId="{166CCDC1-5AF6-44C5-8B59-8D7FDDCC62B1}" srcOrd="4" destOrd="0" presId="urn:microsoft.com/office/officeart/2005/8/layout/default"/>
    <dgm:cxn modelId="{8AA2152E-6C07-4A24-9ED7-B6EE8D925900}" type="presParOf" srcId="{59E57278-30AA-441E-90AE-88DE5C718934}" destId="{FA815A20-8B66-49B4-88AB-DB7EA4C2AB61}" srcOrd="5" destOrd="0" presId="urn:microsoft.com/office/officeart/2005/8/layout/default"/>
    <dgm:cxn modelId="{10B48659-8484-4CD7-904E-4D4FB71F5E2B}" type="presParOf" srcId="{59E57278-30AA-441E-90AE-88DE5C718934}" destId="{03037689-67C6-4299-9315-749CF5A57611}"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107EF6-F022-466F-AA97-21E3A98858FD}" type="doc">
      <dgm:prSet loTypeId="urn:microsoft.com/office/officeart/2005/8/layout/cycle6" loCatId="cycle" qsTypeId="urn:microsoft.com/office/officeart/2005/8/quickstyle/simple1" qsCatId="simple" csTypeId="urn:microsoft.com/office/officeart/2005/8/colors/colorful4" csCatId="colorful" phldr="1"/>
      <dgm:spPr/>
      <dgm:t>
        <a:bodyPr/>
        <a:lstStyle/>
        <a:p>
          <a:endParaRPr lang="en-US"/>
        </a:p>
      </dgm:t>
    </dgm:pt>
    <dgm:pt modelId="{3D5B72A5-D885-48E6-BA40-D0F638B7A578}">
      <dgm:prSet phldrT="[Text]"/>
      <dgm:spPr/>
      <dgm:t>
        <a:bodyPr/>
        <a:lstStyle/>
        <a:p>
          <a:r>
            <a:rPr lang="en-US" smtClean="0">
              <a:latin typeface="Candara" pitchFamily="34" charset="0"/>
              <a:cs typeface="Arial" pitchFamily="34" charset="0"/>
            </a:rPr>
            <a:t>Adding</a:t>
          </a:r>
          <a:endParaRPr lang="en-US" dirty="0"/>
        </a:p>
      </dgm:t>
    </dgm:pt>
    <dgm:pt modelId="{764729AA-C79A-459C-8BCE-0FED79E30221}" type="parTrans" cxnId="{FEF84263-BE70-428A-BEBE-7AE81F0E3CEE}">
      <dgm:prSet/>
      <dgm:spPr/>
      <dgm:t>
        <a:bodyPr/>
        <a:lstStyle/>
        <a:p>
          <a:endParaRPr lang="en-US"/>
        </a:p>
      </dgm:t>
    </dgm:pt>
    <dgm:pt modelId="{6884E9C2-D0A2-4C6B-9434-A9D09B5CE62E}" type="sibTrans" cxnId="{FEF84263-BE70-428A-BEBE-7AE81F0E3CEE}">
      <dgm:prSet/>
      <dgm:spPr/>
      <dgm:t>
        <a:bodyPr/>
        <a:lstStyle/>
        <a:p>
          <a:endParaRPr lang="en-US"/>
        </a:p>
      </dgm:t>
    </dgm:pt>
    <dgm:pt modelId="{3ACE4C0D-34AE-4EDF-AB18-EC7023FB442C}">
      <dgm:prSet phldrT="[Text]"/>
      <dgm:spPr/>
      <dgm:t>
        <a:bodyPr/>
        <a:lstStyle/>
        <a:p>
          <a:r>
            <a:rPr lang="en-US" smtClean="0">
              <a:latin typeface="Candara" pitchFamily="34" charset="0"/>
              <a:cs typeface="Arial" pitchFamily="34" charset="0"/>
            </a:rPr>
            <a:t>Rearranging</a:t>
          </a:r>
          <a:endParaRPr lang="en-US" dirty="0"/>
        </a:p>
      </dgm:t>
    </dgm:pt>
    <dgm:pt modelId="{2CD64CCA-C011-4829-BB74-7298CF66E37A}" type="parTrans" cxnId="{146C33A9-BB87-4ECF-A9F6-5888564E9D48}">
      <dgm:prSet/>
      <dgm:spPr/>
      <dgm:t>
        <a:bodyPr/>
        <a:lstStyle/>
        <a:p>
          <a:endParaRPr lang="en-US"/>
        </a:p>
      </dgm:t>
    </dgm:pt>
    <dgm:pt modelId="{CB738BFB-E69C-436F-9783-BEB0FA6FFE10}" type="sibTrans" cxnId="{146C33A9-BB87-4ECF-A9F6-5888564E9D48}">
      <dgm:prSet/>
      <dgm:spPr/>
      <dgm:t>
        <a:bodyPr/>
        <a:lstStyle/>
        <a:p>
          <a:endParaRPr lang="en-US"/>
        </a:p>
      </dgm:t>
    </dgm:pt>
    <dgm:pt modelId="{5EE84A72-CF9F-47E5-95C8-4D97C3391F4B}">
      <dgm:prSet phldrT="[Text]"/>
      <dgm:spPr/>
      <dgm:t>
        <a:bodyPr/>
        <a:lstStyle/>
        <a:p>
          <a:r>
            <a:rPr lang="en-US" smtClean="0">
              <a:latin typeface="Candara" pitchFamily="34" charset="0"/>
              <a:cs typeface="Arial" pitchFamily="34" charset="0"/>
            </a:rPr>
            <a:t>Removing</a:t>
          </a:r>
          <a:endParaRPr lang="en-US" dirty="0"/>
        </a:p>
      </dgm:t>
    </dgm:pt>
    <dgm:pt modelId="{647E5B09-9522-48B8-8C9E-6C81631DED54}" type="parTrans" cxnId="{2DC19697-2A9E-4E0A-9DAC-21464A70441D}">
      <dgm:prSet/>
      <dgm:spPr/>
      <dgm:t>
        <a:bodyPr/>
        <a:lstStyle/>
        <a:p>
          <a:endParaRPr lang="en-US"/>
        </a:p>
      </dgm:t>
    </dgm:pt>
    <dgm:pt modelId="{37CAECAB-A99E-4C81-9E8B-026B8FF599DE}" type="sibTrans" cxnId="{2DC19697-2A9E-4E0A-9DAC-21464A70441D}">
      <dgm:prSet/>
      <dgm:spPr/>
      <dgm:t>
        <a:bodyPr/>
        <a:lstStyle/>
        <a:p>
          <a:endParaRPr lang="en-US"/>
        </a:p>
      </dgm:t>
    </dgm:pt>
    <dgm:pt modelId="{6A55D80E-1F16-4A99-BD19-442493A6F9D4}">
      <dgm:prSet phldrT="[Text]"/>
      <dgm:spPr/>
      <dgm:t>
        <a:bodyPr/>
        <a:lstStyle/>
        <a:p>
          <a:r>
            <a:rPr lang="en-US" smtClean="0">
              <a:latin typeface="Candara" pitchFamily="34" charset="0"/>
              <a:cs typeface="Arial" pitchFamily="34" charset="0"/>
            </a:rPr>
            <a:t>Replacing</a:t>
          </a:r>
          <a:endParaRPr lang="en-US" dirty="0"/>
        </a:p>
      </dgm:t>
    </dgm:pt>
    <dgm:pt modelId="{AA723A2C-FBBE-4BBE-9785-311471BD01C6}" type="parTrans" cxnId="{44446B40-D3FE-45BF-B816-F3D4FEEF69ED}">
      <dgm:prSet/>
      <dgm:spPr/>
      <dgm:t>
        <a:bodyPr/>
        <a:lstStyle/>
        <a:p>
          <a:endParaRPr lang="en-US"/>
        </a:p>
      </dgm:t>
    </dgm:pt>
    <dgm:pt modelId="{6DAA958C-D9E2-4D5A-946E-F697BD184756}" type="sibTrans" cxnId="{44446B40-D3FE-45BF-B816-F3D4FEEF69ED}">
      <dgm:prSet/>
      <dgm:spPr/>
      <dgm:t>
        <a:bodyPr/>
        <a:lstStyle/>
        <a:p>
          <a:endParaRPr lang="en-US"/>
        </a:p>
      </dgm:t>
    </dgm:pt>
    <dgm:pt modelId="{FC2B8636-CE23-4D8A-9073-497ED813EB96}" type="pres">
      <dgm:prSet presAssocID="{F9107EF6-F022-466F-AA97-21E3A98858FD}" presName="cycle" presStyleCnt="0">
        <dgm:presLayoutVars>
          <dgm:dir/>
          <dgm:resizeHandles val="exact"/>
        </dgm:presLayoutVars>
      </dgm:prSet>
      <dgm:spPr/>
      <dgm:t>
        <a:bodyPr/>
        <a:lstStyle/>
        <a:p>
          <a:endParaRPr lang="en-US"/>
        </a:p>
      </dgm:t>
    </dgm:pt>
    <dgm:pt modelId="{841673F0-B759-41FD-8857-D5BD49F39300}" type="pres">
      <dgm:prSet presAssocID="{3D5B72A5-D885-48E6-BA40-D0F638B7A578}" presName="node" presStyleLbl="node1" presStyleIdx="0" presStyleCnt="4">
        <dgm:presLayoutVars>
          <dgm:bulletEnabled val="1"/>
        </dgm:presLayoutVars>
      </dgm:prSet>
      <dgm:spPr/>
      <dgm:t>
        <a:bodyPr/>
        <a:lstStyle/>
        <a:p>
          <a:endParaRPr lang="en-US"/>
        </a:p>
      </dgm:t>
    </dgm:pt>
    <dgm:pt modelId="{B01B9CFE-3DFE-487D-8AF0-9634288B8B5B}" type="pres">
      <dgm:prSet presAssocID="{3D5B72A5-D885-48E6-BA40-D0F638B7A578}" presName="spNode" presStyleCnt="0"/>
      <dgm:spPr/>
    </dgm:pt>
    <dgm:pt modelId="{247BC75A-63F9-48D8-8E1C-B8233470B2D5}" type="pres">
      <dgm:prSet presAssocID="{6884E9C2-D0A2-4C6B-9434-A9D09B5CE62E}" presName="sibTrans" presStyleLbl="sibTrans1D1" presStyleIdx="0" presStyleCnt="4"/>
      <dgm:spPr/>
      <dgm:t>
        <a:bodyPr/>
        <a:lstStyle/>
        <a:p>
          <a:endParaRPr lang="en-US"/>
        </a:p>
      </dgm:t>
    </dgm:pt>
    <dgm:pt modelId="{3EDF1243-112E-406B-8E8C-F4570C2CBE35}" type="pres">
      <dgm:prSet presAssocID="{3ACE4C0D-34AE-4EDF-AB18-EC7023FB442C}" presName="node" presStyleLbl="node1" presStyleIdx="1" presStyleCnt="4">
        <dgm:presLayoutVars>
          <dgm:bulletEnabled val="1"/>
        </dgm:presLayoutVars>
      </dgm:prSet>
      <dgm:spPr/>
      <dgm:t>
        <a:bodyPr/>
        <a:lstStyle/>
        <a:p>
          <a:endParaRPr lang="en-US"/>
        </a:p>
      </dgm:t>
    </dgm:pt>
    <dgm:pt modelId="{791E2C28-0C8F-487F-81EA-4D314A4213DD}" type="pres">
      <dgm:prSet presAssocID="{3ACE4C0D-34AE-4EDF-AB18-EC7023FB442C}" presName="spNode" presStyleCnt="0"/>
      <dgm:spPr/>
    </dgm:pt>
    <dgm:pt modelId="{E823968E-3F17-43A5-9EDD-7D139E211371}" type="pres">
      <dgm:prSet presAssocID="{CB738BFB-E69C-436F-9783-BEB0FA6FFE10}" presName="sibTrans" presStyleLbl="sibTrans1D1" presStyleIdx="1" presStyleCnt="4"/>
      <dgm:spPr/>
      <dgm:t>
        <a:bodyPr/>
        <a:lstStyle/>
        <a:p>
          <a:endParaRPr lang="en-US"/>
        </a:p>
      </dgm:t>
    </dgm:pt>
    <dgm:pt modelId="{C1414DA8-F839-4DAD-886B-CB51F22A97CA}" type="pres">
      <dgm:prSet presAssocID="{5EE84A72-CF9F-47E5-95C8-4D97C3391F4B}" presName="node" presStyleLbl="node1" presStyleIdx="2" presStyleCnt="4">
        <dgm:presLayoutVars>
          <dgm:bulletEnabled val="1"/>
        </dgm:presLayoutVars>
      </dgm:prSet>
      <dgm:spPr/>
      <dgm:t>
        <a:bodyPr/>
        <a:lstStyle/>
        <a:p>
          <a:endParaRPr lang="en-US"/>
        </a:p>
      </dgm:t>
    </dgm:pt>
    <dgm:pt modelId="{9BCADEE1-1038-429A-8684-215C0F39D8B5}" type="pres">
      <dgm:prSet presAssocID="{5EE84A72-CF9F-47E5-95C8-4D97C3391F4B}" presName="spNode" presStyleCnt="0"/>
      <dgm:spPr/>
    </dgm:pt>
    <dgm:pt modelId="{E45D4158-8322-4E29-BC7C-4B3F5ABE600D}" type="pres">
      <dgm:prSet presAssocID="{37CAECAB-A99E-4C81-9E8B-026B8FF599DE}" presName="sibTrans" presStyleLbl="sibTrans1D1" presStyleIdx="2" presStyleCnt="4"/>
      <dgm:spPr/>
      <dgm:t>
        <a:bodyPr/>
        <a:lstStyle/>
        <a:p>
          <a:endParaRPr lang="en-US"/>
        </a:p>
      </dgm:t>
    </dgm:pt>
    <dgm:pt modelId="{790F5E2B-6C15-47B2-A3E4-CA9408529FBB}" type="pres">
      <dgm:prSet presAssocID="{6A55D80E-1F16-4A99-BD19-442493A6F9D4}" presName="node" presStyleLbl="node1" presStyleIdx="3" presStyleCnt="4">
        <dgm:presLayoutVars>
          <dgm:bulletEnabled val="1"/>
        </dgm:presLayoutVars>
      </dgm:prSet>
      <dgm:spPr/>
      <dgm:t>
        <a:bodyPr/>
        <a:lstStyle/>
        <a:p>
          <a:endParaRPr lang="en-US"/>
        </a:p>
      </dgm:t>
    </dgm:pt>
    <dgm:pt modelId="{81E8CCA6-23DE-4B02-A200-B749925BC963}" type="pres">
      <dgm:prSet presAssocID="{6A55D80E-1F16-4A99-BD19-442493A6F9D4}" presName="spNode" presStyleCnt="0"/>
      <dgm:spPr/>
    </dgm:pt>
    <dgm:pt modelId="{5E23FE35-A83E-463F-96E9-7B9342EDA150}" type="pres">
      <dgm:prSet presAssocID="{6DAA958C-D9E2-4D5A-946E-F697BD184756}" presName="sibTrans" presStyleLbl="sibTrans1D1" presStyleIdx="3" presStyleCnt="4"/>
      <dgm:spPr/>
      <dgm:t>
        <a:bodyPr/>
        <a:lstStyle/>
        <a:p>
          <a:endParaRPr lang="en-US"/>
        </a:p>
      </dgm:t>
    </dgm:pt>
  </dgm:ptLst>
  <dgm:cxnLst>
    <dgm:cxn modelId="{B6DDFCB7-9BF6-4531-9A8A-C4718752E447}" type="presOf" srcId="{CB738BFB-E69C-436F-9783-BEB0FA6FFE10}" destId="{E823968E-3F17-43A5-9EDD-7D139E211371}" srcOrd="0" destOrd="0" presId="urn:microsoft.com/office/officeart/2005/8/layout/cycle6"/>
    <dgm:cxn modelId="{E5B244EB-A485-4C33-9CBB-A611427FBDA6}" type="presOf" srcId="{6A55D80E-1F16-4A99-BD19-442493A6F9D4}" destId="{790F5E2B-6C15-47B2-A3E4-CA9408529FBB}" srcOrd="0" destOrd="0" presId="urn:microsoft.com/office/officeart/2005/8/layout/cycle6"/>
    <dgm:cxn modelId="{279A9BBE-F47E-4730-91C8-4ACD53C52D3B}" type="presOf" srcId="{6DAA958C-D9E2-4D5A-946E-F697BD184756}" destId="{5E23FE35-A83E-463F-96E9-7B9342EDA150}" srcOrd="0" destOrd="0" presId="urn:microsoft.com/office/officeart/2005/8/layout/cycle6"/>
    <dgm:cxn modelId="{FE647B67-1458-436B-A0E7-CD6E40613C73}" type="presOf" srcId="{3D5B72A5-D885-48E6-BA40-D0F638B7A578}" destId="{841673F0-B759-41FD-8857-D5BD49F39300}" srcOrd="0" destOrd="0" presId="urn:microsoft.com/office/officeart/2005/8/layout/cycle6"/>
    <dgm:cxn modelId="{881B7586-206F-4922-9D99-84D91126A3E3}" type="presOf" srcId="{6884E9C2-D0A2-4C6B-9434-A9D09B5CE62E}" destId="{247BC75A-63F9-48D8-8E1C-B8233470B2D5}" srcOrd="0" destOrd="0" presId="urn:microsoft.com/office/officeart/2005/8/layout/cycle6"/>
    <dgm:cxn modelId="{EBEEA63E-E244-4CDA-ABE0-292D1420D9DB}" type="presOf" srcId="{3ACE4C0D-34AE-4EDF-AB18-EC7023FB442C}" destId="{3EDF1243-112E-406B-8E8C-F4570C2CBE35}" srcOrd="0" destOrd="0" presId="urn:microsoft.com/office/officeart/2005/8/layout/cycle6"/>
    <dgm:cxn modelId="{2DC19697-2A9E-4E0A-9DAC-21464A70441D}" srcId="{F9107EF6-F022-466F-AA97-21E3A98858FD}" destId="{5EE84A72-CF9F-47E5-95C8-4D97C3391F4B}" srcOrd="2" destOrd="0" parTransId="{647E5B09-9522-48B8-8C9E-6C81631DED54}" sibTransId="{37CAECAB-A99E-4C81-9E8B-026B8FF599DE}"/>
    <dgm:cxn modelId="{146C33A9-BB87-4ECF-A9F6-5888564E9D48}" srcId="{F9107EF6-F022-466F-AA97-21E3A98858FD}" destId="{3ACE4C0D-34AE-4EDF-AB18-EC7023FB442C}" srcOrd="1" destOrd="0" parTransId="{2CD64CCA-C011-4829-BB74-7298CF66E37A}" sibTransId="{CB738BFB-E69C-436F-9783-BEB0FA6FFE10}"/>
    <dgm:cxn modelId="{44446B40-D3FE-45BF-B816-F3D4FEEF69ED}" srcId="{F9107EF6-F022-466F-AA97-21E3A98858FD}" destId="{6A55D80E-1F16-4A99-BD19-442493A6F9D4}" srcOrd="3" destOrd="0" parTransId="{AA723A2C-FBBE-4BBE-9785-311471BD01C6}" sibTransId="{6DAA958C-D9E2-4D5A-946E-F697BD184756}"/>
    <dgm:cxn modelId="{B5FFCACE-D9C1-448F-95F3-0B8219F29556}" type="presOf" srcId="{37CAECAB-A99E-4C81-9E8B-026B8FF599DE}" destId="{E45D4158-8322-4E29-BC7C-4B3F5ABE600D}" srcOrd="0" destOrd="0" presId="urn:microsoft.com/office/officeart/2005/8/layout/cycle6"/>
    <dgm:cxn modelId="{2494A48B-649A-4307-800A-8274388D3B68}" type="presOf" srcId="{5EE84A72-CF9F-47E5-95C8-4D97C3391F4B}" destId="{C1414DA8-F839-4DAD-886B-CB51F22A97CA}" srcOrd="0" destOrd="0" presId="urn:microsoft.com/office/officeart/2005/8/layout/cycle6"/>
    <dgm:cxn modelId="{4A4501B3-4968-4B12-A67A-364C11C2C9E5}" type="presOf" srcId="{F9107EF6-F022-466F-AA97-21E3A98858FD}" destId="{FC2B8636-CE23-4D8A-9073-497ED813EB96}" srcOrd="0" destOrd="0" presId="urn:microsoft.com/office/officeart/2005/8/layout/cycle6"/>
    <dgm:cxn modelId="{FEF84263-BE70-428A-BEBE-7AE81F0E3CEE}" srcId="{F9107EF6-F022-466F-AA97-21E3A98858FD}" destId="{3D5B72A5-D885-48E6-BA40-D0F638B7A578}" srcOrd="0" destOrd="0" parTransId="{764729AA-C79A-459C-8BCE-0FED79E30221}" sibTransId="{6884E9C2-D0A2-4C6B-9434-A9D09B5CE62E}"/>
    <dgm:cxn modelId="{D562E93B-C6DB-48D2-8647-98B70FDFC181}" type="presParOf" srcId="{FC2B8636-CE23-4D8A-9073-497ED813EB96}" destId="{841673F0-B759-41FD-8857-D5BD49F39300}" srcOrd="0" destOrd="0" presId="urn:microsoft.com/office/officeart/2005/8/layout/cycle6"/>
    <dgm:cxn modelId="{DD12AD9A-4FB6-4792-A70F-D38610F8D2D4}" type="presParOf" srcId="{FC2B8636-CE23-4D8A-9073-497ED813EB96}" destId="{B01B9CFE-3DFE-487D-8AF0-9634288B8B5B}" srcOrd="1" destOrd="0" presId="urn:microsoft.com/office/officeart/2005/8/layout/cycle6"/>
    <dgm:cxn modelId="{D0C5E258-681A-427E-9FA3-C4BD4964D13D}" type="presParOf" srcId="{FC2B8636-CE23-4D8A-9073-497ED813EB96}" destId="{247BC75A-63F9-48D8-8E1C-B8233470B2D5}" srcOrd="2" destOrd="0" presId="urn:microsoft.com/office/officeart/2005/8/layout/cycle6"/>
    <dgm:cxn modelId="{1D7329AD-6A27-4EB9-B3C0-258EA0851DDA}" type="presParOf" srcId="{FC2B8636-CE23-4D8A-9073-497ED813EB96}" destId="{3EDF1243-112E-406B-8E8C-F4570C2CBE35}" srcOrd="3" destOrd="0" presId="urn:microsoft.com/office/officeart/2005/8/layout/cycle6"/>
    <dgm:cxn modelId="{78BCCE4A-7752-49DA-BA21-D75A0D71A185}" type="presParOf" srcId="{FC2B8636-CE23-4D8A-9073-497ED813EB96}" destId="{791E2C28-0C8F-487F-81EA-4D314A4213DD}" srcOrd="4" destOrd="0" presId="urn:microsoft.com/office/officeart/2005/8/layout/cycle6"/>
    <dgm:cxn modelId="{5348F194-FFD5-4ABB-B124-3B8C9AAEE66D}" type="presParOf" srcId="{FC2B8636-CE23-4D8A-9073-497ED813EB96}" destId="{E823968E-3F17-43A5-9EDD-7D139E211371}" srcOrd="5" destOrd="0" presId="urn:microsoft.com/office/officeart/2005/8/layout/cycle6"/>
    <dgm:cxn modelId="{17187945-6607-4493-96DD-030134A8CDA5}" type="presParOf" srcId="{FC2B8636-CE23-4D8A-9073-497ED813EB96}" destId="{C1414DA8-F839-4DAD-886B-CB51F22A97CA}" srcOrd="6" destOrd="0" presId="urn:microsoft.com/office/officeart/2005/8/layout/cycle6"/>
    <dgm:cxn modelId="{F9259565-7287-416F-884C-FBE14A5BBBF2}" type="presParOf" srcId="{FC2B8636-CE23-4D8A-9073-497ED813EB96}" destId="{9BCADEE1-1038-429A-8684-215C0F39D8B5}" srcOrd="7" destOrd="0" presId="urn:microsoft.com/office/officeart/2005/8/layout/cycle6"/>
    <dgm:cxn modelId="{DB19C53A-8ACA-4F75-8D2A-BCBABBBE27F1}" type="presParOf" srcId="{FC2B8636-CE23-4D8A-9073-497ED813EB96}" destId="{E45D4158-8322-4E29-BC7C-4B3F5ABE600D}" srcOrd="8" destOrd="0" presId="urn:microsoft.com/office/officeart/2005/8/layout/cycle6"/>
    <dgm:cxn modelId="{C4910A1B-9A38-4A1F-9EF9-0C5A6E36D691}" type="presParOf" srcId="{FC2B8636-CE23-4D8A-9073-497ED813EB96}" destId="{790F5E2B-6C15-47B2-A3E4-CA9408529FBB}" srcOrd="9" destOrd="0" presId="urn:microsoft.com/office/officeart/2005/8/layout/cycle6"/>
    <dgm:cxn modelId="{B3F78D8F-FC0A-47DF-B5E6-A0FB0AD12E49}" type="presParOf" srcId="{FC2B8636-CE23-4D8A-9073-497ED813EB96}" destId="{81E8CCA6-23DE-4B02-A200-B749925BC963}" srcOrd="10" destOrd="0" presId="urn:microsoft.com/office/officeart/2005/8/layout/cycle6"/>
    <dgm:cxn modelId="{8FDB9A48-8954-4846-8BD7-D85509DF70E3}" type="presParOf" srcId="{FC2B8636-CE23-4D8A-9073-497ED813EB96}" destId="{5E23FE35-A83E-463F-96E9-7B9342EDA150}" srcOrd="11"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54D7D9F-04B2-4D13-A80A-FDC9489B773D}" type="doc">
      <dgm:prSet loTypeId="urn:microsoft.com/office/officeart/2005/8/layout/arrow6" loCatId="process" qsTypeId="urn:microsoft.com/office/officeart/2005/8/quickstyle/simple3" qsCatId="simple" csTypeId="urn:microsoft.com/office/officeart/2005/8/colors/colorful4" csCatId="colorful" phldr="1"/>
      <dgm:spPr/>
      <dgm:t>
        <a:bodyPr/>
        <a:lstStyle/>
        <a:p>
          <a:endParaRPr lang="en-US"/>
        </a:p>
      </dgm:t>
    </dgm:pt>
    <dgm:pt modelId="{8A06A4D8-DE48-489C-A8FB-29AABB6E71CF}">
      <dgm:prSet phldrT="[Text]" custT="1"/>
      <dgm:spPr/>
      <dgm:t>
        <a:bodyPr/>
        <a:lstStyle/>
        <a:p>
          <a:r>
            <a:rPr lang="en-US" sz="6000" b="1" dirty="0" smtClean="0">
              <a:effectLst>
                <a:outerShdw blurRad="38100" dist="38100" dir="2700000" algn="tl">
                  <a:srgbClr val="000000">
                    <a:alpha val="43137"/>
                  </a:srgbClr>
                </a:outerShdw>
              </a:effectLst>
            </a:rPr>
            <a:t>Way to fellow for Right Register and Tone </a:t>
          </a:r>
          <a:endParaRPr lang="en-US" sz="6000" b="1" dirty="0">
            <a:effectLst>
              <a:outerShdw blurRad="38100" dist="38100" dir="2700000" algn="tl">
                <a:srgbClr val="000000">
                  <a:alpha val="43137"/>
                </a:srgbClr>
              </a:outerShdw>
            </a:effectLst>
          </a:endParaRPr>
        </a:p>
      </dgm:t>
    </dgm:pt>
    <dgm:pt modelId="{BACC975E-6AFD-4683-AEF8-031DAE54CC95}" type="sibTrans" cxnId="{537A5559-770F-44AB-800B-E8DC9595F290}">
      <dgm:prSet/>
      <dgm:spPr/>
      <dgm:t>
        <a:bodyPr/>
        <a:lstStyle/>
        <a:p>
          <a:endParaRPr lang="en-US"/>
        </a:p>
      </dgm:t>
    </dgm:pt>
    <dgm:pt modelId="{878038F7-E17C-4858-8424-A33BEBE504E0}" type="parTrans" cxnId="{537A5559-770F-44AB-800B-E8DC9595F290}">
      <dgm:prSet/>
      <dgm:spPr/>
      <dgm:t>
        <a:bodyPr/>
        <a:lstStyle/>
        <a:p>
          <a:endParaRPr lang="en-US"/>
        </a:p>
      </dgm:t>
    </dgm:pt>
    <dgm:pt modelId="{080D49DF-861E-4F0E-B6A7-FBB524EE7771}" type="pres">
      <dgm:prSet presAssocID="{E54D7D9F-04B2-4D13-A80A-FDC9489B773D}" presName="compositeShape" presStyleCnt="0">
        <dgm:presLayoutVars>
          <dgm:chMax val="2"/>
          <dgm:dir/>
          <dgm:resizeHandles val="exact"/>
        </dgm:presLayoutVars>
      </dgm:prSet>
      <dgm:spPr/>
      <dgm:t>
        <a:bodyPr/>
        <a:lstStyle/>
        <a:p>
          <a:endParaRPr lang="en-US"/>
        </a:p>
      </dgm:t>
    </dgm:pt>
    <dgm:pt modelId="{91A4DD86-EF1E-43E6-B563-48B2E19E4934}" type="pres">
      <dgm:prSet presAssocID="{E54D7D9F-04B2-4D13-A80A-FDC9489B773D}" presName="ribbon" presStyleLbl="node1" presStyleIdx="0" presStyleCnt="1" custScaleY="68224" custLinFactNeighborX="-25000" custLinFactNeighborY="62171"/>
      <dgm:spPr/>
    </dgm:pt>
    <dgm:pt modelId="{8ECF1172-A0BF-4099-BE3C-DEC81E443FF8}" type="pres">
      <dgm:prSet presAssocID="{E54D7D9F-04B2-4D13-A80A-FDC9489B773D}" presName="leftArrowText" presStyleLbl="node1" presStyleIdx="0" presStyleCnt="1" custAng="10800000" custFlipVert="1" custFlipHor="1" custScaleX="302871" custScaleY="84235" custLinFactNeighborX="68182" custLinFactNeighborY="-58908">
        <dgm:presLayoutVars>
          <dgm:chMax val="0"/>
          <dgm:bulletEnabled val="1"/>
        </dgm:presLayoutVars>
      </dgm:prSet>
      <dgm:spPr/>
      <dgm:t>
        <a:bodyPr/>
        <a:lstStyle/>
        <a:p>
          <a:endParaRPr lang="en-US"/>
        </a:p>
      </dgm:t>
    </dgm:pt>
    <dgm:pt modelId="{5876063A-428A-4D2E-B00E-E7209151AB09}" type="pres">
      <dgm:prSet presAssocID="{E54D7D9F-04B2-4D13-A80A-FDC9489B773D}" presName="rightArrowText" presStyleLbl="node1" presStyleIdx="0" presStyleCnt="1">
        <dgm:presLayoutVars>
          <dgm:chMax val="0"/>
          <dgm:bulletEnabled val="1"/>
        </dgm:presLayoutVars>
      </dgm:prSet>
      <dgm:spPr/>
      <dgm:t>
        <a:bodyPr/>
        <a:lstStyle/>
        <a:p>
          <a:endParaRPr lang="en-US"/>
        </a:p>
      </dgm:t>
    </dgm:pt>
  </dgm:ptLst>
  <dgm:cxnLst>
    <dgm:cxn modelId="{537A5559-770F-44AB-800B-E8DC9595F290}" srcId="{E54D7D9F-04B2-4D13-A80A-FDC9489B773D}" destId="{8A06A4D8-DE48-489C-A8FB-29AABB6E71CF}" srcOrd="0" destOrd="0" parTransId="{878038F7-E17C-4858-8424-A33BEBE504E0}" sibTransId="{BACC975E-6AFD-4683-AEF8-031DAE54CC95}"/>
    <dgm:cxn modelId="{2B700D43-B566-4FE5-BFBB-5EF109BC9FAD}" type="presOf" srcId="{8A06A4D8-DE48-489C-A8FB-29AABB6E71CF}" destId="{8ECF1172-A0BF-4099-BE3C-DEC81E443FF8}" srcOrd="0" destOrd="0" presId="urn:microsoft.com/office/officeart/2005/8/layout/arrow6"/>
    <dgm:cxn modelId="{E2C9222B-95AF-4C51-A96B-716144685190}" type="presOf" srcId="{E54D7D9F-04B2-4D13-A80A-FDC9489B773D}" destId="{080D49DF-861E-4F0E-B6A7-FBB524EE7771}" srcOrd="0" destOrd="0" presId="urn:microsoft.com/office/officeart/2005/8/layout/arrow6"/>
    <dgm:cxn modelId="{B54A835A-E6B7-4892-B9E9-48227935D3DA}" type="presParOf" srcId="{080D49DF-861E-4F0E-B6A7-FBB524EE7771}" destId="{91A4DD86-EF1E-43E6-B563-48B2E19E4934}" srcOrd="0" destOrd="0" presId="urn:microsoft.com/office/officeart/2005/8/layout/arrow6"/>
    <dgm:cxn modelId="{161AFB86-FF8C-4597-A692-D6C7BBFDEAA6}" type="presParOf" srcId="{080D49DF-861E-4F0E-B6A7-FBB524EE7771}" destId="{8ECF1172-A0BF-4099-BE3C-DEC81E443FF8}" srcOrd="1" destOrd="0" presId="urn:microsoft.com/office/officeart/2005/8/layout/arrow6"/>
    <dgm:cxn modelId="{7A7B1EFD-B242-4146-BD1B-AB33CD5250C2}" type="presParOf" srcId="{080D49DF-861E-4F0E-B6A7-FBB524EE7771}" destId="{5876063A-428A-4D2E-B00E-E7209151AB09}"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4A40F1-747E-4BA8-AB66-C658E01D5381}">
      <dsp:nvSpPr>
        <dsp:cNvPr id="0" name=""/>
        <dsp:cNvSpPr/>
      </dsp:nvSpPr>
      <dsp:spPr>
        <a:xfrm>
          <a:off x="3757322" y="2007879"/>
          <a:ext cx="4212580" cy="4212580"/>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82550" tIns="82550" rIns="82550" bIns="82550" numCol="1" spcCol="1270" anchor="ctr" anchorCtr="0">
          <a:noAutofit/>
        </a:bodyPr>
        <a:lstStyle/>
        <a:p>
          <a:pPr lvl="0" algn="ctr" defTabSz="2889250">
            <a:lnSpc>
              <a:spcPct val="90000"/>
            </a:lnSpc>
            <a:spcBef>
              <a:spcPct val="0"/>
            </a:spcBef>
            <a:spcAft>
              <a:spcPct val="35000"/>
            </a:spcAft>
          </a:pPr>
          <a:r>
            <a:rPr lang="en-US" sz="6500" kern="1200" dirty="0" smtClean="0"/>
            <a:t>Writing  </a:t>
          </a:r>
          <a:endParaRPr lang="en-US" sz="6500" kern="1200" dirty="0"/>
        </a:p>
      </dsp:txBody>
      <dsp:txXfrm>
        <a:off x="4374240" y="2624797"/>
        <a:ext cx="2978744" cy="2978744"/>
      </dsp:txXfrm>
    </dsp:sp>
    <dsp:sp modelId="{0217AE9A-DB6B-4FBF-A774-D7A0CC01E1B6}">
      <dsp:nvSpPr>
        <dsp:cNvPr id="0" name=""/>
        <dsp:cNvSpPr/>
      </dsp:nvSpPr>
      <dsp:spPr>
        <a:xfrm>
          <a:off x="3497627" y="320347"/>
          <a:ext cx="4731970" cy="2106290"/>
        </a:xfrm>
        <a:prstGeom prst="ellipse">
          <a:avLst/>
        </a:prstGeom>
        <a:solidFill>
          <a:schemeClr val="accent4">
            <a:alpha val="50000"/>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6040" tIns="66040" rIns="66040" bIns="66040" numCol="1" spcCol="1270" anchor="ctr" anchorCtr="0">
          <a:noAutofit/>
        </a:bodyPr>
        <a:lstStyle/>
        <a:p>
          <a:pPr lvl="0" algn="ctr" defTabSz="2311400">
            <a:lnSpc>
              <a:spcPct val="90000"/>
            </a:lnSpc>
            <a:spcBef>
              <a:spcPct val="0"/>
            </a:spcBef>
            <a:spcAft>
              <a:spcPct val="35000"/>
            </a:spcAft>
          </a:pPr>
          <a:r>
            <a:rPr lang="en-US" sz="5200" kern="1200" dirty="0" smtClean="0"/>
            <a:t>Pre writing </a:t>
          </a:r>
          <a:endParaRPr lang="en-US" sz="5200" kern="1200" dirty="0"/>
        </a:p>
      </dsp:txBody>
      <dsp:txXfrm>
        <a:off x="4190608" y="628806"/>
        <a:ext cx="3346008" cy="1489372"/>
      </dsp:txXfrm>
    </dsp:sp>
    <dsp:sp modelId="{4441CC33-CEA7-4C10-8180-A687C2C77ED4}">
      <dsp:nvSpPr>
        <dsp:cNvPr id="0" name=""/>
        <dsp:cNvSpPr/>
      </dsp:nvSpPr>
      <dsp:spPr>
        <a:xfrm>
          <a:off x="6929512" y="3939040"/>
          <a:ext cx="4725377" cy="2106290"/>
        </a:xfrm>
        <a:prstGeom prst="ellipse">
          <a:avLst/>
        </a:prstGeom>
        <a:solidFill>
          <a:schemeClr val="accent4">
            <a:alpha val="50000"/>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6040" tIns="66040" rIns="66040" bIns="66040" numCol="1" spcCol="1270" anchor="ctr" anchorCtr="0">
          <a:noAutofit/>
        </a:bodyPr>
        <a:lstStyle/>
        <a:p>
          <a:pPr lvl="0" algn="ctr" defTabSz="2311400">
            <a:lnSpc>
              <a:spcPct val="90000"/>
            </a:lnSpc>
            <a:spcBef>
              <a:spcPct val="0"/>
            </a:spcBef>
            <a:spcAft>
              <a:spcPct val="35000"/>
            </a:spcAft>
          </a:pPr>
          <a:r>
            <a:rPr lang="en-US" sz="5200" kern="1200" dirty="0" smtClean="0"/>
            <a:t>Post writing </a:t>
          </a:r>
          <a:endParaRPr lang="en-US" sz="5200" kern="1200" dirty="0"/>
        </a:p>
      </dsp:txBody>
      <dsp:txXfrm>
        <a:off x="7621527" y="4247499"/>
        <a:ext cx="3341347" cy="1489372"/>
      </dsp:txXfrm>
    </dsp:sp>
    <dsp:sp modelId="{602B4213-39E0-4663-9DC5-89366A64BCCC}">
      <dsp:nvSpPr>
        <dsp:cNvPr id="0" name=""/>
        <dsp:cNvSpPr/>
      </dsp:nvSpPr>
      <dsp:spPr>
        <a:xfrm>
          <a:off x="823174" y="3995289"/>
          <a:ext cx="4124073" cy="2106290"/>
        </a:xfrm>
        <a:prstGeom prst="ellipse">
          <a:avLst/>
        </a:prstGeom>
        <a:solidFill>
          <a:schemeClr val="accent4">
            <a:alpha val="50000"/>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6040" tIns="66040" rIns="66040" bIns="66040" numCol="1" spcCol="1270" anchor="ctr" anchorCtr="0">
          <a:noAutofit/>
        </a:bodyPr>
        <a:lstStyle/>
        <a:p>
          <a:pPr lvl="0" algn="ctr" defTabSz="2311400">
            <a:lnSpc>
              <a:spcPct val="90000"/>
            </a:lnSpc>
            <a:spcBef>
              <a:spcPct val="0"/>
            </a:spcBef>
            <a:spcAft>
              <a:spcPct val="35000"/>
            </a:spcAft>
          </a:pPr>
          <a:r>
            <a:rPr lang="en-US" sz="5200" kern="1200" dirty="0" smtClean="0"/>
            <a:t>Drafting </a:t>
          </a:r>
          <a:endParaRPr lang="en-US" sz="5200" kern="1200" dirty="0"/>
        </a:p>
      </dsp:txBody>
      <dsp:txXfrm>
        <a:off x="1427131" y="4303748"/>
        <a:ext cx="2916159" cy="14893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42B931-628D-474D-A6EE-DCADE25269E9}">
      <dsp:nvSpPr>
        <dsp:cNvPr id="0" name=""/>
        <dsp:cNvSpPr/>
      </dsp:nvSpPr>
      <dsp:spPr>
        <a:xfrm>
          <a:off x="6199899" y="114786"/>
          <a:ext cx="4974358" cy="298461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Editing </a:t>
          </a:r>
          <a:endParaRPr lang="en-US" sz="6500" kern="1200" dirty="0"/>
        </a:p>
      </dsp:txBody>
      <dsp:txXfrm>
        <a:off x="6199899" y="114786"/>
        <a:ext cx="4974358" cy="2984614"/>
      </dsp:txXfrm>
    </dsp:sp>
    <dsp:sp modelId="{8E6FDF51-7A31-417D-A4A6-C82B1C80BABF}">
      <dsp:nvSpPr>
        <dsp:cNvPr id="0" name=""/>
        <dsp:cNvSpPr/>
      </dsp:nvSpPr>
      <dsp:spPr>
        <a:xfrm>
          <a:off x="787797" y="3308144"/>
          <a:ext cx="4974358" cy="2984614"/>
        </a:xfrm>
        <a:prstGeom prst="rect">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Proof writing </a:t>
          </a:r>
          <a:endParaRPr lang="en-US" sz="6500" kern="1200" dirty="0"/>
        </a:p>
      </dsp:txBody>
      <dsp:txXfrm>
        <a:off x="787797" y="3308144"/>
        <a:ext cx="4974358" cy="2984614"/>
      </dsp:txXfrm>
    </dsp:sp>
    <dsp:sp modelId="{166CCDC1-5AF6-44C5-8B59-8D7FDDCC62B1}">
      <dsp:nvSpPr>
        <dsp:cNvPr id="0" name=""/>
        <dsp:cNvSpPr/>
      </dsp:nvSpPr>
      <dsp:spPr>
        <a:xfrm>
          <a:off x="6270236" y="3399881"/>
          <a:ext cx="4974358" cy="2984614"/>
        </a:xfrm>
        <a:prstGeom prst="rect">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Peer Review </a:t>
          </a:r>
          <a:endParaRPr lang="en-US" sz="6500" kern="1200" dirty="0"/>
        </a:p>
      </dsp:txBody>
      <dsp:txXfrm>
        <a:off x="6270236" y="3399881"/>
        <a:ext cx="4974358" cy="2984614"/>
      </dsp:txXfrm>
    </dsp:sp>
    <dsp:sp modelId="{03037689-67C6-4299-9315-749CF5A57611}">
      <dsp:nvSpPr>
        <dsp:cNvPr id="0" name=""/>
        <dsp:cNvSpPr/>
      </dsp:nvSpPr>
      <dsp:spPr>
        <a:xfrm>
          <a:off x="825503" y="108030"/>
          <a:ext cx="4974358" cy="2984614"/>
        </a:xfrm>
        <a:prstGeom prst="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b="0" i="0" kern="1200" dirty="0" smtClean="0"/>
            <a:t>Revising</a:t>
          </a:r>
          <a:endParaRPr lang="en-US" sz="6500" kern="1200" dirty="0"/>
        </a:p>
      </dsp:txBody>
      <dsp:txXfrm>
        <a:off x="825503" y="108030"/>
        <a:ext cx="4974358" cy="29846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1673F0-B759-41FD-8857-D5BD49F39300}">
      <dsp:nvSpPr>
        <dsp:cNvPr id="0" name=""/>
        <dsp:cNvSpPr/>
      </dsp:nvSpPr>
      <dsp:spPr>
        <a:xfrm>
          <a:off x="4893468" y="2342"/>
          <a:ext cx="2405062" cy="156329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smtClean="0">
              <a:latin typeface="Candara" pitchFamily="34" charset="0"/>
              <a:cs typeface="Arial" pitchFamily="34" charset="0"/>
            </a:rPr>
            <a:t>Adding</a:t>
          </a:r>
          <a:endParaRPr lang="en-US" sz="3000" kern="1200" dirty="0"/>
        </a:p>
      </dsp:txBody>
      <dsp:txXfrm>
        <a:off x="4969782" y="78656"/>
        <a:ext cx="2252434" cy="1410662"/>
      </dsp:txXfrm>
    </dsp:sp>
    <dsp:sp modelId="{247BC75A-63F9-48D8-8E1C-B8233470B2D5}">
      <dsp:nvSpPr>
        <dsp:cNvPr id="0" name=""/>
        <dsp:cNvSpPr/>
      </dsp:nvSpPr>
      <dsp:spPr>
        <a:xfrm>
          <a:off x="3514291" y="783987"/>
          <a:ext cx="5163415" cy="5163415"/>
        </a:xfrm>
        <a:custGeom>
          <a:avLst/>
          <a:gdLst/>
          <a:ahLst/>
          <a:cxnLst/>
          <a:rect l="0" t="0" r="0" b="0"/>
          <a:pathLst>
            <a:path>
              <a:moveTo>
                <a:pt x="3801547" y="306360"/>
              </a:moveTo>
              <a:arcTo wR="2581707" hR="2581707" stAng="17891776" swAng="2624709"/>
            </a:path>
          </a:pathLst>
        </a:custGeom>
        <a:noFill/>
        <a:ln w="6350" cap="flat" cmpd="sng" algn="ctr">
          <a:solidFill>
            <a:schemeClr val="accent4">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EDF1243-112E-406B-8E8C-F4570C2CBE35}">
      <dsp:nvSpPr>
        <dsp:cNvPr id="0" name=""/>
        <dsp:cNvSpPr/>
      </dsp:nvSpPr>
      <dsp:spPr>
        <a:xfrm>
          <a:off x="7475175" y="2584049"/>
          <a:ext cx="2405062" cy="1563290"/>
        </a:xfrm>
        <a:prstGeom prst="roundRect">
          <a:avLst/>
        </a:prstGeom>
        <a:solidFill>
          <a:schemeClr val="accent4">
            <a:hueOff val="3465231"/>
            <a:satOff val="-15989"/>
            <a:lumOff val="5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smtClean="0">
              <a:latin typeface="Candara" pitchFamily="34" charset="0"/>
              <a:cs typeface="Arial" pitchFamily="34" charset="0"/>
            </a:rPr>
            <a:t>Rearranging</a:t>
          </a:r>
          <a:endParaRPr lang="en-US" sz="3000" kern="1200" dirty="0"/>
        </a:p>
      </dsp:txBody>
      <dsp:txXfrm>
        <a:off x="7551489" y="2660363"/>
        <a:ext cx="2252434" cy="1410662"/>
      </dsp:txXfrm>
    </dsp:sp>
    <dsp:sp modelId="{E823968E-3F17-43A5-9EDD-7D139E211371}">
      <dsp:nvSpPr>
        <dsp:cNvPr id="0" name=""/>
        <dsp:cNvSpPr/>
      </dsp:nvSpPr>
      <dsp:spPr>
        <a:xfrm>
          <a:off x="3514291" y="783987"/>
          <a:ext cx="5163415" cy="5163415"/>
        </a:xfrm>
        <a:custGeom>
          <a:avLst/>
          <a:gdLst/>
          <a:ahLst/>
          <a:cxnLst/>
          <a:rect l="0" t="0" r="0" b="0"/>
          <a:pathLst>
            <a:path>
              <a:moveTo>
                <a:pt x="5036240" y="3382009"/>
              </a:moveTo>
              <a:arcTo wR="2581707" hR="2581707" stAng="1083515" swAng="2624709"/>
            </a:path>
          </a:pathLst>
        </a:custGeom>
        <a:noFill/>
        <a:ln w="6350" cap="flat" cmpd="sng" algn="ctr">
          <a:solidFill>
            <a:schemeClr val="accent4">
              <a:hueOff val="3465231"/>
              <a:satOff val="-15989"/>
              <a:lumOff val="588"/>
              <a:alphaOff val="0"/>
            </a:schemeClr>
          </a:solidFill>
          <a:prstDash val="solid"/>
          <a:miter lim="800000"/>
        </a:ln>
        <a:effectLst/>
      </dsp:spPr>
      <dsp:style>
        <a:lnRef idx="1">
          <a:scrgbClr r="0" g="0" b="0"/>
        </a:lnRef>
        <a:fillRef idx="0">
          <a:scrgbClr r="0" g="0" b="0"/>
        </a:fillRef>
        <a:effectRef idx="0">
          <a:scrgbClr r="0" g="0" b="0"/>
        </a:effectRef>
        <a:fontRef idx="minor"/>
      </dsp:style>
    </dsp:sp>
    <dsp:sp modelId="{C1414DA8-F839-4DAD-886B-CB51F22A97CA}">
      <dsp:nvSpPr>
        <dsp:cNvPr id="0" name=""/>
        <dsp:cNvSpPr/>
      </dsp:nvSpPr>
      <dsp:spPr>
        <a:xfrm>
          <a:off x="4893468" y="5165757"/>
          <a:ext cx="2405062" cy="1563290"/>
        </a:xfrm>
        <a:prstGeom prst="roundRect">
          <a:avLst/>
        </a:prstGeom>
        <a:solidFill>
          <a:schemeClr val="accent4">
            <a:hueOff val="6930461"/>
            <a:satOff val="-31979"/>
            <a:lumOff val="1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smtClean="0">
              <a:latin typeface="Candara" pitchFamily="34" charset="0"/>
              <a:cs typeface="Arial" pitchFamily="34" charset="0"/>
            </a:rPr>
            <a:t>Removing</a:t>
          </a:r>
          <a:endParaRPr lang="en-US" sz="3000" kern="1200" dirty="0"/>
        </a:p>
      </dsp:txBody>
      <dsp:txXfrm>
        <a:off x="4969782" y="5242071"/>
        <a:ext cx="2252434" cy="1410662"/>
      </dsp:txXfrm>
    </dsp:sp>
    <dsp:sp modelId="{E45D4158-8322-4E29-BC7C-4B3F5ABE600D}">
      <dsp:nvSpPr>
        <dsp:cNvPr id="0" name=""/>
        <dsp:cNvSpPr/>
      </dsp:nvSpPr>
      <dsp:spPr>
        <a:xfrm>
          <a:off x="3514291" y="783987"/>
          <a:ext cx="5163415" cy="5163415"/>
        </a:xfrm>
        <a:custGeom>
          <a:avLst/>
          <a:gdLst/>
          <a:ahLst/>
          <a:cxnLst/>
          <a:rect l="0" t="0" r="0" b="0"/>
          <a:pathLst>
            <a:path>
              <a:moveTo>
                <a:pt x="1361867" y="4857054"/>
              </a:moveTo>
              <a:arcTo wR="2581707" hR="2581707" stAng="7091776" swAng="2624709"/>
            </a:path>
          </a:pathLst>
        </a:custGeom>
        <a:noFill/>
        <a:ln w="6350" cap="flat" cmpd="sng" algn="ctr">
          <a:solidFill>
            <a:schemeClr val="accent4">
              <a:hueOff val="6930461"/>
              <a:satOff val="-31979"/>
              <a:lumOff val="1177"/>
              <a:alphaOff val="0"/>
            </a:schemeClr>
          </a:solidFill>
          <a:prstDash val="solid"/>
          <a:miter lim="800000"/>
        </a:ln>
        <a:effectLst/>
      </dsp:spPr>
      <dsp:style>
        <a:lnRef idx="1">
          <a:scrgbClr r="0" g="0" b="0"/>
        </a:lnRef>
        <a:fillRef idx="0">
          <a:scrgbClr r="0" g="0" b="0"/>
        </a:fillRef>
        <a:effectRef idx="0">
          <a:scrgbClr r="0" g="0" b="0"/>
        </a:effectRef>
        <a:fontRef idx="minor"/>
      </dsp:style>
    </dsp:sp>
    <dsp:sp modelId="{790F5E2B-6C15-47B2-A3E4-CA9408529FBB}">
      <dsp:nvSpPr>
        <dsp:cNvPr id="0" name=""/>
        <dsp:cNvSpPr/>
      </dsp:nvSpPr>
      <dsp:spPr>
        <a:xfrm>
          <a:off x="2311760" y="2584049"/>
          <a:ext cx="2405062" cy="1563290"/>
        </a:xfrm>
        <a:prstGeom prst="roundRect">
          <a:avLst/>
        </a:prstGeom>
        <a:solidFill>
          <a:schemeClr val="accent4">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smtClean="0">
              <a:latin typeface="Candara" pitchFamily="34" charset="0"/>
              <a:cs typeface="Arial" pitchFamily="34" charset="0"/>
            </a:rPr>
            <a:t>Replacing</a:t>
          </a:r>
          <a:endParaRPr lang="en-US" sz="3000" kern="1200" dirty="0"/>
        </a:p>
      </dsp:txBody>
      <dsp:txXfrm>
        <a:off x="2388074" y="2660363"/>
        <a:ext cx="2252434" cy="1410662"/>
      </dsp:txXfrm>
    </dsp:sp>
    <dsp:sp modelId="{5E23FE35-A83E-463F-96E9-7B9342EDA150}">
      <dsp:nvSpPr>
        <dsp:cNvPr id="0" name=""/>
        <dsp:cNvSpPr/>
      </dsp:nvSpPr>
      <dsp:spPr>
        <a:xfrm>
          <a:off x="3514291" y="783987"/>
          <a:ext cx="5163415" cy="5163415"/>
        </a:xfrm>
        <a:custGeom>
          <a:avLst/>
          <a:gdLst/>
          <a:ahLst/>
          <a:cxnLst/>
          <a:rect l="0" t="0" r="0" b="0"/>
          <a:pathLst>
            <a:path>
              <a:moveTo>
                <a:pt x="127174" y="1781405"/>
              </a:moveTo>
              <a:arcTo wR="2581707" hR="2581707" stAng="11883515" swAng="2624709"/>
            </a:path>
          </a:pathLst>
        </a:custGeom>
        <a:noFill/>
        <a:ln w="6350" cap="flat" cmpd="sng" algn="ctr">
          <a:solidFill>
            <a:schemeClr val="accent4">
              <a:hueOff val="10395692"/>
              <a:satOff val="-47968"/>
              <a:lumOff val="1765"/>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4DD86-EF1E-43E6-B563-48B2E19E4934}">
      <dsp:nvSpPr>
        <dsp:cNvPr id="0" name=""/>
        <dsp:cNvSpPr/>
      </dsp:nvSpPr>
      <dsp:spPr>
        <a:xfrm>
          <a:off x="0" y="2697493"/>
          <a:ext cx="11586410" cy="3161884"/>
        </a:xfrm>
        <a:prstGeom prst="leftRightRibb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ECF1172-A0BF-4099-BE3C-DEC81E443FF8}">
      <dsp:nvSpPr>
        <dsp:cNvPr id="0" name=""/>
        <dsp:cNvSpPr/>
      </dsp:nvSpPr>
      <dsp:spPr>
        <a:xfrm rot="10800000" flipH="1" flipV="1">
          <a:off x="6090" y="264699"/>
          <a:ext cx="11580319" cy="1912923"/>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213360" rIns="0" bIns="228600" numCol="1" spcCol="1270" anchor="ctr" anchorCtr="0">
          <a:noAutofit/>
        </a:bodyPr>
        <a:lstStyle/>
        <a:p>
          <a:pPr lvl="0" algn="ctr" defTabSz="2667000">
            <a:lnSpc>
              <a:spcPct val="90000"/>
            </a:lnSpc>
            <a:spcBef>
              <a:spcPct val="0"/>
            </a:spcBef>
            <a:spcAft>
              <a:spcPct val="35000"/>
            </a:spcAft>
          </a:pPr>
          <a:r>
            <a:rPr lang="en-US" sz="6000" b="1" kern="1200" dirty="0" smtClean="0">
              <a:effectLst>
                <a:outerShdw blurRad="38100" dist="38100" dir="2700000" algn="tl">
                  <a:srgbClr val="000000">
                    <a:alpha val="43137"/>
                  </a:srgbClr>
                </a:outerShdw>
              </a:effectLst>
            </a:rPr>
            <a:t>Way to fellow for Right Register and Tone </a:t>
          </a:r>
          <a:endParaRPr lang="en-US" sz="6000" b="1" kern="1200" dirty="0">
            <a:effectLst>
              <a:outerShdw blurRad="38100" dist="38100" dir="2700000" algn="tl">
                <a:srgbClr val="000000">
                  <a:alpha val="43137"/>
                </a:srgbClr>
              </a:outerShdw>
            </a:effectLst>
          </a:endParaRPr>
        </a:p>
      </dsp:txBody>
      <dsp:txXfrm rot="-10800000">
        <a:off x="6090" y="264699"/>
        <a:ext cx="11580319" cy="1912923"/>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2826ED-8E9D-41A0-A4A4-823E0CC37331}" type="datetimeFigureOut">
              <a:rPr lang="en-US" smtClean="0"/>
              <a:t>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CB3BC-7712-4179-8543-7F21C21D02BA}" type="slidenum">
              <a:rPr lang="en-US" smtClean="0"/>
              <a:t>‹#›</a:t>
            </a:fld>
            <a:endParaRPr lang="en-US"/>
          </a:p>
        </p:txBody>
      </p:sp>
    </p:spTree>
    <p:extLst>
      <p:ext uri="{BB962C8B-B14F-4D97-AF65-F5344CB8AC3E}">
        <p14:creationId xmlns:p14="http://schemas.microsoft.com/office/powerpoint/2010/main" val="11649341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4CB3BC-7712-4179-8543-7F21C21D02BA}" type="slidenum">
              <a:rPr lang="en-US" smtClean="0"/>
              <a:t>29</a:t>
            </a:fld>
            <a:endParaRPr lang="en-US"/>
          </a:p>
        </p:txBody>
      </p:sp>
    </p:spTree>
    <p:extLst>
      <p:ext uri="{BB962C8B-B14F-4D97-AF65-F5344CB8AC3E}">
        <p14:creationId xmlns:p14="http://schemas.microsoft.com/office/powerpoint/2010/main" val="1582493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95C3AAE-700D-4504-91B0-D274D9671A73}"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1524680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5C3AAE-700D-4504-91B0-D274D9671A73}"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502205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95C3AAE-700D-4504-91B0-D274D9671A73}"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549355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5C3AAE-700D-4504-91B0-D274D9671A73}"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3724004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95C3AAE-700D-4504-91B0-D274D9671A73}" type="datetimeFigureOut">
              <a:rPr lang="en-US" smtClean="0"/>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3751329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95C3AAE-700D-4504-91B0-D274D9671A73}" type="datetimeFigureOut">
              <a:rPr lang="en-US" smtClean="0"/>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3004060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5C3AAE-700D-4504-91B0-D274D9671A73}" type="datetimeFigureOut">
              <a:rPr lang="en-US" smtClean="0"/>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3641822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5C3AAE-700D-4504-91B0-D274D9671A73}"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585424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95C3AAE-700D-4504-91B0-D274D9671A73}"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2510622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5C3AAE-700D-4504-91B0-D274D9671A73}"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514000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95C3AAE-700D-4504-91B0-D274D9671A73}"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0534A2-17B1-43AB-94B6-B81FA7131F85}" type="slidenum">
              <a:rPr lang="en-US" smtClean="0"/>
              <a:t>‹#›</a:t>
            </a:fld>
            <a:endParaRPr lang="en-US"/>
          </a:p>
        </p:txBody>
      </p:sp>
    </p:spTree>
    <p:extLst>
      <p:ext uri="{BB962C8B-B14F-4D97-AF65-F5344CB8AC3E}">
        <p14:creationId xmlns:p14="http://schemas.microsoft.com/office/powerpoint/2010/main" val="1179749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5C3AAE-700D-4504-91B0-D274D9671A73}" type="datetimeFigureOut">
              <a:rPr lang="en-US" smtClean="0"/>
              <a:t>9/26/2025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0534A2-17B1-43AB-94B6-B81FA7131F85}" type="slidenum">
              <a:rPr lang="en-US" smtClean="0"/>
              <a:t>‹#›</a:t>
            </a:fld>
            <a:endParaRPr lang="en-US"/>
          </a:p>
        </p:txBody>
      </p:sp>
    </p:spTree>
    <p:extLst>
      <p:ext uri="{BB962C8B-B14F-4D97-AF65-F5344CB8AC3E}">
        <p14:creationId xmlns:p14="http://schemas.microsoft.com/office/powerpoint/2010/main" val="2470519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752492"/>
          </a:xfrm>
          <a:prstGeom prst="rect">
            <a:avLst/>
          </a:prstGeom>
        </p:spPr>
      </p:pic>
      <p:sp>
        <p:nvSpPr>
          <p:cNvPr id="2" name="TextBox 1"/>
          <p:cNvSpPr txBox="1"/>
          <p:nvPr/>
        </p:nvSpPr>
        <p:spPr>
          <a:xfrm>
            <a:off x="363416" y="1336430"/>
            <a:ext cx="11465168" cy="3154710"/>
          </a:xfrm>
          <a:prstGeom prst="rect">
            <a:avLst/>
          </a:prstGeom>
          <a:noFill/>
        </p:spPr>
        <p:txBody>
          <a:bodyPr wrap="square" rtlCol="0">
            <a:spAutoFit/>
          </a:bodyPr>
          <a:lstStyle/>
          <a:p>
            <a:r>
              <a:rPr lang="en-US" sz="19900" dirty="0" smtClean="0">
                <a:solidFill>
                  <a:schemeClr val="accent1">
                    <a:lumMod val="50000"/>
                  </a:schemeClr>
                </a:solidFill>
                <a:latin typeface="Haettenschweiler" panose="020B0706040902060204" pitchFamily="34" charset="0"/>
              </a:rPr>
              <a:t>Post- Writing </a:t>
            </a:r>
            <a:endParaRPr lang="en-US" sz="19900" dirty="0">
              <a:solidFill>
                <a:schemeClr val="accent1">
                  <a:lumMod val="50000"/>
                </a:schemeClr>
              </a:solidFill>
              <a:latin typeface="Haettenschweiler" panose="020B0706040902060204" pitchFamily="34" charset="0"/>
            </a:endParaRPr>
          </a:p>
        </p:txBody>
      </p:sp>
      <p:sp>
        <p:nvSpPr>
          <p:cNvPr id="5" name="AutoShape 4" descr="830+ Stability Block Arrangement Balance Stock Photos ..."/>
          <p:cNvSpPr>
            <a:spLocks noChangeAspect="1" noChangeArrowheads="1"/>
          </p:cNvSpPr>
          <p:nvPr/>
        </p:nvSpPr>
        <p:spPr bwMode="auto">
          <a:xfrm>
            <a:off x="155575" y="-144463"/>
            <a:ext cx="4069336" cy="406934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6753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xit" presetSubtype="0" fill="hold" nodeType="clickEffect">
                                  <p:stCondLst>
                                    <p:cond delay="0"/>
                                  </p:stCondLst>
                                  <p:childTnLst>
                                    <p:animEffect transition="out" filter="wipe(down)">
                                      <p:cBhvr>
                                        <p:cTn id="10" dur="180" accel="50000">
                                          <p:stCondLst>
                                            <p:cond delay="1820"/>
                                          </p:stCondLst>
                                        </p:cTn>
                                        <p:tgtEl>
                                          <p:spTgt spid="6"/>
                                        </p:tgtEl>
                                      </p:cBhvr>
                                    </p:animEffect>
                                    <p:anim calcmode="lin" valueType="num">
                                      <p:cBhvr>
                                        <p:cTn id="11" dur="1822" tmFilter="0,0; 0.14,0.31; 0.43,0.73; 0.71,0.91; 1.0,1.0">
                                          <p:stCondLst>
                                            <p:cond delay="0"/>
                                          </p:stCondLst>
                                        </p:cTn>
                                        <p:tgtEl>
                                          <p:spTgt spid="6"/>
                                        </p:tgtEl>
                                        <p:attrNameLst>
                                          <p:attrName>ppt_x</p:attrName>
                                        </p:attrNameLst>
                                      </p:cBhvr>
                                      <p:tavLst>
                                        <p:tav tm="0">
                                          <p:val>
                                            <p:strVal val="ppt_x"/>
                                          </p:val>
                                        </p:tav>
                                        <p:tav tm="100000">
                                          <p:val>
                                            <p:strVal val="#ppt_x+0.25"/>
                                          </p:val>
                                        </p:tav>
                                      </p:tavLst>
                                    </p:anim>
                                    <p:anim calcmode="lin" valueType="num">
                                      <p:cBhvr>
                                        <p:cTn id="12" dur="178">
                                          <p:stCondLst>
                                            <p:cond delay="1822"/>
                                          </p:stCondLst>
                                        </p:cTn>
                                        <p:tgtEl>
                                          <p:spTgt spid="6"/>
                                        </p:tgtEl>
                                        <p:attrNameLst>
                                          <p:attrName>ppt_x</p:attrName>
                                        </p:attrNameLst>
                                      </p:cBhvr>
                                      <p:tavLst>
                                        <p:tav tm="0">
                                          <p:val>
                                            <p:strVal val="ppt_x"/>
                                          </p:val>
                                        </p:tav>
                                        <p:tav tm="100000">
                                          <p:val>
                                            <p:strVal val="ppt_x"/>
                                          </p:val>
                                        </p:tav>
                                      </p:tavLst>
                                    </p:anim>
                                    <p:anim calcmode="lin" valueType="num">
                                      <p:cBhvr>
                                        <p:cTn id="13" dur="664" tmFilter="0.0,0.0;0.25,0.07;0.50,0.2;0.75,0.467;1.0,1.0">
                                          <p:stCondLst>
                                            <p:cond delay="0"/>
                                          </p:stCondLst>
                                        </p:cTn>
                                        <p:tgtEl>
                                          <p:spTgt spid="6"/>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4" dur="664" tmFilter="0, 0; 0.125,0.2665; 0.25,0.4; 0.375,0.465; 0.5,0.5;  0.625,0.535; 0.75,0.6; 0.875,0.7335; 1,1">
                                          <p:stCondLst>
                                            <p:cond delay="664"/>
                                          </p:stCondLst>
                                        </p:cTn>
                                        <p:tgtEl>
                                          <p:spTgt spid="6"/>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5" dur="332" tmFilter="0, 0; 0.125,0.2665; 0.25,0.4; 0.375,0.465; 0.5,0.5;  0.625,0.535; 0.75,0.6; 0.875,0.7335; 1,1">
                                          <p:stCondLst>
                                            <p:cond delay="1324"/>
                                          </p:stCondLst>
                                        </p:cTn>
                                        <p:tgtEl>
                                          <p:spTgt spid="6"/>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6" dur="164" tmFilter="0, 0; 0.125,0.2665; 0.25,0.4; 0.375,0.465; 0.5,0.5;  0.625,0.535; 0.75,0.6; 0.875,0.7335; 1,1">
                                          <p:stCondLst>
                                            <p:cond delay="1656"/>
                                          </p:stCondLst>
                                        </p:cTn>
                                        <p:tgtEl>
                                          <p:spTgt spid="6"/>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7" dur="180" accel="50000">
                                          <p:stCondLst>
                                            <p:cond delay="1820"/>
                                          </p:stCondLst>
                                        </p:cTn>
                                        <p:tgtEl>
                                          <p:spTgt spid="6"/>
                                        </p:tgtEl>
                                        <p:attrNameLst>
                                          <p:attrName>ppt_y</p:attrName>
                                        </p:attrNameLst>
                                      </p:cBhvr>
                                      <p:tavLst>
                                        <p:tav tm="0">
                                          <p:val>
                                            <p:strVal val="ppt_y"/>
                                          </p:val>
                                        </p:tav>
                                        <p:tav tm="100000">
                                          <p:val>
                                            <p:strVal val="ppt_y+ppt_h"/>
                                          </p:val>
                                        </p:tav>
                                      </p:tavLst>
                                    </p:anim>
                                    <p:animScale>
                                      <p:cBhvr>
                                        <p:cTn id="18" dur="26">
                                          <p:stCondLst>
                                            <p:cond delay="620"/>
                                          </p:stCondLst>
                                        </p:cTn>
                                        <p:tgtEl>
                                          <p:spTgt spid="6"/>
                                        </p:tgtEl>
                                      </p:cBhvr>
                                      <p:to x="100000" y="60000"/>
                                    </p:animScale>
                                    <p:animScale>
                                      <p:cBhvr>
                                        <p:cTn id="19" dur="166" decel="50000">
                                          <p:stCondLst>
                                            <p:cond delay="646"/>
                                          </p:stCondLst>
                                        </p:cTn>
                                        <p:tgtEl>
                                          <p:spTgt spid="6"/>
                                        </p:tgtEl>
                                      </p:cBhvr>
                                      <p:to x="100000" y="100000"/>
                                    </p:animScale>
                                    <p:animScale>
                                      <p:cBhvr>
                                        <p:cTn id="20" dur="26">
                                          <p:stCondLst>
                                            <p:cond delay="1312"/>
                                          </p:stCondLst>
                                        </p:cTn>
                                        <p:tgtEl>
                                          <p:spTgt spid="6"/>
                                        </p:tgtEl>
                                      </p:cBhvr>
                                      <p:to x="100000" y="80000"/>
                                    </p:animScale>
                                    <p:animScale>
                                      <p:cBhvr>
                                        <p:cTn id="21" dur="166" decel="50000">
                                          <p:stCondLst>
                                            <p:cond delay="1338"/>
                                          </p:stCondLst>
                                        </p:cTn>
                                        <p:tgtEl>
                                          <p:spTgt spid="6"/>
                                        </p:tgtEl>
                                      </p:cBhvr>
                                      <p:to x="100000" y="100000"/>
                                    </p:animScale>
                                    <p:animScale>
                                      <p:cBhvr>
                                        <p:cTn id="22" dur="26">
                                          <p:stCondLst>
                                            <p:cond delay="1642"/>
                                          </p:stCondLst>
                                        </p:cTn>
                                        <p:tgtEl>
                                          <p:spTgt spid="6"/>
                                        </p:tgtEl>
                                      </p:cBhvr>
                                      <p:to x="100000" y="90000"/>
                                    </p:animScale>
                                    <p:animScale>
                                      <p:cBhvr>
                                        <p:cTn id="23" dur="166" decel="50000">
                                          <p:stCondLst>
                                            <p:cond delay="1668"/>
                                          </p:stCondLst>
                                        </p:cTn>
                                        <p:tgtEl>
                                          <p:spTgt spid="6"/>
                                        </p:tgtEl>
                                      </p:cBhvr>
                                      <p:to x="100000" y="100000"/>
                                    </p:animScale>
                                    <p:animScale>
                                      <p:cBhvr>
                                        <p:cTn id="24" dur="26">
                                          <p:stCondLst>
                                            <p:cond delay="1808"/>
                                          </p:stCondLst>
                                        </p:cTn>
                                        <p:tgtEl>
                                          <p:spTgt spid="6"/>
                                        </p:tgtEl>
                                      </p:cBhvr>
                                      <p:to x="100000" y="95000"/>
                                    </p:animScale>
                                    <p:animScale>
                                      <p:cBhvr>
                                        <p:cTn id="25" dur="166" decel="50000">
                                          <p:stCondLst>
                                            <p:cond delay="1834"/>
                                          </p:stCondLst>
                                        </p:cTn>
                                        <p:tgtEl>
                                          <p:spTgt spid="6"/>
                                        </p:tgtEl>
                                      </p:cBhvr>
                                      <p:to x="100000" y="100000"/>
                                    </p:animScale>
                                    <p:set>
                                      <p:cBhvr>
                                        <p:cTn id="26" dur="1" fill="hold">
                                          <p:stCondLst>
                                            <p:cond delay="1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713112561"/>
              </p:ext>
            </p:extLst>
          </p:nvPr>
        </p:nvGraphicFramePr>
        <p:xfrm>
          <a:off x="-1" y="0"/>
          <a:ext cx="12027877"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819469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nextCondLst>
                <p:cond evt="onClick" delay="0">
                  <p:tgtEl>
                    <p:spTgt spid="2"/>
                  </p:tgtEl>
                </p:cond>
              </p:nextCondLst>
            </p:seq>
          </p:childTnLst>
        </p:cTn>
      </p:par>
    </p:tnLst>
    <p:bldLst>
      <p:bldGraphic spid="2"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981273919"/>
              </p:ext>
            </p:extLst>
          </p:nvPr>
        </p:nvGraphicFramePr>
        <p:xfrm>
          <a:off x="0" y="154746"/>
          <a:ext cx="11901268" cy="6471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881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1085282531"/>
              </p:ext>
            </p:extLst>
          </p:nvPr>
        </p:nvGraphicFramePr>
        <p:xfrm>
          <a:off x="0" y="126610"/>
          <a:ext cx="12191999" cy="6731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57064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BEBA8EAE-BF5A-486C-A8C5-ECC9F3942E4B}">
                <a14:imgProps xmlns:a14="http://schemas.microsoft.com/office/drawing/2010/main">
                  <a14:imgLayer r:embed="rId3">
                    <a14:imgEffect>
                      <a14:sharpenSoften amount="-100000"/>
                    </a14:imgEffect>
                    <a14:imgEffect>
                      <a14:brightnessContrast bright="5000" contrast="-70000"/>
                    </a14:imgEffect>
                  </a14:imgLayer>
                </a14:imgProps>
              </a:ext>
              <a:ext uri="{28A0092B-C50C-407E-A947-70E740481C1C}">
                <a14:useLocalDpi xmlns:a14="http://schemas.microsoft.com/office/drawing/2010/main" val="0"/>
              </a:ext>
            </a:extLst>
          </a:blip>
          <a:stretch>
            <a:fillRect/>
          </a:stretch>
        </p:blipFill>
        <p:spPr>
          <a:xfrm>
            <a:off x="0" y="12990"/>
            <a:ext cx="12192000" cy="6845010"/>
          </a:xfrm>
          <a:prstGeom prst="rect">
            <a:avLst/>
          </a:prstGeom>
          <a:pattFill prst="ltVert">
            <a:fgClr>
              <a:schemeClr val="accent1"/>
            </a:fgClr>
            <a:bgClr>
              <a:schemeClr val="bg1"/>
            </a:bgClr>
          </a:pattFill>
        </p:spPr>
      </p:pic>
      <p:grpSp>
        <p:nvGrpSpPr>
          <p:cNvPr id="6" name="Group 5"/>
          <p:cNvGrpSpPr/>
          <p:nvPr/>
        </p:nvGrpSpPr>
        <p:grpSpPr>
          <a:xfrm>
            <a:off x="-647114" y="12990"/>
            <a:ext cx="13153292" cy="6711367"/>
            <a:chOff x="-464234" y="12991"/>
            <a:chExt cx="12970412" cy="5025468"/>
          </a:xfrm>
        </p:grpSpPr>
        <p:sp>
          <p:nvSpPr>
            <p:cNvPr id="2" name="Minus 1"/>
            <p:cNvSpPr/>
            <p:nvPr/>
          </p:nvSpPr>
          <p:spPr>
            <a:xfrm>
              <a:off x="-464234" y="1336430"/>
              <a:ext cx="12970412" cy="422031"/>
            </a:xfrm>
            <a:prstGeom prst="mathMinus">
              <a:avLst>
                <a:gd name="adj1" fmla="val 701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259058" y="12991"/>
              <a:ext cx="9523828" cy="1323439"/>
            </a:xfrm>
            <a:prstGeom prst="rect">
              <a:avLst/>
            </a:prstGeom>
            <a:noFill/>
          </p:spPr>
          <p:txBody>
            <a:bodyPr wrap="square" rtlCol="0">
              <a:spAutoFit/>
            </a:bodyPr>
            <a:lstStyle/>
            <a:p>
              <a:pPr algn="ctr"/>
              <a:r>
                <a:rPr lang="en-US" sz="8000" dirty="0" smtClean="0"/>
                <a:t>Process Writing </a:t>
              </a:r>
              <a:endParaRPr lang="en-US" sz="8000" dirty="0"/>
            </a:p>
          </p:txBody>
        </p:sp>
        <p:sp>
          <p:nvSpPr>
            <p:cNvPr id="4" name="TextBox 3"/>
            <p:cNvSpPr txBox="1"/>
            <p:nvPr/>
          </p:nvSpPr>
          <p:spPr>
            <a:xfrm>
              <a:off x="1259058" y="1899138"/>
              <a:ext cx="9523828" cy="3139321"/>
            </a:xfrm>
            <a:prstGeom prst="rect">
              <a:avLst/>
            </a:prstGeom>
            <a:noFill/>
          </p:spPr>
          <p:txBody>
            <a:bodyPr wrap="square" rtlCol="0">
              <a:spAutoFit/>
            </a:bodyPr>
            <a:lstStyle/>
            <a:p>
              <a:pPr marL="285750" indent="-285750">
                <a:buFont typeface="Arial" panose="020B0604020202020204" pitchFamily="34" charset="0"/>
                <a:buChar char="•"/>
              </a:pPr>
              <a:r>
                <a:rPr lang="en-US" sz="6000" dirty="0" smtClean="0"/>
                <a:t>Divide the task into stages</a:t>
              </a:r>
            </a:p>
            <a:p>
              <a:pPr marL="285750" indent="-285750">
                <a:buFont typeface="Arial" panose="020B0604020202020204" pitchFamily="34" charset="0"/>
                <a:buChar char="•"/>
              </a:pPr>
              <a:r>
                <a:rPr lang="en-US" sz="6000" dirty="0" smtClean="0"/>
                <a:t>Make additions  and revise</a:t>
              </a:r>
            </a:p>
            <a:p>
              <a:pPr marL="285750" indent="-285750">
                <a:buFont typeface="Arial" panose="020B0604020202020204" pitchFamily="34" charset="0"/>
                <a:buChar char="•"/>
              </a:pPr>
              <a:r>
                <a:rPr lang="en-US" sz="6000" dirty="0" smtClean="0"/>
                <a:t>Loop writing  </a:t>
              </a:r>
            </a:p>
            <a:p>
              <a:pPr marL="285750" indent="-285750">
                <a:buFont typeface="Arial" panose="020B0604020202020204" pitchFamily="34" charset="0"/>
                <a:buChar char="•"/>
              </a:pPr>
              <a:endParaRPr lang="en-US" dirty="0"/>
            </a:p>
          </p:txBody>
        </p:sp>
      </p:grpSp>
    </p:spTree>
    <p:extLst>
      <p:ext uri="{BB962C8B-B14F-4D97-AF65-F5344CB8AC3E}">
        <p14:creationId xmlns:p14="http://schemas.microsoft.com/office/powerpoint/2010/main" val="42455487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7200" b="1" dirty="0" smtClean="0">
                <a:effectLst>
                  <a:outerShdw blurRad="38100" dist="38100" dir="2700000" algn="tl">
                    <a:srgbClr val="000000">
                      <a:alpha val="43137"/>
                    </a:srgbClr>
                  </a:outerShdw>
                </a:effectLst>
                <a:latin typeface="+mn-lt"/>
              </a:rPr>
              <a:t>Writing process stage III</a:t>
            </a:r>
            <a:endParaRPr lang="en-US" sz="7200" b="1"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26609" y="1690688"/>
            <a:ext cx="11957539" cy="4949263"/>
          </a:xfrm>
        </p:spPr>
        <p:txBody>
          <a:bodyPr>
            <a:noAutofit/>
          </a:bodyPr>
          <a:lstStyle/>
          <a:p>
            <a:r>
              <a:rPr lang="en-US" sz="3600" dirty="0" smtClean="0"/>
              <a:t>Add sections or aspects.  </a:t>
            </a:r>
          </a:p>
          <a:p>
            <a:r>
              <a:rPr lang="en-US" sz="3600" dirty="0" smtClean="0"/>
              <a:t>Evaluate, rethink and rewrite. </a:t>
            </a:r>
          </a:p>
          <a:p>
            <a:r>
              <a:rPr lang="en-US" sz="3600" dirty="0" smtClean="0"/>
              <a:t>Post writing may take as much time as the initial writing. </a:t>
            </a:r>
          </a:p>
          <a:p>
            <a:r>
              <a:rPr lang="en-US" sz="3600" dirty="0" smtClean="0"/>
              <a:t>Recognize the need for revision and development.  </a:t>
            </a:r>
          </a:p>
          <a:p>
            <a:r>
              <a:rPr lang="en-US" sz="3600" dirty="0" smtClean="0"/>
              <a:t>Writing takes time!</a:t>
            </a:r>
          </a:p>
          <a:p>
            <a:r>
              <a:rPr lang="en-US" sz="3600" dirty="0" smtClean="0"/>
              <a:t>Different </a:t>
            </a:r>
            <a:r>
              <a:rPr lang="en-US" sz="3600" dirty="0"/>
              <a:t>ways to revise and edit your text, and how careful revision and editing can benefit your writing.</a:t>
            </a:r>
            <a:r>
              <a:rPr lang="en-US" sz="4400" dirty="0" smtClean="0"/>
              <a:t> </a:t>
            </a:r>
            <a:endParaRPr lang="en-US" sz="4400" dirty="0"/>
          </a:p>
        </p:txBody>
      </p:sp>
    </p:spTree>
    <p:extLst>
      <p:ext uri="{BB962C8B-B14F-4D97-AF65-F5344CB8AC3E}">
        <p14:creationId xmlns:p14="http://schemas.microsoft.com/office/powerpoint/2010/main" val="30612503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10457"/>
          </a:xfrm>
        </p:spPr>
        <p:txBody>
          <a:bodyPr>
            <a:normAutofit/>
          </a:bodyPr>
          <a:lstStyle/>
          <a:p>
            <a:pPr algn="ctr"/>
            <a:r>
              <a:rPr lang="en-US" sz="6600" b="1" dirty="0" smtClean="0">
                <a:effectLst>
                  <a:outerShdw blurRad="38100" dist="38100" dir="2700000" algn="tl">
                    <a:srgbClr val="000000">
                      <a:alpha val="43137"/>
                    </a:srgbClr>
                  </a:outerShdw>
                </a:effectLst>
                <a:latin typeface="+mn-lt"/>
              </a:rPr>
              <a:t>Need to edit and revise text </a:t>
            </a:r>
            <a:endParaRPr lang="en-US" sz="6600" b="1"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p:txBody>
          <a:bodyPr/>
          <a:lstStyle/>
          <a:p>
            <a:endParaRPr lang="en-US" dirty="0"/>
          </a:p>
        </p:txBody>
      </p:sp>
      <p:sp>
        <p:nvSpPr>
          <p:cNvPr id="4" name="Action Button: Help 3">
            <a:hlinkClick r:id="" action="ppaction://noaction" highlightClick="1"/>
          </p:cNvPr>
          <p:cNvSpPr/>
          <p:nvPr/>
        </p:nvSpPr>
        <p:spPr>
          <a:xfrm>
            <a:off x="0" y="1825624"/>
            <a:ext cx="12192000" cy="5032376"/>
          </a:xfrm>
          <a:prstGeom prst="actionButtonHelp">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539962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4"/>
                                        </p:tgtEl>
                                      </p:cBhvr>
                                    </p:animEffect>
                                    <p:anim calcmode="lin" valueType="num">
                                      <p:cBhvr>
                                        <p:cTn id="7" dur="2000"/>
                                        <p:tgtEl>
                                          <p:spTgt spid="4"/>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4"/>
                                        </p:tgtEl>
                                        <p:attrNameLst>
                                          <p:attrName>ppt_h</p:attrName>
                                        </p:attrNameLst>
                                      </p:cBhvr>
                                      <p:tavLst>
                                        <p:tav tm="0">
                                          <p:val>
                                            <p:strVal val="ppt_h"/>
                                          </p:val>
                                        </p:tav>
                                        <p:tav tm="100000">
                                          <p:val>
                                            <p:strVal val="ppt_h"/>
                                          </p:val>
                                        </p:tav>
                                      </p:tavLst>
                                    </p:anim>
                                    <p:set>
                                      <p:cBhvr>
                                        <p:cTn id="9" dur="1" fill="hold">
                                          <p:stCondLst>
                                            <p:cond delay="1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smtClean="0">
                <a:effectLst>
                  <a:outerShdw blurRad="38100" dist="38100" dir="2700000" algn="tl">
                    <a:srgbClr val="000000">
                      <a:alpha val="43137"/>
                    </a:srgbClr>
                  </a:outerShdw>
                </a:effectLst>
              </a:rPr>
              <a:t>Editing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sz="4000" dirty="0" smtClean="0"/>
              <a:t>With help of editing your try to improve quality of a text. It may be a section or paragraph of text. </a:t>
            </a:r>
          </a:p>
          <a:p>
            <a:r>
              <a:rPr lang="en-US" sz="4000" dirty="0" smtClean="0"/>
              <a:t>Ensure contents make a sense. </a:t>
            </a:r>
          </a:p>
          <a:p>
            <a:r>
              <a:rPr lang="en-US" sz="4000" dirty="0" smtClean="0"/>
              <a:t>Structure and present information </a:t>
            </a:r>
          </a:p>
          <a:p>
            <a:r>
              <a:rPr lang="en-US" sz="4000" dirty="0" smtClean="0"/>
              <a:t>No contradiction </a:t>
            </a:r>
          </a:p>
          <a:p>
            <a:endParaRPr lang="en-US" dirty="0"/>
          </a:p>
        </p:txBody>
      </p:sp>
    </p:spTree>
    <p:extLst>
      <p:ext uri="{BB962C8B-B14F-4D97-AF65-F5344CB8AC3E}">
        <p14:creationId xmlns:p14="http://schemas.microsoft.com/office/powerpoint/2010/main" val="38856268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1114" y="169408"/>
            <a:ext cx="10515600" cy="1325563"/>
          </a:xfrm>
        </p:spPr>
        <p:txBody>
          <a:bodyPr>
            <a:normAutofit/>
          </a:bodyPr>
          <a:lstStyle/>
          <a:p>
            <a:pPr algn="ctr"/>
            <a:r>
              <a:rPr lang="en-US" sz="6000" b="1" dirty="0" smtClean="0">
                <a:effectLst>
                  <a:outerShdw blurRad="38100" dist="38100" dir="2700000" algn="tl">
                    <a:srgbClr val="000000">
                      <a:alpha val="43137"/>
                    </a:srgbClr>
                  </a:outerShdw>
                </a:effectLst>
              </a:rPr>
              <a:t>Proofreading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63769" y="1291771"/>
            <a:ext cx="11799277" cy="5355214"/>
          </a:xfrm>
        </p:spPr>
        <p:txBody>
          <a:bodyPr>
            <a:noAutofit/>
          </a:bodyPr>
          <a:lstStyle/>
          <a:p>
            <a:r>
              <a:rPr lang="en-US" sz="3200" dirty="0" smtClean="0"/>
              <a:t>Check for surface errors/ mistakes </a:t>
            </a:r>
          </a:p>
          <a:p>
            <a:pPr marL="514350" indent="-514350">
              <a:buFont typeface="+mj-lt"/>
              <a:buAutoNum type="arabicPeriod"/>
            </a:pPr>
            <a:r>
              <a:rPr lang="en-US" sz="3200" dirty="0" smtClean="0"/>
              <a:t>Typos </a:t>
            </a:r>
          </a:p>
          <a:p>
            <a:pPr marL="514350" indent="-514350">
              <a:buFont typeface="+mj-lt"/>
              <a:buAutoNum type="arabicPeriod"/>
            </a:pPr>
            <a:r>
              <a:rPr lang="en-US" sz="3200" dirty="0" smtClean="0"/>
              <a:t>Spelling </a:t>
            </a:r>
          </a:p>
          <a:p>
            <a:pPr marL="514350" indent="-514350">
              <a:buFont typeface="+mj-lt"/>
              <a:buAutoNum type="arabicPeriod"/>
            </a:pPr>
            <a:r>
              <a:rPr lang="en-US" sz="3200" dirty="0" smtClean="0"/>
              <a:t>Grammar </a:t>
            </a:r>
          </a:p>
          <a:p>
            <a:pPr marL="514350" indent="-514350">
              <a:buFont typeface="+mj-lt"/>
              <a:buAutoNum type="arabicPeriod"/>
            </a:pPr>
            <a:r>
              <a:rPr lang="en-US" sz="3200" dirty="0" smtClean="0"/>
              <a:t>Choice of words </a:t>
            </a:r>
          </a:p>
          <a:p>
            <a:pPr marL="514350" indent="-514350">
              <a:buFont typeface="+mj-lt"/>
              <a:buAutoNum type="arabicPeriod"/>
            </a:pPr>
            <a:r>
              <a:rPr lang="en-US" sz="3200" dirty="0" smtClean="0"/>
              <a:t>Different word forms </a:t>
            </a:r>
          </a:p>
          <a:p>
            <a:pPr marL="514350" indent="-514350">
              <a:buFont typeface="+mj-lt"/>
              <a:buAutoNum type="arabicPeriod"/>
            </a:pPr>
            <a:r>
              <a:rPr lang="en-US" sz="3200" dirty="0" smtClean="0"/>
              <a:t>Other Language Problems </a:t>
            </a:r>
          </a:p>
          <a:p>
            <a:pPr marL="514350" indent="-514350">
              <a:buFont typeface="+mj-lt"/>
              <a:buAutoNum type="arabicPeriod"/>
            </a:pPr>
            <a:r>
              <a:rPr lang="en-US" sz="3200" dirty="0" smtClean="0"/>
              <a:t>Non-native speaker should careful regarding usage of appropriate register and style for maintaining the consistency throughout the text.  </a:t>
            </a:r>
            <a:endParaRPr lang="en-US" sz="3200" dirty="0"/>
          </a:p>
        </p:txBody>
      </p:sp>
    </p:spTree>
    <p:extLst>
      <p:ext uri="{BB962C8B-B14F-4D97-AF65-F5344CB8AC3E}">
        <p14:creationId xmlns:p14="http://schemas.microsoft.com/office/powerpoint/2010/main" val="624282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effectLst>
                  <a:outerShdw blurRad="38100" dist="38100" dir="2700000" algn="tl">
                    <a:srgbClr val="000000">
                      <a:alpha val="43137"/>
                    </a:srgbClr>
                  </a:outerShdw>
                </a:effectLst>
              </a:rPr>
              <a:t>Proofreading </a:t>
            </a:r>
            <a:endParaRPr lang="en-US" sz="6600" dirty="0"/>
          </a:p>
        </p:txBody>
      </p:sp>
      <p:sp>
        <p:nvSpPr>
          <p:cNvPr id="3" name="Content Placeholder 2"/>
          <p:cNvSpPr>
            <a:spLocks noGrp="1"/>
          </p:cNvSpPr>
          <p:nvPr>
            <p:ph idx="1"/>
          </p:nvPr>
        </p:nvSpPr>
        <p:spPr>
          <a:xfrm>
            <a:off x="1424723" y="2004645"/>
            <a:ext cx="8923421" cy="4288005"/>
          </a:xfrm>
        </p:spPr>
        <p:txBody>
          <a:bodyPr/>
          <a:lstStyle/>
          <a:p>
            <a:r>
              <a:rPr lang="en-US" sz="3600" dirty="0" smtClean="0"/>
              <a:t>Punctuation  </a:t>
            </a:r>
          </a:p>
          <a:p>
            <a:r>
              <a:rPr lang="en-US" sz="3600" dirty="0" smtClean="0"/>
              <a:t>Formatting</a:t>
            </a:r>
          </a:p>
          <a:p>
            <a:r>
              <a:rPr lang="en-US" sz="3600" dirty="0" smtClean="0"/>
              <a:t>References </a:t>
            </a:r>
          </a:p>
          <a:p>
            <a:pPr marL="514350" indent="-514350">
              <a:buFont typeface="+mj-lt"/>
              <a:buAutoNum type="arabicPeriod"/>
            </a:pPr>
            <a:r>
              <a:rPr lang="en-US" sz="3600" dirty="0" smtClean="0"/>
              <a:t>In the right places?</a:t>
            </a:r>
          </a:p>
          <a:p>
            <a:pPr marL="514350" indent="-514350">
              <a:buFont typeface="+mj-lt"/>
              <a:buAutoNum type="arabicPeriod"/>
            </a:pPr>
            <a:r>
              <a:rPr lang="en-US" sz="3600" dirty="0" smtClean="0"/>
              <a:t>In the list of references? </a:t>
            </a:r>
          </a:p>
          <a:p>
            <a:pPr marL="514350" indent="-514350">
              <a:buFont typeface="+mj-lt"/>
              <a:buAutoNum type="arabicPeriod"/>
            </a:pPr>
            <a:r>
              <a:rPr lang="en-US" sz="3600" dirty="0" smtClean="0"/>
              <a:t>Properly formatted?  </a:t>
            </a:r>
          </a:p>
          <a:p>
            <a:pPr marL="0" indent="0">
              <a:buNone/>
            </a:pPr>
            <a:endParaRPr lang="en-US" dirty="0" smtClean="0"/>
          </a:p>
          <a:p>
            <a:endParaRPr lang="en-US" dirty="0"/>
          </a:p>
        </p:txBody>
      </p:sp>
    </p:spTree>
    <p:extLst>
      <p:ext uri="{BB962C8B-B14F-4D97-AF65-F5344CB8AC3E}">
        <p14:creationId xmlns:p14="http://schemas.microsoft.com/office/powerpoint/2010/main" val="31322547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6253"/>
            <a:ext cx="10515600" cy="1594435"/>
          </a:xfrm>
        </p:spPr>
        <p:txBody>
          <a:bodyPr>
            <a:noAutofit/>
          </a:bodyPr>
          <a:lstStyle/>
          <a:p>
            <a:pPr algn="ctr"/>
            <a:r>
              <a:rPr lang="en-US" sz="6000" b="1" dirty="0" smtClean="0">
                <a:effectLst>
                  <a:outerShdw blurRad="38100" dist="38100" dir="2700000" algn="tl">
                    <a:srgbClr val="000000">
                      <a:alpha val="43137"/>
                    </a:srgbClr>
                  </a:outerShdw>
                </a:effectLst>
                <a:latin typeface="+mn-lt"/>
              </a:rPr>
              <a:t>Misconceptions Related Editing/Proofreading</a:t>
            </a:r>
            <a:endParaRPr lang="en-US" sz="6000" b="1"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84221" y="1780674"/>
            <a:ext cx="11947357" cy="4403558"/>
          </a:xfrm>
        </p:spPr>
        <p:txBody>
          <a:bodyPr>
            <a:normAutofit/>
          </a:bodyPr>
          <a:lstStyle/>
          <a:p>
            <a:r>
              <a:rPr lang="en-US" sz="3600" dirty="0" smtClean="0"/>
              <a:t>Surface errors are usually easy to fix, but if they’re allowed to accumulate and there are lots of them in the final text, they will take a lot of time to fix. </a:t>
            </a:r>
          </a:p>
          <a:p>
            <a:r>
              <a:rPr lang="en-US" sz="3600" dirty="0" smtClean="0"/>
              <a:t>Many beginning writers think that editing and proofreading is something they can do quickly on the night before they need to hand in their text for assessment. </a:t>
            </a:r>
          </a:p>
          <a:p>
            <a:r>
              <a:rPr lang="en-US" sz="3600" dirty="0" smtClean="0"/>
              <a:t>Experienced writers spend their 50% total writing  time on editing and proofreading of their text. </a:t>
            </a:r>
          </a:p>
        </p:txBody>
      </p:sp>
    </p:spTree>
    <p:extLst>
      <p:ext uri="{BB962C8B-B14F-4D97-AF65-F5344CB8AC3E}">
        <p14:creationId xmlns:p14="http://schemas.microsoft.com/office/powerpoint/2010/main" val="18673320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015" y="365125"/>
            <a:ext cx="11704320" cy="1325563"/>
          </a:xfrm>
        </p:spPr>
        <p:txBody>
          <a:bodyPr>
            <a:noAutofit/>
          </a:bodyPr>
          <a:lstStyle/>
          <a:p>
            <a:r>
              <a:rPr lang="en-US" sz="4800" b="1" dirty="0">
                <a:effectLst>
                  <a:outerShdw blurRad="38100" dist="38100" dir="2700000" algn="tl">
                    <a:srgbClr val="000000">
                      <a:alpha val="43137"/>
                    </a:srgbClr>
                  </a:outerShdw>
                </a:effectLst>
              </a:rPr>
              <a:t>Misconceptions Related Editing/Proofreading</a:t>
            </a:r>
            <a:endParaRPr lang="en-US" sz="4800" dirty="0"/>
          </a:p>
        </p:txBody>
      </p:sp>
      <p:sp>
        <p:nvSpPr>
          <p:cNvPr id="3" name="Content Placeholder 2"/>
          <p:cNvSpPr>
            <a:spLocks noGrp="1"/>
          </p:cNvSpPr>
          <p:nvPr>
            <p:ph idx="1"/>
          </p:nvPr>
        </p:nvSpPr>
        <p:spPr/>
        <p:txBody>
          <a:bodyPr>
            <a:normAutofit fontScale="92500" lnSpcReduction="10000"/>
          </a:bodyPr>
          <a:lstStyle/>
          <a:p>
            <a:r>
              <a:rPr lang="en-US" sz="3600" dirty="0"/>
              <a:t>Rewriting bits and pieces of it, often a number of times. </a:t>
            </a:r>
          </a:p>
          <a:p>
            <a:r>
              <a:rPr lang="en-US" sz="3600" dirty="0"/>
              <a:t>Experienced writers have learned that having lots of errors in their text reflects badly on the reader’s image of them as writers. </a:t>
            </a:r>
          </a:p>
          <a:p>
            <a:r>
              <a:rPr lang="en-US" sz="3600" dirty="0"/>
              <a:t>Surface errors can make the reader doubts on the content of the text.</a:t>
            </a:r>
          </a:p>
          <a:p>
            <a:r>
              <a:rPr lang="en-US" sz="3600" dirty="0"/>
              <a:t>So they reject it as poor research.  </a:t>
            </a:r>
          </a:p>
          <a:p>
            <a:r>
              <a:rPr lang="en-US" sz="3600" dirty="0"/>
              <a:t> sloppy editing and proofreading can destroy an otherwise good paper. </a:t>
            </a:r>
          </a:p>
          <a:p>
            <a:pPr marL="0" indent="0">
              <a:buNone/>
            </a:pPr>
            <a:endParaRPr lang="en-US" dirty="0"/>
          </a:p>
        </p:txBody>
      </p:sp>
    </p:spTree>
    <p:extLst>
      <p:ext uri="{BB962C8B-B14F-4D97-AF65-F5344CB8AC3E}">
        <p14:creationId xmlns:p14="http://schemas.microsoft.com/office/powerpoint/2010/main" val="39690396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181433"/>
          </a:xfrm>
        </p:spPr>
        <p:txBody>
          <a:bodyPr>
            <a:noAutofit/>
          </a:bodyPr>
          <a:lstStyle/>
          <a:p>
            <a:pPr algn="ctr"/>
            <a:r>
              <a:rPr lang="en-US" sz="8000" b="1" dirty="0" smtClean="0">
                <a:effectLst>
                  <a:outerShdw blurRad="38100" dist="38100" dir="2700000" algn="tl">
                    <a:srgbClr val="000000">
                      <a:alpha val="43137"/>
                    </a:srgbClr>
                  </a:outerShdw>
                </a:effectLst>
                <a:latin typeface="+mn-lt"/>
              </a:rPr>
              <a:t>Editing of Register / Tone/ Style </a:t>
            </a:r>
            <a:endParaRPr lang="en-US" sz="8000" b="1" dirty="0">
              <a:effectLst>
                <a:outerShdw blurRad="38100" dist="38100" dir="2700000" algn="tl">
                  <a:srgbClr val="000000">
                    <a:alpha val="43137"/>
                  </a:srgbClr>
                </a:outerShdw>
              </a:effectLst>
              <a:latin typeface="+mn-lt"/>
            </a:endParaRPr>
          </a:p>
        </p:txBody>
      </p:sp>
    </p:spTree>
    <p:extLst>
      <p:ext uri="{BB962C8B-B14F-4D97-AF65-F5344CB8AC3E}">
        <p14:creationId xmlns:p14="http://schemas.microsoft.com/office/powerpoint/2010/main" val="27500051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40042"/>
            <a:ext cx="12070080" cy="1325563"/>
          </a:xfrm>
          <a:solidFill>
            <a:schemeClr val="accent2">
              <a:lumMod val="20000"/>
              <a:lumOff val="80000"/>
            </a:schemeClr>
          </a:solidFill>
        </p:spPr>
        <p:txBody>
          <a:bodyPr>
            <a:normAutofit/>
          </a:bodyPr>
          <a:lstStyle/>
          <a:p>
            <a:pPr algn="ctr"/>
            <a:r>
              <a:rPr lang="en-US" sz="6600" b="1" dirty="0" smtClean="0">
                <a:effectLst>
                  <a:outerShdw blurRad="38100" dist="38100" dir="2700000" algn="tl">
                    <a:srgbClr val="000000">
                      <a:alpha val="43137"/>
                    </a:srgbClr>
                  </a:outerShdw>
                </a:effectLst>
              </a:rPr>
              <a:t>What is a Register</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307143" y="1465605"/>
            <a:ext cx="11577711" cy="4711358"/>
          </a:xfrm>
        </p:spPr>
        <p:txBody>
          <a:bodyPr/>
          <a:lstStyle/>
          <a:p>
            <a:r>
              <a:rPr lang="en-US" sz="3200" dirty="0"/>
              <a:t>We use the term ‘register’ to refer to particular varieties or styles of speaking and writing. </a:t>
            </a:r>
            <a:endParaRPr lang="en-US" sz="3200" dirty="0" smtClean="0"/>
          </a:p>
          <a:p>
            <a:r>
              <a:rPr lang="en-US" sz="3200" dirty="0" smtClean="0"/>
              <a:t>Registers </a:t>
            </a:r>
            <a:r>
              <a:rPr lang="en-US" sz="3200" dirty="0"/>
              <a:t>vary because the language is used for different purposes, in different contexts and for different audiences</a:t>
            </a:r>
            <a:r>
              <a:rPr lang="en-US" sz="3200" dirty="0" smtClean="0"/>
              <a:t>.</a:t>
            </a:r>
          </a:p>
          <a:p>
            <a:pPr marL="0" indent="0">
              <a:buNone/>
            </a:pPr>
            <a:endParaRPr lang="en-US" dirty="0"/>
          </a:p>
        </p:txBody>
      </p:sp>
    </p:spTree>
    <p:extLst>
      <p:ext uri="{BB962C8B-B14F-4D97-AF65-F5344CB8AC3E}">
        <p14:creationId xmlns:p14="http://schemas.microsoft.com/office/powerpoint/2010/main" val="25870925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3295" y="457200"/>
            <a:ext cx="10996863" cy="4924425"/>
          </a:xfrm>
          <a:prstGeom prst="rect">
            <a:avLst/>
          </a:prstGeom>
          <a:noFill/>
        </p:spPr>
        <p:txBody>
          <a:bodyPr wrap="square" rtlCol="0">
            <a:spAutoFit/>
          </a:bodyPr>
          <a:lstStyle/>
          <a:p>
            <a:r>
              <a:rPr lang="en-US" sz="3200" dirty="0"/>
              <a:t>A good example of what this means is to think of all the different ways for saying </a:t>
            </a:r>
            <a:endParaRPr lang="en-US" sz="3200" dirty="0" smtClean="0"/>
          </a:p>
          <a:p>
            <a:r>
              <a:rPr lang="en-US" sz="4000" dirty="0" smtClean="0">
                <a:solidFill>
                  <a:srgbClr val="FF0000"/>
                </a:solidFill>
              </a:rPr>
              <a:t>The </a:t>
            </a:r>
            <a:r>
              <a:rPr lang="en-US" sz="4000" dirty="0">
                <a:solidFill>
                  <a:srgbClr val="FF0000"/>
                </a:solidFill>
              </a:rPr>
              <a:t>teacher became very </a:t>
            </a:r>
            <a:r>
              <a:rPr lang="en-US" sz="4000" dirty="0" smtClean="0">
                <a:solidFill>
                  <a:srgbClr val="FF0000"/>
                </a:solidFill>
              </a:rPr>
              <a:t>angry</a:t>
            </a:r>
          </a:p>
          <a:p>
            <a:r>
              <a:rPr lang="en-US" sz="3200" dirty="0"/>
              <a:t>The teacher blew a fuse.</a:t>
            </a:r>
          </a:p>
          <a:p>
            <a:r>
              <a:rPr lang="en-US" sz="3200" dirty="0"/>
              <a:t>The teacher went nuts.</a:t>
            </a:r>
          </a:p>
          <a:p>
            <a:r>
              <a:rPr lang="en-US" sz="3200" dirty="0"/>
              <a:t>The teacher hit the roof.</a:t>
            </a:r>
          </a:p>
          <a:p>
            <a:r>
              <a:rPr lang="en-US" sz="3200" dirty="0"/>
              <a:t>The teacher exploded.</a:t>
            </a:r>
          </a:p>
          <a:p>
            <a:r>
              <a:rPr lang="en-US" sz="3200" dirty="0"/>
              <a:t>While all these sentences convey the same basic information as the original sentence, </a:t>
            </a:r>
            <a:r>
              <a:rPr lang="en-US" sz="3200" dirty="0" smtClean="0">
                <a:solidFill>
                  <a:srgbClr val="FF0000"/>
                </a:solidFill>
              </a:rPr>
              <a:t>the impact of each sentence is different</a:t>
            </a:r>
            <a:r>
              <a:rPr lang="en-US" sz="3200" dirty="0" smtClean="0"/>
              <a:t>. </a:t>
            </a:r>
          </a:p>
          <a:p>
            <a:endParaRPr lang="en-US" dirty="0"/>
          </a:p>
        </p:txBody>
      </p:sp>
    </p:spTree>
    <p:extLst>
      <p:ext uri="{BB962C8B-B14F-4D97-AF65-F5344CB8AC3E}">
        <p14:creationId xmlns:p14="http://schemas.microsoft.com/office/powerpoint/2010/main" val="28970190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430"/>
            <a:ext cx="10515600" cy="1325563"/>
          </a:xfrm>
        </p:spPr>
        <p:txBody>
          <a:bodyPr/>
          <a:lstStyle/>
          <a:p>
            <a:r>
              <a:rPr lang="en-US" sz="6000" b="1" dirty="0" smtClean="0">
                <a:effectLst>
                  <a:outerShdw blurRad="38100" dist="38100" dir="2700000" algn="tl">
                    <a:srgbClr val="000000">
                      <a:alpha val="43137"/>
                    </a:srgbClr>
                  </a:outerShdw>
                </a:effectLst>
              </a:rPr>
              <a:t>Register &amp; Tone </a:t>
            </a:r>
            <a:r>
              <a:rPr lang="en-US" sz="4800" dirty="0" smtClean="0"/>
              <a:t>Register</a:t>
            </a:r>
            <a:r>
              <a:rPr lang="en-US" dirty="0" smtClean="0"/>
              <a:t> </a:t>
            </a:r>
            <a:endParaRPr lang="en-US" dirty="0"/>
          </a:p>
        </p:txBody>
      </p:sp>
      <p:sp>
        <p:nvSpPr>
          <p:cNvPr id="3" name="Content Placeholder 2"/>
          <p:cNvSpPr>
            <a:spLocks noGrp="1"/>
          </p:cNvSpPr>
          <p:nvPr>
            <p:ph idx="1"/>
          </p:nvPr>
        </p:nvSpPr>
        <p:spPr>
          <a:xfrm>
            <a:off x="838200" y="1548899"/>
            <a:ext cx="10515600" cy="4351338"/>
          </a:xfrm>
        </p:spPr>
        <p:txBody>
          <a:bodyPr/>
          <a:lstStyle/>
          <a:p>
            <a:r>
              <a:rPr lang="en-US" sz="3600" dirty="0" smtClean="0"/>
              <a:t>Formal and informal Language </a:t>
            </a:r>
          </a:p>
          <a:p>
            <a:r>
              <a:rPr lang="en-US" sz="3600" dirty="0" smtClean="0"/>
              <a:t>Words and phrases</a:t>
            </a:r>
          </a:p>
          <a:p>
            <a:r>
              <a:rPr lang="en-US" sz="3600" dirty="0" smtClean="0"/>
              <a:t>Grammar </a:t>
            </a:r>
          </a:p>
          <a:p>
            <a:r>
              <a:rPr lang="en-US" sz="3600" dirty="0" smtClean="0"/>
              <a:t>Spelling </a:t>
            </a:r>
          </a:p>
          <a:p>
            <a:r>
              <a:rPr lang="en-US" sz="3600" dirty="0" smtClean="0"/>
              <a:t>Punctuation</a:t>
            </a:r>
          </a:p>
          <a:p>
            <a:r>
              <a:rPr lang="en-US" sz="3600" dirty="0" smtClean="0"/>
              <a:t>How we speak different people differently  </a:t>
            </a:r>
          </a:p>
          <a:p>
            <a:r>
              <a:rPr lang="en-US" sz="3600" dirty="0" smtClean="0"/>
              <a:t>How we wear different dresses </a:t>
            </a:r>
          </a:p>
          <a:p>
            <a:endParaRPr lang="en-US" dirty="0"/>
          </a:p>
        </p:txBody>
      </p:sp>
    </p:spTree>
    <p:extLst>
      <p:ext uri="{BB962C8B-B14F-4D97-AF65-F5344CB8AC3E}">
        <p14:creationId xmlns:p14="http://schemas.microsoft.com/office/powerpoint/2010/main" val="29410527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325563"/>
          </a:xfrm>
        </p:spPr>
        <p:txBody>
          <a:bodyPr>
            <a:normAutofit/>
          </a:bodyPr>
          <a:lstStyle/>
          <a:p>
            <a:pPr algn="ctr"/>
            <a:r>
              <a:rPr lang="en-US" sz="6600" b="1" dirty="0" smtClean="0">
                <a:effectLst>
                  <a:outerShdw blurRad="38100" dist="38100" dir="2700000" algn="tl">
                    <a:srgbClr val="000000">
                      <a:alpha val="43137"/>
                    </a:srgbClr>
                  </a:outerShdw>
                </a:effectLst>
              </a:rPr>
              <a:t>Tone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1548899"/>
            <a:ext cx="10515600" cy="4351338"/>
          </a:xfrm>
        </p:spPr>
        <p:txBody>
          <a:bodyPr/>
          <a:lstStyle/>
          <a:p>
            <a:r>
              <a:rPr lang="en-US" sz="3600" dirty="0" smtClean="0"/>
              <a:t>Attitude towards topic </a:t>
            </a:r>
          </a:p>
          <a:p>
            <a:r>
              <a:rPr lang="en-US" sz="3600" dirty="0" smtClean="0"/>
              <a:t>Passionate</a:t>
            </a:r>
          </a:p>
          <a:p>
            <a:r>
              <a:rPr lang="en-US" sz="3600" dirty="0" smtClean="0"/>
              <a:t>Subjective &amp; exercise </a:t>
            </a:r>
          </a:p>
          <a:p>
            <a:r>
              <a:rPr lang="en-US" sz="3600" dirty="0" smtClean="0"/>
              <a:t> </a:t>
            </a:r>
            <a:r>
              <a:rPr lang="en-US" sz="3600" dirty="0"/>
              <a:t>N</a:t>
            </a:r>
            <a:r>
              <a:rPr lang="en-US" sz="3600" dirty="0" smtClean="0"/>
              <a:t>ot knowledgeable </a:t>
            </a:r>
          </a:p>
          <a:p>
            <a:r>
              <a:rPr lang="en-US" sz="3600" dirty="0" smtClean="0"/>
              <a:t>Hesitant</a:t>
            </a:r>
          </a:p>
          <a:p>
            <a:pPr marL="0" indent="0">
              <a:buNone/>
            </a:pPr>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31751598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462"/>
            <a:ext cx="10515600" cy="1325563"/>
          </a:xfrm>
        </p:spPr>
        <p:txBody>
          <a:bodyPr/>
          <a:lstStyle/>
          <a:p>
            <a:r>
              <a:rPr lang="en-US" b="1" dirty="0">
                <a:effectLst>
                  <a:outerShdw blurRad="38100" dist="38100" dir="2700000" algn="tl">
                    <a:srgbClr val="000000">
                      <a:alpha val="43137"/>
                    </a:srgbClr>
                  </a:outerShdw>
                </a:effectLst>
              </a:rPr>
              <a:t>Register &amp; Tone </a:t>
            </a:r>
            <a:r>
              <a:rPr lang="en-US" sz="3600" dirty="0" smtClean="0"/>
              <a:t>considerations </a:t>
            </a:r>
            <a:endParaRPr lang="en-US" dirty="0"/>
          </a:p>
        </p:txBody>
      </p:sp>
      <p:sp>
        <p:nvSpPr>
          <p:cNvPr id="3" name="Content Placeholder 2"/>
          <p:cNvSpPr>
            <a:spLocks noGrp="1"/>
          </p:cNvSpPr>
          <p:nvPr>
            <p:ph idx="1"/>
          </p:nvPr>
        </p:nvSpPr>
        <p:spPr>
          <a:xfrm>
            <a:off x="192505" y="1130968"/>
            <a:ext cx="11863137" cy="5582653"/>
          </a:xfrm>
        </p:spPr>
        <p:txBody>
          <a:bodyPr>
            <a:normAutofit/>
          </a:bodyPr>
          <a:lstStyle/>
          <a:p>
            <a:r>
              <a:rPr lang="en-US" sz="3200" dirty="0" smtClean="0"/>
              <a:t>Need to consider basic questions related to your topic </a:t>
            </a:r>
          </a:p>
          <a:p>
            <a:pPr marL="514350" indent="-514350">
              <a:buFont typeface="+mj-lt"/>
              <a:buAutoNum type="arabicPeriod"/>
            </a:pPr>
            <a:r>
              <a:rPr lang="en-US" sz="3200" dirty="0" smtClean="0"/>
              <a:t>Why are you writing this text?</a:t>
            </a:r>
          </a:p>
          <a:p>
            <a:pPr marL="514350" indent="-514350">
              <a:buFont typeface="+mj-lt"/>
              <a:buAutoNum type="arabicPeriod"/>
            </a:pPr>
            <a:r>
              <a:rPr lang="en-US" sz="3200" dirty="0" smtClean="0"/>
              <a:t>What is your purpose?</a:t>
            </a:r>
          </a:p>
          <a:p>
            <a:pPr marL="514350" indent="-514350">
              <a:buFont typeface="+mj-lt"/>
              <a:buAutoNum type="arabicPeriod"/>
            </a:pPr>
            <a:r>
              <a:rPr lang="en-US" sz="3200" dirty="0" smtClean="0"/>
              <a:t>Who are you writing for?</a:t>
            </a:r>
          </a:p>
          <a:p>
            <a:pPr marL="514350" indent="-514350">
              <a:buFont typeface="+mj-lt"/>
              <a:buAutoNum type="arabicPeriod"/>
            </a:pPr>
            <a:r>
              <a:rPr lang="en-US" sz="3200" dirty="0" smtClean="0"/>
              <a:t>Who is your target reader?</a:t>
            </a:r>
          </a:p>
          <a:p>
            <a:pPr marL="514350" indent="-514350">
              <a:buFont typeface="+mj-lt"/>
              <a:buAutoNum type="arabicPeriod"/>
            </a:pPr>
            <a:r>
              <a:rPr lang="en-US" sz="3200" dirty="0" smtClean="0"/>
              <a:t>What kind of text? </a:t>
            </a:r>
          </a:p>
          <a:p>
            <a:r>
              <a:rPr lang="en-US" sz="3200" dirty="0" smtClean="0"/>
              <a:t>Answers to these questions help you to choose right register and tone.</a:t>
            </a:r>
          </a:p>
          <a:p>
            <a:r>
              <a:rPr lang="en-US" sz="3200" dirty="0" smtClean="0"/>
              <a:t>You will able to select correct words, phrases ,choice of  grammar and so on....  </a:t>
            </a:r>
          </a:p>
          <a:p>
            <a:endParaRPr lang="en-US" dirty="0"/>
          </a:p>
        </p:txBody>
      </p:sp>
    </p:spTree>
    <p:extLst>
      <p:ext uri="{BB962C8B-B14F-4D97-AF65-F5344CB8AC3E}">
        <p14:creationId xmlns:p14="http://schemas.microsoft.com/office/powerpoint/2010/main" val="2787777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430"/>
            <a:ext cx="10515600" cy="898191"/>
          </a:xfrm>
        </p:spPr>
        <p:txBody>
          <a:bodyPr>
            <a:normAutofit fontScale="90000"/>
          </a:bodyPr>
          <a:lstStyle/>
          <a:p>
            <a:pPr algn="ctr"/>
            <a:r>
              <a:rPr lang="en-US" sz="6700" b="1" dirty="0" smtClean="0">
                <a:effectLst>
                  <a:outerShdw blurRad="38100" dist="38100" dir="2700000" algn="tl">
                    <a:srgbClr val="000000">
                      <a:alpha val="43137"/>
                    </a:srgbClr>
                  </a:outerShdw>
                </a:effectLst>
              </a:rPr>
              <a:t>Academic </a:t>
            </a:r>
            <a:r>
              <a:rPr lang="en-US" sz="6700" b="1" dirty="0">
                <a:effectLst>
                  <a:outerShdw blurRad="38100" dist="38100" dir="2700000" algn="tl">
                    <a:srgbClr val="000000">
                      <a:alpha val="43137"/>
                    </a:srgbClr>
                  </a:outerShdw>
                </a:effectLst>
              </a:rPr>
              <a:t>E</a:t>
            </a:r>
            <a:r>
              <a:rPr lang="en-US" sz="6700" b="1" dirty="0" smtClean="0">
                <a:effectLst>
                  <a:outerShdw blurRad="38100" dist="38100" dir="2700000" algn="tl">
                    <a:srgbClr val="000000">
                      <a:alpha val="43137"/>
                    </a:srgbClr>
                  </a:outerShdw>
                </a:effectLst>
              </a:rPr>
              <a:t>ssay </a:t>
            </a:r>
            <a:r>
              <a:rPr lang="en-US" dirty="0"/>
              <a:t>R</a:t>
            </a:r>
            <a:r>
              <a:rPr lang="en-US" dirty="0" smtClean="0"/>
              <a:t>egister  </a:t>
            </a:r>
            <a:endParaRPr lang="en-US" dirty="0"/>
          </a:p>
        </p:txBody>
      </p:sp>
      <p:sp>
        <p:nvSpPr>
          <p:cNvPr id="3" name="Content Placeholder 2"/>
          <p:cNvSpPr>
            <a:spLocks noGrp="1"/>
          </p:cNvSpPr>
          <p:nvPr>
            <p:ph idx="1"/>
          </p:nvPr>
        </p:nvSpPr>
        <p:spPr>
          <a:xfrm>
            <a:off x="120315" y="998621"/>
            <a:ext cx="11911263" cy="4860758"/>
          </a:xfrm>
        </p:spPr>
        <p:txBody>
          <a:bodyPr/>
          <a:lstStyle/>
          <a:p>
            <a:r>
              <a:rPr lang="en-US" sz="3600" dirty="0" smtClean="0"/>
              <a:t>Formal Register</a:t>
            </a:r>
          </a:p>
          <a:p>
            <a:r>
              <a:rPr lang="en-US" sz="3600" dirty="0" smtClean="0"/>
              <a:t>Clear </a:t>
            </a:r>
          </a:p>
          <a:p>
            <a:r>
              <a:rPr lang="en-US" sz="3600" dirty="0" smtClean="0"/>
              <a:t>Confident (based on facts) </a:t>
            </a:r>
          </a:p>
          <a:p>
            <a:r>
              <a:rPr lang="en-US" sz="3600" dirty="0" smtClean="0"/>
              <a:t>Respectful (without ridicule towards readers)</a:t>
            </a:r>
          </a:p>
          <a:p>
            <a:r>
              <a:rPr lang="en-US" sz="3600" dirty="0" smtClean="0"/>
              <a:t>Objective tone (avoid biased language and generalization, not bring personal preconceptions or opinions) </a:t>
            </a:r>
          </a:p>
          <a:p>
            <a:pPr marL="0" indent="0">
              <a:buNone/>
            </a:pPr>
            <a:endParaRPr lang="en-US" dirty="0" smtClean="0"/>
          </a:p>
          <a:p>
            <a:endParaRPr lang="en-US" dirty="0"/>
          </a:p>
        </p:txBody>
      </p:sp>
    </p:spTree>
    <p:extLst>
      <p:ext uri="{BB962C8B-B14F-4D97-AF65-F5344CB8AC3E}">
        <p14:creationId xmlns:p14="http://schemas.microsoft.com/office/powerpoint/2010/main" val="31644324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p:cNvGraphicFramePr/>
          <p:nvPr>
            <p:extLst>
              <p:ext uri="{D42A27DB-BD31-4B8C-83A1-F6EECF244321}">
                <p14:modId xmlns:p14="http://schemas.microsoft.com/office/powerpoint/2010/main" val="377866013"/>
              </p:ext>
            </p:extLst>
          </p:nvPr>
        </p:nvGraphicFramePr>
        <p:xfrm>
          <a:off x="84222" y="589548"/>
          <a:ext cx="11586410" cy="58593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7627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grpId="0" nodeType="clickEffect">
                                  <p:stCondLst>
                                    <p:cond delay="0"/>
                                  </p:stCondLst>
                                  <p:childTnLst>
                                    <p:animEffect transition="out" filter="fade">
                                      <p:cBhvr>
                                        <p:cTn id="6" dur="2000"/>
                                        <p:tgtEl>
                                          <p:spTgt spid="8"/>
                                        </p:tgtEl>
                                      </p:cBhvr>
                                    </p:animEffect>
                                    <p:anim calcmode="lin" valueType="num">
                                      <p:cBhvr>
                                        <p:cTn id="7" dur="2000"/>
                                        <p:tgtEl>
                                          <p:spTgt spid="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8"/>
                                        </p:tgtEl>
                                        <p:attrNameLst>
                                          <p:attrName>ppt_h</p:attrName>
                                        </p:attrNameLst>
                                      </p:cBhvr>
                                      <p:tavLst>
                                        <p:tav tm="0">
                                          <p:val>
                                            <p:strVal val="ppt_h"/>
                                          </p:val>
                                        </p:tav>
                                        <p:tav tm="100000">
                                          <p:val>
                                            <p:strVal val="ppt_h"/>
                                          </p:val>
                                        </p:tav>
                                      </p:tavLst>
                                    </p:anim>
                                    <p:set>
                                      <p:cBhvr>
                                        <p:cTn id="9" dur="1" fill="hold">
                                          <p:stCondLst>
                                            <p:cond delay="1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33046" y="337625"/>
            <a:ext cx="11141612" cy="923330"/>
          </a:xfrm>
          <a:prstGeom prst="rect">
            <a:avLst/>
          </a:prstGeom>
          <a:noFill/>
        </p:spPr>
        <p:txBody>
          <a:bodyPr wrap="square" rtlCol="0">
            <a:spAutoFit/>
          </a:bodyPr>
          <a:lstStyle/>
          <a:p>
            <a:r>
              <a:rPr lang="en-US" sz="5400" b="1" dirty="0" smtClean="0">
                <a:effectLst>
                  <a:outerShdw blurRad="38100" dist="38100" dir="2700000" algn="tl">
                    <a:srgbClr val="000000">
                      <a:alpha val="43137"/>
                    </a:srgbClr>
                  </a:outerShdw>
                </a:effectLst>
              </a:rPr>
              <a:t>Check list for Editing and Proofreading </a:t>
            </a:r>
            <a:endParaRPr lang="en-US" sz="5400" b="1" dirty="0">
              <a:effectLst>
                <a:outerShdw blurRad="38100" dist="38100" dir="2700000" algn="tl">
                  <a:srgbClr val="000000">
                    <a:alpha val="43137"/>
                  </a:srgbClr>
                </a:outerShdw>
              </a:effectLst>
            </a:endParaRPr>
          </a:p>
        </p:txBody>
      </p:sp>
      <p:sp>
        <p:nvSpPr>
          <p:cNvPr id="3" name="TextBox 2"/>
          <p:cNvSpPr txBox="1"/>
          <p:nvPr/>
        </p:nvSpPr>
        <p:spPr>
          <a:xfrm>
            <a:off x="492369" y="1378634"/>
            <a:ext cx="11507373" cy="4031873"/>
          </a:xfrm>
          <a:prstGeom prst="rect">
            <a:avLst/>
          </a:prstGeom>
          <a:noFill/>
        </p:spPr>
        <p:txBody>
          <a:bodyPr wrap="square" rtlCol="0">
            <a:spAutoFit/>
          </a:bodyPr>
          <a:lstStyle/>
          <a:p>
            <a:pPr marL="457200" indent="-457200">
              <a:buFont typeface="Arial" panose="020B0604020202020204" pitchFamily="34" charset="0"/>
              <a:buChar char="•"/>
            </a:pPr>
            <a:r>
              <a:rPr lang="en-US" sz="3200" dirty="0" smtClean="0"/>
              <a:t>Avoided to use non- standard words </a:t>
            </a:r>
          </a:p>
          <a:p>
            <a:pPr marL="457200" indent="-457200">
              <a:buFont typeface="Arial" panose="020B0604020202020204" pitchFamily="34" charset="0"/>
              <a:buChar char="•"/>
            </a:pPr>
            <a:r>
              <a:rPr lang="en-US" sz="3200" dirty="0" err="1" smtClean="0"/>
              <a:t>Ganny</a:t>
            </a:r>
            <a:r>
              <a:rPr lang="en-US" sz="3200" dirty="0" smtClean="0"/>
              <a:t> </a:t>
            </a:r>
          </a:p>
          <a:p>
            <a:pPr marL="457200" indent="-457200">
              <a:buFont typeface="Arial" panose="020B0604020202020204" pitchFamily="34" charset="0"/>
              <a:buChar char="•"/>
            </a:pPr>
            <a:r>
              <a:rPr lang="en-US" sz="3200" dirty="0" err="1" smtClean="0"/>
              <a:t>SatNav</a:t>
            </a:r>
            <a:r>
              <a:rPr lang="en-US" sz="3200" dirty="0" smtClean="0"/>
              <a:t> </a:t>
            </a:r>
          </a:p>
          <a:p>
            <a:pPr marL="457200" indent="-457200">
              <a:buFont typeface="Arial" panose="020B0604020202020204" pitchFamily="34" charset="0"/>
              <a:buChar char="•"/>
            </a:pPr>
            <a:r>
              <a:rPr lang="en-US" sz="3200" dirty="0" smtClean="0"/>
              <a:t>Dialectal or Sociolect forms (use of words, phrases with some part of country or society)</a:t>
            </a:r>
          </a:p>
          <a:p>
            <a:pPr marL="457200" indent="-457200">
              <a:buFont typeface="Arial" panose="020B0604020202020204" pitchFamily="34" charset="0"/>
              <a:buChar char="•"/>
            </a:pPr>
            <a:r>
              <a:rPr lang="en-US" sz="3200" dirty="0" smtClean="0"/>
              <a:t>Slang or swear-words (not part of formal  academic register)</a:t>
            </a:r>
          </a:p>
          <a:p>
            <a:pPr marL="457200" indent="-457200">
              <a:buFont typeface="Arial" panose="020B0604020202020204" pitchFamily="34" charset="0"/>
              <a:buChar char="•"/>
            </a:pPr>
            <a:r>
              <a:rPr lang="en-US" sz="3200" dirty="0" smtClean="0"/>
              <a:t>Use dictionaries to understand register.</a:t>
            </a:r>
          </a:p>
          <a:p>
            <a:r>
              <a:rPr lang="en-US" sz="3200" dirty="0" smtClean="0"/>
              <a:t> </a:t>
            </a:r>
            <a:endParaRPr lang="en-US" sz="3200" dirty="0"/>
          </a:p>
        </p:txBody>
      </p:sp>
    </p:spTree>
    <p:extLst>
      <p:ext uri="{BB962C8B-B14F-4D97-AF65-F5344CB8AC3E}">
        <p14:creationId xmlns:p14="http://schemas.microsoft.com/office/powerpoint/2010/main" val="95305031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692" y="323557"/>
            <a:ext cx="11002108" cy="5853406"/>
          </a:xfrm>
        </p:spPr>
        <p:txBody>
          <a:bodyPr/>
          <a:lstStyle/>
          <a:p>
            <a:r>
              <a:rPr lang="en-US" sz="4000" dirty="0" smtClean="0"/>
              <a:t>Non-standard grammar </a:t>
            </a:r>
          </a:p>
          <a:p>
            <a:r>
              <a:rPr lang="en-US" sz="4000" dirty="0" smtClean="0"/>
              <a:t>The king got real mad.  Informal </a:t>
            </a:r>
          </a:p>
          <a:p>
            <a:r>
              <a:rPr lang="en-US" sz="4000" dirty="0" smtClean="0">
                <a:solidFill>
                  <a:srgbClr val="00B050"/>
                </a:solidFill>
              </a:rPr>
              <a:t>The king became very angry. Formal</a:t>
            </a:r>
          </a:p>
          <a:p>
            <a:r>
              <a:rPr lang="en-US" sz="4000" dirty="0" smtClean="0">
                <a:solidFill>
                  <a:srgbClr val="00B050"/>
                </a:solidFill>
              </a:rPr>
              <a:t>Use of Auxiliary verbs </a:t>
            </a:r>
          </a:p>
          <a:p>
            <a:r>
              <a:rPr lang="en-US" sz="4000" dirty="0" smtClean="0">
                <a:solidFill>
                  <a:srgbClr val="00B050"/>
                </a:solidFill>
              </a:rPr>
              <a:t>Agreement between subject &amp; verb </a:t>
            </a:r>
          </a:p>
          <a:p>
            <a:r>
              <a:rPr lang="en-US" sz="4000" dirty="0" smtClean="0">
                <a:solidFill>
                  <a:srgbClr val="00B050"/>
                </a:solidFill>
              </a:rPr>
              <a:t>Correct tense &amp; aspect for verbs  </a:t>
            </a:r>
          </a:p>
          <a:p>
            <a:pPr marL="0" indent="0">
              <a:buNone/>
            </a:pPr>
            <a:endParaRPr lang="en-US" dirty="0">
              <a:solidFill>
                <a:srgbClr val="00B050"/>
              </a:solidFill>
            </a:endParaRPr>
          </a:p>
        </p:txBody>
      </p:sp>
    </p:spTree>
    <p:extLst>
      <p:ext uri="{BB962C8B-B14F-4D97-AF65-F5344CB8AC3E}">
        <p14:creationId xmlns:p14="http://schemas.microsoft.com/office/powerpoint/2010/main" val="168203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1015"/>
            <a:ext cx="10515600" cy="5965948"/>
          </a:xfrm>
        </p:spPr>
        <p:txBody>
          <a:bodyPr/>
          <a:lstStyle/>
          <a:p>
            <a:r>
              <a:rPr lang="en-US" sz="3600" dirty="0" smtClean="0"/>
              <a:t>“I goes”</a:t>
            </a:r>
          </a:p>
          <a:p>
            <a:r>
              <a:rPr lang="en-US" sz="3600" dirty="0" smtClean="0"/>
              <a:t>“She goes”</a:t>
            </a:r>
          </a:p>
          <a:p>
            <a:r>
              <a:rPr lang="en-US" sz="3600" dirty="0" smtClean="0"/>
              <a:t>Present tense </a:t>
            </a:r>
          </a:p>
          <a:p>
            <a:r>
              <a:rPr lang="en-US" sz="3600" dirty="0" smtClean="0"/>
              <a:t>Past tense </a:t>
            </a:r>
          </a:p>
          <a:p>
            <a:r>
              <a:rPr lang="en-US" sz="3600" dirty="0" smtClean="0"/>
              <a:t>-ing form</a:t>
            </a:r>
          </a:p>
          <a:p>
            <a:r>
              <a:rPr lang="en-US" sz="3600" dirty="0" smtClean="0"/>
              <a:t>Good grammar book helps to correct any suspicious case. </a:t>
            </a:r>
          </a:p>
          <a:p>
            <a:pPr marL="0" indent="0">
              <a:buNone/>
            </a:pPr>
            <a:endParaRPr lang="en-US" dirty="0"/>
          </a:p>
        </p:txBody>
      </p:sp>
    </p:spTree>
    <p:extLst>
      <p:ext uri="{BB962C8B-B14F-4D97-AF65-F5344CB8AC3E}">
        <p14:creationId xmlns:p14="http://schemas.microsoft.com/office/powerpoint/2010/main" val="25641332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Non- Standard Spelling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3600" dirty="0" smtClean="0"/>
              <a:t>Not found in a dictionary </a:t>
            </a:r>
          </a:p>
          <a:p>
            <a:r>
              <a:rPr lang="en-US" sz="3600" dirty="0" smtClean="0"/>
              <a:t>Internet language </a:t>
            </a:r>
          </a:p>
          <a:p>
            <a:pPr marL="514350" indent="-514350">
              <a:buFont typeface="+mj-lt"/>
              <a:buAutoNum type="arabicPeriod"/>
            </a:pPr>
            <a:r>
              <a:rPr lang="en-US" sz="3600" dirty="0" smtClean="0"/>
              <a:t>Personal Blogs </a:t>
            </a:r>
          </a:p>
          <a:p>
            <a:pPr marL="514350" indent="-514350">
              <a:buFont typeface="+mj-lt"/>
              <a:buAutoNum type="arabicPeriod"/>
            </a:pPr>
            <a:r>
              <a:rPr lang="en-US" sz="3600" dirty="0" smtClean="0"/>
              <a:t>Text messaging </a:t>
            </a:r>
          </a:p>
          <a:p>
            <a:r>
              <a:rPr lang="en-US" sz="3600" dirty="0" smtClean="0"/>
              <a:t>Non-Standard Punctuation </a:t>
            </a:r>
          </a:p>
          <a:p>
            <a:r>
              <a:rPr lang="en-US" sz="3600" dirty="0" smtClean="0"/>
              <a:t>Exclamation Marks!</a:t>
            </a:r>
            <a:endParaRPr lang="en-US" sz="3600" dirty="0"/>
          </a:p>
        </p:txBody>
      </p:sp>
    </p:spTree>
    <p:extLst>
      <p:ext uri="{BB962C8B-B14F-4D97-AF65-F5344CB8AC3E}">
        <p14:creationId xmlns:p14="http://schemas.microsoft.com/office/powerpoint/2010/main" val="2204441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398"/>
            <a:ext cx="10515600" cy="1325563"/>
          </a:xfrm>
        </p:spPr>
        <p:txBody>
          <a:bodyPr>
            <a:normAutofit/>
          </a:bodyPr>
          <a:lstStyle/>
          <a:p>
            <a:pPr algn="ctr"/>
            <a:r>
              <a:rPr lang="en-US" sz="5400" b="1" dirty="0">
                <a:effectLst>
                  <a:outerShdw blurRad="38100" dist="38100" dir="2700000" algn="tl">
                    <a:srgbClr val="000000">
                      <a:alpha val="43137"/>
                    </a:srgbClr>
                  </a:outerShdw>
                </a:effectLst>
              </a:rPr>
              <a:t>Non- Standard Spelling </a:t>
            </a:r>
          </a:p>
        </p:txBody>
      </p:sp>
      <p:sp>
        <p:nvSpPr>
          <p:cNvPr id="3" name="Content Placeholder 2"/>
          <p:cNvSpPr>
            <a:spLocks noGrp="1"/>
          </p:cNvSpPr>
          <p:nvPr>
            <p:ph idx="1"/>
          </p:nvPr>
        </p:nvSpPr>
        <p:spPr>
          <a:xfrm>
            <a:off x="838200" y="1323474"/>
            <a:ext cx="10515600" cy="4372226"/>
          </a:xfrm>
        </p:spPr>
        <p:txBody>
          <a:bodyPr>
            <a:normAutofit/>
          </a:bodyPr>
          <a:lstStyle/>
          <a:p>
            <a:r>
              <a:rPr lang="en-US" sz="3600" dirty="0" smtClean="0"/>
              <a:t>Avoid use of abbreviation and acronyms </a:t>
            </a:r>
          </a:p>
          <a:p>
            <a:r>
              <a:rPr lang="en-US" sz="3600" dirty="0" smtClean="0"/>
              <a:t> satnav </a:t>
            </a:r>
          </a:p>
          <a:p>
            <a:r>
              <a:rPr lang="en-US" sz="3600" dirty="0" smtClean="0"/>
              <a:t>Mod con </a:t>
            </a:r>
          </a:p>
          <a:p>
            <a:r>
              <a:rPr lang="en-US" sz="3600" dirty="0" smtClean="0"/>
              <a:t>ASAP</a:t>
            </a:r>
          </a:p>
          <a:p>
            <a:r>
              <a:rPr lang="en-US" sz="3600" dirty="0" smtClean="0"/>
              <a:t>LOL</a:t>
            </a:r>
          </a:p>
          <a:p>
            <a:r>
              <a:rPr lang="en-US" sz="3600" dirty="0" smtClean="0"/>
              <a:t>Smileys &amp; emoticons</a:t>
            </a:r>
            <a:endParaRPr lang="en-US" sz="3600" dirty="0"/>
          </a:p>
        </p:txBody>
      </p:sp>
    </p:spTree>
    <p:extLst>
      <p:ext uri="{BB962C8B-B14F-4D97-AF65-F5344CB8AC3E}">
        <p14:creationId xmlns:p14="http://schemas.microsoft.com/office/powerpoint/2010/main" val="3927925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65" y="54894"/>
            <a:ext cx="10515600" cy="1325563"/>
          </a:xfrm>
        </p:spPr>
        <p:txBody>
          <a:bodyPr>
            <a:normAutofit/>
          </a:bodyPr>
          <a:lstStyle/>
          <a:p>
            <a:pPr algn="ctr"/>
            <a:r>
              <a:rPr lang="en-US" sz="6000" b="1" dirty="0">
                <a:effectLst>
                  <a:outerShdw blurRad="38100" dist="38100" dir="2700000" algn="tl">
                    <a:srgbClr val="000000">
                      <a:alpha val="43137"/>
                    </a:srgbClr>
                  </a:outerShdw>
                </a:effectLst>
              </a:rPr>
              <a:t>Non- Standard Spelling </a:t>
            </a:r>
          </a:p>
        </p:txBody>
      </p:sp>
      <p:sp>
        <p:nvSpPr>
          <p:cNvPr id="3" name="Content Placeholder 2"/>
          <p:cNvSpPr>
            <a:spLocks noGrp="1"/>
          </p:cNvSpPr>
          <p:nvPr>
            <p:ph idx="1"/>
          </p:nvPr>
        </p:nvSpPr>
        <p:spPr>
          <a:xfrm>
            <a:off x="657727" y="1380456"/>
            <a:ext cx="10515600" cy="5301697"/>
          </a:xfrm>
        </p:spPr>
        <p:txBody>
          <a:bodyPr>
            <a:normAutofit/>
          </a:bodyPr>
          <a:lstStyle/>
          <a:p>
            <a:r>
              <a:rPr lang="en-US" sz="3200" dirty="0" smtClean="0"/>
              <a:t>Contracted form</a:t>
            </a:r>
          </a:p>
          <a:p>
            <a:pPr marL="514350" indent="-514350">
              <a:buFont typeface="+mj-lt"/>
              <a:buAutoNum type="arabicPeriod"/>
            </a:pPr>
            <a:r>
              <a:rPr lang="en-US" sz="3200" dirty="0" smtClean="0"/>
              <a:t>Isn’t         is not </a:t>
            </a:r>
          </a:p>
          <a:p>
            <a:pPr marL="514350" indent="-514350">
              <a:buFont typeface="+mj-lt"/>
              <a:buAutoNum type="arabicPeriod"/>
            </a:pPr>
            <a:r>
              <a:rPr lang="en-US" sz="3200" dirty="0" smtClean="0"/>
              <a:t>Can’t       cannot </a:t>
            </a:r>
          </a:p>
          <a:p>
            <a:r>
              <a:rPr lang="en-US" sz="3200" dirty="0" smtClean="0"/>
              <a:t>Use the full form </a:t>
            </a:r>
          </a:p>
          <a:p>
            <a:r>
              <a:rPr lang="en-US" sz="3200" dirty="0" smtClean="0"/>
              <a:t>Use contracted form correctly </a:t>
            </a:r>
          </a:p>
          <a:p>
            <a:pPr algn="just"/>
            <a:r>
              <a:rPr lang="en-US" sz="3200" dirty="0" smtClean="0"/>
              <a:t>You text should be consistent all the ways through in terms of register and tone. So, there is not bits and pieces that somehow stand out or feel like they are in wrong document.  </a:t>
            </a:r>
            <a:endParaRPr lang="en-US" sz="3200" dirty="0"/>
          </a:p>
        </p:txBody>
      </p:sp>
    </p:spTree>
    <p:extLst>
      <p:ext uri="{BB962C8B-B14F-4D97-AF65-F5344CB8AC3E}">
        <p14:creationId xmlns:p14="http://schemas.microsoft.com/office/powerpoint/2010/main" val="993759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399"/>
            <a:ext cx="10515600" cy="1325563"/>
          </a:xfrm>
        </p:spPr>
        <p:txBody>
          <a:bodyPr>
            <a:normAutofit/>
          </a:bodyPr>
          <a:lstStyle/>
          <a:p>
            <a:pPr algn="ctr"/>
            <a:r>
              <a:rPr lang="en-US" sz="6000" b="1" dirty="0" smtClean="0">
                <a:effectLst>
                  <a:outerShdw blurRad="38100" dist="38100" dir="2700000" algn="tl">
                    <a:srgbClr val="000000">
                      <a:alpha val="43137"/>
                    </a:srgbClr>
                  </a:outerShdw>
                </a:effectLst>
              </a:rPr>
              <a:t>Academic writing style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705852" y="1619977"/>
            <a:ext cx="10515600" cy="4351338"/>
          </a:xfrm>
        </p:spPr>
        <p:txBody>
          <a:bodyPr>
            <a:normAutofit/>
          </a:bodyPr>
          <a:lstStyle/>
          <a:p>
            <a:r>
              <a:rPr lang="en-US" sz="3600" dirty="0" smtClean="0"/>
              <a:t>Clear </a:t>
            </a:r>
          </a:p>
          <a:p>
            <a:r>
              <a:rPr lang="en-US" sz="3600" dirty="0" smtClean="0"/>
              <a:t>Concise </a:t>
            </a:r>
          </a:p>
          <a:p>
            <a:r>
              <a:rPr lang="en-US" sz="3600" dirty="0" smtClean="0"/>
              <a:t>Easy to follow</a:t>
            </a:r>
          </a:p>
          <a:p>
            <a:r>
              <a:rPr lang="en-US" sz="3600" dirty="0" smtClean="0"/>
              <a:t>Attention on the topic </a:t>
            </a:r>
          </a:p>
          <a:p>
            <a:r>
              <a:rPr lang="en-US" sz="3600" dirty="0" smtClean="0"/>
              <a:t>Write elegantly </a:t>
            </a:r>
            <a:endParaRPr lang="en-US" sz="3600" dirty="0"/>
          </a:p>
        </p:txBody>
      </p:sp>
    </p:spTree>
    <p:extLst>
      <p:ext uri="{BB962C8B-B14F-4D97-AF65-F5344CB8AC3E}">
        <p14:creationId xmlns:p14="http://schemas.microsoft.com/office/powerpoint/2010/main" val="544446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Building wall with sky view and open roof, modern architecture with metal elements, building with transparent ceiling. Modern house, office, banner.3D render Building wall with sky view and open roof, modern architecture with metal elements, building with transparent ceiling. Modern house, office, banner.3D render building structures stock pictures, royalty-free photos &amp; images"/>
          <p:cNvPicPr>
            <a:picLocks noGrp="1" noChangeAspect="1" noChangeArrowheads="1"/>
          </p:cNvPicPr>
          <p:nvPr>
            <p:ph idx="1"/>
          </p:nvPr>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65000"/>
                    </a14:imgEffect>
                    <a14:imgEffect>
                      <a14:colorTemperature colorTemp="9162"/>
                    </a14:imgEffect>
                    <a14:imgEffect>
                      <a14:saturation sat="9000"/>
                    </a14:imgEffect>
                    <a14:imgEffect>
                      <a14:brightnessContrast bright="-35000" contrast="-63000"/>
                    </a14:imgEffect>
                  </a14:imgLayer>
                </a14:imgProps>
              </a:ext>
              <a:ext uri="{28A0092B-C50C-407E-A947-70E740481C1C}">
                <a14:useLocalDpi xmlns:a14="http://schemas.microsoft.com/office/drawing/2010/main" val="0"/>
              </a:ext>
            </a:extLst>
          </a:blip>
          <a:srcRect/>
          <a:stretch>
            <a:fillRect/>
          </a:stretch>
        </p:blipFill>
        <p:spPr bwMode="auto">
          <a:xfrm>
            <a:off x="-6016" y="918962"/>
            <a:ext cx="11949487" cy="593903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a:extLst/>
        </p:spPr>
      </p:pic>
      <p:sp>
        <p:nvSpPr>
          <p:cNvPr id="2" name="Title 1"/>
          <p:cNvSpPr>
            <a:spLocks noGrp="1"/>
          </p:cNvSpPr>
          <p:nvPr>
            <p:ph type="title"/>
          </p:nvPr>
        </p:nvSpPr>
        <p:spPr>
          <a:xfrm>
            <a:off x="838200" y="1"/>
            <a:ext cx="10515600" cy="1118936"/>
          </a:xfrm>
        </p:spPr>
        <p:txBody>
          <a:bodyPr>
            <a:normAutofit/>
          </a:bodyPr>
          <a:lstStyle/>
          <a:p>
            <a:r>
              <a:rPr lang="en-US" sz="6000" b="1" dirty="0" smtClean="0">
                <a:effectLst>
                  <a:outerShdw blurRad="38100" dist="38100" dir="2700000" algn="tl">
                    <a:srgbClr val="000000">
                      <a:alpha val="43137"/>
                    </a:srgbClr>
                  </a:outerShdw>
                </a:effectLst>
                <a:latin typeface="+mn-lt"/>
              </a:rPr>
              <a:t>Sentence </a:t>
            </a:r>
            <a:r>
              <a:rPr lang="en-US" sz="5400" b="1" dirty="0" smtClean="0">
                <a:latin typeface="+mn-lt"/>
              </a:rPr>
              <a:t>structure </a:t>
            </a:r>
            <a:endParaRPr lang="en-US" sz="6000" b="1" dirty="0">
              <a:latin typeface="+mn-lt"/>
            </a:endParaRPr>
          </a:p>
        </p:txBody>
      </p:sp>
      <p:sp>
        <p:nvSpPr>
          <p:cNvPr id="8" name="TextBox 7"/>
          <p:cNvSpPr txBox="1"/>
          <p:nvPr/>
        </p:nvSpPr>
        <p:spPr>
          <a:xfrm>
            <a:off x="541421" y="1203158"/>
            <a:ext cx="10984832" cy="6186309"/>
          </a:xfrm>
          <a:prstGeom prst="rect">
            <a:avLst/>
          </a:prstGeom>
          <a:noFill/>
        </p:spPr>
        <p:txBody>
          <a:bodyPr wrap="square" rtlCol="0">
            <a:spAutoFit/>
          </a:bodyPr>
          <a:lstStyle/>
          <a:p>
            <a:pPr marL="571500" indent="-571500">
              <a:buFont typeface="Arial" panose="020B0604020202020204" pitchFamily="34" charset="0"/>
              <a:buChar char="•"/>
            </a:pPr>
            <a:r>
              <a:rPr lang="en-US" sz="3600" dirty="0" smtClean="0"/>
              <a:t>Complete: a subject &amp; a predicate </a:t>
            </a:r>
          </a:p>
          <a:p>
            <a:pPr marL="571500" indent="-571500">
              <a:buFont typeface="Arial" panose="020B0604020202020204" pitchFamily="34" charset="0"/>
              <a:buChar char="•"/>
            </a:pPr>
            <a:r>
              <a:rPr lang="en-US" sz="3600" dirty="0" smtClean="0"/>
              <a:t>Avoidance of sentence fragments </a:t>
            </a:r>
          </a:p>
          <a:p>
            <a:pPr marL="571500" indent="-571500">
              <a:buFont typeface="Arial" panose="020B0604020202020204" pitchFamily="34" charset="0"/>
              <a:buChar char="•"/>
            </a:pPr>
            <a:r>
              <a:rPr lang="en-US" sz="3600" dirty="0" smtClean="0"/>
              <a:t>May contain full clauses </a:t>
            </a:r>
          </a:p>
          <a:p>
            <a:pPr marL="571500" indent="-571500">
              <a:buFont typeface="Arial" panose="020B0604020202020204" pitchFamily="34" charset="0"/>
              <a:buChar char="•"/>
            </a:pPr>
            <a:r>
              <a:rPr lang="en-US" sz="3600" dirty="0" smtClean="0"/>
              <a:t>Sentence length</a:t>
            </a:r>
          </a:p>
          <a:p>
            <a:pPr marL="571500" indent="-571500">
              <a:buFont typeface="Arial" panose="020B0604020202020204" pitchFamily="34" charset="0"/>
              <a:buChar char="•"/>
            </a:pPr>
            <a:r>
              <a:rPr lang="en-US" sz="3600" dirty="0" smtClean="0"/>
              <a:t>Your sentences should be long enough so the text does not look choppy but they should not be too long because your reader will get lost. </a:t>
            </a:r>
          </a:p>
          <a:p>
            <a:pPr marL="571500" indent="-571500">
              <a:buFont typeface="Arial" panose="020B0604020202020204" pitchFamily="34" charset="0"/>
              <a:buChar char="•"/>
            </a:pPr>
            <a:r>
              <a:rPr lang="en-US" sz="3600" dirty="0" smtClean="0"/>
              <a:t>One main clause </a:t>
            </a:r>
          </a:p>
          <a:p>
            <a:pPr marL="571500" indent="-571500">
              <a:buFont typeface="Arial" panose="020B0604020202020204" pitchFamily="34" charset="0"/>
              <a:buChar char="•"/>
            </a:pPr>
            <a:r>
              <a:rPr lang="en-US" sz="3600" dirty="0" smtClean="0"/>
              <a:t>One or two sub-clauses </a:t>
            </a:r>
          </a:p>
          <a:p>
            <a:pPr marL="571500" indent="-571500">
              <a:buFont typeface="Arial" panose="020B0604020202020204" pitchFamily="34" charset="0"/>
              <a:buChar char="•"/>
            </a:pPr>
            <a:r>
              <a:rPr lang="en-US" sz="3600" dirty="0" smtClean="0"/>
              <a:t>Attempt to vary the length  </a:t>
            </a:r>
          </a:p>
          <a:p>
            <a:pPr marL="571500" indent="-571500">
              <a:buFont typeface="Arial" panose="020B0604020202020204" pitchFamily="34" charset="0"/>
              <a:buChar char="•"/>
            </a:pPr>
            <a:r>
              <a:rPr lang="en-US" dirty="0" smtClean="0"/>
              <a:t> </a:t>
            </a:r>
          </a:p>
          <a:p>
            <a:endParaRPr lang="en-US" dirty="0"/>
          </a:p>
        </p:txBody>
      </p:sp>
    </p:spTree>
    <p:extLst>
      <p:ext uri="{BB962C8B-B14F-4D97-AF65-F5344CB8AC3E}">
        <p14:creationId xmlns:p14="http://schemas.microsoft.com/office/powerpoint/2010/main" val="2213851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8033"/>
          </a:xfrm>
        </p:spPr>
        <p:txBody>
          <a:bodyPr>
            <a:noAutofit/>
          </a:bodyPr>
          <a:lstStyle/>
          <a:p>
            <a:pPr algn="ctr"/>
            <a:r>
              <a:rPr lang="en-US" sz="6000" b="1" dirty="0" smtClean="0">
                <a:effectLst>
                  <a:outerShdw blurRad="38100" dist="38100" dir="2700000" algn="tl">
                    <a:srgbClr val="000000">
                      <a:alpha val="43137"/>
                    </a:srgbClr>
                  </a:outerShdw>
                </a:effectLst>
              </a:rPr>
              <a:t>Combining sentences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65484" y="1203158"/>
            <a:ext cx="11442032" cy="4973805"/>
          </a:xfrm>
        </p:spPr>
        <p:txBody>
          <a:bodyPr/>
          <a:lstStyle/>
          <a:p>
            <a:r>
              <a:rPr lang="en-US" sz="3200" dirty="0" smtClean="0"/>
              <a:t>Choose the right conjunctions</a:t>
            </a:r>
          </a:p>
          <a:p>
            <a:r>
              <a:rPr lang="en-US" sz="3200" dirty="0" smtClean="0"/>
              <a:t>And </a:t>
            </a:r>
          </a:p>
          <a:p>
            <a:r>
              <a:rPr lang="en-US" sz="3200" dirty="0" smtClean="0"/>
              <a:t>Or </a:t>
            </a:r>
          </a:p>
          <a:p>
            <a:r>
              <a:rPr lang="en-US" sz="3200" dirty="0" smtClean="0"/>
              <a:t>But </a:t>
            </a:r>
          </a:p>
          <a:p>
            <a:r>
              <a:rPr lang="en-US" sz="3200" dirty="0" smtClean="0"/>
              <a:t>If </a:t>
            </a:r>
          </a:p>
          <a:p>
            <a:r>
              <a:rPr lang="en-US" sz="3200" dirty="0" smtClean="0"/>
              <a:t>Because </a:t>
            </a:r>
          </a:p>
          <a:p>
            <a:r>
              <a:rPr lang="en-US" sz="3200" dirty="0" smtClean="0"/>
              <a:t>So on </a:t>
            </a:r>
          </a:p>
          <a:p>
            <a:r>
              <a:rPr lang="en-US" sz="3200" dirty="0" smtClean="0"/>
              <a:t>Vary the conjunction </a:t>
            </a:r>
          </a:p>
          <a:p>
            <a:endParaRPr lang="en-US" dirty="0"/>
          </a:p>
        </p:txBody>
      </p:sp>
    </p:spTree>
    <p:extLst>
      <p:ext uri="{BB962C8B-B14F-4D97-AF65-F5344CB8AC3E}">
        <p14:creationId xmlns:p14="http://schemas.microsoft.com/office/powerpoint/2010/main" val="27937088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Combining sentences </a:t>
            </a:r>
          </a:p>
        </p:txBody>
      </p:sp>
      <p:sp>
        <p:nvSpPr>
          <p:cNvPr id="3" name="Content Placeholder 2"/>
          <p:cNvSpPr>
            <a:spLocks noGrp="1"/>
          </p:cNvSpPr>
          <p:nvPr>
            <p:ph sz="half" idx="1"/>
          </p:nvPr>
        </p:nvSpPr>
        <p:spPr/>
        <p:txBody>
          <a:bodyPr>
            <a:normAutofit/>
          </a:bodyPr>
          <a:lstStyle/>
          <a:p>
            <a:pPr algn="just"/>
            <a:r>
              <a:rPr lang="en-US" sz="3200" dirty="0" smtClean="0"/>
              <a:t>“I went home and ate and then the telephone rang and it was my grandmother and she wanted to know how I was doing”. </a:t>
            </a:r>
            <a:endParaRPr lang="en-US" sz="3200" dirty="0"/>
          </a:p>
        </p:txBody>
      </p:sp>
      <p:sp>
        <p:nvSpPr>
          <p:cNvPr id="4" name="Content Placeholder 3"/>
          <p:cNvSpPr>
            <a:spLocks noGrp="1"/>
          </p:cNvSpPr>
          <p:nvPr>
            <p:ph sz="half" idx="2"/>
          </p:nvPr>
        </p:nvSpPr>
        <p:spPr/>
        <p:txBody>
          <a:bodyPr>
            <a:normAutofit/>
          </a:bodyPr>
          <a:lstStyle/>
          <a:p>
            <a:pPr algn="just"/>
            <a:r>
              <a:rPr lang="en-US" sz="3200" dirty="0" smtClean="0"/>
              <a:t>“I went home and ate. Then the telephone rang; it was my grand-mother, who wanted to know how I was doing.”</a:t>
            </a:r>
            <a:endParaRPr lang="en-US" sz="3200" dirty="0"/>
          </a:p>
        </p:txBody>
      </p:sp>
    </p:spTree>
    <p:extLst>
      <p:ext uri="{BB962C8B-B14F-4D97-AF65-F5344CB8AC3E}">
        <p14:creationId xmlns:p14="http://schemas.microsoft.com/office/powerpoint/2010/main" val="54403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221"/>
            <a:ext cx="10515600" cy="1325563"/>
          </a:xfrm>
        </p:spPr>
        <p:txBody>
          <a:bodyPr>
            <a:normAutofit/>
          </a:bodyPr>
          <a:lstStyle/>
          <a:p>
            <a:pPr algn="ctr"/>
            <a:r>
              <a:rPr lang="en-US" sz="5400" b="1" dirty="0" smtClean="0">
                <a:effectLst>
                  <a:outerShdw blurRad="38100" dist="38100" dir="2700000" algn="tl">
                    <a:srgbClr val="000000">
                      <a:alpha val="43137"/>
                    </a:srgbClr>
                  </a:outerShdw>
                </a:effectLst>
              </a:rPr>
              <a:t>Other tips and tricks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54745" y="1083212"/>
            <a:ext cx="11816861" cy="5570806"/>
          </a:xfrm>
        </p:spPr>
        <p:txBody>
          <a:bodyPr>
            <a:noAutofit/>
          </a:bodyPr>
          <a:lstStyle/>
          <a:p>
            <a:r>
              <a:rPr lang="en-US" sz="3200" dirty="0" smtClean="0"/>
              <a:t>Avoidance of unnecessarily complex and wordy expressions and replace them with more precise alternatives. </a:t>
            </a:r>
          </a:p>
          <a:p>
            <a:r>
              <a:rPr lang="en-US" sz="3200" dirty="0" smtClean="0"/>
              <a:t>There are some other expressions, we may think they make our text more elegant and more academic, but the truth is, they often make the text more difficult to read. </a:t>
            </a:r>
          </a:p>
          <a:p>
            <a:r>
              <a:rPr lang="en-US" sz="3200" dirty="0" smtClean="0"/>
              <a:t>As many of these expressions are always so vague in meaning, they contribute very little to what we are trying to say. </a:t>
            </a:r>
          </a:p>
          <a:p>
            <a:r>
              <a:rPr lang="en-US" sz="3200" dirty="0" smtClean="0"/>
              <a:t>Avoid when there is a precise strong verb available that  says the same thing. </a:t>
            </a:r>
            <a:endParaRPr lang="en-US" sz="3200" dirty="0"/>
          </a:p>
        </p:txBody>
      </p:sp>
    </p:spTree>
    <p:extLst>
      <p:ext uri="{BB962C8B-B14F-4D97-AF65-F5344CB8AC3E}">
        <p14:creationId xmlns:p14="http://schemas.microsoft.com/office/powerpoint/2010/main" val="187896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111983"/>
          </a:xfrm>
        </p:spPr>
        <p:txBody>
          <a:bodyPr>
            <a:normAutofit fontScale="90000"/>
          </a:bodyPr>
          <a:lstStyle/>
          <a:p>
            <a:pPr algn="ctr"/>
            <a:r>
              <a:rPr lang="en-US" sz="6000" b="1" dirty="0">
                <a:effectLst>
                  <a:outerShdw blurRad="38100" dist="38100" dir="2700000" algn="tl">
                    <a:srgbClr val="000000">
                      <a:alpha val="43137"/>
                    </a:srgbClr>
                  </a:outerShdw>
                </a:effectLst>
              </a:rPr>
              <a:t>Nominalizations</a:t>
            </a:r>
            <a:r>
              <a:rPr lang="en-US" dirty="0"/>
              <a:t/>
            </a:r>
            <a:br>
              <a:rPr lang="en-US" dirty="0"/>
            </a:br>
            <a:endParaRPr lang="en-US" dirty="0"/>
          </a:p>
        </p:txBody>
      </p:sp>
      <p:sp>
        <p:nvSpPr>
          <p:cNvPr id="3" name="Text Placeholder 2"/>
          <p:cNvSpPr>
            <a:spLocks noGrp="1"/>
          </p:cNvSpPr>
          <p:nvPr>
            <p:ph type="body" idx="1"/>
          </p:nvPr>
        </p:nvSpPr>
        <p:spPr>
          <a:xfrm>
            <a:off x="0" y="1280161"/>
            <a:ext cx="5997575" cy="534572"/>
          </a:xfrm>
        </p:spPr>
        <p:txBody>
          <a:bodyPr>
            <a:normAutofit/>
          </a:bodyPr>
          <a:lstStyle/>
          <a:p>
            <a:pPr algn="ctr"/>
            <a:r>
              <a:rPr lang="en-US" sz="2800" dirty="0" smtClean="0"/>
              <a:t>Make Nouns from Verbs </a:t>
            </a:r>
            <a:endParaRPr lang="en-US" sz="2800" dirty="0"/>
          </a:p>
        </p:txBody>
      </p:sp>
      <p:sp>
        <p:nvSpPr>
          <p:cNvPr id="4" name="Content Placeholder 3"/>
          <p:cNvSpPr>
            <a:spLocks noGrp="1"/>
          </p:cNvSpPr>
          <p:nvPr>
            <p:ph sz="half" idx="2"/>
          </p:nvPr>
        </p:nvSpPr>
        <p:spPr>
          <a:xfrm>
            <a:off x="379828" y="1814732"/>
            <a:ext cx="5617747" cy="4881489"/>
          </a:xfrm>
        </p:spPr>
        <p:txBody>
          <a:bodyPr>
            <a:normAutofit/>
          </a:bodyPr>
          <a:lstStyle/>
          <a:p>
            <a:r>
              <a:rPr lang="en-US" sz="3200" dirty="0" smtClean="0"/>
              <a:t>Nouns can be made from verbs </a:t>
            </a:r>
          </a:p>
          <a:p>
            <a:r>
              <a:rPr lang="en-US" sz="3200" dirty="0" smtClean="0"/>
              <a:t>Fail- Failure</a:t>
            </a:r>
          </a:p>
          <a:p>
            <a:r>
              <a:rPr lang="en-US" sz="3200" dirty="0" smtClean="0"/>
              <a:t>Combine- combination</a:t>
            </a:r>
          </a:p>
          <a:p>
            <a:r>
              <a:rPr lang="en-US" sz="3200" dirty="0" smtClean="0"/>
              <a:t>Write- Writing </a:t>
            </a:r>
          </a:p>
          <a:p>
            <a:r>
              <a:rPr lang="en-US" sz="3200" dirty="0" smtClean="0"/>
              <a:t>Admit- Admission </a:t>
            </a:r>
          </a:p>
          <a:p>
            <a:r>
              <a:rPr lang="en-US" sz="3200" dirty="0" smtClean="0"/>
              <a:t>Enjoy- Enjoyment </a:t>
            </a:r>
          </a:p>
          <a:p>
            <a:r>
              <a:rPr lang="en-US" sz="3200" dirty="0" smtClean="0"/>
              <a:t>Attend- Attendance  </a:t>
            </a:r>
            <a:endParaRPr lang="en-US" sz="3200" dirty="0"/>
          </a:p>
        </p:txBody>
      </p:sp>
      <p:sp>
        <p:nvSpPr>
          <p:cNvPr id="5" name="Text Placeholder 4"/>
          <p:cNvSpPr>
            <a:spLocks noGrp="1"/>
          </p:cNvSpPr>
          <p:nvPr>
            <p:ph type="body" sz="quarter" idx="3"/>
          </p:nvPr>
        </p:nvSpPr>
        <p:spPr>
          <a:xfrm>
            <a:off x="6172200" y="1294228"/>
            <a:ext cx="5183188" cy="506437"/>
          </a:xfrm>
        </p:spPr>
        <p:txBody>
          <a:bodyPr>
            <a:normAutofit/>
          </a:bodyPr>
          <a:lstStyle/>
          <a:p>
            <a:pPr algn="ctr"/>
            <a:r>
              <a:rPr lang="en-US" sz="2800" dirty="0" smtClean="0"/>
              <a:t>Make Nouns from adjectives </a:t>
            </a:r>
            <a:endParaRPr lang="en-US" sz="2800" dirty="0"/>
          </a:p>
        </p:txBody>
      </p:sp>
      <p:sp>
        <p:nvSpPr>
          <p:cNvPr id="6" name="Content Placeholder 5"/>
          <p:cNvSpPr>
            <a:spLocks noGrp="1"/>
          </p:cNvSpPr>
          <p:nvPr>
            <p:ph sz="quarter" idx="4"/>
          </p:nvPr>
        </p:nvSpPr>
        <p:spPr>
          <a:xfrm>
            <a:off x="6172199" y="1814732"/>
            <a:ext cx="5855677" cy="4881489"/>
          </a:xfrm>
        </p:spPr>
        <p:txBody>
          <a:bodyPr>
            <a:normAutofit/>
          </a:bodyPr>
          <a:lstStyle/>
          <a:p>
            <a:r>
              <a:rPr lang="en-US" sz="3200" dirty="0" smtClean="0"/>
              <a:t>Nouns can be from adjectives.</a:t>
            </a:r>
          </a:p>
          <a:p>
            <a:r>
              <a:rPr lang="en-US" sz="3200" dirty="0" smtClean="0"/>
              <a:t>Happy- Happiness </a:t>
            </a:r>
          </a:p>
          <a:p>
            <a:r>
              <a:rPr lang="en-US" sz="3200" dirty="0" smtClean="0"/>
              <a:t>Ignorant- Ignorance </a:t>
            </a:r>
          </a:p>
          <a:p>
            <a:r>
              <a:rPr lang="en-US" sz="3200" dirty="0" smtClean="0"/>
              <a:t>Able- Ability</a:t>
            </a:r>
          </a:p>
          <a:p>
            <a:r>
              <a:rPr lang="en-US" sz="3200" dirty="0" smtClean="0"/>
              <a:t>Silent- Silence </a:t>
            </a:r>
          </a:p>
          <a:p>
            <a:r>
              <a:rPr lang="en-US" sz="3200" dirty="0" smtClean="0"/>
              <a:t>Honest-Honesty </a:t>
            </a:r>
          </a:p>
          <a:p>
            <a:r>
              <a:rPr lang="en-US" sz="3200" dirty="0" smtClean="0"/>
              <a:t>Wide-Width  </a:t>
            </a:r>
            <a:endParaRPr lang="en-US" sz="3200" dirty="0"/>
          </a:p>
        </p:txBody>
      </p:sp>
    </p:spTree>
    <p:extLst>
      <p:ext uri="{BB962C8B-B14F-4D97-AF65-F5344CB8AC3E}">
        <p14:creationId xmlns:p14="http://schemas.microsoft.com/office/powerpoint/2010/main" val="4021452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9489"/>
            <a:ext cx="10515600" cy="5867474"/>
          </a:xfrm>
        </p:spPr>
        <p:txBody>
          <a:bodyPr>
            <a:normAutofit/>
          </a:bodyPr>
          <a:lstStyle/>
          <a:p>
            <a:r>
              <a:rPr lang="en-US" sz="3200" dirty="0" smtClean="0"/>
              <a:t>cliché's</a:t>
            </a:r>
          </a:p>
          <a:p>
            <a:r>
              <a:rPr lang="en-US" sz="3200" dirty="0" smtClean="0"/>
              <a:t>Fixed expressions </a:t>
            </a:r>
          </a:p>
          <a:p>
            <a:r>
              <a:rPr lang="en-US" sz="3200" dirty="0" smtClean="0"/>
              <a:t>To bottom line </a:t>
            </a:r>
          </a:p>
          <a:p>
            <a:r>
              <a:rPr lang="en-US" sz="3200" dirty="0" smtClean="0"/>
              <a:t>To make a long story short </a:t>
            </a:r>
          </a:p>
          <a:p>
            <a:r>
              <a:rPr lang="en-US" sz="3200" dirty="0" smtClean="0"/>
              <a:t>At the end of the day </a:t>
            </a:r>
          </a:p>
          <a:p>
            <a:r>
              <a:rPr lang="en-US" sz="3200" dirty="0" smtClean="0"/>
              <a:t>It all boils down to this </a:t>
            </a:r>
          </a:p>
          <a:p>
            <a:r>
              <a:rPr lang="en-US" sz="3200" dirty="0" smtClean="0"/>
              <a:t>Avoid figurative language (simile, metaphor, personification, alliteration, idioms ...) </a:t>
            </a:r>
            <a:endParaRPr lang="en-US" sz="3200" dirty="0"/>
          </a:p>
        </p:txBody>
      </p:sp>
    </p:spTree>
    <p:extLst>
      <p:ext uri="{BB962C8B-B14F-4D97-AF65-F5344CB8AC3E}">
        <p14:creationId xmlns:p14="http://schemas.microsoft.com/office/powerpoint/2010/main" val="3931373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632" y="365126"/>
            <a:ext cx="11113168" cy="934286"/>
          </a:xfrm>
        </p:spPr>
        <p:txBody>
          <a:bodyPr>
            <a:noAutofit/>
          </a:bodyPr>
          <a:lstStyle/>
          <a:p>
            <a:r>
              <a:rPr lang="en-US" sz="5400" dirty="0" smtClean="0"/>
              <a:t>Some tips and tricks on common Errors </a:t>
            </a:r>
            <a:endParaRPr lang="en-US" sz="5400" dirty="0"/>
          </a:p>
        </p:txBody>
      </p:sp>
      <p:sp>
        <p:nvSpPr>
          <p:cNvPr id="3" name="Content Placeholder 2"/>
          <p:cNvSpPr>
            <a:spLocks noGrp="1"/>
          </p:cNvSpPr>
          <p:nvPr>
            <p:ph idx="1"/>
          </p:nvPr>
        </p:nvSpPr>
        <p:spPr>
          <a:xfrm>
            <a:off x="0" y="1299412"/>
            <a:ext cx="12192000" cy="5438272"/>
          </a:xfrm>
          <a:solidFill>
            <a:schemeClr val="bg1">
              <a:lumMod val="85000"/>
            </a:schemeClr>
          </a:solidFill>
        </p:spPr>
        <p:txBody>
          <a:bodyPr>
            <a:normAutofit/>
          </a:bodyPr>
          <a:lstStyle/>
          <a:p>
            <a:pPr marL="0" indent="0" algn="ctr">
              <a:buNone/>
            </a:pPr>
            <a:r>
              <a:rPr lang="en-US" sz="8800" dirty="0" smtClean="0"/>
              <a:t>First persons pronouns and choosing between active and passive voice </a:t>
            </a:r>
            <a:endParaRPr lang="en-US" sz="8800" dirty="0"/>
          </a:p>
        </p:txBody>
      </p:sp>
    </p:spTree>
    <p:extLst>
      <p:ext uri="{BB962C8B-B14F-4D97-AF65-F5344CB8AC3E}">
        <p14:creationId xmlns:p14="http://schemas.microsoft.com/office/powerpoint/2010/main" val="14465675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485" y="581375"/>
            <a:ext cx="12007515" cy="5742238"/>
          </a:xfrm>
        </p:spPr>
        <p:txBody>
          <a:bodyPr>
            <a:normAutofit/>
          </a:bodyPr>
          <a:lstStyle/>
          <a:p>
            <a:pPr algn="just"/>
            <a:r>
              <a:rPr lang="en-US" sz="3600" dirty="0" smtClean="0"/>
              <a:t>Using first person pronouns like I may seem to clash with the requirement that the style of writing should be objective. </a:t>
            </a:r>
          </a:p>
          <a:p>
            <a:pPr algn="just"/>
            <a:r>
              <a:rPr lang="en-US" sz="3600" dirty="0" smtClean="0"/>
              <a:t>Being objective means that you must avoid biased language and generalization and that you should not bring in your own personal preconceptions and opinions. </a:t>
            </a:r>
          </a:p>
          <a:p>
            <a:pPr algn="just"/>
            <a:r>
              <a:rPr lang="en-US" sz="3600" dirty="0" smtClean="0"/>
              <a:t>This doesn’t necessarily mean that you need to avoid using first person pronouns like I altogether. </a:t>
            </a:r>
          </a:p>
          <a:p>
            <a:pPr algn="just"/>
            <a:r>
              <a:rPr lang="en-US" sz="3600" dirty="0" smtClean="0"/>
              <a:t>How acceptable it is to use first person pronouns like I depends both on the discipline and on the context. </a:t>
            </a:r>
          </a:p>
          <a:p>
            <a:endParaRPr lang="en-US" dirty="0" smtClean="0"/>
          </a:p>
          <a:p>
            <a:endParaRPr lang="en-US" dirty="0"/>
          </a:p>
        </p:txBody>
      </p:sp>
    </p:spTree>
    <p:extLst>
      <p:ext uri="{BB962C8B-B14F-4D97-AF65-F5344CB8AC3E}">
        <p14:creationId xmlns:p14="http://schemas.microsoft.com/office/powerpoint/2010/main" val="663992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5083" y="886265"/>
            <a:ext cx="11844997" cy="6471138"/>
          </a:xfrm>
        </p:spPr>
        <p:txBody>
          <a:bodyPr/>
          <a:lstStyle/>
          <a:p>
            <a:pPr algn="just"/>
            <a:r>
              <a:rPr lang="en-US" sz="3600" dirty="0"/>
              <a:t>In many disciplines, it is perfectly all right to use I most of the time. </a:t>
            </a:r>
          </a:p>
          <a:p>
            <a:pPr algn="just"/>
            <a:r>
              <a:rPr lang="en-US" sz="3600" dirty="0"/>
              <a:t>To find out what the conventions for your own disciplines are</a:t>
            </a:r>
          </a:p>
          <a:p>
            <a:pPr algn="just"/>
            <a:r>
              <a:rPr lang="en-US" sz="3600" dirty="0"/>
              <a:t>To find out what the conventions for your own discipline are, you can just read a few articles written by well-known authors in your field and see what they do.</a:t>
            </a:r>
          </a:p>
          <a:p>
            <a:pPr algn="just"/>
            <a:r>
              <a:rPr lang="en-US" sz="3600" dirty="0"/>
              <a:t>Overuse of I may make the text sound subjective especially with verbs like think and feel. </a:t>
            </a:r>
          </a:p>
          <a:p>
            <a:endParaRPr lang="en-US" dirty="0"/>
          </a:p>
        </p:txBody>
      </p:sp>
    </p:spTree>
    <p:extLst>
      <p:ext uri="{BB962C8B-B14F-4D97-AF65-F5344CB8AC3E}">
        <p14:creationId xmlns:p14="http://schemas.microsoft.com/office/powerpoint/2010/main" val="402765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5997" y="559531"/>
            <a:ext cx="10515600" cy="5137883"/>
          </a:xfrm>
        </p:spPr>
        <p:txBody>
          <a:bodyPr>
            <a:noAutofit/>
          </a:bodyPr>
          <a:lstStyle/>
          <a:p>
            <a:r>
              <a:rPr lang="en-US" sz="3600" dirty="0" smtClean="0"/>
              <a:t>It focuses on your personal feelings and opinions rather than on facts. </a:t>
            </a:r>
          </a:p>
          <a:p>
            <a:r>
              <a:rPr lang="en-US" sz="3600" dirty="0" smtClean="0"/>
              <a:t>Avoiding first person pronouns like </a:t>
            </a:r>
            <a:r>
              <a:rPr lang="en-US" sz="4000" b="1" dirty="0" smtClean="0">
                <a:solidFill>
                  <a:srgbClr val="FF0000"/>
                </a:solidFill>
                <a:effectLst>
                  <a:outerShdw blurRad="38100" dist="38100" dir="2700000" algn="tl">
                    <a:srgbClr val="000000">
                      <a:alpha val="43137"/>
                    </a:srgbClr>
                  </a:outerShdw>
                </a:effectLst>
              </a:rPr>
              <a:t>I</a:t>
            </a:r>
            <a:r>
              <a:rPr lang="en-US" sz="3600" dirty="0" smtClean="0"/>
              <a:t> altogether is not a good solutions either. </a:t>
            </a:r>
          </a:p>
          <a:p>
            <a:r>
              <a:rPr lang="en-US" sz="3600" dirty="0" smtClean="0"/>
              <a:t>As it can make the text sound very vague in the sense that it is not clear who did what and who carried out experiments and whose arguments are actually being discussed. </a:t>
            </a:r>
          </a:p>
          <a:p>
            <a:r>
              <a:rPr lang="en-US" sz="3600" dirty="0" smtClean="0"/>
              <a:t>Find a balance  </a:t>
            </a:r>
            <a:endParaRPr lang="en-US" sz="3600" dirty="0"/>
          </a:p>
        </p:txBody>
      </p:sp>
    </p:spTree>
    <p:extLst>
      <p:ext uri="{BB962C8B-B14F-4D97-AF65-F5344CB8AC3E}">
        <p14:creationId xmlns:p14="http://schemas.microsoft.com/office/powerpoint/2010/main" val="42600099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979" y="148556"/>
            <a:ext cx="10515600" cy="1325563"/>
          </a:xfrm>
        </p:spPr>
        <p:txBody>
          <a:bodyPr>
            <a:normAutofit/>
          </a:bodyPr>
          <a:lstStyle/>
          <a:p>
            <a:pPr algn="ctr"/>
            <a:r>
              <a:rPr lang="en-US" sz="6000" b="1" dirty="0" smtClean="0">
                <a:effectLst>
                  <a:outerShdw blurRad="38100" dist="38100" dir="2700000" algn="tl">
                    <a:srgbClr val="000000">
                      <a:alpha val="43137"/>
                    </a:srgbClr>
                  </a:outerShdw>
                </a:effectLst>
              </a:rPr>
              <a:t>Active sentences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753979" y="1356394"/>
            <a:ext cx="10515600" cy="4351338"/>
          </a:xfrm>
        </p:spPr>
        <p:txBody>
          <a:bodyPr/>
          <a:lstStyle/>
          <a:p>
            <a:r>
              <a:rPr lang="en-US" sz="3600" dirty="0" smtClean="0"/>
              <a:t>The subject is the agent or actor.</a:t>
            </a:r>
          </a:p>
          <a:p>
            <a:r>
              <a:rPr lang="en-US" sz="3600" dirty="0" smtClean="0"/>
              <a:t>The </a:t>
            </a:r>
            <a:r>
              <a:rPr lang="en-US" sz="3600" dirty="0" smtClean="0">
                <a:solidFill>
                  <a:srgbClr val="FF0000"/>
                </a:solidFill>
              </a:rPr>
              <a:t>queen</a:t>
            </a:r>
            <a:r>
              <a:rPr lang="en-US" sz="3600" dirty="0" smtClean="0"/>
              <a:t> ate the cupcake. </a:t>
            </a:r>
          </a:p>
          <a:p>
            <a:r>
              <a:rPr lang="en-US" sz="3600" dirty="0" smtClean="0"/>
              <a:t>The </a:t>
            </a:r>
            <a:r>
              <a:rPr lang="en-US" sz="3600" dirty="0" smtClean="0">
                <a:solidFill>
                  <a:srgbClr val="FF0000"/>
                </a:solidFill>
              </a:rPr>
              <a:t>dog</a:t>
            </a:r>
            <a:r>
              <a:rPr lang="en-US" sz="3600" dirty="0" smtClean="0"/>
              <a:t> bit the postman.  </a:t>
            </a:r>
          </a:p>
          <a:p>
            <a:endParaRPr lang="en-US" dirty="0"/>
          </a:p>
        </p:txBody>
      </p:sp>
    </p:spTree>
    <p:extLst>
      <p:ext uri="{BB962C8B-B14F-4D97-AF65-F5344CB8AC3E}">
        <p14:creationId xmlns:p14="http://schemas.microsoft.com/office/powerpoint/2010/main" val="35127255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The passive sentences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3600" dirty="0" smtClean="0"/>
              <a:t>The subject is an entity that is affected or undergoes the action.</a:t>
            </a:r>
          </a:p>
          <a:p>
            <a:r>
              <a:rPr lang="en-US" sz="3600" dirty="0" smtClean="0"/>
              <a:t>The cupcake was eaten. </a:t>
            </a:r>
          </a:p>
          <a:p>
            <a:r>
              <a:rPr lang="en-US" sz="3600" dirty="0" smtClean="0"/>
              <a:t>The postman was bitten by the dog. </a:t>
            </a:r>
            <a:endParaRPr lang="en-US" sz="3600" dirty="0"/>
          </a:p>
        </p:txBody>
      </p:sp>
    </p:spTree>
    <p:extLst>
      <p:ext uri="{BB962C8B-B14F-4D97-AF65-F5344CB8AC3E}">
        <p14:creationId xmlns:p14="http://schemas.microsoft.com/office/powerpoint/2010/main" val="3008836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4132" y="1023767"/>
            <a:ext cx="10515600" cy="4351338"/>
          </a:xfrm>
        </p:spPr>
        <p:txBody>
          <a:bodyPr>
            <a:normAutofit/>
          </a:bodyPr>
          <a:lstStyle/>
          <a:p>
            <a:pPr algn="just"/>
            <a:r>
              <a:rPr lang="en-US" sz="3600" dirty="0" smtClean="0"/>
              <a:t>In most disciplines, the active voice should be preferred when writing text because it makes the text a lot easier to read and understand. </a:t>
            </a:r>
          </a:p>
          <a:p>
            <a:pPr algn="just"/>
            <a:r>
              <a:rPr lang="en-US" sz="3600" dirty="0" smtClean="0"/>
              <a:t>But there are cases where you need to think of what you want to say because the active and passive present the same information from two different angles. </a:t>
            </a:r>
            <a:endParaRPr lang="en-US" sz="3600" dirty="0"/>
          </a:p>
        </p:txBody>
      </p:sp>
    </p:spTree>
    <p:extLst>
      <p:ext uri="{BB962C8B-B14F-4D97-AF65-F5344CB8AC3E}">
        <p14:creationId xmlns:p14="http://schemas.microsoft.com/office/powerpoint/2010/main" val="16375239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effectLst>
                  <a:outerShdw blurRad="38100" dist="38100" dir="2700000" algn="tl">
                    <a:srgbClr val="000000">
                      <a:alpha val="43137"/>
                    </a:srgbClr>
                  </a:outerShdw>
                </a:effectLst>
              </a:rPr>
              <a:t>Active/Passive Sentences </a:t>
            </a:r>
            <a:endParaRPr lang="en-US" sz="5400" b="1" dirty="0">
              <a:effectLst>
                <a:outerShdw blurRad="38100" dist="38100" dir="2700000" algn="tl">
                  <a:srgbClr val="000000">
                    <a:alpha val="43137"/>
                  </a:srgbClr>
                </a:outerShdw>
              </a:effectLst>
            </a:endParaRPr>
          </a:p>
        </p:txBody>
      </p:sp>
      <p:sp>
        <p:nvSpPr>
          <p:cNvPr id="3" name="Text Placeholder 2"/>
          <p:cNvSpPr>
            <a:spLocks noGrp="1"/>
          </p:cNvSpPr>
          <p:nvPr>
            <p:ph type="body" idx="1"/>
          </p:nvPr>
        </p:nvSpPr>
        <p:spPr/>
        <p:txBody>
          <a:bodyPr>
            <a:normAutofit/>
          </a:bodyPr>
          <a:lstStyle/>
          <a:p>
            <a:pPr algn="ctr"/>
            <a:r>
              <a:rPr lang="en-US" sz="4400" dirty="0" smtClean="0">
                <a:effectLst>
                  <a:outerShdw blurRad="38100" dist="38100" dir="2700000" algn="tl">
                    <a:srgbClr val="000000">
                      <a:alpha val="43137"/>
                    </a:srgbClr>
                  </a:outerShdw>
                </a:effectLst>
              </a:rPr>
              <a:t>Active sentence </a:t>
            </a:r>
            <a:endParaRPr lang="en-US" sz="4400" dirty="0">
              <a:effectLst>
                <a:outerShdw blurRad="38100" dist="38100" dir="2700000" algn="tl">
                  <a:srgbClr val="000000">
                    <a:alpha val="43137"/>
                  </a:srgbClr>
                </a:outerShdw>
              </a:effectLst>
            </a:endParaRPr>
          </a:p>
        </p:txBody>
      </p:sp>
      <p:sp>
        <p:nvSpPr>
          <p:cNvPr id="4" name="Content Placeholder 3"/>
          <p:cNvSpPr>
            <a:spLocks noGrp="1"/>
          </p:cNvSpPr>
          <p:nvPr>
            <p:ph sz="half" idx="2"/>
          </p:nvPr>
        </p:nvSpPr>
        <p:spPr/>
        <p:txBody>
          <a:bodyPr>
            <a:normAutofit/>
          </a:bodyPr>
          <a:lstStyle/>
          <a:p>
            <a:r>
              <a:rPr lang="en-US" sz="3200" dirty="0" smtClean="0"/>
              <a:t>The Dances built this castle. </a:t>
            </a:r>
            <a:endParaRPr lang="en-US" sz="3200" dirty="0"/>
          </a:p>
        </p:txBody>
      </p:sp>
      <p:sp>
        <p:nvSpPr>
          <p:cNvPr id="5" name="Text Placeholder 4"/>
          <p:cNvSpPr>
            <a:spLocks noGrp="1"/>
          </p:cNvSpPr>
          <p:nvPr>
            <p:ph type="body" sz="quarter" idx="3"/>
          </p:nvPr>
        </p:nvSpPr>
        <p:spPr/>
        <p:txBody>
          <a:bodyPr>
            <a:normAutofit/>
          </a:bodyPr>
          <a:lstStyle/>
          <a:p>
            <a:r>
              <a:rPr lang="en-US" sz="4000" dirty="0" smtClean="0">
                <a:effectLst>
                  <a:outerShdw blurRad="38100" dist="38100" dir="2700000" algn="tl">
                    <a:srgbClr val="000000">
                      <a:alpha val="43137"/>
                    </a:srgbClr>
                  </a:outerShdw>
                </a:effectLst>
              </a:rPr>
              <a:t>Passive sentence </a:t>
            </a:r>
            <a:endParaRPr lang="en-US" sz="4000" dirty="0">
              <a:effectLst>
                <a:outerShdw blurRad="38100" dist="38100" dir="2700000" algn="tl">
                  <a:srgbClr val="000000">
                    <a:alpha val="43137"/>
                  </a:srgbClr>
                </a:outerShdw>
              </a:effectLst>
            </a:endParaRPr>
          </a:p>
        </p:txBody>
      </p:sp>
      <p:sp>
        <p:nvSpPr>
          <p:cNvPr id="6" name="Content Placeholder 5"/>
          <p:cNvSpPr>
            <a:spLocks noGrp="1"/>
          </p:cNvSpPr>
          <p:nvPr>
            <p:ph sz="quarter" idx="4"/>
          </p:nvPr>
        </p:nvSpPr>
        <p:spPr/>
        <p:txBody>
          <a:bodyPr>
            <a:normAutofit/>
          </a:bodyPr>
          <a:lstStyle/>
          <a:p>
            <a:r>
              <a:rPr lang="en-US" sz="3200" dirty="0" smtClean="0"/>
              <a:t>This castle was built by the Danes. </a:t>
            </a:r>
            <a:endParaRPr lang="en-US" sz="3200" dirty="0"/>
          </a:p>
        </p:txBody>
      </p:sp>
    </p:spTree>
    <p:extLst>
      <p:ext uri="{BB962C8B-B14F-4D97-AF65-F5344CB8AC3E}">
        <p14:creationId xmlns:p14="http://schemas.microsoft.com/office/powerpoint/2010/main" val="2554754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Passive voice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3600" dirty="0"/>
              <a:t>Badshahi </a:t>
            </a:r>
            <a:r>
              <a:rPr lang="en-US" sz="3600" dirty="0" smtClean="0"/>
              <a:t>Mosque was built in the 17</a:t>
            </a:r>
            <a:r>
              <a:rPr lang="en-US" sz="3600" baseline="30000" dirty="0" smtClean="0"/>
              <a:t>th</a:t>
            </a:r>
            <a:r>
              <a:rPr lang="en-US" sz="3600" dirty="0" smtClean="0"/>
              <a:t> century. </a:t>
            </a:r>
          </a:p>
          <a:p>
            <a:r>
              <a:rPr lang="en-US" sz="3600" dirty="0" smtClean="0"/>
              <a:t>In the data collection, several mistakes were made. </a:t>
            </a:r>
          </a:p>
          <a:p>
            <a:r>
              <a:rPr lang="en-US" sz="3600" dirty="0" smtClean="0"/>
              <a:t>Using the passive voice is good way to try and make this clear without actually being dishonest. </a:t>
            </a:r>
            <a:endParaRPr lang="en-US" sz="3600" dirty="0"/>
          </a:p>
        </p:txBody>
      </p:sp>
    </p:spTree>
    <p:extLst>
      <p:ext uri="{BB962C8B-B14F-4D97-AF65-F5344CB8AC3E}">
        <p14:creationId xmlns:p14="http://schemas.microsoft.com/office/powerpoint/2010/main" val="23929875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8978"/>
            <a:ext cx="10515600" cy="5557985"/>
          </a:xfrm>
        </p:spPr>
        <p:txBody>
          <a:bodyPr/>
          <a:lstStyle/>
          <a:p>
            <a:pPr marL="0" indent="0" algn="just">
              <a:buNone/>
            </a:pPr>
            <a:r>
              <a:rPr lang="en-US" sz="3600" dirty="0"/>
              <a:t>It’s practically impossible to write a perfect first draft because it’s hard to focus on every aspect of writing at once. Revising allows you to catch whatever fell through the cracks the first time, plus reading a rough draft can reveal some mistakes you hadn’t anticipated. </a:t>
            </a:r>
          </a:p>
          <a:p>
            <a:pPr marL="0" indent="0">
              <a:buNone/>
            </a:pPr>
            <a:endParaRPr lang="en-US" dirty="0"/>
          </a:p>
        </p:txBody>
      </p:sp>
    </p:spTree>
    <p:extLst>
      <p:ext uri="{BB962C8B-B14F-4D97-AF65-F5344CB8AC3E}">
        <p14:creationId xmlns:p14="http://schemas.microsoft.com/office/powerpoint/2010/main" val="730151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Peer </a:t>
            </a:r>
            <a:r>
              <a:rPr lang="en-US" sz="6000" b="1" dirty="0" smtClean="0">
                <a:effectLst>
                  <a:outerShdw blurRad="38100" dist="38100" dir="2700000" algn="tl">
                    <a:srgbClr val="000000">
                      <a:alpha val="43137"/>
                    </a:srgbClr>
                  </a:outerShdw>
                </a:effectLst>
              </a:rPr>
              <a:t>Review</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pPr algn="just"/>
            <a:r>
              <a:rPr lang="en-US" dirty="0"/>
              <a:t>Peer review is a process where experts in a specific field assess the quality, validity, and significance of research contributions before they are published, aiming to ensure the reliability and integrity of scholarly </a:t>
            </a:r>
            <a:r>
              <a:rPr lang="en-US" dirty="0" smtClean="0"/>
              <a:t>work. </a:t>
            </a:r>
          </a:p>
          <a:p>
            <a:pPr algn="just"/>
            <a:r>
              <a:rPr lang="en-US" dirty="0"/>
              <a:t>Peer review acts as a quality control mechanism, filtering out poor-quality articles and helping to improve the quality of published </a:t>
            </a:r>
            <a:r>
              <a:rPr lang="en-US" dirty="0" smtClean="0"/>
              <a:t>papers. </a:t>
            </a:r>
          </a:p>
          <a:p>
            <a:pPr algn="just"/>
            <a:r>
              <a:rPr lang="en-US" dirty="0"/>
              <a:t>It is an appealing alternative to instructor </a:t>
            </a:r>
            <a:r>
              <a:rPr lang="en-US" dirty="0" smtClean="0"/>
              <a:t>feedback. </a:t>
            </a:r>
            <a:endParaRPr lang="en-US" dirty="0"/>
          </a:p>
        </p:txBody>
      </p:sp>
    </p:spTree>
    <p:extLst>
      <p:ext uri="{BB962C8B-B14F-4D97-AF65-F5344CB8AC3E}">
        <p14:creationId xmlns:p14="http://schemas.microsoft.com/office/powerpoint/2010/main" val="36229454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effectLst>
                  <a:outerShdw blurRad="38100" dist="38100" dir="2700000" algn="tl">
                    <a:srgbClr val="000000">
                      <a:alpha val="43137"/>
                    </a:srgbClr>
                  </a:outerShdw>
                </a:effectLst>
              </a:rPr>
              <a:t>The peer Review process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smtClean="0"/>
              <a:t>When </a:t>
            </a:r>
            <a:r>
              <a:rPr lang="en-US" dirty="0"/>
              <a:t>a submitted report first arrives at the editorial office of a journal, it is first vetted by the editor, who may reject it out of hand, either because it is ‘out of scope’ (not dealing with the right subject matter for that journal) or because it is manifestly of such low quality that it cannot be considered at </a:t>
            </a:r>
            <a:r>
              <a:rPr lang="en-US" dirty="0" smtClean="0"/>
              <a:t>all. </a:t>
            </a:r>
          </a:p>
          <a:p>
            <a:r>
              <a:rPr lang="en-US" dirty="0"/>
              <a:t>writing assignments should be broken down into smaller components and students should receive feedback throughout the </a:t>
            </a:r>
            <a:r>
              <a:rPr lang="en-US" dirty="0" smtClean="0"/>
              <a:t>process. </a:t>
            </a:r>
          </a:p>
          <a:p>
            <a:endParaRPr lang="en-US" dirty="0" smtClean="0"/>
          </a:p>
          <a:p>
            <a:endParaRPr lang="en-US" dirty="0"/>
          </a:p>
        </p:txBody>
      </p:sp>
    </p:spTree>
    <p:extLst>
      <p:ext uri="{BB962C8B-B14F-4D97-AF65-F5344CB8AC3E}">
        <p14:creationId xmlns:p14="http://schemas.microsoft.com/office/powerpoint/2010/main" val="25393050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smtClean="0">
                <a:effectLst>
                  <a:outerShdw blurRad="38100" dist="38100" dir="2700000" algn="tl">
                    <a:srgbClr val="000000">
                      <a:alpha val="43137"/>
                    </a:srgbClr>
                  </a:outerShdw>
                </a:effectLst>
              </a:rPr>
              <a:t>How it helps the students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student writers may put more effort into early drafts because they are aware that others will view their </a:t>
            </a:r>
            <a:r>
              <a:rPr lang="en-US" dirty="0" smtClean="0"/>
              <a:t>work.</a:t>
            </a:r>
          </a:p>
          <a:p>
            <a:r>
              <a:rPr lang="en-US" dirty="0"/>
              <a:t>Engaging in peer review helps students develop self-assessment </a:t>
            </a:r>
            <a:r>
              <a:rPr lang="en-US" dirty="0" smtClean="0"/>
              <a:t>skills.</a:t>
            </a:r>
          </a:p>
          <a:p>
            <a:r>
              <a:rPr lang="en-US" dirty="0"/>
              <a:t>E</a:t>
            </a:r>
            <a:r>
              <a:rPr lang="en-US" dirty="0" smtClean="0"/>
              <a:t>ngaging </a:t>
            </a:r>
            <a:r>
              <a:rPr lang="en-US" dirty="0"/>
              <a:t>in peer review can promote learning and critical-thinking </a:t>
            </a:r>
            <a:r>
              <a:rPr lang="en-US" dirty="0" smtClean="0"/>
              <a:t>skills. </a:t>
            </a:r>
          </a:p>
          <a:p>
            <a:endParaRPr lang="en-US" dirty="0"/>
          </a:p>
        </p:txBody>
      </p:sp>
    </p:spTree>
    <p:extLst>
      <p:ext uri="{BB962C8B-B14F-4D97-AF65-F5344CB8AC3E}">
        <p14:creationId xmlns:p14="http://schemas.microsoft.com/office/powerpoint/2010/main" val="963137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08A8661F-1CDE-4F7E-AE93-7F9785FD6839}" type="slidenum">
              <a:rPr lang="en-US" smtClean="0"/>
              <a:pPr/>
              <a:t>47</a:t>
            </a:fld>
            <a:endParaRPr lang="en-US"/>
          </a:p>
        </p:txBody>
      </p:sp>
      <p:pic>
        <p:nvPicPr>
          <p:cNvPr id="39" name="Picture 38" descr="https://i.vimeocdn.com/portrait/10125853_300x300"/>
          <p:cNvPicPr>
            <a:picLocks noChangeAspect="1" noChangeArrowheads="1"/>
          </p:cNvPicPr>
          <p:nvPr/>
        </p:nvPicPr>
        <p:blipFill>
          <a:blip r:embed="rId2" cstate="print">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9126847" y="456159"/>
            <a:ext cx="1143000" cy="1143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067800" y="152401"/>
            <a:ext cx="1371600" cy="143652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http://cmapspublic3.ihmc.us/rid=1M0Q6L2YJ-11W7HPT-24DF/Figure%206.12%20Writing%20Cycle%20Word%20Choice.cmap?rid=1M0Q6L2YJ-11W7HPT-24DF&amp;partName=html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2" y="549418"/>
            <a:ext cx="7391399" cy="583531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cmapspublic3.ihmc.us/rid=1M0Q6L2YJ-11W7HPT-24DF/Figure%206.12%20Writing%20Cycle%20Word%20Choice.cmap?rid=1M0Q6L2YJ-11W7HPT-24DF&amp;partName=html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217" y="152401"/>
            <a:ext cx="11788727" cy="6569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8187658"/>
      </p:ext>
    </p:extLst>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651</TotalTime>
  <Words>1793</Words>
  <Application>Microsoft Office PowerPoint</Application>
  <PresentationFormat>Widescreen</PresentationFormat>
  <Paragraphs>244</Paragraphs>
  <Slides>47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Calibri Light</vt:lpstr>
      <vt:lpstr>Candara</vt:lpstr>
      <vt:lpstr>Haettenschweiler</vt:lpstr>
      <vt:lpstr>Office Theme</vt:lpstr>
      <vt:lpstr>PowerPoint Presentation</vt:lpstr>
      <vt:lpstr>PowerPoint Presentation</vt:lpstr>
      <vt:lpstr>PowerPoint Presentation</vt:lpstr>
      <vt:lpstr>PowerPoint Presentation</vt:lpstr>
      <vt:lpstr>PowerPoint Presentation</vt:lpstr>
      <vt:lpstr>Writing process stage III</vt:lpstr>
      <vt:lpstr>Need to edit and revise text </vt:lpstr>
      <vt:lpstr>Editing </vt:lpstr>
      <vt:lpstr>Proofreading </vt:lpstr>
      <vt:lpstr>Proofreading </vt:lpstr>
      <vt:lpstr>Misconceptions Related Editing/Proofreading</vt:lpstr>
      <vt:lpstr>Misconceptions Related Editing/Proofreading</vt:lpstr>
      <vt:lpstr>Editing of Register / Tone/ Style </vt:lpstr>
      <vt:lpstr>What is a Register</vt:lpstr>
      <vt:lpstr>PowerPoint Presentation</vt:lpstr>
      <vt:lpstr>Register &amp; Tone Register </vt:lpstr>
      <vt:lpstr>Tone </vt:lpstr>
      <vt:lpstr>Register &amp; Tone considerations </vt:lpstr>
      <vt:lpstr>Academic Essay Register  </vt:lpstr>
      <vt:lpstr>PowerPoint Presentation</vt:lpstr>
      <vt:lpstr>PowerPoint Presentation</vt:lpstr>
      <vt:lpstr>PowerPoint Presentation</vt:lpstr>
      <vt:lpstr>PowerPoint Presentation</vt:lpstr>
      <vt:lpstr>Non- Standard Spelling </vt:lpstr>
      <vt:lpstr>Non- Standard Spelling </vt:lpstr>
      <vt:lpstr>Non- Standard Spelling </vt:lpstr>
      <vt:lpstr>Academic writing style </vt:lpstr>
      <vt:lpstr>Sentence structure </vt:lpstr>
      <vt:lpstr>Combining sentences </vt:lpstr>
      <vt:lpstr>Combining sentences </vt:lpstr>
      <vt:lpstr>Other tips and tricks </vt:lpstr>
      <vt:lpstr>Nominalizations </vt:lpstr>
      <vt:lpstr>PowerPoint Presentation</vt:lpstr>
      <vt:lpstr>Some tips and tricks on common Errors </vt:lpstr>
      <vt:lpstr>PowerPoint Presentation</vt:lpstr>
      <vt:lpstr>PowerPoint Presentation</vt:lpstr>
      <vt:lpstr>PowerPoint Presentation</vt:lpstr>
      <vt:lpstr>Active sentences </vt:lpstr>
      <vt:lpstr>The passive sentences </vt:lpstr>
      <vt:lpstr>PowerPoint Presentation</vt:lpstr>
      <vt:lpstr>Active/Passive Sentences </vt:lpstr>
      <vt:lpstr>Passive voice </vt:lpstr>
      <vt:lpstr>PowerPoint Presentation</vt:lpstr>
      <vt:lpstr>Peer Review</vt:lpstr>
      <vt:lpstr>The peer Review process </vt:lpstr>
      <vt:lpstr>How it helps the students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63</cp:revision>
  <dcterms:created xsi:type="dcterms:W3CDTF">2025-03-15T13:51:23Z</dcterms:created>
  <dcterms:modified xsi:type="dcterms:W3CDTF">2025-09-26T05:42:30Z</dcterms:modified>
</cp:coreProperties>
</file>