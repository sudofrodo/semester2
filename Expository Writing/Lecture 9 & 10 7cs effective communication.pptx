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B1BACB-70E8-4BD3-9171-CF08FFA6A5B6}"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255F676E-8D45-486E-B07E-20AE5F69743D}">
      <dgm:prSet phldrT="[Text]"/>
      <dgm:spPr/>
      <dgm:t>
        <a:bodyPr/>
        <a:lstStyle/>
        <a:p>
          <a:r>
            <a:rPr lang="en-US" b="1" i="0" dirty="0" smtClean="0">
              <a:solidFill>
                <a:schemeClr val="tx1">
                  <a:lumMod val="95000"/>
                  <a:lumOff val="5000"/>
                </a:schemeClr>
              </a:solidFill>
            </a:rPr>
            <a:t>Concise</a:t>
          </a:r>
          <a:endParaRPr lang="en-US" dirty="0">
            <a:solidFill>
              <a:schemeClr val="tx1">
                <a:lumMod val="95000"/>
                <a:lumOff val="5000"/>
              </a:schemeClr>
            </a:solidFill>
          </a:endParaRPr>
        </a:p>
      </dgm:t>
    </dgm:pt>
    <dgm:pt modelId="{6F1F5AEF-A7B3-46B5-8B65-7EE8C7507F1A}" type="parTrans" cxnId="{22C5B3A1-81A4-486C-BEE5-7BDD79C3746D}">
      <dgm:prSet/>
      <dgm:spPr/>
      <dgm:t>
        <a:bodyPr/>
        <a:lstStyle/>
        <a:p>
          <a:endParaRPr lang="en-US"/>
        </a:p>
      </dgm:t>
    </dgm:pt>
    <dgm:pt modelId="{6331CD14-C2FE-4EAF-92D6-6D2F0B2BBF41}" type="sibTrans" cxnId="{22C5B3A1-81A4-486C-BEE5-7BDD79C3746D}">
      <dgm:prSet/>
      <dgm:spPr/>
      <dgm:t>
        <a:bodyPr/>
        <a:lstStyle/>
        <a:p>
          <a:endParaRPr lang="en-US"/>
        </a:p>
      </dgm:t>
    </dgm:pt>
    <dgm:pt modelId="{3F564052-77AF-4CCC-8F94-C7F5A2FB9CE0}">
      <dgm:prSet phldrT="[Text]"/>
      <dgm:spPr/>
      <dgm:t>
        <a:bodyPr/>
        <a:lstStyle/>
        <a:p>
          <a:r>
            <a:rPr lang="en-US" b="1" i="0" dirty="0" smtClean="0">
              <a:solidFill>
                <a:schemeClr val="tx1">
                  <a:lumMod val="95000"/>
                  <a:lumOff val="5000"/>
                </a:schemeClr>
              </a:solidFill>
            </a:rPr>
            <a:t>concrete</a:t>
          </a:r>
          <a:endParaRPr lang="en-US" b="1" dirty="0">
            <a:solidFill>
              <a:schemeClr val="tx1">
                <a:lumMod val="95000"/>
                <a:lumOff val="5000"/>
              </a:schemeClr>
            </a:solidFill>
          </a:endParaRPr>
        </a:p>
      </dgm:t>
    </dgm:pt>
    <dgm:pt modelId="{F5A4E7B3-B210-473E-BB53-80EF1BE95999}" type="parTrans" cxnId="{1B1590DC-11AA-41AD-A888-A0D3305819D1}">
      <dgm:prSet/>
      <dgm:spPr/>
      <dgm:t>
        <a:bodyPr/>
        <a:lstStyle/>
        <a:p>
          <a:endParaRPr lang="en-US"/>
        </a:p>
      </dgm:t>
    </dgm:pt>
    <dgm:pt modelId="{D65BDF9F-B026-45C6-8FF2-2160939D3377}" type="sibTrans" cxnId="{1B1590DC-11AA-41AD-A888-A0D3305819D1}">
      <dgm:prSet/>
      <dgm:spPr/>
      <dgm:t>
        <a:bodyPr/>
        <a:lstStyle/>
        <a:p>
          <a:endParaRPr lang="en-US"/>
        </a:p>
      </dgm:t>
    </dgm:pt>
    <dgm:pt modelId="{21D212C0-561C-4FA1-A0D3-665C14E3C0E2}">
      <dgm:prSet phldrT="[Text]"/>
      <dgm:spPr/>
      <dgm:t>
        <a:bodyPr/>
        <a:lstStyle/>
        <a:p>
          <a:r>
            <a:rPr lang="en-US" b="1" i="0" dirty="0" smtClean="0">
              <a:solidFill>
                <a:schemeClr val="tx1">
                  <a:lumMod val="95000"/>
                  <a:lumOff val="5000"/>
                </a:schemeClr>
              </a:solidFill>
            </a:rPr>
            <a:t>Correct </a:t>
          </a:r>
          <a:endParaRPr lang="en-US" dirty="0">
            <a:solidFill>
              <a:schemeClr val="tx1">
                <a:lumMod val="95000"/>
                <a:lumOff val="5000"/>
              </a:schemeClr>
            </a:solidFill>
          </a:endParaRPr>
        </a:p>
      </dgm:t>
    </dgm:pt>
    <dgm:pt modelId="{4EECD664-8173-496C-9E20-8855A9501437}" type="parTrans" cxnId="{39A44F05-E93B-48F6-B271-EDE6638B8C7F}">
      <dgm:prSet/>
      <dgm:spPr/>
      <dgm:t>
        <a:bodyPr/>
        <a:lstStyle/>
        <a:p>
          <a:endParaRPr lang="en-US"/>
        </a:p>
      </dgm:t>
    </dgm:pt>
    <dgm:pt modelId="{7BC7B250-A825-4085-8554-AC185ABA7CD3}" type="sibTrans" cxnId="{39A44F05-E93B-48F6-B271-EDE6638B8C7F}">
      <dgm:prSet/>
      <dgm:spPr/>
      <dgm:t>
        <a:bodyPr/>
        <a:lstStyle/>
        <a:p>
          <a:endParaRPr lang="en-US"/>
        </a:p>
      </dgm:t>
    </dgm:pt>
    <dgm:pt modelId="{1B5368E2-4A65-4504-B1E9-3BF04CCDF1E6}">
      <dgm:prSet phldrT="[Text]"/>
      <dgm:spPr/>
      <dgm:t>
        <a:bodyPr/>
        <a:lstStyle/>
        <a:p>
          <a:r>
            <a:rPr lang="en-US" b="1" dirty="0" smtClean="0">
              <a:effectLst>
                <a:outerShdw blurRad="38100" dist="38100" dir="2700000" algn="tl">
                  <a:srgbClr val="000000">
                    <a:alpha val="43137"/>
                  </a:srgbClr>
                </a:outerShdw>
              </a:effectLst>
            </a:rPr>
            <a:t>Consideration</a:t>
          </a:r>
          <a:endParaRPr lang="en-US" dirty="0">
            <a:solidFill>
              <a:schemeClr val="tx1">
                <a:lumMod val="95000"/>
                <a:lumOff val="5000"/>
              </a:schemeClr>
            </a:solidFill>
          </a:endParaRPr>
        </a:p>
      </dgm:t>
    </dgm:pt>
    <dgm:pt modelId="{62353AEB-76F6-4467-8A52-B564BCD12456}" type="parTrans" cxnId="{E49C171E-313B-44F9-B61C-09CEB4EF0F87}">
      <dgm:prSet/>
      <dgm:spPr/>
      <dgm:t>
        <a:bodyPr/>
        <a:lstStyle/>
        <a:p>
          <a:endParaRPr lang="en-US"/>
        </a:p>
      </dgm:t>
    </dgm:pt>
    <dgm:pt modelId="{04B9692E-98DF-4889-A4AB-E988D75255C7}" type="sibTrans" cxnId="{E49C171E-313B-44F9-B61C-09CEB4EF0F87}">
      <dgm:prSet/>
      <dgm:spPr/>
      <dgm:t>
        <a:bodyPr/>
        <a:lstStyle/>
        <a:p>
          <a:endParaRPr lang="en-US"/>
        </a:p>
      </dgm:t>
    </dgm:pt>
    <dgm:pt modelId="{4E3CF94E-73EE-4A30-A521-80B9B1EF8F4F}">
      <dgm:prSet phldrT="[Text]"/>
      <dgm:spPr/>
      <dgm:t>
        <a:bodyPr/>
        <a:lstStyle/>
        <a:p>
          <a:r>
            <a:rPr lang="en-US" b="1" i="0" dirty="0" smtClean="0">
              <a:solidFill>
                <a:schemeClr val="tx1">
                  <a:lumMod val="95000"/>
                  <a:lumOff val="5000"/>
                </a:schemeClr>
              </a:solidFill>
            </a:rPr>
            <a:t>Complete</a:t>
          </a:r>
          <a:endParaRPr lang="en-US" dirty="0">
            <a:solidFill>
              <a:schemeClr val="tx1">
                <a:lumMod val="95000"/>
                <a:lumOff val="5000"/>
              </a:schemeClr>
            </a:solidFill>
          </a:endParaRPr>
        </a:p>
      </dgm:t>
    </dgm:pt>
    <dgm:pt modelId="{9602D39E-7E63-4544-A062-189A5D4A18A0}" type="parTrans" cxnId="{C33559E2-9392-4449-83EE-310BB2AE59D0}">
      <dgm:prSet/>
      <dgm:spPr/>
      <dgm:t>
        <a:bodyPr/>
        <a:lstStyle/>
        <a:p>
          <a:endParaRPr lang="en-US"/>
        </a:p>
      </dgm:t>
    </dgm:pt>
    <dgm:pt modelId="{EE0F7408-2996-4672-A8F9-284AA4242C46}" type="sibTrans" cxnId="{C33559E2-9392-4449-83EE-310BB2AE59D0}">
      <dgm:prSet/>
      <dgm:spPr/>
      <dgm:t>
        <a:bodyPr/>
        <a:lstStyle/>
        <a:p>
          <a:endParaRPr lang="en-US"/>
        </a:p>
      </dgm:t>
    </dgm:pt>
    <dgm:pt modelId="{0BD1F154-3C0B-4409-8B9A-6C1682FB972D}">
      <dgm:prSet/>
      <dgm:spPr/>
      <dgm:t>
        <a:bodyPr/>
        <a:lstStyle/>
        <a:p>
          <a:r>
            <a:rPr lang="en-US" b="1" i="0" dirty="0" smtClean="0">
              <a:solidFill>
                <a:schemeClr val="tx1">
                  <a:lumMod val="95000"/>
                  <a:lumOff val="5000"/>
                </a:schemeClr>
              </a:solidFill>
            </a:rPr>
            <a:t>Clear</a:t>
          </a:r>
          <a:r>
            <a:rPr lang="en-US" b="0" i="0" dirty="0" smtClean="0">
              <a:solidFill>
                <a:schemeClr val="tx1">
                  <a:lumMod val="95000"/>
                  <a:lumOff val="5000"/>
                </a:schemeClr>
              </a:solidFill>
            </a:rPr>
            <a:t> </a:t>
          </a:r>
          <a:endParaRPr lang="en-US" dirty="0">
            <a:solidFill>
              <a:schemeClr val="tx1">
                <a:lumMod val="95000"/>
                <a:lumOff val="5000"/>
              </a:schemeClr>
            </a:solidFill>
          </a:endParaRPr>
        </a:p>
      </dgm:t>
    </dgm:pt>
    <dgm:pt modelId="{D0C7FAE2-2E0B-4BB1-89F3-A945688A2C2D}" type="parTrans" cxnId="{A47B75EC-97F0-48AF-B29B-600F5C01BD3E}">
      <dgm:prSet/>
      <dgm:spPr/>
      <dgm:t>
        <a:bodyPr/>
        <a:lstStyle/>
        <a:p>
          <a:endParaRPr lang="en-US"/>
        </a:p>
      </dgm:t>
    </dgm:pt>
    <dgm:pt modelId="{A38A44A6-0A34-4608-8D4D-D914D7EA39D1}" type="sibTrans" cxnId="{A47B75EC-97F0-48AF-B29B-600F5C01BD3E}">
      <dgm:prSet/>
      <dgm:spPr/>
      <dgm:t>
        <a:bodyPr/>
        <a:lstStyle/>
        <a:p>
          <a:endParaRPr lang="en-US"/>
        </a:p>
      </dgm:t>
    </dgm:pt>
    <dgm:pt modelId="{6053A947-702F-4F20-A747-D9E85C14FB1C}">
      <dgm:prSet/>
      <dgm:spPr/>
      <dgm:t>
        <a:bodyPr/>
        <a:lstStyle/>
        <a:p>
          <a:r>
            <a:rPr lang="en-US" b="1" i="0" smtClean="0">
              <a:solidFill>
                <a:schemeClr val="tx1">
                  <a:lumMod val="95000"/>
                  <a:lumOff val="5000"/>
                </a:schemeClr>
              </a:solidFill>
            </a:rPr>
            <a:t>Courteous</a:t>
          </a:r>
          <a:endParaRPr lang="en-US" b="0" i="0">
            <a:solidFill>
              <a:schemeClr val="tx1">
                <a:lumMod val="95000"/>
                <a:lumOff val="5000"/>
              </a:schemeClr>
            </a:solidFill>
          </a:endParaRPr>
        </a:p>
      </dgm:t>
    </dgm:pt>
    <dgm:pt modelId="{05CB7CCD-8D6E-4D7B-9ADE-C14886D6C600}" type="parTrans" cxnId="{0CDA0DB0-B037-4C7E-BE88-E59AA0267F68}">
      <dgm:prSet/>
      <dgm:spPr/>
      <dgm:t>
        <a:bodyPr/>
        <a:lstStyle/>
        <a:p>
          <a:endParaRPr lang="en-US"/>
        </a:p>
      </dgm:t>
    </dgm:pt>
    <dgm:pt modelId="{0FD22222-AD49-4922-BA41-AECB3EAC2198}" type="sibTrans" cxnId="{0CDA0DB0-B037-4C7E-BE88-E59AA0267F68}">
      <dgm:prSet/>
      <dgm:spPr/>
      <dgm:t>
        <a:bodyPr/>
        <a:lstStyle/>
        <a:p>
          <a:endParaRPr lang="en-US"/>
        </a:p>
      </dgm:t>
    </dgm:pt>
    <dgm:pt modelId="{21C168A4-782A-4F20-8FDC-D523B5A36358}" type="pres">
      <dgm:prSet presAssocID="{7AB1BACB-70E8-4BD3-9171-CF08FFA6A5B6}" presName="diagram" presStyleCnt="0">
        <dgm:presLayoutVars>
          <dgm:dir/>
          <dgm:resizeHandles val="exact"/>
        </dgm:presLayoutVars>
      </dgm:prSet>
      <dgm:spPr/>
      <dgm:t>
        <a:bodyPr/>
        <a:lstStyle/>
        <a:p>
          <a:endParaRPr lang="en-US"/>
        </a:p>
      </dgm:t>
    </dgm:pt>
    <dgm:pt modelId="{388FB504-240F-46B0-B888-70FFA577ACF9}" type="pres">
      <dgm:prSet presAssocID="{255F676E-8D45-486E-B07E-20AE5F69743D}" presName="node" presStyleLbl="node1" presStyleIdx="0" presStyleCnt="7" custLinFactX="3892" custLinFactNeighborX="100000" custLinFactNeighborY="11635">
        <dgm:presLayoutVars>
          <dgm:bulletEnabled val="1"/>
        </dgm:presLayoutVars>
      </dgm:prSet>
      <dgm:spPr>
        <a:prstGeom prst="ellipse">
          <a:avLst/>
        </a:prstGeom>
      </dgm:spPr>
      <dgm:t>
        <a:bodyPr/>
        <a:lstStyle/>
        <a:p>
          <a:endParaRPr lang="en-US"/>
        </a:p>
      </dgm:t>
    </dgm:pt>
    <dgm:pt modelId="{2AEDDF91-A34D-4B66-BE17-59CE3DD1172A}" type="pres">
      <dgm:prSet presAssocID="{6331CD14-C2FE-4EAF-92D6-6D2F0B2BBF41}" presName="sibTrans" presStyleCnt="0"/>
      <dgm:spPr/>
    </dgm:pt>
    <dgm:pt modelId="{605414AF-3DB4-45A7-B516-2EAD1C9295B9}" type="pres">
      <dgm:prSet presAssocID="{6053A947-702F-4F20-A747-D9E85C14FB1C}" presName="node" presStyleLbl="node1" presStyleIdx="1" presStyleCnt="7" custLinFactY="100000" custLinFactNeighborX="-3286" custLinFactNeighborY="133488">
        <dgm:presLayoutVars>
          <dgm:bulletEnabled val="1"/>
        </dgm:presLayoutVars>
      </dgm:prSet>
      <dgm:spPr>
        <a:prstGeom prst="ellipse">
          <a:avLst/>
        </a:prstGeom>
      </dgm:spPr>
      <dgm:t>
        <a:bodyPr/>
        <a:lstStyle/>
        <a:p>
          <a:endParaRPr lang="en-US"/>
        </a:p>
      </dgm:t>
    </dgm:pt>
    <dgm:pt modelId="{4E397F41-CB46-4C66-8F47-2D7ACB65B4A0}" type="pres">
      <dgm:prSet presAssocID="{0FD22222-AD49-4922-BA41-AECB3EAC2198}" presName="sibTrans" presStyleCnt="0"/>
      <dgm:spPr/>
    </dgm:pt>
    <dgm:pt modelId="{270856EA-B335-456B-96AC-B63D9008B616}" type="pres">
      <dgm:prSet presAssocID="{0BD1F154-3C0B-4409-8B9A-6C1682FB972D}" presName="node" presStyleLbl="node1" presStyleIdx="2" presStyleCnt="7" custLinFactX="-100000" custLinFactNeighborX="-125898" custLinFactNeighborY="10795">
        <dgm:presLayoutVars>
          <dgm:bulletEnabled val="1"/>
        </dgm:presLayoutVars>
      </dgm:prSet>
      <dgm:spPr>
        <a:prstGeom prst="ellipse">
          <a:avLst/>
        </a:prstGeom>
      </dgm:spPr>
      <dgm:t>
        <a:bodyPr/>
        <a:lstStyle/>
        <a:p>
          <a:endParaRPr lang="en-US"/>
        </a:p>
      </dgm:t>
    </dgm:pt>
    <dgm:pt modelId="{CEE4BAEA-EAFC-4279-90AC-974624FCCF1E}" type="pres">
      <dgm:prSet presAssocID="{A38A44A6-0A34-4608-8D4D-D914D7EA39D1}" presName="sibTrans" presStyleCnt="0"/>
      <dgm:spPr/>
    </dgm:pt>
    <dgm:pt modelId="{7C07831A-C807-443A-AF0B-D2F305E2D30F}" type="pres">
      <dgm:prSet presAssocID="{3F564052-77AF-4CCC-8F94-C7F5A2FB9CE0}" presName="node" presStyleLbl="node1" presStyleIdx="3" presStyleCnt="7" custLinFactX="100000" custLinFactY="-6082" custLinFactNeighborX="115996" custLinFactNeighborY="-100000">
        <dgm:presLayoutVars>
          <dgm:bulletEnabled val="1"/>
        </dgm:presLayoutVars>
      </dgm:prSet>
      <dgm:spPr>
        <a:prstGeom prst="ellipse">
          <a:avLst/>
        </a:prstGeom>
      </dgm:spPr>
      <dgm:t>
        <a:bodyPr/>
        <a:lstStyle/>
        <a:p>
          <a:endParaRPr lang="en-US"/>
        </a:p>
      </dgm:t>
    </dgm:pt>
    <dgm:pt modelId="{9D67F36C-8AFE-40FC-A586-D626F6018D11}" type="pres">
      <dgm:prSet presAssocID="{D65BDF9F-B026-45C6-8FF2-2160939D3377}" presName="sibTrans" presStyleCnt="0"/>
      <dgm:spPr/>
    </dgm:pt>
    <dgm:pt modelId="{3B4A2937-DC71-4E68-8F12-1C6E0CC76342}" type="pres">
      <dgm:prSet presAssocID="{21D212C0-561C-4FA1-A0D3-665C14E3C0E2}" presName="node" presStyleLbl="node1" presStyleIdx="4" presStyleCnt="7" custLinFactX="-13747" custLinFactNeighborX="-100000" custLinFactNeighborY="3422">
        <dgm:presLayoutVars>
          <dgm:bulletEnabled val="1"/>
        </dgm:presLayoutVars>
      </dgm:prSet>
      <dgm:spPr>
        <a:prstGeom prst="ellipse">
          <a:avLst/>
        </a:prstGeom>
      </dgm:spPr>
      <dgm:t>
        <a:bodyPr/>
        <a:lstStyle/>
        <a:p>
          <a:endParaRPr lang="en-US"/>
        </a:p>
      </dgm:t>
    </dgm:pt>
    <dgm:pt modelId="{2D4C213E-2C12-4ADF-BAEB-0ADAF389ECA9}" type="pres">
      <dgm:prSet presAssocID="{7BC7B250-A825-4085-8554-AC185ABA7CD3}" presName="sibTrans" presStyleCnt="0"/>
      <dgm:spPr/>
    </dgm:pt>
    <dgm:pt modelId="{F969CF31-2072-46D1-BC3F-F4C5679A1F4D}" type="pres">
      <dgm:prSet presAssocID="{1B5368E2-4A65-4504-B1E9-3BF04CCDF1E6}" presName="node" presStyleLbl="node1" presStyleIdx="5" presStyleCnt="7" custLinFactX="-14157" custLinFactNeighborX="-100000" custLinFactNeighborY="1369">
        <dgm:presLayoutVars>
          <dgm:bulletEnabled val="1"/>
        </dgm:presLayoutVars>
      </dgm:prSet>
      <dgm:spPr>
        <a:prstGeom prst="ellipse">
          <a:avLst/>
        </a:prstGeom>
      </dgm:spPr>
      <dgm:t>
        <a:bodyPr/>
        <a:lstStyle/>
        <a:p>
          <a:endParaRPr lang="en-US"/>
        </a:p>
      </dgm:t>
    </dgm:pt>
    <dgm:pt modelId="{772D6C2D-DB07-4219-B7D5-6A4D4960BAA6}" type="pres">
      <dgm:prSet presAssocID="{04B9692E-98DF-4889-A4AB-E988D75255C7}" presName="sibTrans" presStyleCnt="0"/>
      <dgm:spPr/>
    </dgm:pt>
    <dgm:pt modelId="{03983D54-169B-42BE-8062-648B38658ADB}" type="pres">
      <dgm:prSet presAssocID="{4E3CF94E-73EE-4A30-A521-80B9B1EF8F4F}" presName="node" presStyleLbl="node1" presStyleIdx="6" presStyleCnt="7" custLinFactX="14979" custLinFactY="-14979" custLinFactNeighborX="100000" custLinFactNeighborY="-100000">
        <dgm:presLayoutVars>
          <dgm:bulletEnabled val="1"/>
        </dgm:presLayoutVars>
      </dgm:prSet>
      <dgm:spPr>
        <a:prstGeom prst="ellipse">
          <a:avLst/>
        </a:prstGeom>
      </dgm:spPr>
      <dgm:t>
        <a:bodyPr/>
        <a:lstStyle/>
        <a:p>
          <a:endParaRPr lang="en-US"/>
        </a:p>
      </dgm:t>
    </dgm:pt>
  </dgm:ptLst>
  <dgm:cxnLst>
    <dgm:cxn modelId="{39A44F05-E93B-48F6-B271-EDE6638B8C7F}" srcId="{7AB1BACB-70E8-4BD3-9171-CF08FFA6A5B6}" destId="{21D212C0-561C-4FA1-A0D3-665C14E3C0E2}" srcOrd="4" destOrd="0" parTransId="{4EECD664-8173-496C-9E20-8855A9501437}" sibTransId="{7BC7B250-A825-4085-8554-AC185ABA7CD3}"/>
    <dgm:cxn modelId="{A272C1A1-CBF3-4772-AF45-61D7B069BAB0}" type="presOf" srcId="{4E3CF94E-73EE-4A30-A521-80B9B1EF8F4F}" destId="{03983D54-169B-42BE-8062-648B38658ADB}" srcOrd="0" destOrd="0" presId="urn:microsoft.com/office/officeart/2005/8/layout/default"/>
    <dgm:cxn modelId="{CF8F6486-49B5-4531-842B-EA91F5997026}" type="presOf" srcId="{0BD1F154-3C0B-4409-8B9A-6C1682FB972D}" destId="{270856EA-B335-456B-96AC-B63D9008B616}" srcOrd="0" destOrd="0" presId="urn:microsoft.com/office/officeart/2005/8/layout/default"/>
    <dgm:cxn modelId="{3D52022F-4D05-4A69-890A-DBDE32749FE1}" type="presOf" srcId="{3F564052-77AF-4CCC-8F94-C7F5A2FB9CE0}" destId="{7C07831A-C807-443A-AF0B-D2F305E2D30F}" srcOrd="0" destOrd="0" presId="urn:microsoft.com/office/officeart/2005/8/layout/default"/>
    <dgm:cxn modelId="{1B1590DC-11AA-41AD-A888-A0D3305819D1}" srcId="{7AB1BACB-70E8-4BD3-9171-CF08FFA6A5B6}" destId="{3F564052-77AF-4CCC-8F94-C7F5A2FB9CE0}" srcOrd="3" destOrd="0" parTransId="{F5A4E7B3-B210-473E-BB53-80EF1BE95999}" sibTransId="{D65BDF9F-B026-45C6-8FF2-2160939D3377}"/>
    <dgm:cxn modelId="{22C5B3A1-81A4-486C-BEE5-7BDD79C3746D}" srcId="{7AB1BACB-70E8-4BD3-9171-CF08FFA6A5B6}" destId="{255F676E-8D45-486E-B07E-20AE5F69743D}" srcOrd="0" destOrd="0" parTransId="{6F1F5AEF-A7B3-46B5-8B65-7EE8C7507F1A}" sibTransId="{6331CD14-C2FE-4EAF-92D6-6D2F0B2BBF41}"/>
    <dgm:cxn modelId="{0CDA0DB0-B037-4C7E-BE88-E59AA0267F68}" srcId="{7AB1BACB-70E8-4BD3-9171-CF08FFA6A5B6}" destId="{6053A947-702F-4F20-A747-D9E85C14FB1C}" srcOrd="1" destOrd="0" parTransId="{05CB7CCD-8D6E-4D7B-9ADE-C14886D6C600}" sibTransId="{0FD22222-AD49-4922-BA41-AECB3EAC2198}"/>
    <dgm:cxn modelId="{59A80A80-1871-43B1-BF1F-0D6829909A5C}" type="presOf" srcId="{7AB1BACB-70E8-4BD3-9171-CF08FFA6A5B6}" destId="{21C168A4-782A-4F20-8FDC-D523B5A36358}" srcOrd="0" destOrd="0" presId="urn:microsoft.com/office/officeart/2005/8/layout/default"/>
    <dgm:cxn modelId="{E49C171E-313B-44F9-B61C-09CEB4EF0F87}" srcId="{7AB1BACB-70E8-4BD3-9171-CF08FFA6A5B6}" destId="{1B5368E2-4A65-4504-B1E9-3BF04CCDF1E6}" srcOrd="5" destOrd="0" parTransId="{62353AEB-76F6-4467-8A52-B564BCD12456}" sibTransId="{04B9692E-98DF-4889-A4AB-E988D75255C7}"/>
    <dgm:cxn modelId="{C33559E2-9392-4449-83EE-310BB2AE59D0}" srcId="{7AB1BACB-70E8-4BD3-9171-CF08FFA6A5B6}" destId="{4E3CF94E-73EE-4A30-A521-80B9B1EF8F4F}" srcOrd="6" destOrd="0" parTransId="{9602D39E-7E63-4544-A062-189A5D4A18A0}" sibTransId="{EE0F7408-2996-4672-A8F9-284AA4242C46}"/>
    <dgm:cxn modelId="{A9A2AB04-6FA1-4432-A27C-9896D1005231}" type="presOf" srcId="{1B5368E2-4A65-4504-B1E9-3BF04CCDF1E6}" destId="{F969CF31-2072-46D1-BC3F-F4C5679A1F4D}" srcOrd="0" destOrd="0" presId="urn:microsoft.com/office/officeart/2005/8/layout/default"/>
    <dgm:cxn modelId="{00D9D063-5FED-4A76-9300-269B5A98F6EF}" type="presOf" srcId="{21D212C0-561C-4FA1-A0D3-665C14E3C0E2}" destId="{3B4A2937-DC71-4E68-8F12-1C6E0CC76342}" srcOrd="0" destOrd="0" presId="urn:microsoft.com/office/officeart/2005/8/layout/default"/>
    <dgm:cxn modelId="{5FAAC2F8-83A8-4864-8E84-F3F3CE2353FD}" type="presOf" srcId="{6053A947-702F-4F20-A747-D9E85C14FB1C}" destId="{605414AF-3DB4-45A7-B516-2EAD1C9295B9}" srcOrd="0" destOrd="0" presId="urn:microsoft.com/office/officeart/2005/8/layout/default"/>
    <dgm:cxn modelId="{46CF90BC-E331-4530-B799-7343E44AC894}" type="presOf" srcId="{255F676E-8D45-486E-B07E-20AE5F69743D}" destId="{388FB504-240F-46B0-B888-70FFA577ACF9}" srcOrd="0" destOrd="0" presId="urn:microsoft.com/office/officeart/2005/8/layout/default"/>
    <dgm:cxn modelId="{A47B75EC-97F0-48AF-B29B-600F5C01BD3E}" srcId="{7AB1BACB-70E8-4BD3-9171-CF08FFA6A5B6}" destId="{0BD1F154-3C0B-4409-8B9A-6C1682FB972D}" srcOrd="2" destOrd="0" parTransId="{D0C7FAE2-2E0B-4BB1-89F3-A945688A2C2D}" sibTransId="{A38A44A6-0A34-4608-8D4D-D914D7EA39D1}"/>
    <dgm:cxn modelId="{C6E06F14-A69B-4DBB-AF00-3D64C70AA420}" type="presParOf" srcId="{21C168A4-782A-4F20-8FDC-D523B5A36358}" destId="{388FB504-240F-46B0-B888-70FFA577ACF9}" srcOrd="0" destOrd="0" presId="urn:microsoft.com/office/officeart/2005/8/layout/default"/>
    <dgm:cxn modelId="{14E303A3-4539-4E55-B957-8A1A72BF7D15}" type="presParOf" srcId="{21C168A4-782A-4F20-8FDC-D523B5A36358}" destId="{2AEDDF91-A34D-4B66-BE17-59CE3DD1172A}" srcOrd="1" destOrd="0" presId="urn:microsoft.com/office/officeart/2005/8/layout/default"/>
    <dgm:cxn modelId="{C5886CA7-B74D-4667-8C42-1978047FB836}" type="presParOf" srcId="{21C168A4-782A-4F20-8FDC-D523B5A36358}" destId="{605414AF-3DB4-45A7-B516-2EAD1C9295B9}" srcOrd="2" destOrd="0" presId="urn:microsoft.com/office/officeart/2005/8/layout/default"/>
    <dgm:cxn modelId="{56148DE2-A4E7-4443-BDCB-EF8E9CB1A1E3}" type="presParOf" srcId="{21C168A4-782A-4F20-8FDC-D523B5A36358}" destId="{4E397F41-CB46-4C66-8F47-2D7ACB65B4A0}" srcOrd="3" destOrd="0" presId="urn:microsoft.com/office/officeart/2005/8/layout/default"/>
    <dgm:cxn modelId="{606689E8-9550-4ECB-AF7B-7E3CF8CBDA23}" type="presParOf" srcId="{21C168A4-782A-4F20-8FDC-D523B5A36358}" destId="{270856EA-B335-456B-96AC-B63D9008B616}" srcOrd="4" destOrd="0" presId="urn:microsoft.com/office/officeart/2005/8/layout/default"/>
    <dgm:cxn modelId="{F5FD6BD7-C4CD-4BB3-8E70-5BE1CEE080A6}" type="presParOf" srcId="{21C168A4-782A-4F20-8FDC-D523B5A36358}" destId="{CEE4BAEA-EAFC-4279-90AC-974624FCCF1E}" srcOrd="5" destOrd="0" presId="urn:microsoft.com/office/officeart/2005/8/layout/default"/>
    <dgm:cxn modelId="{17F4B67F-8236-47F7-8190-A3B8E11FDEDA}" type="presParOf" srcId="{21C168A4-782A-4F20-8FDC-D523B5A36358}" destId="{7C07831A-C807-443A-AF0B-D2F305E2D30F}" srcOrd="6" destOrd="0" presId="urn:microsoft.com/office/officeart/2005/8/layout/default"/>
    <dgm:cxn modelId="{22B778DA-C1A2-45C4-9E3C-10F4502E6DA9}" type="presParOf" srcId="{21C168A4-782A-4F20-8FDC-D523B5A36358}" destId="{9D67F36C-8AFE-40FC-A586-D626F6018D11}" srcOrd="7" destOrd="0" presId="urn:microsoft.com/office/officeart/2005/8/layout/default"/>
    <dgm:cxn modelId="{3699997B-107F-4883-89E9-E1910294E999}" type="presParOf" srcId="{21C168A4-782A-4F20-8FDC-D523B5A36358}" destId="{3B4A2937-DC71-4E68-8F12-1C6E0CC76342}" srcOrd="8" destOrd="0" presId="urn:microsoft.com/office/officeart/2005/8/layout/default"/>
    <dgm:cxn modelId="{A6AC1440-1336-48BF-AC4B-0E7A65077421}" type="presParOf" srcId="{21C168A4-782A-4F20-8FDC-D523B5A36358}" destId="{2D4C213E-2C12-4ADF-BAEB-0ADAF389ECA9}" srcOrd="9" destOrd="0" presId="urn:microsoft.com/office/officeart/2005/8/layout/default"/>
    <dgm:cxn modelId="{6C11F2C1-DA65-4498-A3BB-3370156D0971}" type="presParOf" srcId="{21C168A4-782A-4F20-8FDC-D523B5A36358}" destId="{F969CF31-2072-46D1-BC3F-F4C5679A1F4D}" srcOrd="10" destOrd="0" presId="urn:microsoft.com/office/officeart/2005/8/layout/default"/>
    <dgm:cxn modelId="{CE9BA6A8-7154-4798-99A4-D62AC89CE06E}" type="presParOf" srcId="{21C168A4-782A-4F20-8FDC-D523B5A36358}" destId="{772D6C2D-DB07-4219-B7D5-6A4D4960BAA6}" srcOrd="11" destOrd="0" presId="urn:microsoft.com/office/officeart/2005/8/layout/default"/>
    <dgm:cxn modelId="{2CC61342-D299-403A-B868-D09D1A7BBE51}" type="presParOf" srcId="{21C168A4-782A-4F20-8FDC-D523B5A36358}" destId="{03983D54-169B-42BE-8062-648B38658ADB}"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FB504-240F-46B0-B888-70FFA577ACF9}">
      <dsp:nvSpPr>
        <dsp:cNvPr id="0" name=""/>
        <dsp:cNvSpPr/>
      </dsp:nvSpPr>
      <dsp:spPr>
        <a:xfrm>
          <a:off x="4084749" y="242343"/>
          <a:ext cx="3425812" cy="2055487"/>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i="0" kern="1200" dirty="0" smtClean="0">
              <a:solidFill>
                <a:schemeClr val="tx1">
                  <a:lumMod val="95000"/>
                  <a:lumOff val="5000"/>
                </a:schemeClr>
              </a:solidFill>
            </a:rPr>
            <a:t>Concise</a:t>
          </a:r>
          <a:endParaRPr lang="en-US" sz="2900" kern="1200" dirty="0">
            <a:solidFill>
              <a:schemeClr val="tx1">
                <a:lumMod val="95000"/>
                <a:lumOff val="5000"/>
              </a:schemeClr>
            </a:solidFill>
          </a:endParaRPr>
        </a:p>
      </dsp:txBody>
      <dsp:txXfrm>
        <a:off x="4586448" y="543362"/>
        <a:ext cx="2422414" cy="1453449"/>
      </dsp:txXfrm>
    </dsp:sp>
    <dsp:sp modelId="{605414AF-3DB4-45A7-B516-2EAD1C9295B9}">
      <dsp:nvSpPr>
        <dsp:cNvPr id="0" name=""/>
        <dsp:cNvSpPr/>
      </dsp:nvSpPr>
      <dsp:spPr>
        <a:xfrm>
          <a:off x="4181425" y="4802504"/>
          <a:ext cx="3425812" cy="2055487"/>
        </a:xfrm>
        <a:prstGeom prst="ellipse">
          <a:avLst/>
        </a:prstGeom>
        <a:solidFill>
          <a:schemeClr val="accent2">
            <a:hueOff val="-242561"/>
            <a:satOff val="-13988"/>
            <a:lumOff val="14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i="0" kern="1200" smtClean="0">
              <a:solidFill>
                <a:schemeClr val="tx1">
                  <a:lumMod val="95000"/>
                  <a:lumOff val="5000"/>
                </a:schemeClr>
              </a:solidFill>
            </a:rPr>
            <a:t>Courteous</a:t>
          </a:r>
          <a:endParaRPr lang="en-US" sz="2900" b="0" i="0" kern="1200">
            <a:solidFill>
              <a:schemeClr val="tx1">
                <a:lumMod val="95000"/>
                <a:lumOff val="5000"/>
              </a:schemeClr>
            </a:solidFill>
          </a:endParaRPr>
        </a:p>
      </dsp:txBody>
      <dsp:txXfrm>
        <a:off x="4683124" y="5103523"/>
        <a:ext cx="2422414" cy="1453449"/>
      </dsp:txXfrm>
    </dsp:sp>
    <dsp:sp modelId="{270856EA-B335-456B-96AC-B63D9008B616}">
      <dsp:nvSpPr>
        <dsp:cNvPr id="0" name=""/>
        <dsp:cNvSpPr/>
      </dsp:nvSpPr>
      <dsp:spPr>
        <a:xfrm>
          <a:off x="323549" y="225077"/>
          <a:ext cx="3425812" cy="2055487"/>
        </a:xfrm>
        <a:prstGeom prst="ellipse">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i="0" kern="1200" dirty="0" smtClean="0">
              <a:solidFill>
                <a:schemeClr val="tx1">
                  <a:lumMod val="95000"/>
                  <a:lumOff val="5000"/>
                </a:schemeClr>
              </a:solidFill>
            </a:rPr>
            <a:t>Clear</a:t>
          </a:r>
          <a:r>
            <a:rPr lang="en-US" sz="2900" b="0" i="0" kern="1200" dirty="0" smtClean="0">
              <a:solidFill>
                <a:schemeClr val="tx1">
                  <a:lumMod val="95000"/>
                  <a:lumOff val="5000"/>
                </a:schemeClr>
              </a:solidFill>
            </a:rPr>
            <a:t> </a:t>
          </a:r>
          <a:endParaRPr lang="en-US" sz="2900" kern="1200" dirty="0">
            <a:solidFill>
              <a:schemeClr val="tx1">
                <a:lumMod val="95000"/>
                <a:lumOff val="5000"/>
              </a:schemeClr>
            </a:solidFill>
          </a:endParaRPr>
        </a:p>
      </dsp:txBody>
      <dsp:txXfrm>
        <a:off x="825248" y="526096"/>
        <a:ext cx="2422414" cy="1453449"/>
      </dsp:txXfrm>
    </dsp:sp>
    <dsp:sp modelId="{7C07831A-C807-443A-AF0B-D2F305E2D30F}">
      <dsp:nvSpPr>
        <dsp:cNvPr id="0" name=""/>
        <dsp:cNvSpPr/>
      </dsp:nvSpPr>
      <dsp:spPr>
        <a:xfrm>
          <a:off x="7925221" y="220754"/>
          <a:ext cx="3425812" cy="2055487"/>
        </a:xfrm>
        <a:prstGeom prst="ellipse">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i="0" kern="1200" dirty="0" smtClean="0">
              <a:solidFill>
                <a:schemeClr val="tx1">
                  <a:lumMod val="95000"/>
                  <a:lumOff val="5000"/>
                </a:schemeClr>
              </a:solidFill>
            </a:rPr>
            <a:t>concrete</a:t>
          </a:r>
          <a:endParaRPr lang="en-US" sz="2900" b="1" kern="1200" dirty="0">
            <a:solidFill>
              <a:schemeClr val="tx1">
                <a:lumMod val="95000"/>
                <a:lumOff val="5000"/>
              </a:schemeClr>
            </a:solidFill>
          </a:endParaRPr>
        </a:p>
      </dsp:txBody>
      <dsp:txXfrm>
        <a:off x="8426920" y="521773"/>
        <a:ext cx="2422414" cy="1453449"/>
      </dsp:txXfrm>
    </dsp:sp>
    <dsp:sp modelId="{3B4A2937-DC71-4E68-8F12-1C6E0CC76342}">
      <dsp:nvSpPr>
        <dsp:cNvPr id="0" name=""/>
        <dsp:cNvSpPr/>
      </dsp:nvSpPr>
      <dsp:spPr>
        <a:xfrm>
          <a:off x="397238" y="2471595"/>
          <a:ext cx="3425812" cy="2055487"/>
        </a:xfrm>
        <a:prstGeom prst="ellipse">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i="0" kern="1200" dirty="0" smtClean="0">
              <a:solidFill>
                <a:schemeClr val="tx1">
                  <a:lumMod val="95000"/>
                  <a:lumOff val="5000"/>
                </a:schemeClr>
              </a:solidFill>
            </a:rPr>
            <a:t>Correct </a:t>
          </a:r>
          <a:endParaRPr lang="en-US" sz="2900" kern="1200" dirty="0">
            <a:solidFill>
              <a:schemeClr val="tx1">
                <a:lumMod val="95000"/>
                <a:lumOff val="5000"/>
              </a:schemeClr>
            </a:solidFill>
          </a:endParaRPr>
        </a:p>
      </dsp:txBody>
      <dsp:txXfrm>
        <a:off x="898937" y="2772614"/>
        <a:ext cx="2422414" cy="1453449"/>
      </dsp:txXfrm>
    </dsp:sp>
    <dsp:sp modelId="{F969CF31-2072-46D1-BC3F-F4C5679A1F4D}">
      <dsp:nvSpPr>
        <dsp:cNvPr id="0" name=""/>
        <dsp:cNvSpPr/>
      </dsp:nvSpPr>
      <dsp:spPr>
        <a:xfrm>
          <a:off x="4151586" y="2429395"/>
          <a:ext cx="3425812" cy="2055487"/>
        </a:xfrm>
        <a:prstGeom prst="ellipse">
          <a:avLst/>
        </a:prstGeom>
        <a:solidFill>
          <a:schemeClr val="accent2">
            <a:hueOff val="-1212803"/>
            <a:satOff val="-69940"/>
            <a:lumOff val="71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kern="1200" dirty="0" smtClean="0">
              <a:effectLst>
                <a:outerShdw blurRad="38100" dist="38100" dir="2700000" algn="tl">
                  <a:srgbClr val="000000">
                    <a:alpha val="43137"/>
                  </a:srgbClr>
                </a:outerShdw>
              </a:effectLst>
            </a:rPr>
            <a:t>Consideration</a:t>
          </a:r>
          <a:endParaRPr lang="en-US" sz="2900" kern="1200" dirty="0">
            <a:solidFill>
              <a:schemeClr val="tx1">
                <a:lumMod val="95000"/>
                <a:lumOff val="5000"/>
              </a:schemeClr>
            </a:solidFill>
          </a:endParaRPr>
        </a:p>
      </dsp:txBody>
      <dsp:txXfrm>
        <a:off x="4653285" y="2730414"/>
        <a:ext cx="2422414" cy="1453449"/>
      </dsp:txXfrm>
    </dsp:sp>
    <dsp:sp modelId="{03983D54-169B-42BE-8062-648B38658ADB}">
      <dsp:nvSpPr>
        <dsp:cNvPr id="0" name=""/>
        <dsp:cNvSpPr/>
      </dsp:nvSpPr>
      <dsp:spPr>
        <a:xfrm>
          <a:off x="8232962" y="2435946"/>
          <a:ext cx="3425812" cy="2055487"/>
        </a:xfrm>
        <a:prstGeom prst="ellips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i="0" kern="1200" dirty="0" smtClean="0">
              <a:solidFill>
                <a:schemeClr val="tx1">
                  <a:lumMod val="95000"/>
                  <a:lumOff val="5000"/>
                </a:schemeClr>
              </a:solidFill>
            </a:rPr>
            <a:t>Complete</a:t>
          </a:r>
          <a:endParaRPr lang="en-US" sz="2900" kern="1200" dirty="0">
            <a:solidFill>
              <a:schemeClr val="tx1">
                <a:lumMod val="95000"/>
                <a:lumOff val="5000"/>
              </a:schemeClr>
            </a:solidFill>
          </a:endParaRPr>
        </a:p>
      </dsp:txBody>
      <dsp:txXfrm>
        <a:off x="8734661" y="2736965"/>
        <a:ext cx="2422414" cy="14534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A43EB8-0940-45D1-BACF-7A3C7CC14C5F}"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4099631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A43EB8-0940-45D1-BACF-7A3C7CC14C5F}"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2060232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A43EB8-0940-45D1-BACF-7A3C7CC14C5F}"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983052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BA43EB8-0940-45D1-BACF-7A3C7CC14C5F}"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936829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A43EB8-0940-45D1-BACF-7A3C7CC14C5F}" type="datetimeFigureOut">
              <a:rPr lang="en-US" smtClean="0"/>
              <a:t>10/2/2025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1755477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A43EB8-0940-45D1-BACF-7A3C7CC14C5F}" type="datetimeFigureOut">
              <a:rPr lang="en-US" smtClean="0"/>
              <a:t>10/2/2025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334351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A43EB8-0940-45D1-BACF-7A3C7CC14C5F}" type="datetimeFigureOut">
              <a:rPr lang="en-US" smtClean="0"/>
              <a:t>10/2/2025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2491211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A43EB8-0940-45D1-BACF-7A3C7CC14C5F}"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2316084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A43EB8-0940-45D1-BACF-7A3C7CC14C5F}"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175022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A43EB8-0940-45D1-BACF-7A3C7CC14C5F}"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1380281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A43EB8-0940-45D1-BACF-7A3C7CC14C5F}"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71FE3-ED29-47E7-8535-29E593D09AE6}" type="slidenum">
              <a:rPr lang="en-US" smtClean="0"/>
              <a:t>‹#›</a:t>
            </a:fld>
            <a:endParaRPr lang="en-US"/>
          </a:p>
        </p:txBody>
      </p:sp>
    </p:spTree>
    <p:extLst>
      <p:ext uri="{BB962C8B-B14F-4D97-AF65-F5344CB8AC3E}">
        <p14:creationId xmlns:p14="http://schemas.microsoft.com/office/powerpoint/2010/main" val="903884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A43EB8-0940-45D1-BACF-7A3C7CC14C5F}" type="datetimeFigureOut">
              <a:rPr lang="en-US" smtClean="0"/>
              <a:t>10/2/2025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471FE3-ED29-47E7-8535-29E593D09AE6}" type="slidenum">
              <a:rPr lang="en-US" smtClean="0"/>
              <a:t>‹#›</a:t>
            </a:fld>
            <a:endParaRPr lang="en-US"/>
          </a:p>
        </p:txBody>
      </p:sp>
    </p:spTree>
    <p:extLst>
      <p:ext uri="{BB962C8B-B14F-4D97-AF65-F5344CB8AC3E}">
        <p14:creationId xmlns:p14="http://schemas.microsoft.com/office/powerpoint/2010/main" val="56545303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8973"/>
            <a:ext cx="12192000" cy="3046988"/>
          </a:xfrm>
          <a:prstGeom prst="rect">
            <a:avLst/>
          </a:prstGeom>
          <a:noFill/>
        </p:spPr>
        <p:txBody>
          <a:bodyPr wrap="square" rtlCol="0">
            <a:spAutoFit/>
          </a:bodyPr>
          <a:lstStyle/>
          <a:p>
            <a:pPr algn="ctr"/>
            <a:r>
              <a:rPr lang="en-US" sz="9600" dirty="0" smtClean="0">
                <a:solidFill>
                  <a:srgbClr val="FF0000"/>
                </a:solidFill>
                <a:latin typeface="Algerian" panose="04020705040A02060702" pitchFamily="82" charset="0"/>
              </a:rPr>
              <a:t>7 Cs in effective Communication </a:t>
            </a:r>
            <a:endParaRPr lang="en-US" sz="9600" dirty="0">
              <a:solidFill>
                <a:srgbClr val="FF0000"/>
              </a:solidFill>
              <a:latin typeface="Algerian" panose="04020705040A02060702" pitchFamily="82" charset="0"/>
            </a:endParaRPr>
          </a:p>
        </p:txBody>
      </p:sp>
    </p:spTree>
    <p:extLst>
      <p:ext uri="{BB962C8B-B14F-4D97-AF65-F5344CB8AC3E}">
        <p14:creationId xmlns:p14="http://schemas.microsoft.com/office/powerpoint/2010/main" val="12956851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306651549"/>
              </p:ext>
            </p:extLst>
          </p:nvPr>
        </p:nvGraphicFramePr>
        <p:xfrm>
          <a:off x="1" y="0"/>
          <a:ext cx="12013808"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86535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6265" y="168812"/>
            <a:ext cx="10691446" cy="1200329"/>
          </a:xfrm>
          <a:prstGeom prst="rect">
            <a:avLst/>
          </a:prstGeom>
          <a:noFill/>
        </p:spPr>
        <p:txBody>
          <a:bodyPr wrap="square" rtlCol="0">
            <a:spAutoFit/>
          </a:bodyPr>
          <a:lstStyle/>
          <a:p>
            <a:pPr algn="ctr"/>
            <a:r>
              <a:rPr lang="en-US" sz="5400" dirty="0">
                <a:effectLst>
                  <a:outerShdw blurRad="38100" dist="38100" dir="2700000" algn="tl">
                    <a:srgbClr val="000000">
                      <a:alpha val="43137"/>
                    </a:srgbClr>
                  </a:outerShdw>
                </a:effectLst>
              </a:rPr>
              <a:t>Clear</a:t>
            </a:r>
          </a:p>
          <a:p>
            <a:endParaRPr lang="en-US" dirty="0"/>
          </a:p>
        </p:txBody>
      </p:sp>
      <p:sp>
        <p:nvSpPr>
          <p:cNvPr id="3" name="TextBox 2"/>
          <p:cNvSpPr txBox="1"/>
          <p:nvPr/>
        </p:nvSpPr>
        <p:spPr>
          <a:xfrm>
            <a:off x="576775" y="1252025"/>
            <a:ext cx="11296357" cy="4801314"/>
          </a:xfrm>
          <a:prstGeom prst="rect">
            <a:avLst/>
          </a:prstGeom>
          <a:noFill/>
        </p:spPr>
        <p:txBody>
          <a:bodyPr wrap="square" rtlCol="0">
            <a:spAutoFit/>
          </a:bodyPr>
          <a:lstStyle/>
          <a:p>
            <a:pPr algn="just"/>
            <a:r>
              <a:rPr lang="en-US" sz="3600" dirty="0"/>
              <a:t>Clarity is ensuring what you’re saying is communicated clearly and with </a:t>
            </a:r>
            <a:r>
              <a:rPr lang="en-US" sz="3600" dirty="0">
                <a:solidFill>
                  <a:srgbClr val="FF0000"/>
                </a:solidFill>
              </a:rPr>
              <a:t>no room for misunderstanding</a:t>
            </a:r>
            <a:r>
              <a:rPr lang="en-US" sz="3600" dirty="0"/>
              <a:t>. Good advice for being clear includes:</a:t>
            </a:r>
          </a:p>
          <a:p>
            <a:pPr marL="285750" indent="-285750" algn="just">
              <a:buFont typeface="Arial" panose="020B0604020202020204" pitchFamily="34" charset="0"/>
              <a:buChar char="•"/>
            </a:pPr>
            <a:r>
              <a:rPr lang="en-US" sz="3600" dirty="0">
                <a:solidFill>
                  <a:srgbClr val="FF0000"/>
                </a:solidFill>
              </a:rPr>
              <a:t>Use simple language </a:t>
            </a:r>
            <a:r>
              <a:rPr lang="en-US" sz="3600" dirty="0"/>
              <a:t>and </a:t>
            </a:r>
            <a:r>
              <a:rPr lang="en-US" sz="3600" dirty="0">
                <a:solidFill>
                  <a:srgbClr val="FF0000"/>
                </a:solidFill>
              </a:rPr>
              <a:t>focus on core points </a:t>
            </a:r>
            <a:r>
              <a:rPr lang="en-US" sz="3600" dirty="0"/>
              <a:t>of your </a:t>
            </a:r>
            <a:r>
              <a:rPr lang="en-US" sz="3600" dirty="0" smtClean="0"/>
              <a:t>message.</a:t>
            </a:r>
            <a:endParaRPr lang="en-US" sz="3600" dirty="0"/>
          </a:p>
          <a:p>
            <a:pPr marL="285750" indent="-285750" algn="just">
              <a:buFont typeface="Arial" panose="020B0604020202020204" pitchFamily="34" charset="0"/>
              <a:buChar char="•"/>
            </a:pPr>
            <a:r>
              <a:rPr lang="en-US" sz="3600" dirty="0">
                <a:solidFill>
                  <a:srgbClr val="FF0000"/>
                </a:solidFill>
              </a:rPr>
              <a:t>Don’t use idioms </a:t>
            </a:r>
            <a:r>
              <a:rPr lang="en-US" sz="3600" dirty="0"/>
              <a:t>to prevent any </a:t>
            </a:r>
            <a:r>
              <a:rPr lang="en-US" sz="3600" dirty="0">
                <a:solidFill>
                  <a:srgbClr val="FF0000"/>
                </a:solidFill>
              </a:rPr>
              <a:t>confusion</a:t>
            </a:r>
            <a:r>
              <a:rPr lang="en-US" sz="3600" dirty="0"/>
              <a:t> and </a:t>
            </a:r>
            <a:r>
              <a:rPr lang="en-US" sz="3600" dirty="0" smtClean="0">
                <a:solidFill>
                  <a:srgbClr val="FF0000"/>
                </a:solidFill>
              </a:rPr>
              <a:t>ambiguity.</a:t>
            </a:r>
            <a:endParaRPr lang="en-US" sz="3600" dirty="0">
              <a:solidFill>
                <a:srgbClr val="FF0000"/>
              </a:solidFill>
            </a:endParaRPr>
          </a:p>
          <a:p>
            <a:pPr marL="285750" indent="-285750" algn="just">
              <a:buFont typeface="Arial" panose="020B0604020202020204" pitchFamily="34" charset="0"/>
              <a:buChar char="•"/>
            </a:pPr>
            <a:r>
              <a:rPr lang="en-US" sz="3600" dirty="0">
                <a:solidFill>
                  <a:srgbClr val="FF0000"/>
                </a:solidFill>
              </a:rPr>
              <a:t>Be clear in your mind </a:t>
            </a:r>
            <a:r>
              <a:rPr lang="en-US" sz="3600" dirty="0"/>
              <a:t>about what you want to say and its purpose before you say </a:t>
            </a:r>
            <a:r>
              <a:rPr lang="en-US" sz="3600" dirty="0" smtClean="0"/>
              <a:t>it.</a:t>
            </a:r>
            <a:endParaRPr lang="en-US" sz="3600" dirty="0"/>
          </a:p>
          <a:p>
            <a:endParaRPr lang="en-US" dirty="0"/>
          </a:p>
        </p:txBody>
      </p:sp>
    </p:spTree>
    <p:extLst>
      <p:ext uri="{BB962C8B-B14F-4D97-AF65-F5344CB8AC3E}">
        <p14:creationId xmlns:p14="http://schemas.microsoft.com/office/powerpoint/2010/main" val="1354812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97915"/>
          </a:xfrm>
        </p:spPr>
        <p:txBody>
          <a:bodyPr>
            <a:normAutofit/>
          </a:bodyPr>
          <a:lstStyle/>
          <a:p>
            <a:pPr algn="ctr"/>
            <a:r>
              <a:rPr lang="en-US" sz="6000" b="1" dirty="0">
                <a:effectLst>
                  <a:outerShdw blurRad="38100" dist="38100" dir="2700000" algn="tl">
                    <a:srgbClr val="000000">
                      <a:alpha val="43137"/>
                    </a:srgbClr>
                  </a:outerShdw>
                </a:effectLst>
              </a:rPr>
              <a:t>Bad Example</a:t>
            </a:r>
          </a:p>
        </p:txBody>
      </p:sp>
      <p:sp>
        <p:nvSpPr>
          <p:cNvPr id="3" name="Content Placeholder 2"/>
          <p:cNvSpPr>
            <a:spLocks noGrp="1"/>
          </p:cNvSpPr>
          <p:nvPr>
            <p:ph idx="1"/>
          </p:nvPr>
        </p:nvSpPr>
        <p:spPr>
          <a:xfrm>
            <a:off x="140677" y="1463040"/>
            <a:ext cx="11943471" cy="5261317"/>
          </a:xfrm>
        </p:spPr>
        <p:txBody>
          <a:bodyPr>
            <a:normAutofit/>
          </a:bodyPr>
          <a:lstStyle/>
          <a:p>
            <a:pPr marL="0" indent="0" algn="just">
              <a:buNone/>
            </a:pPr>
            <a:r>
              <a:rPr lang="en-US" sz="3200" dirty="0" smtClean="0"/>
              <a:t>Hi Ali,</a:t>
            </a:r>
          </a:p>
          <a:p>
            <a:pPr marL="0" indent="0" algn="just">
              <a:buNone/>
            </a:pPr>
            <a:r>
              <a:rPr lang="en-US" sz="3200" dirty="0" smtClean="0"/>
              <a:t>I would like to schedule a meeting with you in regards to yesterday’s conversation. The topics you covered were great, and I’d like to speak about them in detail. Please let me know when you would like to have this meet.</a:t>
            </a:r>
          </a:p>
          <a:p>
            <a:pPr marL="0" indent="0" algn="just">
              <a:buNone/>
            </a:pPr>
            <a:r>
              <a:rPr lang="en-US" sz="3200" dirty="0" smtClean="0"/>
              <a:t>Regards,</a:t>
            </a:r>
          </a:p>
          <a:p>
            <a:pPr marL="0" indent="0" algn="just">
              <a:buNone/>
            </a:pPr>
            <a:r>
              <a:rPr lang="en-US" sz="3200" dirty="0" smtClean="0"/>
              <a:t>Imam </a:t>
            </a:r>
          </a:p>
          <a:p>
            <a:pPr marL="0" indent="0" algn="just">
              <a:buNone/>
            </a:pPr>
            <a:r>
              <a:rPr lang="en-US" sz="3200" dirty="0" smtClean="0"/>
              <a:t>In the above example, we do not know which conversation imam is referring to. If Imam had met Ali on multiple occasions that day then he wouldn’t know what Imam is actually talking about.</a:t>
            </a:r>
          </a:p>
        </p:txBody>
      </p:sp>
    </p:spTree>
    <p:extLst>
      <p:ext uri="{BB962C8B-B14F-4D97-AF65-F5344CB8AC3E}">
        <p14:creationId xmlns:p14="http://schemas.microsoft.com/office/powerpoint/2010/main" val="922055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6052" y="0"/>
            <a:ext cx="10515600" cy="1325563"/>
          </a:xfrm>
        </p:spPr>
        <p:txBody>
          <a:bodyPr>
            <a:normAutofit/>
          </a:bodyPr>
          <a:lstStyle/>
          <a:p>
            <a:pPr algn="ctr"/>
            <a:r>
              <a:rPr lang="en-US" sz="5400" b="1" dirty="0" smtClean="0">
                <a:effectLst>
                  <a:outerShdw blurRad="38100" dist="38100" dir="2700000" algn="tl">
                    <a:srgbClr val="000000">
                      <a:alpha val="43137"/>
                    </a:srgbClr>
                  </a:outerShdw>
                </a:effectLst>
              </a:rPr>
              <a:t>Good Example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23556" y="1308295"/>
            <a:ext cx="11760592" cy="5430130"/>
          </a:xfrm>
        </p:spPr>
        <p:txBody>
          <a:bodyPr>
            <a:noAutofit/>
          </a:bodyPr>
          <a:lstStyle/>
          <a:p>
            <a:pPr marL="0" indent="0">
              <a:buNone/>
            </a:pPr>
            <a:r>
              <a:rPr lang="en-US" dirty="0" smtClean="0"/>
              <a:t>Hi Rahman,</a:t>
            </a:r>
          </a:p>
          <a:p>
            <a:pPr marL="0" indent="0" algn="just">
              <a:buNone/>
            </a:pPr>
            <a:r>
              <a:rPr lang="en-US" sz="3200" dirty="0" smtClean="0"/>
              <a:t>I would like to schedule a meeting with you in regards to your presentation on email marketing. The topics you covered were great, and I would like to discuss implementation on our current clients. Please let me know when you have the time so that we can discuss it in detail.</a:t>
            </a:r>
          </a:p>
          <a:p>
            <a:pPr marL="0" indent="0">
              <a:buNone/>
            </a:pPr>
            <a:r>
              <a:rPr lang="en-US" sz="3200" dirty="0" smtClean="0"/>
              <a:t>Regards</a:t>
            </a:r>
          </a:p>
          <a:p>
            <a:pPr marL="0" indent="0">
              <a:buNone/>
            </a:pPr>
            <a:r>
              <a:rPr lang="en-US" sz="3200" dirty="0" smtClean="0"/>
              <a:t>Arif </a:t>
            </a:r>
          </a:p>
          <a:p>
            <a:r>
              <a:rPr lang="en-US" sz="3200" dirty="0" smtClean="0"/>
              <a:t>In this example, the reader knows exactly what is expected of him because the message is clear.</a:t>
            </a:r>
            <a:endParaRPr lang="en-US" sz="3200" dirty="0"/>
          </a:p>
        </p:txBody>
      </p:sp>
    </p:spTree>
    <p:extLst>
      <p:ext uri="{BB962C8B-B14F-4D97-AF65-F5344CB8AC3E}">
        <p14:creationId xmlns:p14="http://schemas.microsoft.com/office/powerpoint/2010/main" val="1317973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543"/>
            <a:ext cx="10515600" cy="1153549"/>
          </a:xfrm>
        </p:spPr>
        <p:txBody>
          <a:bodyPr>
            <a:normAutofit fontScale="90000"/>
          </a:bodyPr>
          <a:lstStyle/>
          <a:p>
            <a:pPr algn="ctr"/>
            <a:r>
              <a:rPr lang="en-US" sz="6700" b="1" i="0" dirty="0" smtClean="0">
                <a:solidFill>
                  <a:schemeClr val="tx1">
                    <a:lumMod val="95000"/>
                    <a:lumOff val="5000"/>
                  </a:schemeClr>
                </a:solidFill>
                <a:effectLst>
                  <a:outerShdw blurRad="38100" dist="38100" dir="2700000" algn="tl">
                    <a:srgbClr val="000000">
                      <a:alpha val="43137"/>
                    </a:srgbClr>
                  </a:outerShdw>
                </a:effectLst>
              </a:rPr>
              <a:t>Concise</a:t>
            </a:r>
            <a:r>
              <a:rPr lang="en-US" dirty="0" smtClean="0">
                <a:solidFill>
                  <a:schemeClr val="tx1">
                    <a:lumMod val="95000"/>
                    <a:lumOff val="5000"/>
                  </a:schemeClr>
                </a:solidFill>
              </a:rPr>
              <a:t/>
            </a:r>
            <a:br>
              <a:rPr lang="en-US" dirty="0" smtClean="0">
                <a:solidFill>
                  <a:schemeClr val="tx1">
                    <a:lumMod val="95000"/>
                    <a:lumOff val="5000"/>
                  </a:schemeClr>
                </a:solidFill>
              </a:rPr>
            </a:br>
            <a:endParaRPr lang="en-US" dirty="0"/>
          </a:p>
        </p:txBody>
      </p:sp>
      <p:sp>
        <p:nvSpPr>
          <p:cNvPr id="3" name="Content Placeholder 2"/>
          <p:cNvSpPr>
            <a:spLocks noGrp="1"/>
          </p:cNvSpPr>
          <p:nvPr>
            <p:ph idx="1"/>
          </p:nvPr>
        </p:nvSpPr>
        <p:spPr>
          <a:xfrm>
            <a:off x="267287" y="1266092"/>
            <a:ext cx="11648048" cy="5444197"/>
          </a:xfrm>
        </p:spPr>
        <p:txBody>
          <a:bodyPr>
            <a:normAutofit/>
          </a:bodyPr>
          <a:lstStyle/>
          <a:p>
            <a:pPr algn="just"/>
            <a:r>
              <a:rPr lang="en-US" sz="3600" dirty="0" smtClean="0"/>
              <a:t>Concise means to be to the point </a:t>
            </a:r>
            <a:r>
              <a:rPr lang="en-US" sz="3600" dirty="0" smtClean="0">
                <a:solidFill>
                  <a:srgbClr val="FF0000"/>
                </a:solidFill>
              </a:rPr>
              <a:t>without using a lot of words. </a:t>
            </a:r>
          </a:p>
          <a:p>
            <a:pPr algn="just"/>
            <a:r>
              <a:rPr lang="en-US" sz="3600" dirty="0" smtClean="0">
                <a:solidFill>
                  <a:srgbClr val="FF0000"/>
                </a:solidFill>
              </a:rPr>
              <a:t>Avoid using filler words </a:t>
            </a:r>
            <a:r>
              <a:rPr lang="en-US" sz="3600" dirty="0" smtClean="0"/>
              <a:t>like “you see”, “at this point of time”, “a lot of sense”, “kind of”, “what I mean”, “sort of”. </a:t>
            </a:r>
          </a:p>
          <a:p>
            <a:pPr algn="just"/>
            <a:r>
              <a:rPr lang="en-US" sz="3600" dirty="0" smtClean="0"/>
              <a:t>You need to ask yourself if there are any unnecessary sentences and if you have written the same points multiple times. </a:t>
            </a:r>
          </a:p>
          <a:p>
            <a:pPr algn="just"/>
            <a:r>
              <a:rPr lang="en-US" sz="3600" dirty="0" smtClean="0">
                <a:solidFill>
                  <a:srgbClr val="FF0000"/>
                </a:solidFill>
              </a:rPr>
              <a:t>Being concise saves the time of both you and your reader and adds value to your message</a:t>
            </a:r>
            <a:r>
              <a:rPr lang="en-US" sz="3600" dirty="0" smtClean="0"/>
              <a:t>.</a:t>
            </a:r>
            <a:endParaRPr lang="en-US" sz="3600" dirty="0"/>
          </a:p>
        </p:txBody>
      </p:sp>
    </p:spTree>
    <p:extLst>
      <p:ext uri="{BB962C8B-B14F-4D97-AF65-F5344CB8AC3E}">
        <p14:creationId xmlns:p14="http://schemas.microsoft.com/office/powerpoint/2010/main" val="3980411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6609"/>
            <a:ext cx="10515600" cy="1083213"/>
          </a:xfrm>
        </p:spPr>
        <p:txBody>
          <a:bodyPr>
            <a:normAutofit/>
          </a:bodyPr>
          <a:lstStyle/>
          <a:p>
            <a:pPr algn="ctr"/>
            <a:r>
              <a:rPr lang="en-US" sz="6000" b="1" dirty="0" smtClean="0">
                <a:effectLst>
                  <a:outerShdw blurRad="38100" dist="38100" dir="2700000" algn="tl">
                    <a:srgbClr val="000000">
                      <a:alpha val="43137"/>
                    </a:srgbClr>
                  </a:outerShdw>
                </a:effectLst>
              </a:rPr>
              <a:t>Bad Example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98475" y="1209822"/>
            <a:ext cx="11943470" cy="5648178"/>
          </a:xfrm>
        </p:spPr>
        <p:txBody>
          <a:bodyPr>
            <a:normAutofit/>
          </a:bodyPr>
          <a:lstStyle/>
          <a:p>
            <a:pPr marL="0" indent="0">
              <a:buNone/>
            </a:pPr>
            <a:r>
              <a:rPr lang="en-US" dirty="0" smtClean="0"/>
              <a:t>Dear Alia,</a:t>
            </a:r>
          </a:p>
          <a:p>
            <a:pPr marL="0" indent="0" algn="just">
              <a:buNone/>
            </a:pPr>
            <a:r>
              <a:rPr lang="en-US" dirty="0" smtClean="0"/>
              <a:t>I wanted to talk about the video editing ideas we sort of planned out the other day. Don’t you think it would make a lot of sense to also add additional elements to the videos? I mean, I think that would sort of improve the quality of the videos as well as have a stronger impact on the client’s message. For instance, we could add a dissolve transition to each movie, which would then give it a seamless flow. This would then make the video cleaner and be more appealing in the minds of the people. The impact would just be a lot greater. This makes a lot more sense according to me. What do you think?</a:t>
            </a:r>
          </a:p>
          <a:p>
            <a:pPr marL="0" indent="0">
              <a:buNone/>
            </a:pPr>
            <a:r>
              <a:rPr lang="en-US" dirty="0" smtClean="0"/>
              <a:t>Regards</a:t>
            </a:r>
          </a:p>
          <a:p>
            <a:pPr marL="0" indent="0">
              <a:buNone/>
            </a:pPr>
            <a:r>
              <a:rPr lang="en-US" dirty="0" smtClean="0"/>
              <a:t>Haroon </a:t>
            </a:r>
          </a:p>
          <a:p>
            <a:pPr marL="0" indent="0">
              <a:buNone/>
            </a:pPr>
            <a:r>
              <a:rPr lang="en-US" dirty="0" smtClean="0"/>
              <a:t>There is a lot of repetition in this email and it is quite long. The email can be made shorter and to the point.</a:t>
            </a:r>
          </a:p>
        </p:txBody>
      </p:sp>
    </p:spTree>
    <p:extLst>
      <p:ext uri="{BB962C8B-B14F-4D97-AF65-F5344CB8AC3E}">
        <p14:creationId xmlns:p14="http://schemas.microsoft.com/office/powerpoint/2010/main" val="9098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184" y="0"/>
            <a:ext cx="10515600" cy="1325563"/>
          </a:xfrm>
        </p:spPr>
        <p:txBody>
          <a:bodyPr>
            <a:normAutofit/>
          </a:bodyPr>
          <a:lstStyle/>
          <a:p>
            <a:pPr algn="ctr"/>
            <a:r>
              <a:rPr lang="en-US" sz="5400" b="1" dirty="0" smtClean="0">
                <a:effectLst>
                  <a:outerShdw blurRad="38100" dist="38100" dir="2700000" algn="tl">
                    <a:srgbClr val="000000">
                      <a:alpha val="43137"/>
                    </a:srgbClr>
                  </a:outerShdw>
                </a:effectLst>
              </a:rPr>
              <a:t>Good Example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6609" y="1325563"/>
            <a:ext cx="11788725" cy="5314388"/>
          </a:xfrm>
        </p:spPr>
        <p:txBody>
          <a:bodyPr>
            <a:normAutofit/>
          </a:bodyPr>
          <a:lstStyle/>
          <a:p>
            <a:pPr marL="0" indent="0" algn="just">
              <a:buNone/>
            </a:pPr>
            <a:r>
              <a:rPr lang="en-US" sz="3200" dirty="0" smtClean="0"/>
              <a:t>Dear Alia,</a:t>
            </a:r>
          </a:p>
          <a:p>
            <a:pPr marL="0" indent="0" algn="just">
              <a:buNone/>
            </a:pPr>
            <a:r>
              <a:rPr lang="en-US" sz="3200" dirty="0" smtClean="0"/>
              <a:t>I wanted to discuss the video editing ideas we planned out yesterday. It would be better to add additional elements to the video in order to have a stronger impact on the client’s message. A dissolve transition would give a seamless flow to each movie and make the videos cleaner and appealing in the minds of the target audience. What do you think?</a:t>
            </a:r>
          </a:p>
          <a:p>
            <a:pPr marL="0" indent="0" algn="just">
              <a:buNone/>
            </a:pPr>
            <a:r>
              <a:rPr lang="en-US" sz="3200" dirty="0" smtClean="0"/>
              <a:t>Regards</a:t>
            </a:r>
          </a:p>
          <a:p>
            <a:pPr marL="0" indent="0" algn="just">
              <a:buNone/>
            </a:pPr>
            <a:r>
              <a:rPr lang="en-US" sz="3200" dirty="0" smtClean="0"/>
              <a:t>Haroon </a:t>
            </a:r>
          </a:p>
        </p:txBody>
      </p:sp>
    </p:spTree>
    <p:extLst>
      <p:ext uri="{BB962C8B-B14F-4D97-AF65-F5344CB8AC3E}">
        <p14:creationId xmlns:p14="http://schemas.microsoft.com/office/powerpoint/2010/main" val="7270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250" y="-1"/>
            <a:ext cx="10678550" cy="1322363"/>
          </a:xfrm>
        </p:spPr>
        <p:txBody>
          <a:bodyPr>
            <a:normAutofit fontScale="90000"/>
          </a:bodyPr>
          <a:lstStyle/>
          <a:p>
            <a:pPr algn="ctr"/>
            <a:r>
              <a:rPr lang="en-US" sz="6700" b="1" dirty="0">
                <a:effectLst>
                  <a:outerShdw blurRad="38100" dist="38100" dir="2700000" algn="tl">
                    <a:srgbClr val="000000">
                      <a:alpha val="43137"/>
                    </a:srgbClr>
                  </a:outerShdw>
                </a:effectLst>
              </a:rPr>
              <a:t>Concrete</a:t>
            </a:r>
            <a:r>
              <a:rPr lang="en-US" b="1" dirty="0"/>
              <a:t/>
            </a:r>
            <a:br>
              <a:rPr lang="en-US" b="1" dirty="0"/>
            </a:br>
            <a:endParaRPr lang="en-US" dirty="0"/>
          </a:p>
        </p:txBody>
      </p:sp>
      <p:sp>
        <p:nvSpPr>
          <p:cNvPr id="3" name="Content Placeholder 2"/>
          <p:cNvSpPr>
            <a:spLocks noGrp="1"/>
          </p:cNvSpPr>
          <p:nvPr>
            <p:ph idx="1"/>
          </p:nvPr>
        </p:nvSpPr>
        <p:spPr>
          <a:xfrm>
            <a:off x="154745" y="1153551"/>
            <a:ext cx="11844997" cy="5584874"/>
          </a:xfrm>
        </p:spPr>
        <p:txBody>
          <a:bodyPr>
            <a:normAutofit/>
          </a:bodyPr>
          <a:lstStyle/>
          <a:p>
            <a:pPr algn="just"/>
            <a:r>
              <a:rPr lang="en-US" sz="4000" dirty="0" smtClean="0"/>
              <a:t>Concrete messages are </a:t>
            </a:r>
            <a:r>
              <a:rPr lang="en-US" sz="4000" dirty="0" smtClean="0">
                <a:solidFill>
                  <a:srgbClr val="FF0000"/>
                </a:solidFill>
              </a:rPr>
              <a:t>clear and usually supported with facts. </a:t>
            </a:r>
          </a:p>
          <a:p>
            <a:pPr algn="just"/>
            <a:r>
              <a:rPr lang="en-US" sz="4000" dirty="0" smtClean="0"/>
              <a:t>It gives a laser focus touch to </a:t>
            </a:r>
            <a:r>
              <a:rPr lang="en-US" sz="4000" dirty="0" smtClean="0">
                <a:solidFill>
                  <a:srgbClr val="FF0000"/>
                </a:solidFill>
              </a:rPr>
              <a:t>your messages without being vague. </a:t>
            </a:r>
          </a:p>
          <a:p>
            <a:pPr algn="just"/>
            <a:r>
              <a:rPr lang="en-US" sz="4000" dirty="0" smtClean="0"/>
              <a:t>There are details in the message </a:t>
            </a:r>
            <a:r>
              <a:rPr lang="en-US" sz="4000" dirty="0" smtClean="0">
                <a:solidFill>
                  <a:srgbClr val="FF0000"/>
                </a:solidFill>
              </a:rPr>
              <a:t>without it being too long. </a:t>
            </a:r>
          </a:p>
          <a:p>
            <a:pPr algn="just"/>
            <a:r>
              <a:rPr lang="en-US" sz="4000" dirty="0" smtClean="0"/>
              <a:t>A concrete message is </a:t>
            </a:r>
            <a:r>
              <a:rPr lang="en-US" sz="4000" dirty="0" smtClean="0">
                <a:solidFill>
                  <a:srgbClr val="FF0000"/>
                </a:solidFill>
              </a:rPr>
              <a:t>solid and specific.</a:t>
            </a:r>
            <a:endParaRPr lang="en-US" sz="4000" dirty="0">
              <a:solidFill>
                <a:srgbClr val="FF0000"/>
              </a:solidFill>
            </a:endParaRPr>
          </a:p>
        </p:txBody>
      </p:sp>
    </p:spTree>
    <p:extLst>
      <p:ext uri="{BB962C8B-B14F-4D97-AF65-F5344CB8AC3E}">
        <p14:creationId xmlns:p14="http://schemas.microsoft.com/office/powerpoint/2010/main" val="4174340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1907"/>
            <a:ext cx="12041945" cy="1325563"/>
          </a:xfrm>
        </p:spPr>
        <p:txBody>
          <a:bodyPr>
            <a:normAutofit/>
          </a:bodyPr>
          <a:lstStyle/>
          <a:p>
            <a:pPr algn="ctr"/>
            <a:r>
              <a:rPr lang="en-US" sz="6000" b="1" dirty="0">
                <a:effectLst>
                  <a:outerShdw blurRad="38100" dist="38100" dir="2700000" algn="tl">
                    <a:srgbClr val="000000">
                      <a:alpha val="43137"/>
                    </a:srgbClr>
                  </a:outerShdw>
                </a:effectLst>
              </a:rPr>
              <a:t>Bad Example</a:t>
            </a:r>
          </a:p>
        </p:txBody>
      </p:sp>
      <p:sp>
        <p:nvSpPr>
          <p:cNvPr id="3" name="Content Placeholder 2"/>
          <p:cNvSpPr>
            <a:spLocks noGrp="1"/>
          </p:cNvSpPr>
          <p:nvPr>
            <p:ph idx="1"/>
          </p:nvPr>
        </p:nvSpPr>
        <p:spPr>
          <a:xfrm>
            <a:off x="196949" y="1437470"/>
            <a:ext cx="11844996" cy="5300955"/>
          </a:xfrm>
        </p:spPr>
        <p:txBody>
          <a:bodyPr>
            <a:normAutofit/>
          </a:bodyPr>
          <a:lstStyle/>
          <a:p>
            <a:r>
              <a:rPr lang="en-US" sz="3600" dirty="0" smtClean="0">
                <a:solidFill>
                  <a:srgbClr val="FF0000"/>
                </a:solidFill>
              </a:rPr>
              <a:t>Save time with the Indicator Master Every Day</a:t>
            </a:r>
          </a:p>
          <a:p>
            <a:endParaRPr lang="en-US" sz="3600" dirty="0" smtClean="0"/>
          </a:p>
          <a:p>
            <a:pPr algn="just"/>
            <a:r>
              <a:rPr lang="en-US" sz="3600" dirty="0" smtClean="0"/>
              <a:t>This kind of tagline does not give the user any details. There are </a:t>
            </a:r>
            <a:r>
              <a:rPr lang="en-US" sz="3600" dirty="0" smtClean="0">
                <a:solidFill>
                  <a:srgbClr val="FF0000"/>
                </a:solidFill>
              </a:rPr>
              <a:t>no facts and it’s vague</a:t>
            </a:r>
            <a:r>
              <a:rPr lang="en-US" sz="3600" dirty="0" smtClean="0"/>
              <a:t>. People might not download this application since it’s not </a:t>
            </a:r>
            <a:r>
              <a:rPr lang="en-US" sz="3600" dirty="0" smtClean="0">
                <a:solidFill>
                  <a:srgbClr val="FF0000"/>
                </a:solidFill>
              </a:rPr>
              <a:t>concrete enough to entice the user</a:t>
            </a:r>
            <a:r>
              <a:rPr lang="en-US" sz="3600" dirty="0" smtClean="0"/>
              <a:t>.</a:t>
            </a:r>
            <a:endParaRPr lang="en-US" sz="3600" dirty="0"/>
          </a:p>
        </p:txBody>
      </p:sp>
    </p:spTree>
    <p:extLst>
      <p:ext uri="{BB962C8B-B14F-4D97-AF65-F5344CB8AC3E}">
        <p14:creationId xmlns:p14="http://schemas.microsoft.com/office/powerpoint/2010/main" val="1188874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Good Example</a:t>
            </a:r>
          </a:p>
        </p:txBody>
      </p:sp>
      <p:sp>
        <p:nvSpPr>
          <p:cNvPr id="3" name="Content Placeholder 2"/>
          <p:cNvSpPr>
            <a:spLocks noGrp="1"/>
          </p:cNvSpPr>
          <p:nvPr>
            <p:ph idx="1"/>
          </p:nvPr>
        </p:nvSpPr>
        <p:spPr/>
        <p:txBody>
          <a:bodyPr>
            <a:normAutofit/>
          </a:bodyPr>
          <a:lstStyle/>
          <a:p>
            <a:pPr marL="0" indent="0" algn="just">
              <a:buNone/>
            </a:pPr>
            <a:r>
              <a:rPr lang="en-US" sz="3600" dirty="0" smtClean="0"/>
              <a:t>Have you ever been late for a meeting just because you didn’t know the train schedule? Hate waiting for a bus because you don’t know its timings? Then download the Indicator Master app. It will give you all the train and bus schedules so that you can avoid delays and save time!</a:t>
            </a:r>
            <a:endParaRPr lang="en-US" sz="3600" dirty="0"/>
          </a:p>
        </p:txBody>
      </p:sp>
    </p:spTree>
    <p:extLst>
      <p:ext uri="{BB962C8B-B14F-4D97-AF65-F5344CB8AC3E}">
        <p14:creationId xmlns:p14="http://schemas.microsoft.com/office/powerpoint/2010/main" val="762769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4186"/>
          </a:xfrm>
        </p:spPr>
        <p:txBody>
          <a:bodyPr>
            <a:normAutofit fontScale="90000"/>
          </a:bodyPr>
          <a:lstStyle/>
          <a:p>
            <a:pPr algn="ctr"/>
            <a:r>
              <a:rPr lang="en-US" sz="6700" b="1" dirty="0">
                <a:effectLst>
                  <a:outerShdw blurRad="38100" dist="38100" dir="2700000" algn="tl">
                    <a:srgbClr val="000000">
                      <a:alpha val="43137"/>
                    </a:srgbClr>
                  </a:outerShdw>
                </a:effectLst>
              </a:rPr>
              <a:t>Correct</a:t>
            </a:r>
            <a:r>
              <a:rPr lang="en-US" b="1" dirty="0"/>
              <a:t/>
            </a:r>
            <a:br>
              <a:rPr lang="en-US" b="1" dirty="0"/>
            </a:br>
            <a:endParaRPr lang="en-US" dirty="0"/>
          </a:p>
        </p:txBody>
      </p:sp>
      <p:sp>
        <p:nvSpPr>
          <p:cNvPr id="3" name="Content Placeholder 2"/>
          <p:cNvSpPr>
            <a:spLocks noGrp="1"/>
          </p:cNvSpPr>
          <p:nvPr>
            <p:ph idx="1"/>
          </p:nvPr>
        </p:nvSpPr>
        <p:spPr>
          <a:xfrm>
            <a:off x="337625" y="1519312"/>
            <a:ext cx="11535507" cy="5134706"/>
          </a:xfrm>
        </p:spPr>
        <p:txBody>
          <a:bodyPr>
            <a:normAutofit/>
          </a:bodyPr>
          <a:lstStyle/>
          <a:p>
            <a:pPr algn="just"/>
            <a:r>
              <a:rPr lang="en-US" sz="3600" dirty="0" smtClean="0"/>
              <a:t>Make sure all your </a:t>
            </a:r>
            <a:r>
              <a:rPr lang="en-US" sz="3600" dirty="0" smtClean="0">
                <a:solidFill>
                  <a:srgbClr val="FF0000"/>
                </a:solidFill>
              </a:rPr>
              <a:t>facts and figures are accurate </a:t>
            </a:r>
            <a:r>
              <a:rPr lang="en-US" sz="3600" dirty="0" smtClean="0"/>
              <a:t>with no grammatical errors. </a:t>
            </a:r>
          </a:p>
          <a:p>
            <a:pPr algn="just"/>
            <a:r>
              <a:rPr lang="en-US" sz="3600" dirty="0" smtClean="0"/>
              <a:t>Always</a:t>
            </a:r>
            <a:r>
              <a:rPr lang="en-US" sz="3600" dirty="0" smtClean="0">
                <a:solidFill>
                  <a:srgbClr val="FF0000"/>
                </a:solidFill>
              </a:rPr>
              <a:t> proofread </a:t>
            </a:r>
            <a:r>
              <a:rPr lang="en-US" sz="3600" dirty="0" smtClean="0"/>
              <a:t>your work before presenting it. </a:t>
            </a:r>
          </a:p>
          <a:p>
            <a:pPr algn="just"/>
            <a:r>
              <a:rPr lang="en-US" sz="3600" dirty="0" smtClean="0"/>
              <a:t>A correct message with viable </a:t>
            </a:r>
            <a:r>
              <a:rPr lang="en-US" sz="3600" dirty="0" smtClean="0">
                <a:solidFill>
                  <a:srgbClr val="FF0000"/>
                </a:solidFill>
              </a:rPr>
              <a:t>facts will add credibility </a:t>
            </a:r>
            <a:r>
              <a:rPr lang="en-US" sz="3600" dirty="0" smtClean="0"/>
              <a:t>to your work.</a:t>
            </a:r>
            <a:endParaRPr lang="en-US" sz="3600" dirty="0"/>
          </a:p>
        </p:txBody>
      </p:sp>
    </p:spTree>
    <p:extLst>
      <p:ext uri="{BB962C8B-B14F-4D97-AF65-F5344CB8AC3E}">
        <p14:creationId xmlns:p14="http://schemas.microsoft.com/office/powerpoint/2010/main" val="2349425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9780"/>
          </a:xfrm>
        </p:spPr>
        <p:txBody>
          <a:bodyPr>
            <a:normAutofit/>
          </a:bodyPr>
          <a:lstStyle/>
          <a:p>
            <a:pPr algn="ctr"/>
            <a:r>
              <a:rPr lang="en-US" sz="6000" b="1" dirty="0" smtClean="0">
                <a:effectLst>
                  <a:outerShdw blurRad="38100" dist="38100" dir="2700000" algn="tl">
                    <a:srgbClr val="000000">
                      <a:alpha val="43137"/>
                    </a:srgbClr>
                  </a:outerShdw>
                </a:effectLst>
              </a:rPr>
              <a:t>Bad Example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68811" y="1434905"/>
            <a:ext cx="11859065" cy="5275384"/>
          </a:xfrm>
        </p:spPr>
        <p:txBody>
          <a:bodyPr>
            <a:normAutofit/>
          </a:bodyPr>
          <a:lstStyle/>
          <a:p>
            <a:pPr marL="0" indent="0" algn="just">
              <a:buNone/>
            </a:pPr>
            <a:r>
              <a:rPr lang="en-US" sz="3600" dirty="0" smtClean="0"/>
              <a:t>Hi Sami! </a:t>
            </a:r>
          </a:p>
          <a:p>
            <a:pPr marL="0" indent="0" algn="just">
              <a:buNone/>
            </a:pPr>
            <a:r>
              <a:rPr lang="en-US" sz="3600" dirty="0" smtClean="0"/>
              <a:t>It was wonderful meeting you last </a:t>
            </a:r>
            <a:r>
              <a:rPr lang="en-US" sz="3600" dirty="0" smtClean="0">
                <a:solidFill>
                  <a:srgbClr val="FF0000"/>
                </a:solidFill>
              </a:rPr>
              <a:t>weak</a:t>
            </a:r>
            <a:r>
              <a:rPr lang="en-US" sz="3600" dirty="0" smtClean="0"/>
              <a:t>. I had a good time. I’m sure we will be able to do some great work on this project. Let me know </a:t>
            </a:r>
            <a:r>
              <a:rPr lang="en-US" sz="3600" dirty="0" smtClean="0">
                <a:solidFill>
                  <a:srgbClr val="FF0000"/>
                </a:solidFill>
              </a:rPr>
              <a:t>weather</a:t>
            </a:r>
            <a:r>
              <a:rPr lang="en-US" sz="3600" dirty="0" smtClean="0"/>
              <a:t> you need any supplies from the company and I’ll get them delivered as soon as possible.</a:t>
            </a:r>
          </a:p>
          <a:p>
            <a:pPr marL="0" indent="0" algn="just">
              <a:buNone/>
            </a:pPr>
            <a:r>
              <a:rPr lang="en-US" sz="3600" dirty="0" smtClean="0"/>
              <a:t>Thanks again, speak to you soon!</a:t>
            </a:r>
          </a:p>
          <a:p>
            <a:pPr marL="0" indent="0" algn="just">
              <a:buNone/>
            </a:pPr>
            <a:r>
              <a:rPr lang="en-US" sz="3600" dirty="0" smtClean="0"/>
              <a:t>Regards</a:t>
            </a:r>
          </a:p>
          <a:p>
            <a:pPr marL="0" indent="0" algn="just">
              <a:buNone/>
            </a:pPr>
            <a:r>
              <a:rPr lang="en-US" sz="3600" dirty="0" smtClean="0"/>
              <a:t>Dawood </a:t>
            </a:r>
            <a:endParaRPr lang="en-US" sz="3600" dirty="0"/>
          </a:p>
        </p:txBody>
      </p:sp>
    </p:spTree>
    <p:extLst>
      <p:ext uri="{BB962C8B-B14F-4D97-AF65-F5344CB8AC3E}">
        <p14:creationId xmlns:p14="http://schemas.microsoft.com/office/powerpoint/2010/main" val="348349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a:effectLst>
                  <a:outerShdw blurRad="38100" dist="38100" dir="2700000" algn="tl">
                    <a:srgbClr val="000000">
                      <a:alpha val="43137"/>
                    </a:srgbClr>
                  </a:outerShdw>
                </a:effectLst>
              </a:rPr>
              <a:t>Consideration</a:t>
            </a:r>
            <a:r>
              <a:rPr lang="en-US" b="1" dirty="0"/>
              <a:t/>
            </a:r>
            <a:br>
              <a:rPr lang="en-US" b="1" dirty="0"/>
            </a:br>
            <a:endParaRPr lang="en-US" dirty="0"/>
          </a:p>
        </p:txBody>
      </p:sp>
      <p:sp>
        <p:nvSpPr>
          <p:cNvPr id="3" name="Content Placeholder 2"/>
          <p:cNvSpPr>
            <a:spLocks noGrp="1"/>
          </p:cNvSpPr>
          <p:nvPr>
            <p:ph idx="1"/>
          </p:nvPr>
        </p:nvSpPr>
        <p:spPr>
          <a:xfrm>
            <a:off x="295422" y="1223889"/>
            <a:ext cx="11591778" cy="4953074"/>
          </a:xfrm>
        </p:spPr>
        <p:txBody>
          <a:bodyPr>
            <a:normAutofit/>
          </a:bodyPr>
          <a:lstStyle/>
          <a:p>
            <a:pPr algn="just"/>
            <a:r>
              <a:rPr lang="en-US" sz="3600" dirty="0" smtClean="0"/>
              <a:t>Consideration is simply keeping in mind the audiences requirements and views while formulating your message. </a:t>
            </a:r>
          </a:p>
          <a:p>
            <a:pPr algn="just"/>
            <a:r>
              <a:rPr lang="en-US" sz="3600" dirty="0" smtClean="0"/>
              <a:t>Follow the ‘You’ approach when dealing with your audience. </a:t>
            </a:r>
          </a:p>
          <a:p>
            <a:pPr algn="just"/>
            <a:r>
              <a:rPr lang="en-US" sz="3600" dirty="0" smtClean="0"/>
              <a:t>Consider their level of education, interests, mindsets, etc. </a:t>
            </a:r>
          </a:p>
          <a:p>
            <a:pPr algn="just"/>
            <a:r>
              <a:rPr lang="en-US" sz="3600" dirty="0" smtClean="0"/>
              <a:t>Emphasize what is possible rather than what’s not when dealing with them. </a:t>
            </a:r>
          </a:p>
          <a:p>
            <a:pPr algn="just"/>
            <a:r>
              <a:rPr lang="en-US" sz="3600" dirty="0" smtClean="0"/>
              <a:t>This will result in positive outcomes during your interactions</a:t>
            </a:r>
            <a:endParaRPr lang="en-US" sz="3600" dirty="0"/>
          </a:p>
        </p:txBody>
      </p:sp>
    </p:spTree>
    <p:extLst>
      <p:ext uri="{BB962C8B-B14F-4D97-AF65-F5344CB8AC3E}">
        <p14:creationId xmlns:p14="http://schemas.microsoft.com/office/powerpoint/2010/main" val="4071056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a:effectLst>
                  <a:outerShdw blurRad="38100" dist="38100" dir="2700000" algn="tl">
                    <a:srgbClr val="000000">
                      <a:alpha val="43137"/>
                    </a:srgbClr>
                  </a:outerShdw>
                </a:effectLst>
              </a:rPr>
              <a:t>Complete</a:t>
            </a:r>
            <a:r>
              <a:rPr lang="en-US" b="1" dirty="0"/>
              <a:t/>
            </a:r>
            <a:br>
              <a:rPr lang="en-US" b="1" dirty="0"/>
            </a:br>
            <a:endParaRPr lang="en-US" dirty="0"/>
          </a:p>
        </p:txBody>
      </p:sp>
      <p:sp>
        <p:nvSpPr>
          <p:cNvPr id="3" name="Content Placeholder 2"/>
          <p:cNvSpPr>
            <a:spLocks noGrp="1"/>
          </p:cNvSpPr>
          <p:nvPr>
            <p:ph idx="1"/>
          </p:nvPr>
        </p:nvSpPr>
        <p:spPr>
          <a:xfrm>
            <a:off x="838200" y="1533378"/>
            <a:ext cx="10515600" cy="4643585"/>
          </a:xfrm>
        </p:spPr>
        <p:txBody>
          <a:bodyPr>
            <a:normAutofit/>
          </a:bodyPr>
          <a:lstStyle/>
          <a:p>
            <a:pPr algn="just"/>
            <a:r>
              <a:rPr lang="en-US" sz="3200" dirty="0" smtClean="0"/>
              <a:t>A complete message gives the user all the information and is clear and detailed. </a:t>
            </a:r>
          </a:p>
          <a:p>
            <a:pPr algn="just"/>
            <a:r>
              <a:rPr lang="en-US" sz="3200" dirty="0" smtClean="0"/>
              <a:t>When your message is complete, your audience knows exactly what needs to be done. </a:t>
            </a:r>
          </a:p>
          <a:p>
            <a:pPr algn="just"/>
            <a:r>
              <a:rPr lang="en-US" sz="3200" dirty="0" smtClean="0"/>
              <a:t>Make sure all the facts you want to convey in your message are accurate and there is a clear call to action present in your message.</a:t>
            </a:r>
            <a:endParaRPr lang="en-US" sz="3200" dirty="0"/>
          </a:p>
        </p:txBody>
      </p:sp>
    </p:spTree>
    <p:extLst>
      <p:ext uri="{BB962C8B-B14F-4D97-AF65-F5344CB8AC3E}">
        <p14:creationId xmlns:p14="http://schemas.microsoft.com/office/powerpoint/2010/main" val="3602697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Bad Example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Hi Guys,</a:t>
            </a:r>
          </a:p>
          <a:p>
            <a:pPr marL="0" indent="0">
              <a:buNone/>
            </a:pPr>
            <a:r>
              <a:rPr lang="en-US" dirty="0" smtClean="0"/>
              <a:t>Please make sure to carry all the items tomorrow for the meeting.</a:t>
            </a:r>
          </a:p>
          <a:p>
            <a:pPr marL="0" indent="0">
              <a:buNone/>
            </a:pPr>
            <a:r>
              <a:rPr lang="en-US" dirty="0" smtClean="0"/>
              <a:t>Regards</a:t>
            </a:r>
          </a:p>
          <a:p>
            <a:pPr marL="0" indent="0">
              <a:buNone/>
            </a:pPr>
            <a:r>
              <a:rPr lang="en-US" dirty="0" smtClean="0"/>
              <a:t>Amar</a:t>
            </a:r>
          </a:p>
          <a:p>
            <a:pPr marL="0" indent="0">
              <a:buNone/>
            </a:pPr>
            <a:r>
              <a:rPr lang="en-US" dirty="0" smtClean="0"/>
              <a:t>The message is clearly incomplete. There are no details as to what items, which meeting, and at what time.</a:t>
            </a:r>
            <a:endParaRPr lang="en-US" dirty="0"/>
          </a:p>
        </p:txBody>
      </p:sp>
    </p:spTree>
    <p:extLst>
      <p:ext uri="{BB962C8B-B14F-4D97-AF65-F5344CB8AC3E}">
        <p14:creationId xmlns:p14="http://schemas.microsoft.com/office/powerpoint/2010/main" val="2268018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effectLst>
                  <a:outerShdw blurRad="38100" dist="38100" dir="2700000" algn="tl">
                    <a:srgbClr val="000000">
                      <a:alpha val="43137"/>
                    </a:srgbClr>
                  </a:outerShdw>
                </a:effectLst>
              </a:rPr>
              <a:t>Good Example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Hi Guys,</a:t>
            </a:r>
          </a:p>
          <a:p>
            <a:pPr marL="0" indent="0">
              <a:buNone/>
            </a:pPr>
            <a:r>
              <a:rPr lang="en-US" dirty="0" smtClean="0"/>
              <a:t>Just a reminder that we have a meeting scheduled at 10.00 am tomorrow to discuss the Britannia event. Please make sure you get all the event props that need to be presented to the client.</a:t>
            </a:r>
          </a:p>
          <a:p>
            <a:pPr marL="0" indent="0">
              <a:buNone/>
            </a:pPr>
            <a:r>
              <a:rPr lang="en-US" dirty="0" smtClean="0"/>
              <a:t>Regards</a:t>
            </a:r>
          </a:p>
          <a:p>
            <a:pPr marL="0" indent="0">
              <a:buNone/>
            </a:pPr>
            <a:r>
              <a:rPr lang="en-US" dirty="0" smtClean="0"/>
              <a:t>Amar</a:t>
            </a:r>
          </a:p>
          <a:p>
            <a:pPr marL="0" indent="0">
              <a:buNone/>
            </a:pPr>
            <a:endParaRPr lang="en-US" dirty="0"/>
          </a:p>
        </p:txBody>
      </p:sp>
    </p:spTree>
    <p:extLst>
      <p:ext uri="{BB962C8B-B14F-4D97-AF65-F5344CB8AC3E}">
        <p14:creationId xmlns:p14="http://schemas.microsoft.com/office/powerpoint/2010/main" val="1018387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0677"/>
            <a:ext cx="10515600" cy="1125415"/>
          </a:xfrm>
        </p:spPr>
        <p:txBody>
          <a:bodyPr>
            <a:normAutofit fontScale="90000"/>
          </a:bodyPr>
          <a:lstStyle/>
          <a:p>
            <a:pPr algn="ctr"/>
            <a:r>
              <a:rPr lang="en-US" sz="6700" b="1" dirty="0">
                <a:effectLst>
                  <a:outerShdw blurRad="38100" dist="38100" dir="2700000" algn="tl">
                    <a:srgbClr val="000000">
                      <a:alpha val="43137"/>
                    </a:srgbClr>
                  </a:outerShdw>
                </a:effectLst>
              </a:rPr>
              <a:t>Courteous</a:t>
            </a:r>
            <a:r>
              <a:rPr lang="en-US" b="1" dirty="0"/>
              <a:t/>
            </a:r>
            <a:br>
              <a:rPr lang="en-US" b="1" dirty="0"/>
            </a:br>
            <a:endParaRPr lang="en-US" dirty="0"/>
          </a:p>
        </p:txBody>
      </p:sp>
      <p:sp>
        <p:nvSpPr>
          <p:cNvPr id="3" name="Content Placeholder 2"/>
          <p:cNvSpPr>
            <a:spLocks noGrp="1"/>
          </p:cNvSpPr>
          <p:nvPr>
            <p:ph idx="1"/>
          </p:nvPr>
        </p:nvSpPr>
        <p:spPr>
          <a:xfrm>
            <a:off x="838200" y="1266092"/>
            <a:ext cx="10515600" cy="4910871"/>
          </a:xfrm>
        </p:spPr>
        <p:txBody>
          <a:bodyPr>
            <a:noAutofit/>
          </a:bodyPr>
          <a:lstStyle/>
          <a:p>
            <a:pPr algn="just"/>
            <a:r>
              <a:rPr lang="en-US" sz="3600" dirty="0" smtClean="0"/>
              <a:t>Being courteous is the most important attribute of communication. Always be friendly and honest. </a:t>
            </a:r>
          </a:p>
          <a:p>
            <a:pPr algn="just"/>
            <a:r>
              <a:rPr lang="en-US" sz="3600" dirty="0" smtClean="0"/>
              <a:t>Respect the speaker while you communicate. </a:t>
            </a:r>
          </a:p>
          <a:p>
            <a:pPr algn="just"/>
            <a:r>
              <a:rPr lang="en-US" sz="3600" dirty="0" smtClean="0"/>
              <a:t>Even if you have some feedback that needs to be pointed out, it can be conveyed in a constructive manner. </a:t>
            </a:r>
          </a:p>
          <a:p>
            <a:pPr algn="just"/>
            <a:r>
              <a:rPr lang="en-US" sz="3600" dirty="0" smtClean="0"/>
              <a:t>A courteous message will leave the speaker in a positive mindset rather than negative one.</a:t>
            </a:r>
            <a:endParaRPr lang="en-US" sz="3600" dirty="0"/>
          </a:p>
        </p:txBody>
      </p:sp>
    </p:spTree>
    <p:extLst>
      <p:ext uri="{BB962C8B-B14F-4D97-AF65-F5344CB8AC3E}">
        <p14:creationId xmlns:p14="http://schemas.microsoft.com/office/powerpoint/2010/main" val="2929979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949" y="365125"/>
            <a:ext cx="11718386" cy="1325563"/>
          </a:xfrm>
        </p:spPr>
        <p:txBody>
          <a:bodyPr>
            <a:normAutofit/>
          </a:bodyPr>
          <a:lstStyle/>
          <a:p>
            <a:pPr algn="ctr"/>
            <a:r>
              <a:rPr lang="en-US" sz="6000" b="1" dirty="0" smtClean="0">
                <a:effectLst>
                  <a:outerShdw blurRad="38100" dist="38100" dir="2700000" algn="tl">
                    <a:srgbClr val="000000">
                      <a:alpha val="43137"/>
                    </a:srgbClr>
                  </a:outerShdw>
                </a:effectLst>
              </a:rPr>
              <a:t>Bad Example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6949" y="1825625"/>
            <a:ext cx="11816860" cy="4884664"/>
          </a:xfrm>
        </p:spPr>
        <p:txBody>
          <a:bodyPr>
            <a:noAutofit/>
          </a:bodyPr>
          <a:lstStyle/>
          <a:p>
            <a:pPr marL="0" indent="0">
              <a:buNone/>
            </a:pPr>
            <a:r>
              <a:rPr lang="en-US" sz="3200" dirty="0" smtClean="0"/>
              <a:t>Dear Sharon,</a:t>
            </a:r>
          </a:p>
          <a:p>
            <a:pPr marL="0" indent="0">
              <a:buNone/>
            </a:pPr>
            <a:r>
              <a:rPr lang="en-US" sz="3200" dirty="0" smtClean="0"/>
              <a:t>I have noticed that there are always delays in the orders. You need to focus on the orders department as a priority. Please get all the orders cleared ASAP!</a:t>
            </a:r>
          </a:p>
          <a:p>
            <a:pPr marL="0" indent="0">
              <a:buNone/>
            </a:pPr>
            <a:r>
              <a:rPr lang="en-US" sz="3200" dirty="0" smtClean="0"/>
              <a:t>Regards</a:t>
            </a:r>
          </a:p>
          <a:p>
            <a:pPr marL="0" indent="0">
              <a:buNone/>
            </a:pPr>
            <a:r>
              <a:rPr lang="en-US" sz="3200" dirty="0" smtClean="0"/>
              <a:t>Asad </a:t>
            </a:r>
          </a:p>
          <a:p>
            <a:pPr marL="0" indent="0">
              <a:buNone/>
            </a:pPr>
            <a:r>
              <a:rPr lang="en-US" sz="3200" dirty="0" smtClean="0"/>
              <a:t>There is a very good chance that the reader will get angry if they receive a message like this. It might result in creating a toxic environment rather than solving any issues.</a:t>
            </a:r>
            <a:endParaRPr lang="en-US" sz="3200" dirty="0"/>
          </a:p>
        </p:txBody>
      </p:sp>
    </p:spTree>
    <p:extLst>
      <p:ext uri="{BB962C8B-B14F-4D97-AF65-F5344CB8AC3E}">
        <p14:creationId xmlns:p14="http://schemas.microsoft.com/office/powerpoint/2010/main" val="1597968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sz="6000" b="1" dirty="0" smtClean="0">
                <a:effectLst>
                  <a:outerShdw blurRad="38100" dist="38100" dir="2700000" algn="tl">
                    <a:srgbClr val="000000">
                      <a:alpha val="43137"/>
                    </a:srgbClr>
                  </a:outerShdw>
                </a:effectLst>
              </a:rPr>
              <a:t>Good Example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40677" y="1125416"/>
            <a:ext cx="11844997" cy="5444196"/>
          </a:xfrm>
        </p:spPr>
        <p:txBody>
          <a:bodyPr>
            <a:noAutofit/>
          </a:bodyPr>
          <a:lstStyle/>
          <a:p>
            <a:pPr marL="0" indent="0" algn="just">
              <a:buNone/>
            </a:pPr>
            <a:r>
              <a:rPr lang="en-US" dirty="0" smtClean="0"/>
              <a:t>Dear </a:t>
            </a:r>
            <a:r>
              <a:rPr lang="en-US" dirty="0"/>
              <a:t>Sharon</a:t>
            </a:r>
            <a:r>
              <a:rPr lang="en-US" dirty="0" smtClean="0"/>
              <a:t>,</a:t>
            </a:r>
          </a:p>
          <a:p>
            <a:pPr marL="0" indent="0" algn="just">
              <a:buNone/>
            </a:pPr>
            <a:r>
              <a:rPr lang="en-US" dirty="0" smtClean="0"/>
              <a:t>Thank you for your work at the book fair. I have noticed that there are orders pending which need to be cleared on priority. I would appreciate it if you could focus on getting these cleared so that we can avoid any delays to the customer.</a:t>
            </a:r>
          </a:p>
          <a:p>
            <a:pPr marL="0" indent="0" algn="just">
              <a:buNone/>
            </a:pPr>
            <a:r>
              <a:rPr lang="en-US" dirty="0" smtClean="0"/>
              <a:t>Thanks a lot, and please let me know if you have any questions regarding the same.</a:t>
            </a:r>
          </a:p>
          <a:p>
            <a:pPr marL="0" indent="0" algn="just">
              <a:buNone/>
            </a:pPr>
            <a:r>
              <a:rPr lang="en-US" dirty="0" smtClean="0"/>
              <a:t>Best,</a:t>
            </a:r>
          </a:p>
          <a:p>
            <a:pPr marL="0" indent="0" algn="just">
              <a:buNone/>
            </a:pPr>
            <a:r>
              <a:rPr lang="en-US" dirty="0" smtClean="0"/>
              <a:t>Asad</a:t>
            </a:r>
          </a:p>
          <a:p>
            <a:pPr marL="0" indent="0" algn="just">
              <a:buNone/>
            </a:pPr>
            <a:r>
              <a:rPr lang="en-US" dirty="0" smtClean="0"/>
              <a:t>Now you can see that the same message has been </a:t>
            </a:r>
            <a:r>
              <a:rPr lang="en-US" dirty="0" smtClean="0">
                <a:solidFill>
                  <a:srgbClr val="FF0000"/>
                </a:solidFill>
              </a:rPr>
              <a:t>conveyed in a constructive and positive manner. </a:t>
            </a:r>
            <a:r>
              <a:rPr lang="en-US" dirty="0" smtClean="0"/>
              <a:t>The reader would be more likely to respond positively in this case rather than react.</a:t>
            </a:r>
            <a:endParaRPr lang="en-US" dirty="0"/>
          </a:p>
        </p:txBody>
      </p:sp>
    </p:spTree>
    <p:extLst>
      <p:ext uri="{BB962C8B-B14F-4D97-AF65-F5344CB8AC3E}">
        <p14:creationId xmlns:p14="http://schemas.microsoft.com/office/powerpoint/2010/main" val="1675879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178"/>
            <a:ext cx="10515600" cy="1325563"/>
          </a:xfrm>
        </p:spPr>
        <p:txBody>
          <a:bodyPr>
            <a:normAutofit fontScale="90000"/>
          </a:bodyPr>
          <a:lstStyle/>
          <a:p>
            <a:pPr algn="ctr"/>
            <a:r>
              <a:rPr lang="en-US" sz="7300" b="1" dirty="0">
                <a:effectLst>
                  <a:outerShdw blurRad="38100" dist="38100" dir="2700000" algn="tl">
                    <a:srgbClr val="000000">
                      <a:alpha val="43137"/>
                    </a:srgbClr>
                  </a:outerShdw>
                </a:effectLst>
              </a:rPr>
              <a:t>Conclusion</a:t>
            </a:r>
            <a:r>
              <a:rPr lang="en-US" b="1" dirty="0"/>
              <a:t/>
            </a:r>
            <a:br>
              <a:rPr lang="en-US" b="1" dirty="0"/>
            </a:br>
            <a:endParaRPr lang="en-US" dirty="0"/>
          </a:p>
        </p:txBody>
      </p:sp>
      <p:sp>
        <p:nvSpPr>
          <p:cNvPr id="3" name="Content Placeholder 2"/>
          <p:cNvSpPr>
            <a:spLocks noGrp="1"/>
          </p:cNvSpPr>
          <p:nvPr>
            <p:ph idx="1"/>
          </p:nvPr>
        </p:nvSpPr>
        <p:spPr>
          <a:xfrm>
            <a:off x="168812" y="1493740"/>
            <a:ext cx="11788726" cy="5188413"/>
          </a:xfrm>
        </p:spPr>
        <p:txBody>
          <a:bodyPr>
            <a:normAutofit/>
          </a:bodyPr>
          <a:lstStyle/>
          <a:p>
            <a:r>
              <a:rPr lang="en-US" sz="3600" dirty="0" smtClean="0"/>
              <a:t>The way we communicate is a huge factor in how successful we are in life. </a:t>
            </a:r>
          </a:p>
          <a:p>
            <a:r>
              <a:rPr lang="en-US" sz="3600" dirty="0" smtClean="0"/>
              <a:t>If we communicate effectively, it gives us more credibility in our jobs as well as personal life.</a:t>
            </a:r>
          </a:p>
          <a:p>
            <a:r>
              <a:rPr lang="en-US" sz="3600" dirty="0" smtClean="0"/>
              <a:t>Using the 7 C’s of communication, that is when </a:t>
            </a:r>
            <a:r>
              <a:rPr lang="en-US" sz="3600" dirty="0" smtClean="0">
                <a:solidFill>
                  <a:srgbClr val="FF0000"/>
                </a:solidFill>
              </a:rPr>
              <a:t>you’re clear, concise, concrete, correct, consider the speaker, complete and courteous, </a:t>
            </a:r>
            <a:r>
              <a:rPr lang="en-US" sz="3600" dirty="0" smtClean="0"/>
              <a:t>with your message, you will become an </a:t>
            </a:r>
            <a:r>
              <a:rPr lang="en-US" sz="3600" dirty="0" smtClean="0">
                <a:solidFill>
                  <a:srgbClr val="FF0000"/>
                </a:solidFill>
              </a:rPr>
              <a:t>effective communicator and find more success </a:t>
            </a:r>
            <a:r>
              <a:rPr lang="en-US" sz="3600" dirty="0" smtClean="0"/>
              <a:t>in your interactions with people. </a:t>
            </a:r>
            <a:endParaRPr lang="en-US" sz="3600" dirty="0"/>
          </a:p>
        </p:txBody>
      </p:sp>
    </p:spTree>
    <p:extLst>
      <p:ext uri="{BB962C8B-B14F-4D97-AF65-F5344CB8AC3E}">
        <p14:creationId xmlns:p14="http://schemas.microsoft.com/office/powerpoint/2010/main" val="36801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164</TotalTime>
  <Words>1370</Words>
  <Application>Microsoft Office PowerPoint</Application>
  <PresentationFormat>Widescreen</PresentationFormat>
  <Paragraphs>105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Algerian</vt:lpstr>
      <vt:lpstr>Arial</vt:lpstr>
      <vt:lpstr>Calibri</vt:lpstr>
      <vt:lpstr>Calibri Light</vt:lpstr>
      <vt:lpstr>Office Theme</vt:lpstr>
      <vt:lpstr>PowerPoint Presentation</vt:lpstr>
      <vt:lpstr>PowerPoint Presentation</vt:lpstr>
      <vt:lpstr>PowerPoint Presentation</vt:lpstr>
      <vt:lpstr>Bad Example</vt:lpstr>
      <vt:lpstr>Good Example </vt:lpstr>
      <vt:lpstr>Concise </vt:lpstr>
      <vt:lpstr>Bad Example </vt:lpstr>
      <vt:lpstr>Good Example </vt:lpstr>
      <vt:lpstr>Concrete </vt:lpstr>
      <vt:lpstr>Bad Example</vt:lpstr>
      <vt:lpstr>Good Example</vt:lpstr>
      <vt:lpstr>Correct </vt:lpstr>
      <vt:lpstr>Bad Example </vt:lpstr>
      <vt:lpstr>Consideration </vt:lpstr>
      <vt:lpstr>Complete </vt:lpstr>
      <vt:lpstr>Bad Example </vt:lpstr>
      <vt:lpstr>Good Example </vt:lpstr>
      <vt:lpstr>Courteous </vt:lpstr>
      <vt:lpstr>Bad Example </vt:lpstr>
      <vt:lpstr>Good Example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13</cp:revision>
  <dcterms:created xsi:type="dcterms:W3CDTF">2025-03-23T14:58:57Z</dcterms:created>
  <dcterms:modified xsi:type="dcterms:W3CDTF">2025-10-02T07:01:28Z</dcterms:modified>
</cp:coreProperties>
</file>