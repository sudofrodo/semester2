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75" r:id="rId3"/>
    <p:sldId id="278" r:id="rId4"/>
    <p:sldId id="279" r:id="rId5"/>
    <p:sldId id="280" r:id="rId6"/>
    <p:sldId id="281" r:id="rId7"/>
    <p:sldId id="282" r:id="rId8"/>
    <p:sldId id="283" r:id="rId9"/>
    <p:sldId id="284" r:id="rId10"/>
    <p:sldId id="285" r:id="rId11"/>
    <p:sldId id="286" r:id="rId12"/>
    <p:sldId id="287" r:id="rId13"/>
    <p:sldId id="288" r:id="rId14"/>
    <p:sldId id="289" r:id="rId15"/>
    <p:sldId id="290" r:id="rId16"/>
    <p:sldId id="259" r:id="rId17"/>
    <p:sldId id="292" r:id="rId18"/>
    <p:sldId id="268" r:id="rId19"/>
    <p:sldId id="269" r:id="rId20"/>
    <p:sldId id="294" r:id="rId21"/>
    <p:sldId id="293" r:id="rId22"/>
    <p:sldId id="295" r:id="rId23"/>
    <p:sldId id="296" r:id="rId24"/>
    <p:sldId id="270" r:id="rId25"/>
    <p:sldId id="271" r:id="rId26"/>
    <p:sldId id="272" r:id="rId27"/>
    <p:sldId id="273" r:id="rId28"/>
    <p:sldId id="274" r:id="rId29"/>
    <p:sldId id="298" r:id="rId30"/>
    <p:sldId id="297" r:id="rId31"/>
    <p:sldId id="258" r:id="rId32"/>
    <p:sldId id="301" r:id="rId33"/>
    <p:sldId id="264" r:id="rId34"/>
    <p:sldId id="302" r:id="rId35"/>
    <p:sldId id="265" r:id="rId36"/>
    <p:sldId id="303" r:id="rId37"/>
    <p:sldId id="304" r:id="rId38"/>
    <p:sldId id="305" r:id="rId39"/>
    <p:sldId id="266" r:id="rId40"/>
    <p:sldId id="306" r:id="rId41"/>
    <p:sldId id="307" r:id="rId42"/>
    <p:sldId id="300" r:id="rId43"/>
    <p:sldId id="267" r:id="rId44"/>
    <p:sldId id="291" r:id="rId45"/>
    <p:sldId id="299"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47" autoAdjust="0"/>
    <p:restoredTop sz="94660"/>
  </p:normalViewPr>
  <p:slideViewPr>
    <p:cSldViewPr snapToGrid="0">
      <p:cViewPr varScale="1">
        <p:scale>
          <a:sx n="68" d="100"/>
          <a:sy n="68" d="100"/>
        </p:scale>
        <p:origin x="912" y="78"/>
      </p:cViewPr>
      <p:guideLst/>
    </p:cSldViewPr>
  </p:slideViewPr>
  <p:notesTextViewPr>
    <p:cViewPr>
      <p:scale>
        <a:sx n="1" d="1"/>
        <a:sy n="1" d="1"/>
      </p:scale>
      <p:origin x="0" y="0"/>
    </p:cViewPr>
  </p:notesTextViewPr>
  <p:sorterViewPr>
    <p:cViewPr>
      <p:scale>
        <a:sx n="70" d="100"/>
        <a:sy n="70" d="100"/>
      </p:scale>
      <p:origin x="0" y="-199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66C3302-1BED-417E-B043-3FA806FFFD16}" type="doc">
      <dgm:prSet loTypeId="urn:microsoft.com/office/officeart/2005/8/layout/default" loCatId="list" qsTypeId="urn:microsoft.com/office/officeart/2005/8/quickstyle/simple1" qsCatId="simple" csTypeId="urn:microsoft.com/office/officeart/2005/8/colors/colorful4" csCatId="colorful" phldr="1"/>
      <dgm:spPr/>
      <dgm:t>
        <a:bodyPr/>
        <a:lstStyle/>
        <a:p>
          <a:endParaRPr lang="en-US"/>
        </a:p>
      </dgm:t>
    </dgm:pt>
    <dgm:pt modelId="{B45041C9-A8E4-49E8-B2E1-5D6ECCA68446}">
      <dgm:prSet phldrT="[Text]"/>
      <dgm:spPr/>
      <dgm:t>
        <a:bodyPr/>
        <a:lstStyle/>
        <a:p>
          <a:r>
            <a:rPr lang="en-US" dirty="0" smtClean="0"/>
            <a:t>Cohesion </a:t>
          </a:r>
          <a:endParaRPr lang="en-US" dirty="0"/>
        </a:p>
      </dgm:t>
    </dgm:pt>
    <dgm:pt modelId="{22293D99-F71F-41A5-87C1-2F6823B56E26}" type="parTrans" cxnId="{A079347E-B35D-4B4E-B45A-F93F519C6A18}">
      <dgm:prSet/>
      <dgm:spPr/>
      <dgm:t>
        <a:bodyPr/>
        <a:lstStyle/>
        <a:p>
          <a:endParaRPr lang="en-US"/>
        </a:p>
      </dgm:t>
    </dgm:pt>
    <dgm:pt modelId="{86EC9F9C-E38F-413D-98A3-E6D76F79211E}" type="sibTrans" cxnId="{A079347E-B35D-4B4E-B45A-F93F519C6A18}">
      <dgm:prSet/>
      <dgm:spPr/>
      <dgm:t>
        <a:bodyPr/>
        <a:lstStyle/>
        <a:p>
          <a:endParaRPr lang="en-US"/>
        </a:p>
      </dgm:t>
    </dgm:pt>
    <dgm:pt modelId="{7E8E841E-CD13-408F-AA4A-07BC4FFC86A5}">
      <dgm:prSet phldrT="[Text]"/>
      <dgm:spPr/>
      <dgm:t>
        <a:bodyPr/>
        <a:lstStyle/>
        <a:p>
          <a:r>
            <a:rPr lang="en-US" dirty="0" smtClean="0"/>
            <a:t>Coherence </a:t>
          </a:r>
          <a:endParaRPr lang="en-US" dirty="0"/>
        </a:p>
      </dgm:t>
    </dgm:pt>
    <dgm:pt modelId="{2F45702C-3101-4479-AEB4-CE5A5B63E514}" type="parTrans" cxnId="{98A02FA2-85F0-44C1-A7AA-36606D7A6200}">
      <dgm:prSet/>
      <dgm:spPr/>
      <dgm:t>
        <a:bodyPr/>
        <a:lstStyle/>
        <a:p>
          <a:endParaRPr lang="en-US"/>
        </a:p>
      </dgm:t>
    </dgm:pt>
    <dgm:pt modelId="{64CFA7FA-1ABB-494F-A86C-0CE2F05AFD4E}" type="sibTrans" cxnId="{98A02FA2-85F0-44C1-A7AA-36606D7A6200}">
      <dgm:prSet/>
      <dgm:spPr/>
      <dgm:t>
        <a:bodyPr/>
        <a:lstStyle/>
        <a:p>
          <a:endParaRPr lang="en-US"/>
        </a:p>
      </dgm:t>
    </dgm:pt>
    <dgm:pt modelId="{F08D12E3-9FD9-4168-BD8E-2C49BF3A48E9}">
      <dgm:prSet phldrT="[Text]"/>
      <dgm:spPr/>
      <dgm:t>
        <a:bodyPr/>
        <a:lstStyle/>
        <a:p>
          <a:r>
            <a:rPr lang="en-US" dirty="0" smtClean="0"/>
            <a:t>Citations </a:t>
          </a:r>
          <a:endParaRPr lang="en-US" dirty="0"/>
        </a:p>
      </dgm:t>
    </dgm:pt>
    <dgm:pt modelId="{A211D83D-DB0D-4791-93A8-3D5CA0E63E59}" type="parTrans" cxnId="{A6AA86FC-8BC2-48C7-A79B-0469CAEEE007}">
      <dgm:prSet/>
      <dgm:spPr/>
      <dgm:t>
        <a:bodyPr/>
        <a:lstStyle/>
        <a:p>
          <a:endParaRPr lang="en-US"/>
        </a:p>
      </dgm:t>
    </dgm:pt>
    <dgm:pt modelId="{F59007EE-177F-4C91-A1DF-D3A240B551BF}" type="sibTrans" cxnId="{A6AA86FC-8BC2-48C7-A79B-0469CAEEE007}">
      <dgm:prSet/>
      <dgm:spPr/>
      <dgm:t>
        <a:bodyPr/>
        <a:lstStyle/>
        <a:p>
          <a:endParaRPr lang="en-US"/>
        </a:p>
      </dgm:t>
    </dgm:pt>
    <dgm:pt modelId="{18D1567F-B1FF-44D4-9E48-AE2DB0F5E56E}">
      <dgm:prSet phldrT="[Text]"/>
      <dgm:spPr/>
      <dgm:t>
        <a:bodyPr/>
        <a:lstStyle/>
        <a:p>
          <a:r>
            <a:rPr lang="en-US" dirty="0" smtClean="0"/>
            <a:t>Facts and Statistics </a:t>
          </a:r>
          <a:endParaRPr lang="en-US" dirty="0"/>
        </a:p>
      </dgm:t>
    </dgm:pt>
    <dgm:pt modelId="{2317E717-726E-4EAE-BBAE-BBDA5B793B20}" type="parTrans" cxnId="{6E4FE9ED-2AA6-470B-ADBD-2ADB44955A54}">
      <dgm:prSet/>
      <dgm:spPr/>
      <dgm:t>
        <a:bodyPr/>
        <a:lstStyle/>
        <a:p>
          <a:endParaRPr lang="en-US"/>
        </a:p>
      </dgm:t>
    </dgm:pt>
    <dgm:pt modelId="{2276E744-60F5-41B5-890A-F90F3E3DDCEC}" type="sibTrans" cxnId="{6E4FE9ED-2AA6-470B-ADBD-2ADB44955A54}">
      <dgm:prSet/>
      <dgm:spPr/>
      <dgm:t>
        <a:bodyPr/>
        <a:lstStyle/>
        <a:p>
          <a:endParaRPr lang="en-US"/>
        </a:p>
      </dgm:t>
    </dgm:pt>
    <dgm:pt modelId="{F3F4192A-4B70-4260-B4CA-5EB4D8162AAD}" type="pres">
      <dgm:prSet presAssocID="{366C3302-1BED-417E-B043-3FA806FFFD16}" presName="diagram" presStyleCnt="0">
        <dgm:presLayoutVars>
          <dgm:dir/>
          <dgm:resizeHandles val="exact"/>
        </dgm:presLayoutVars>
      </dgm:prSet>
      <dgm:spPr/>
      <dgm:t>
        <a:bodyPr/>
        <a:lstStyle/>
        <a:p>
          <a:endParaRPr lang="en-US"/>
        </a:p>
      </dgm:t>
    </dgm:pt>
    <dgm:pt modelId="{9B771090-EA99-4160-B180-1DE5AEE4B160}" type="pres">
      <dgm:prSet presAssocID="{B45041C9-A8E4-49E8-B2E1-5D6ECCA68446}" presName="node" presStyleLbl="node1" presStyleIdx="0" presStyleCnt="4">
        <dgm:presLayoutVars>
          <dgm:bulletEnabled val="1"/>
        </dgm:presLayoutVars>
      </dgm:prSet>
      <dgm:spPr/>
      <dgm:t>
        <a:bodyPr/>
        <a:lstStyle/>
        <a:p>
          <a:endParaRPr lang="en-US"/>
        </a:p>
      </dgm:t>
    </dgm:pt>
    <dgm:pt modelId="{F77BA62B-F03A-46AE-AE6E-4CAC86CCBBDE}" type="pres">
      <dgm:prSet presAssocID="{86EC9F9C-E38F-413D-98A3-E6D76F79211E}" presName="sibTrans" presStyleCnt="0"/>
      <dgm:spPr/>
    </dgm:pt>
    <dgm:pt modelId="{539DD0F7-69E6-48BA-91DB-A9DE70C285D9}" type="pres">
      <dgm:prSet presAssocID="{7E8E841E-CD13-408F-AA4A-07BC4FFC86A5}" presName="node" presStyleLbl="node1" presStyleIdx="1" presStyleCnt="4">
        <dgm:presLayoutVars>
          <dgm:bulletEnabled val="1"/>
        </dgm:presLayoutVars>
      </dgm:prSet>
      <dgm:spPr/>
      <dgm:t>
        <a:bodyPr/>
        <a:lstStyle/>
        <a:p>
          <a:endParaRPr lang="en-US"/>
        </a:p>
      </dgm:t>
    </dgm:pt>
    <dgm:pt modelId="{1FA8E363-33A5-432F-9871-613D9C603CE8}" type="pres">
      <dgm:prSet presAssocID="{64CFA7FA-1ABB-494F-A86C-0CE2F05AFD4E}" presName="sibTrans" presStyleCnt="0"/>
      <dgm:spPr/>
    </dgm:pt>
    <dgm:pt modelId="{75C5C306-D292-45AB-9AA6-6EEF8E3B8A9C}" type="pres">
      <dgm:prSet presAssocID="{F08D12E3-9FD9-4168-BD8E-2C49BF3A48E9}" presName="node" presStyleLbl="node1" presStyleIdx="2" presStyleCnt="4">
        <dgm:presLayoutVars>
          <dgm:bulletEnabled val="1"/>
        </dgm:presLayoutVars>
      </dgm:prSet>
      <dgm:spPr/>
      <dgm:t>
        <a:bodyPr/>
        <a:lstStyle/>
        <a:p>
          <a:endParaRPr lang="en-US"/>
        </a:p>
      </dgm:t>
    </dgm:pt>
    <dgm:pt modelId="{BDC5E376-3FA6-4A1F-A00D-145C3BDB93CA}" type="pres">
      <dgm:prSet presAssocID="{F59007EE-177F-4C91-A1DF-D3A240B551BF}" presName="sibTrans" presStyleCnt="0"/>
      <dgm:spPr/>
    </dgm:pt>
    <dgm:pt modelId="{E0BCF496-62BA-4D21-AB44-CE7E5961AC92}" type="pres">
      <dgm:prSet presAssocID="{18D1567F-B1FF-44D4-9E48-AE2DB0F5E56E}" presName="node" presStyleLbl="node1" presStyleIdx="3" presStyleCnt="4">
        <dgm:presLayoutVars>
          <dgm:bulletEnabled val="1"/>
        </dgm:presLayoutVars>
      </dgm:prSet>
      <dgm:spPr/>
      <dgm:t>
        <a:bodyPr/>
        <a:lstStyle/>
        <a:p>
          <a:endParaRPr lang="en-US"/>
        </a:p>
      </dgm:t>
    </dgm:pt>
  </dgm:ptLst>
  <dgm:cxnLst>
    <dgm:cxn modelId="{A079347E-B35D-4B4E-B45A-F93F519C6A18}" srcId="{366C3302-1BED-417E-B043-3FA806FFFD16}" destId="{B45041C9-A8E4-49E8-B2E1-5D6ECCA68446}" srcOrd="0" destOrd="0" parTransId="{22293D99-F71F-41A5-87C1-2F6823B56E26}" sibTransId="{86EC9F9C-E38F-413D-98A3-E6D76F79211E}"/>
    <dgm:cxn modelId="{98A02FA2-85F0-44C1-A7AA-36606D7A6200}" srcId="{366C3302-1BED-417E-B043-3FA806FFFD16}" destId="{7E8E841E-CD13-408F-AA4A-07BC4FFC86A5}" srcOrd="1" destOrd="0" parTransId="{2F45702C-3101-4479-AEB4-CE5A5B63E514}" sibTransId="{64CFA7FA-1ABB-494F-A86C-0CE2F05AFD4E}"/>
    <dgm:cxn modelId="{DA7EFFAA-14D0-4879-BA3B-604ECC822BF0}" type="presOf" srcId="{F08D12E3-9FD9-4168-BD8E-2C49BF3A48E9}" destId="{75C5C306-D292-45AB-9AA6-6EEF8E3B8A9C}" srcOrd="0" destOrd="0" presId="urn:microsoft.com/office/officeart/2005/8/layout/default"/>
    <dgm:cxn modelId="{7272DDB3-6B7B-44A3-850B-9C0605C032E7}" type="presOf" srcId="{7E8E841E-CD13-408F-AA4A-07BC4FFC86A5}" destId="{539DD0F7-69E6-48BA-91DB-A9DE70C285D9}" srcOrd="0" destOrd="0" presId="urn:microsoft.com/office/officeart/2005/8/layout/default"/>
    <dgm:cxn modelId="{A6AA86FC-8BC2-48C7-A79B-0469CAEEE007}" srcId="{366C3302-1BED-417E-B043-3FA806FFFD16}" destId="{F08D12E3-9FD9-4168-BD8E-2C49BF3A48E9}" srcOrd="2" destOrd="0" parTransId="{A211D83D-DB0D-4791-93A8-3D5CA0E63E59}" sibTransId="{F59007EE-177F-4C91-A1DF-D3A240B551BF}"/>
    <dgm:cxn modelId="{6E4FE9ED-2AA6-470B-ADBD-2ADB44955A54}" srcId="{366C3302-1BED-417E-B043-3FA806FFFD16}" destId="{18D1567F-B1FF-44D4-9E48-AE2DB0F5E56E}" srcOrd="3" destOrd="0" parTransId="{2317E717-726E-4EAE-BBAE-BBDA5B793B20}" sibTransId="{2276E744-60F5-41B5-890A-F90F3E3DDCEC}"/>
    <dgm:cxn modelId="{700813F1-A727-4DE6-A376-DFF671B5D076}" type="presOf" srcId="{B45041C9-A8E4-49E8-B2E1-5D6ECCA68446}" destId="{9B771090-EA99-4160-B180-1DE5AEE4B160}" srcOrd="0" destOrd="0" presId="urn:microsoft.com/office/officeart/2005/8/layout/default"/>
    <dgm:cxn modelId="{EEF9582C-E399-45CA-AA1A-C0B56327F2BE}" type="presOf" srcId="{18D1567F-B1FF-44D4-9E48-AE2DB0F5E56E}" destId="{E0BCF496-62BA-4D21-AB44-CE7E5961AC92}" srcOrd="0" destOrd="0" presId="urn:microsoft.com/office/officeart/2005/8/layout/default"/>
    <dgm:cxn modelId="{EE86F70A-3A83-449D-BE45-6DDD2610D4F3}" type="presOf" srcId="{366C3302-1BED-417E-B043-3FA806FFFD16}" destId="{F3F4192A-4B70-4260-B4CA-5EB4D8162AAD}" srcOrd="0" destOrd="0" presId="urn:microsoft.com/office/officeart/2005/8/layout/default"/>
    <dgm:cxn modelId="{F5759445-939C-4EB9-A9A2-BE25D090E3B3}" type="presParOf" srcId="{F3F4192A-4B70-4260-B4CA-5EB4D8162AAD}" destId="{9B771090-EA99-4160-B180-1DE5AEE4B160}" srcOrd="0" destOrd="0" presId="urn:microsoft.com/office/officeart/2005/8/layout/default"/>
    <dgm:cxn modelId="{192AE4DA-B8B0-49C9-A311-A269001A6CF0}" type="presParOf" srcId="{F3F4192A-4B70-4260-B4CA-5EB4D8162AAD}" destId="{F77BA62B-F03A-46AE-AE6E-4CAC86CCBBDE}" srcOrd="1" destOrd="0" presId="urn:microsoft.com/office/officeart/2005/8/layout/default"/>
    <dgm:cxn modelId="{FA9445DC-A8EF-4F5D-AEB7-14F7B46A936C}" type="presParOf" srcId="{F3F4192A-4B70-4260-B4CA-5EB4D8162AAD}" destId="{539DD0F7-69E6-48BA-91DB-A9DE70C285D9}" srcOrd="2" destOrd="0" presId="urn:microsoft.com/office/officeart/2005/8/layout/default"/>
    <dgm:cxn modelId="{4192A9BE-2AB2-4915-9689-4E966787ED40}" type="presParOf" srcId="{F3F4192A-4B70-4260-B4CA-5EB4D8162AAD}" destId="{1FA8E363-33A5-432F-9871-613D9C603CE8}" srcOrd="3" destOrd="0" presId="urn:microsoft.com/office/officeart/2005/8/layout/default"/>
    <dgm:cxn modelId="{AAB394BC-0A4A-4424-89E0-5FBF2EACE081}" type="presParOf" srcId="{F3F4192A-4B70-4260-B4CA-5EB4D8162AAD}" destId="{75C5C306-D292-45AB-9AA6-6EEF8E3B8A9C}" srcOrd="4" destOrd="0" presId="urn:microsoft.com/office/officeart/2005/8/layout/default"/>
    <dgm:cxn modelId="{F8DA8E3E-E1B2-4942-A09B-8D1B1EDFAA14}" type="presParOf" srcId="{F3F4192A-4B70-4260-B4CA-5EB4D8162AAD}" destId="{BDC5E376-3FA6-4A1F-A00D-145C3BDB93CA}" srcOrd="5" destOrd="0" presId="urn:microsoft.com/office/officeart/2005/8/layout/default"/>
    <dgm:cxn modelId="{EBC38000-E13C-44B9-A8C0-7DBC3327A932}" type="presParOf" srcId="{F3F4192A-4B70-4260-B4CA-5EB4D8162AAD}" destId="{E0BCF496-62BA-4D21-AB44-CE7E5961AC92}"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C383B5D-9352-49A9-8BF6-97323157108B}" type="doc">
      <dgm:prSet loTypeId="urn:microsoft.com/office/officeart/2005/8/layout/vProcess5" loCatId="process" qsTypeId="urn:microsoft.com/office/officeart/2005/8/quickstyle/3d1" qsCatId="3D" csTypeId="urn:microsoft.com/office/officeart/2005/8/colors/colorful1" csCatId="colorful" phldr="1"/>
      <dgm:spPr/>
      <dgm:t>
        <a:bodyPr/>
        <a:lstStyle/>
        <a:p>
          <a:endParaRPr lang="en-US"/>
        </a:p>
      </dgm:t>
    </dgm:pt>
    <dgm:pt modelId="{65A5EB36-C02B-444F-908D-221D4A53C158}">
      <dgm:prSet phldrT="[Text]"/>
      <dgm:spPr/>
      <dgm:t>
        <a:bodyPr/>
        <a:lstStyle/>
        <a:p>
          <a:r>
            <a:rPr lang="en-US" dirty="0" smtClean="0"/>
            <a:t>Communication skills </a:t>
          </a:r>
          <a:endParaRPr lang="en-US" dirty="0"/>
        </a:p>
      </dgm:t>
    </dgm:pt>
    <dgm:pt modelId="{405BA840-FDC0-47A9-B69E-53D0854B5BAB}" type="parTrans" cxnId="{CC9C5D33-0B4C-457D-B1AB-2280C428E977}">
      <dgm:prSet/>
      <dgm:spPr/>
      <dgm:t>
        <a:bodyPr/>
        <a:lstStyle/>
        <a:p>
          <a:endParaRPr lang="en-US"/>
        </a:p>
      </dgm:t>
    </dgm:pt>
    <dgm:pt modelId="{5448638A-541C-4194-A649-EC5C25F2ED99}" type="sibTrans" cxnId="{CC9C5D33-0B4C-457D-B1AB-2280C428E977}">
      <dgm:prSet/>
      <dgm:spPr/>
      <dgm:t>
        <a:bodyPr/>
        <a:lstStyle/>
        <a:p>
          <a:endParaRPr lang="en-US"/>
        </a:p>
      </dgm:t>
    </dgm:pt>
    <dgm:pt modelId="{6CE2A73E-B0C4-44C3-8AEE-4410BB9B2D19}">
      <dgm:prSet phldrT="[Text]"/>
      <dgm:spPr/>
      <dgm:t>
        <a:bodyPr/>
        <a:lstStyle/>
        <a:p>
          <a:r>
            <a:rPr lang="en-US" dirty="0" smtClean="0"/>
            <a:t>Evaluating knowledge </a:t>
          </a:r>
          <a:endParaRPr lang="en-US" dirty="0"/>
        </a:p>
      </dgm:t>
    </dgm:pt>
    <dgm:pt modelId="{30AB5B21-BA75-45F1-9F7D-ED8CD9757957}" type="parTrans" cxnId="{A99A76B1-260A-4988-83CE-ABD666A4218B}">
      <dgm:prSet/>
      <dgm:spPr/>
      <dgm:t>
        <a:bodyPr/>
        <a:lstStyle/>
        <a:p>
          <a:endParaRPr lang="en-US"/>
        </a:p>
      </dgm:t>
    </dgm:pt>
    <dgm:pt modelId="{2DC3C273-491C-4B8E-AC20-95493FA65155}" type="sibTrans" cxnId="{A99A76B1-260A-4988-83CE-ABD666A4218B}">
      <dgm:prSet/>
      <dgm:spPr/>
      <dgm:t>
        <a:bodyPr/>
        <a:lstStyle/>
        <a:p>
          <a:endParaRPr lang="en-US"/>
        </a:p>
      </dgm:t>
    </dgm:pt>
    <dgm:pt modelId="{B843B8F9-91CB-43D7-A2EF-B0273B1A1112}">
      <dgm:prSet phldrT="[Text]"/>
      <dgm:spPr/>
      <dgm:t>
        <a:bodyPr/>
        <a:lstStyle/>
        <a:p>
          <a:r>
            <a:rPr lang="en-US" dirty="0" smtClean="0"/>
            <a:t>Develops  Critical thinking </a:t>
          </a:r>
          <a:endParaRPr lang="en-US" dirty="0"/>
        </a:p>
      </dgm:t>
    </dgm:pt>
    <dgm:pt modelId="{F6C8F368-A775-49AC-A910-003B0474784E}" type="parTrans" cxnId="{896A0732-557A-43A4-AE74-7233F822A6CE}">
      <dgm:prSet/>
      <dgm:spPr/>
      <dgm:t>
        <a:bodyPr/>
        <a:lstStyle/>
        <a:p>
          <a:endParaRPr lang="en-US"/>
        </a:p>
      </dgm:t>
    </dgm:pt>
    <dgm:pt modelId="{3A8AFB78-DABD-4E34-81AF-044A2F54C5B5}" type="sibTrans" cxnId="{896A0732-557A-43A4-AE74-7233F822A6CE}">
      <dgm:prSet/>
      <dgm:spPr/>
      <dgm:t>
        <a:bodyPr/>
        <a:lstStyle/>
        <a:p>
          <a:endParaRPr lang="en-US"/>
        </a:p>
      </dgm:t>
    </dgm:pt>
    <dgm:pt modelId="{57274DF6-C7B3-4984-A6A5-C8F74CC6B8FF}">
      <dgm:prSet phldrT="[Text]"/>
      <dgm:spPr/>
      <dgm:t>
        <a:bodyPr/>
        <a:lstStyle/>
        <a:p>
          <a:r>
            <a:rPr lang="en-US" dirty="0" smtClean="0"/>
            <a:t>Develops Research Skills  </a:t>
          </a:r>
          <a:endParaRPr lang="en-US" dirty="0"/>
        </a:p>
      </dgm:t>
    </dgm:pt>
    <dgm:pt modelId="{70F3CB87-A806-4043-85BC-012B2515238A}" type="parTrans" cxnId="{5A622757-CC6E-44A4-B3F0-9FF7BEBF06A1}">
      <dgm:prSet/>
      <dgm:spPr/>
      <dgm:t>
        <a:bodyPr/>
        <a:lstStyle/>
        <a:p>
          <a:endParaRPr lang="en-US"/>
        </a:p>
      </dgm:t>
    </dgm:pt>
    <dgm:pt modelId="{86FDCC6A-62A8-4A76-9CE4-9FD5A99A06D7}" type="sibTrans" cxnId="{5A622757-CC6E-44A4-B3F0-9FF7BEBF06A1}">
      <dgm:prSet/>
      <dgm:spPr/>
      <dgm:t>
        <a:bodyPr/>
        <a:lstStyle/>
        <a:p>
          <a:endParaRPr lang="en-US"/>
        </a:p>
      </dgm:t>
    </dgm:pt>
    <dgm:pt modelId="{DF744246-9BF5-4D4D-ACD7-78367F177697}">
      <dgm:prSet phldrT="[Text]"/>
      <dgm:spPr/>
      <dgm:t>
        <a:bodyPr/>
        <a:lstStyle/>
        <a:p>
          <a:r>
            <a:rPr lang="en-US" dirty="0" smtClean="0"/>
            <a:t>Continues Learning </a:t>
          </a:r>
          <a:endParaRPr lang="en-US" dirty="0"/>
        </a:p>
      </dgm:t>
    </dgm:pt>
    <dgm:pt modelId="{8197DBFA-593F-4648-A5A3-FE222C8D31E0}" type="parTrans" cxnId="{4B51883C-8AFE-4D20-9AEF-6C86F77A0FC9}">
      <dgm:prSet/>
      <dgm:spPr/>
      <dgm:t>
        <a:bodyPr/>
        <a:lstStyle/>
        <a:p>
          <a:endParaRPr lang="en-US"/>
        </a:p>
      </dgm:t>
    </dgm:pt>
    <dgm:pt modelId="{35E089D1-D609-46FF-BCB8-D08C60FF2946}" type="sibTrans" cxnId="{4B51883C-8AFE-4D20-9AEF-6C86F77A0FC9}">
      <dgm:prSet/>
      <dgm:spPr/>
      <dgm:t>
        <a:bodyPr/>
        <a:lstStyle/>
        <a:p>
          <a:endParaRPr lang="en-US"/>
        </a:p>
      </dgm:t>
    </dgm:pt>
    <dgm:pt modelId="{BB714D90-7AF6-4C34-BDAD-4AA5B11E6650}" type="pres">
      <dgm:prSet presAssocID="{2C383B5D-9352-49A9-8BF6-97323157108B}" presName="outerComposite" presStyleCnt="0">
        <dgm:presLayoutVars>
          <dgm:chMax val="5"/>
          <dgm:dir/>
          <dgm:resizeHandles val="exact"/>
        </dgm:presLayoutVars>
      </dgm:prSet>
      <dgm:spPr/>
      <dgm:t>
        <a:bodyPr/>
        <a:lstStyle/>
        <a:p>
          <a:endParaRPr lang="en-US"/>
        </a:p>
      </dgm:t>
    </dgm:pt>
    <dgm:pt modelId="{B40B5374-DB02-47AA-BBED-445C4D0685FB}" type="pres">
      <dgm:prSet presAssocID="{2C383B5D-9352-49A9-8BF6-97323157108B}" presName="dummyMaxCanvas" presStyleCnt="0">
        <dgm:presLayoutVars/>
      </dgm:prSet>
      <dgm:spPr/>
    </dgm:pt>
    <dgm:pt modelId="{9ACF3D06-0F32-4323-9EA8-67FE36D2D5C7}" type="pres">
      <dgm:prSet presAssocID="{2C383B5D-9352-49A9-8BF6-97323157108B}" presName="FiveNodes_1" presStyleLbl="node1" presStyleIdx="0" presStyleCnt="5">
        <dgm:presLayoutVars>
          <dgm:bulletEnabled val="1"/>
        </dgm:presLayoutVars>
      </dgm:prSet>
      <dgm:spPr/>
      <dgm:t>
        <a:bodyPr/>
        <a:lstStyle/>
        <a:p>
          <a:endParaRPr lang="en-US"/>
        </a:p>
      </dgm:t>
    </dgm:pt>
    <dgm:pt modelId="{78DF38E6-A2E8-492D-AE59-35825DE8AD5C}" type="pres">
      <dgm:prSet presAssocID="{2C383B5D-9352-49A9-8BF6-97323157108B}" presName="FiveNodes_2" presStyleLbl="node1" presStyleIdx="1" presStyleCnt="5">
        <dgm:presLayoutVars>
          <dgm:bulletEnabled val="1"/>
        </dgm:presLayoutVars>
      </dgm:prSet>
      <dgm:spPr/>
      <dgm:t>
        <a:bodyPr/>
        <a:lstStyle/>
        <a:p>
          <a:endParaRPr lang="en-US"/>
        </a:p>
      </dgm:t>
    </dgm:pt>
    <dgm:pt modelId="{AD4946CE-1D4E-411D-8136-A2EC6D56C847}" type="pres">
      <dgm:prSet presAssocID="{2C383B5D-9352-49A9-8BF6-97323157108B}" presName="FiveNodes_3" presStyleLbl="node1" presStyleIdx="2" presStyleCnt="5">
        <dgm:presLayoutVars>
          <dgm:bulletEnabled val="1"/>
        </dgm:presLayoutVars>
      </dgm:prSet>
      <dgm:spPr/>
      <dgm:t>
        <a:bodyPr/>
        <a:lstStyle/>
        <a:p>
          <a:endParaRPr lang="en-US"/>
        </a:p>
      </dgm:t>
    </dgm:pt>
    <dgm:pt modelId="{B64EE6F4-5965-40D1-A923-358572039310}" type="pres">
      <dgm:prSet presAssocID="{2C383B5D-9352-49A9-8BF6-97323157108B}" presName="FiveNodes_4" presStyleLbl="node1" presStyleIdx="3" presStyleCnt="5">
        <dgm:presLayoutVars>
          <dgm:bulletEnabled val="1"/>
        </dgm:presLayoutVars>
      </dgm:prSet>
      <dgm:spPr/>
      <dgm:t>
        <a:bodyPr/>
        <a:lstStyle/>
        <a:p>
          <a:endParaRPr lang="en-US"/>
        </a:p>
      </dgm:t>
    </dgm:pt>
    <dgm:pt modelId="{69E0B318-1532-4E2B-96CC-46C6F483A4AD}" type="pres">
      <dgm:prSet presAssocID="{2C383B5D-9352-49A9-8BF6-97323157108B}" presName="FiveNodes_5" presStyleLbl="node1" presStyleIdx="4" presStyleCnt="5">
        <dgm:presLayoutVars>
          <dgm:bulletEnabled val="1"/>
        </dgm:presLayoutVars>
      </dgm:prSet>
      <dgm:spPr/>
      <dgm:t>
        <a:bodyPr/>
        <a:lstStyle/>
        <a:p>
          <a:endParaRPr lang="en-US"/>
        </a:p>
      </dgm:t>
    </dgm:pt>
    <dgm:pt modelId="{1C44B932-E83E-46E1-80AF-1D5F02F1B48B}" type="pres">
      <dgm:prSet presAssocID="{2C383B5D-9352-49A9-8BF6-97323157108B}" presName="FiveConn_1-2" presStyleLbl="fgAccFollowNode1" presStyleIdx="0" presStyleCnt="4">
        <dgm:presLayoutVars>
          <dgm:bulletEnabled val="1"/>
        </dgm:presLayoutVars>
      </dgm:prSet>
      <dgm:spPr/>
      <dgm:t>
        <a:bodyPr/>
        <a:lstStyle/>
        <a:p>
          <a:endParaRPr lang="en-US"/>
        </a:p>
      </dgm:t>
    </dgm:pt>
    <dgm:pt modelId="{3D784E9F-B7D9-4382-8F74-0386B2506E62}" type="pres">
      <dgm:prSet presAssocID="{2C383B5D-9352-49A9-8BF6-97323157108B}" presName="FiveConn_2-3" presStyleLbl="fgAccFollowNode1" presStyleIdx="1" presStyleCnt="4">
        <dgm:presLayoutVars>
          <dgm:bulletEnabled val="1"/>
        </dgm:presLayoutVars>
      </dgm:prSet>
      <dgm:spPr/>
      <dgm:t>
        <a:bodyPr/>
        <a:lstStyle/>
        <a:p>
          <a:endParaRPr lang="en-US"/>
        </a:p>
      </dgm:t>
    </dgm:pt>
    <dgm:pt modelId="{EEB4B1B3-FC7B-4DE7-9789-146BA0BFF791}" type="pres">
      <dgm:prSet presAssocID="{2C383B5D-9352-49A9-8BF6-97323157108B}" presName="FiveConn_3-4" presStyleLbl="fgAccFollowNode1" presStyleIdx="2" presStyleCnt="4">
        <dgm:presLayoutVars>
          <dgm:bulletEnabled val="1"/>
        </dgm:presLayoutVars>
      </dgm:prSet>
      <dgm:spPr/>
      <dgm:t>
        <a:bodyPr/>
        <a:lstStyle/>
        <a:p>
          <a:endParaRPr lang="en-US"/>
        </a:p>
      </dgm:t>
    </dgm:pt>
    <dgm:pt modelId="{4361269E-9AF3-4EB0-B82B-06A1A212425A}" type="pres">
      <dgm:prSet presAssocID="{2C383B5D-9352-49A9-8BF6-97323157108B}" presName="FiveConn_4-5" presStyleLbl="fgAccFollowNode1" presStyleIdx="3" presStyleCnt="4">
        <dgm:presLayoutVars>
          <dgm:bulletEnabled val="1"/>
        </dgm:presLayoutVars>
      </dgm:prSet>
      <dgm:spPr/>
      <dgm:t>
        <a:bodyPr/>
        <a:lstStyle/>
        <a:p>
          <a:endParaRPr lang="en-US"/>
        </a:p>
      </dgm:t>
    </dgm:pt>
    <dgm:pt modelId="{853DC215-85D8-488C-B0E8-06E3A93AAE2F}" type="pres">
      <dgm:prSet presAssocID="{2C383B5D-9352-49A9-8BF6-97323157108B}" presName="FiveNodes_1_text" presStyleLbl="node1" presStyleIdx="4" presStyleCnt="5">
        <dgm:presLayoutVars>
          <dgm:bulletEnabled val="1"/>
        </dgm:presLayoutVars>
      </dgm:prSet>
      <dgm:spPr/>
      <dgm:t>
        <a:bodyPr/>
        <a:lstStyle/>
        <a:p>
          <a:endParaRPr lang="en-US"/>
        </a:p>
      </dgm:t>
    </dgm:pt>
    <dgm:pt modelId="{2CAC5657-9FF0-4B9A-B487-AD69859EF9C7}" type="pres">
      <dgm:prSet presAssocID="{2C383B5D-9352-49A9-8BF6-97323157108B}" presName="FiveNodes_2_text" presStyleLbl="node1" presStyleIdx="4" presStyleCnt="5">
        <dgm:presLayoutVars>
          <dgm:bulletEnabled val="1"/>
        </dgm:presLayoutVars>
      </dgm:prSet>
      <dgm:spPr/>
      <dgm:t>
        <a:bodyPr/>
        <a:lstStyle/>
        <a:p>
          <a:endParaRPr lang="en-US"/>
        </a:p>
      </dgm:t>
    </dgm:pt>
    <dgm:pt modelId="{F7797637-0792-4E38-B6A4-41E18D8D213F}" type="pres">
      <dgm:prSet presAssocID="{2C383B5D-9352-49A9-8BF6-97323157108B}" presName="FiveNodes_3_text" presStyleLbl="node1" presStyleIdx="4" presStyleCnt="5">
        <dgm:presLayoutVars>
          <dgm:bulletEnabled val="1"/>
        </dgm:presLayoutVars>
      </dgm:prSet>
      <dgm:spPr/>
      <dgm:t>
        <a:bodyPr/>
        <a:lstStyle/>
        <a:p>
          <a:endParaRPr lang="en-US"/>
        </a:p>
      </dgm:t>
    </dgm:pt>
    <dgm:pt modelId="{B1BDEF3C-79A6-4734-98D2-AA12407E193A}" type="pres">
      <dgm:prSet presAssocID="{2C383B5D-9352-49A9-8BF6-97323157108B}" presName="FiveNodes_4_text" presStyleLbl="node1" presStyleIdx="4" presStyleCnt="5">
        <dgm:presLayoutVars>
          <dgm:bulletEnabled val="1"/>
        </dgm:presLayoutVars>
      </dgm:prSet>
      <dgm:spPr/>
      <dgm:t>
        <a:bodyPr/>
        <a:lstStyle/>
        <a:p>
          <a:endParaRPr lang="en-US"/>
        </a:p>
      </dgm:t>
    </dgm:pt>
    <dgm:pt modelId="{ED48EF1D-69A0-46C8-AD9A-4D4BB71CDF1B}" type="pres">
      <dgm:prSet presAssocID="{2C383B5D-9352-49A9-8BF6-97323157108B}" presName="FiveNodes_5_text" presStyleLbl="node1" presStyleIdx="4" presStyleCnt="5">
        <dgm:presLayoutVars>
          <dgm:bulletEnabled val="1"/>
        </dgm:presLayoutVars>
      </dgm:prSet>
      <dgm:spPr/>
      <dgm:t>
        <a:bodyPr/>
        <a:lstStyle/>
        <a:p>
          <a:endParaRPr lang="en-US"/>
        </a:p>
      </dgm:t>
    </dgm:pt>
  </dgm:ptLst>
  <dgm:cxnLst>
    <dgm:cxn modelId="{25C3B203-0684-4A06-B1E6-303ED9ED04AD}" type="presOf" srcId="{86FDCC6A-62A8-4A76-9CE4-9FD5A99A06D7}" destId="{4361269E-9AF3-4EB0-B82B-06A1A212425A}" srcOrd="0" destOrd="0" presId="urn:microsoft.com/office/officeart/2005/8/layout/vProcess5"/>
    <dgm:cxn modelId="{CA14C7DA-D368-4D12-B356-75C3A2FF263F}" type="presOf" srcId="{57274DF6-C7B3-4984-A6A5-C8F74CC6B8FF}" destId="{B1BDEF3C-79A6-4734-98D2-AA12407E193A}" srcOrd="1" destOrd="0" presId="urn:microsoft.com/office/officeart/2005/8/layout/vProcess5"/>
    <dgm:cxn modelId="{5668C217-C559-43DB-97ED-914D6A147777}" type="presOf" srcId="{DF744246-9BF5-4D4D-ACD7-78367F177697}" destId="{ED48EF1D-69A0-46C8-AD9A-4D4BB71CDF1B}" srcOrd="1" destOrd="0" presId="urn:microsoft.com/office/officeart/2005/8/layout/vProcess5"/>
    <dgm:cxn modelId="{896A0732-557A-43A4-AE74-7233F822A6CE}" srcId="{2C383B5D-9352-49A9-8BF6-97323157108B}" destId="{B843B8F9-91CB-43D7-A2EF-B0273B1A1112}" srcOrd="2" destOrd="0" parTransId="{F6C8F368-A775-49AC-A910-003B0474784E}" sibTransId="{3A8AFB78-DABD-4E34-81AF-044A2F54C5B5}"/>
    <dgm:cxn modelId="{E2B7D2B4-EFF2-4C2D-BFF0-8074C7978E98}" type="presOf" srcId="{DF744246-9BF5-4D4D-ACD7-78367F177697}" destId="{69E0B318-1532-4E2B-96CC-46C6F483A4AD}" srcOrd="0" destOrd="0" presId="urn:microsoft.com/office/officeart/2005/8/layout/vProcess5"/>
    <dgm:cxn modelId="{CC9C5D33-0B4C-457D-B1AB-2280C428E977}" srcId="{2C383B5D-9352-49A9-8BF6-97323157108B}" destId="{65A5EB36-C02B-444F-908D-221D4A53C158}" srcOrd="0" destOrd="0" parTransId="{405BA840-FDC0-47A9-B69E-53D0854B5BAB}" sibTransId="{5448638A-541C-4194-A649-EC5C25F2ED99}"/>
    <dgm:cxn modelId="{D9972CFB-5DF2-4D17-821F-B7F706F37ABD}" type="presOf" srcId="{B843B8F9-91CB-43D7-A2EF-B0273B1A1112}" destId="{F7797637-0792-4E38-B6A4-41E18D8D213F}" srcOrd="1" destOrd="0" presId="urn:microsoft.com/office/officeart/2005/8/layout/vProcess5"/>
    <dgm:cxn modelId="{8145FF28-4840-4D17-AF6A-937D717D0C53}" type="presOf" srcId="{6CE2A73E-B0C4-44C3-8AEE-4410BB9B2D19}" destId="{78DF38E6-A2E8-492D-AE59-35825DE8AD5C}" srcOrd="0" destOrd="0" presId="urn:microsoft.com/office/officeart/2005/8/layout/vProcess5"/>
    <dgm:cxn modelId="{A99A76B1-260A-4988-83CE-ABD666A4218B}" srcId="{2C383B5D-9352-49A9-8BF6-97323157108B}" destId="{6CE2A73E-B0C4-44C3-8AEE-4410BB9B2D19}" srcOrd="1" destOrd="0" parTransId="{30AB5B21-BA75-45F1-9F7D-ED8CD9757957}" sibTransId="{2DC3C273-491C-4B8E-AC20-95493FA65155}"/>
    <dgm:cxn modelId="{C8226B43-F492-4137-83AB-A32B6ED154B5}" type="presOf" srcId="{3A8AFB78-DABD-4E34-81AF-044A2F54C5B5}" destId="{EEB4B1B3-FC7B-4DE7-9789-146BA0BFF791}" srcOrd="0" destOrd="0" presId="urn:microsoft.com/office/officeart/2005/8/layout/vProcess5"/>
    <dgm:cxn modelId="{5A622757-CC6E-44A4-B3F0-9FF7BEBF06A1}" srcId="{2C383B5D-9352-49A9-8BF6-97323157108B}" destId="{57274DF6-C7B3-4984-A6A5-C8F74CC6B8FF}" srcOrd="3" destOrd="0" parTransId="{70F3CB87-A806-4043-85BC-012B2515238A}" sibTransId="{86FDCC6A-62A8-4A76-9CE4-9FD5A99A06D7}"/>
    <dgm:cxn modelId="{C310DD49-6B32-48E3-8208-A5C1B0123740}" type="presOf" srcId="{65A5EB36-C02B-444F-908D-221D4A53C158}" destId="{9ACF3D06-0F32-4323-9EA8-67FE36D2D5C7}" srcOrd="0" destOrd="0" presId="urn:microsoft.com/office/officeart/2005/8/layout/vProcess5"/>
    <dgm:cxn modelId="{4B51883C-8AFE-4D20-9AEF-6C86F77A0FC9}" srcId="{2C383B5D-9352-49A9-8BF6-97323157108B}" destId="{DF744246-9BF5-4D4D-ACD7-78367F177697}" srcOrd="4" destOrd="0" parTransId="{8197DBFA-593F-4648-A5A3-FE222C8D31E0}" sibTransId="{35E089D1-D609-46FF-BCB8-D08C60FF2946}"/>
    <dgm:cxn modelId="{D155E006-2690-4E62-863E-8917792CA219}" type="presOf" srcId="{2C383B5D-9352-49A9-8BF6-97323157108B}" destId="{BB714D90-7AF6-4C34-BDAD-4AA5B11E6650}" srcOrd="0" destOrd="0" presId="urn:microsoft.com/office/officeart/2005/8/layout/vProcess5"/>
    <dgm:cxn modelId="{D827BDE0-BC72-4581-8D64-EB3D8F0ED645}" type="presOf" srcId="{B843B8F9-91CB-43D7-A2EF-B0273B1A1112}" destId="{AD4946CE-1D4E-411D-8136-A2EC6D56C847}" srcOrd="0" destOrd="0" presId="urn:microsoft.com/office/officeart/2005/8/layout/vProcess5"/>
    <dgm:cxn modelId="{5C69C9F1-1F19-4337-80BE-C4CF10722A99}" type="presOf" srcId="{5448638A-541C-4194-A649-EC5C25F2ED99}" destId="{1C44B932-E83E-46E1-80AF-1D5F02F1B48B}" srcOrd="0" destOrd="0" presId="urn:microsoft.com/office/officeart/2005/8/layout/vProcess5"/>
    <dgm:cxn modelId="{FA9802E8-7528-4143-B816-4D5EC0DDA919}" type="presOf" srcId="{6CE2A73E-B0C4-44C3-8AEE-4410BB9B2D19}" destId="{2CAC5657-9FF0-4B9A-B487-AD69859EF9C7}" srcOrd="1" destOrd="0" presId="urn:microsoft.com/office/officeart/2005/8/layout/vProcess5"/>
    <dgm:cxn modelId="{F02449C7-40A9-48A5-AF8F-DA33E5E98251}" type="presOf" srcId="{57274DF6-C7B3-4984-A6A5-C8F74CC6B8FF}" destId="{B64EE6F4-5965-40D1-A923-358572039310}" srcOrd="0" destOrd="0" presId="urn:microsoft.com/office/officeart/2005/8/layout/vProcess5"/>
    <dgm:cxn modelId="{B4A63C4D-F4A4-48CF-AD07-32D23109B6F7}" type="presOf" srcId="{2DC3C273-491C-4B8E-AC20-95493FA65155}" destId="{3D784E9F-B7D9-4382-8F74-0386B2506E62}" srcOrd="0" destOrd="0" presId="urn:microsoft.com/office/officeart/2005/8/layout/vProcess5"/>
    <dgm:cxn modelId="{3386AE85-CB74-4403-AF5F-18784E9820F4}" type="presOf" srcId="{65A5EB36-C02B-444F-908D-221D4A53C158}" destId="{853DC215-85D8-488C-B0E8-06E3A93AAE2F}" srcOrd="1" destOrd="0" presId="urn:microsoft.com/office/officeart/2005/8/layout/vProcess5"/>
    <dgm:cxn modelId="{5A21CE74-E414-4CAA-B6E4-ECBE02B69C3B}" type="presParOf" srcId="{BB714D90-7AF6-4C34-BDAD-4AA5B11E6650}" destId="{B40B5374-DB02-47AA-BBED-445C4D0685FB}" srcOrd="0" destOrd="0" presId="urn:microsoft.com/office/officeart/2005/8/layout/vProcess5"/>
    <dgm:cxn modelId="{C74D4453-6B88-42DA-BE0A-A4570CE0E18F}" type="presParOf" srcId="{BB714D90-7AF6-4C34-BDAD-4AA5B11E6650}" destId="{9ACF3D06-0F32-4323-9EA8-67FE36D2D5C7}" srcOrd="1" destOrd="0" presId="urn:microsoft.com/office/officeart/2005/8/layout/vProcess5"/>
    <dgm:cxn modelId="{360B44F2-1CAA-4D57-AD1C-8467E9DD5109}" type="presParOf" srcId="{BB714D90-7AF6-4C34-BDAD-4AA5B11E6650}" destId="{78DF38E6-A2E8-492D-AE59-35825DE8AD5C}" srcOrd="2" destOrd="0" presId="urn:microsoft.com/office/officeart/2005/8/layout/vProcess5"/>
    <dgm:cxn modelId="{D24F78C0-3FDC-46AC-ACA3-168051C3AACF}" type="presParOf" srcId="{BB714D90-7AF6-4C34-BDAD-4AA5B11E6650}" destId="{AD4946CE-1D4E-411D-8136-A2EC6D56C847}" srcOrd="3" destOrd="0" presId="urn:microsoft.com/office/officeart/2005/8/layout/vProcess5"/>
    <dgm:cxn modelId="{9C207468-F026-40A7-A334-91B99791AAA6}" type="presParOf" srcId="{BB714D90-7AF6-4C34-BDAD-4AA5B11E6650}" destId="{B64EE6F4-5965-40D1-A923-358572039310}" srcOrd="4" destOrd="0" presId="urn:microsoft.com/office/officeart/2005/8/layout/vProcess5"/>
    <dgm:cxn modelId="{924F6E94-5CCB-4DB9-B50C-7C9AF8C3C2A5}" type="presParOf" srcId="{BB714D90-7AF6-4C34-BDAD-4AA5B11E6650}" destId="{69E0B318-1532-4E2B-96CC-46C6F483A4AD}" srcOrd="5" destOrd="0" presId="urn:microsoft.com/office/officeart/2005/8/layout/vProcess5"/>
    <dgm:cxn modelId="{63694C0C-9E6D-434D-859E-9A7FCEDA1C02}" type="presParOf" srcId="{BB714D90-7AF6-4C34-BDAD-4AA5B11E6650}" destId="{1C44B932-E83E-46E1-80AF-1D5F02F1B48B}" srcOrd="6" destOrd="0" presId="urn:microsoft.com/office/officeart/2005/8/layout/vProcess5"/>
    <dgm:cxn modelId="{764546B8-73F7-42BF-83BA-2457884A270A}" type="presParOf" srcId="{BB714D90-7AF6-4C34-BDAD-4AA5B11E6650}" destId="{3D784E9F-B7D9-4382-8F74-0386B2506E62}" srcOrd="7" destOrd="0" presId="urn:microsoft.com/office/officeart/2005/8/layout/vProcess5"/>
    <dgm:cxn modelId="{AC4A0447-CC43-45AC-851A-D5CE3995472C}" type="presParOf" srcId="{BB714D90-7AF6-4C34-BDAD-4AA5B11E6650}" destId="{EEB4B1B3-FC7B-4DE7-9789-146BA0BFF791}" srcOrd="8" destOrd="0" presId="urn:microsoft.com/office/officeart/2005/8/layout/vProcess5"/>
    <dgm:cxn modelId="{C6DDC5E6-52EA-4EF1-9DF6-4F917F843212}" type="presParOf" srcId="{BB714D90-7AF6-4C34-BDAD-4AA5B11E6650}" destId="{4361269E-9AF3-4EB0-B82B-06A1A212425A}" srcOrd="9" destOrd="0" presId="urn:microsoft.com/office/officeart/2005/8/layout/vProcess5"/>
    <dgm:cxn modelId="{3AC2BB76-6DD6-434E-B955-80DDD37F962C}" type="presParOf" srcId="{BB714D90-7AF6-4C34-BDAD-4AA5B11E6650}" destId="{853DC215-85D8-488C-B0E8-06E3A93AAE2F}" srcOrd="10" destOrd="0" presId="urn:microsoft.com/office/officeart/2005/8/layout/vProcess5"/>
    <dgm:cxn modelId="{FA82F322-93D2-48C6-AEDD-8623ED06E6A4}" type="presParOf" srcId="{BB714D90-7AF6-4C34-BDAD-4AA5B11E6650}" destId="{2CAC5657-9FF0-4B9A-B487-AD69859EF9C7}" srcOrd="11" destOrd="0" presId="urn:microsoft.com/office/officeart/2005/8/layout/vProcess5"/>
    <dgm:cxn modelId="{F95C6DD2-F05E-4FB5-ABB1-0378DC89BCEB}" type="presParOf" srcId="{BB714D90-7AF6-4C34-BDAD-4AA5B11E6650}" destId="{F7797637-0792-4E38-B6A4-41E18D8D213F}" srcOrd="12" destOrd="0" presId="urn:microsoft.com/office/officeart/2005/8/layout/vProcess5"/>
    <dgm:cxn modelId="{8012EFEE-2F9A-4B79-95E6-5E630B729B47}" type="presParOf" srcId="{BB714D90-7AF6-4C34-BDAD-4AA5B11E6650}" destId="{B1BDEF3C-79A6-4734-98D2-AA12407E193A}" srcOrd="13" destOrd="0" presId="urn:microsoft.com/office/officeart/2005/8/layout/vProcess5"/>
    <dgm:cxn modelId="{B8D2D9D3-2BE5-473B-B579-B5B69E0E5EF9}" type="presParOf" srcId="{BB714D90-7AF6-4C34-BDAD-4AA5B11E6650}" destId="{ED48EF1D-69A0-46C8-AD9A-4D4BB71CDF1B}"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935DA5E-3EC1-4569-A4E9-7F62BB6A2D32}"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55CA12FD-E77E-4690-93D2-C6E8FC8BBF9D}">
      <dgm:prSet/>
      <dgm:spPr/>
      <dgm:t>
        <a:bodyPr/>
        <a:lstStyle/>
        <a:p>
          <a:r>
            <a:rPr lang="en-US" b="1" smtClean="0"/>
            <a:t>Expository</a:t>
          </a:r>
          <a:endParaRPr lang="en-US" b="1"/>
        </a:p>
      </dgm:t>
    </dgm:pt>
    <dgm:pt modelId="{4B124CE6-2701-465C-9256-7F63D28549A7}" type="parTrans" cxnId="{039027E7-3639-4409-8ECC-684423225C21}">
      <dgm:prSet/>
      <dgm:spPr/>
      <dgm:t>
        <a:bodyPr/>
        <a:lstStyle/>
        <a:p>
          <a:endParaRPr lang="en-US"/>
        </a:p>
      </dgm:t>
    </dgm:pt>
    <dgm:pt modelId="{B0F25CC4-0B5B-4B7B-B8B2-93497D85FF4F}" type="sibTrans" cxnId="{039027E7-3639-4409-8ECC-684423225C21}">
      <dgm:prSet/>
      <dgm:spPr/>
      <dgm:t>
        <a:bodyPr/>
        <a:lstStyle/>
        <a:p>
          <a:endParaRPr lang="en-US"/>
        </a:p>
      </dgm:t>
    </dgm:pt>
    <dgm:pt modelId="{98BBAC5F-3ED4-4CF9-85D5-0D3585631633}">
      <dgm:prSet/>
      <dgm:spPr/>
      <dgm:t>
        <a:bodyPr/>
        <a:lstStyle/>
        <a:p>
          <a:r>
            <a:rPr lang="en-US" b="1" smtClean="0"/>
            <a:t>Descriptive</a:t>
          </a:r>
          <a:endParaRPr lang="en-US" b="1"/>
        </a:p>
      </dgm:t>
    </dgm:pt>
    <dgm:pt modelId="{2D70E20B-715C-4E4A-A7BC-92B3BE6FB417}" type="parTrans" cxnId="{49F64BE2-A3D3-4F08-AF4E-0175E8BF4FC3}">
      <dgm:prSet/>
      <dgm:spPr/>
      <dgm:t>
        <a:bodyPr/>
        <a:lstStyle/>
        <a:p>
          <a:endParaRPr lang="en-US"/>
        </a:p>
      </dgm:t>
    </dgm:pt>
    <dgm:pt modelId="{DE978603-ABCA-4FD2-A0AD-882E96D71EB6}" type="sibTrans" cxnId="{49F64BE2-A3D3-4F08-AF4E-0175E8BF4FC3}">
      <dgm:prSet/>
      <dgm:spPr/>
      <dgm:t>
        <a:bodyPr/>
        <a:lstStyle/>
        <a:p>
          <a:endParaRPr lang="en-US"/>
        </a:p>
      </dgm:t>
    </dgm:pt>
    <dgm:pt modelId="{5D347E2E-BDEE-4D39-8A19-DC6F588A8BC7}">
      <dgm:prSet/>
      <dgm:spPr/>
      <dgm:t>
        <a:bodyPr/>
        <a:lstStyle/>
        <a:p>
          <a:r>
            <a:rPr lang="en-US" b="1" smtClean="0"/>
            <a:t>Persuasive</a:t>
          </a:r>
          <a:endParaRPr lang="en-US" b="1"/>
        </a:p>
      </dgm:t>
    </dgm:pt>
    <dgm:pt modelId="{E8787596-66C1-4320-8B9C-5474C152B589}" type="parTrans" cxnId="{51D73E61-8BCF-41FC-AAF1-D49C5F30849C}">
      <dgm:prSet/>
      <dgm:spPr/>
      <dgm:t>
        <a:bodyPr/>
        <a:lstStyle/>
        <a:p>
          <a:endParaRPr lang="en-US"/>
        </a:p>
      </dgm:t>
    </dgm:pt>
    <dgm:pt modelId="{775DD52C-3BBD-4E76-8934-7D22103687D7}" type="sibTrans" cxnId="{51D73E61-8BCF-41FC-AAF1-D49C5F30849C}">
      <dgm:prSet/>
      <dgm:spPr/>
      <dgm:t>
        <a:bodyPr/>
        <a:lstStyle/>
        <a:p>
          <a:endParaRPr lang="en-US"/>
        </a:p>
      </dgm:t>
    </dgm:pt>
    <dgm:pt modelId="{43F974A0-23C4-4E98-866F-BF4773A91B54}">
      <dgm:prSet/>
      <dgm:spPr/>
      <dgm:t>
        <a:bodyPr/>
        <a:lstStyle/>
        <a:p>
          <a:r>
            <a:rPr lang="en-US" b="1" smtClean="0"/>
            <a:t>Narrative</a:t>
          </a:r>
          <a:endParaRPr lang="en-US" b="1"/>
        </a:p>
      </dgm:t>
    </dgm:pt>
    <dgm:pt modelId="{9847FC78-F862-4B31-9A5E-F19BDC31E9A4}" type="sibTrans" cxnId="{DAB01E69-162E-440B-A81A-6BCA476980F8}">
      <dgm:prSet/>
      <dgm:spPr/>
      <dgm:t>
        <a:bodyPr/>
        <a:lstStyle/>
        <a:p>
          <a:endParaRPr lang="en-US"/>
        </a:p>
      </dgm:t>
    </dgm:pt>
    <dgm:pt modelId="{17343332-79D5-40BE-9EE3-0CEEB04B6653}" type="parTrans" cxnId="{DAB01E69-162E-440B-A81A-6BCA476980F8}">
      <dgm:prSet/>
      <dgm:spPr/>
      <dgm:t>
        <a:bodyPr/>
        <a:lstStyle/>
        <a:p>
          <a:endParaRPr lang="en-US"/>
        </a:p>
      </dgm:t>
    </dgm:pt>
    <dgm:pt modelId="{28DD85B1-FF5A-492E-9A61-723DF0B45EA5}" type="pres">
      <dgm:prSet presAssocID="{D935DA5E-3EC1-4569-A4E9-7F62BB6A2D32}" presName="vert0" presStyleCnt="0">
        <dgm:presLayoutVars>
          <dgm:dir/>
          <dgm:animOne val="branch"/>
          <dgm:animLvl val="lvl"/>
        </dgm:presLayoutVars>
      </dgm:prSet>
      <dgm:spPr/>
      <dgm:t>
        <a:bodyPr/>
        <a:lstStyle/>
        <a:p>
          <a:endParaRPr lang="en-US"/>
        </a:p>
      </dgm:t>
    </dgm:pt>
    <dgm:pt modelId="{346356BB-92F9-465F-BE7E-B8711C5FBC9C}" type="pres">
      <dgm:prSet presAssocID="{55CA12FD-E77E-4690-93D2-C6E8FC8BBF9D}" presName="thickLine" presStyleLbl="alignNode1" presStyleIdx="0" presStyleCnt="4"/>
      <dgm:spPr/>
    </dgm:pt>
    <dgm:pt modelId="{3B74094D-EE2B-49CE-9FF2-A4AE26227393}" type="pres">
      <dgm:prSet presAssocID="{55CA12FD-E77E-4690-93D2-C6E8FC8BBF9D}" presName="horz1" presStyleCnt="0"/>
      <dgm:spPr/>
    </dgm:pt>
    <dgm:pt modelId="{AB4FE7A7-EB8F-41A0-9183-F713684C7337}" type="pres">
      <dgm:prSet presAssocID="{55CA12FD-E77E-4690-93D2-C6E8FC8BBF9D}" presName="tx1" presStyleLbl="revTx" presStyleIdx="0" presStyleCnt="4"/>
      <dgm:spPr/>
      <dgm:t>
        <a:bodyPr/>
        <a:lstStyle/>
        <a:p>
          <a:endParaRPr lang="en-US"/>
        </a:p>
      </dgm:t>
    </dgm:pt>
    <dgm:pt modelId="{05E8A007-D106-45E1-B60A-36732C79CAEB}" type="pres">
      <dgm:prSet presAssocID="{55CA12FD-E77E-4690-93D2-C6E8FC8BBF9D}" presName="vert1" presStyleCnt="0"/>
      <dgm:spPr/>
    </dgm:pt>
    <dgm:pt modelId="{A66C8837-8913-43C4-A72A-EB9CB459F3A7}" type="pres">
      <dgm:prSet presAssocID="{5D347E2E-BDEE-4D39-8A19-DC6F588A8BC7}" presName="thickLine" presStyleLbl="alignNode1" presStyleIdx="1" presStyleCnt="4"/>
      <dgm:spPr/>
    </dgm:pt>
    <dgm:pt modelId="{439C2F6E-D993-4E1F-B207-EC9B93012860}" type="pres">
      <dgm:prSet presAssocID="{5D347E2E-BDEE-4D39-8A19-DC6F588A8BC7}" presName="horz1" presStyleCnt="0"/>
      <dgm:spPr/>
    </dgm:pt>
    <dgm:pt modelId="{50DE622E-A667-4151-964A-FE68F8ABCB91}" type="pres">
      <dgm:prSet presAssocID="{5D347E2E-BDEE-4D39-8A19-DC6F588A8BC7}" presName="tx1" presStyleLbl="revTx" presStyleIdx="1" presStyleCnt="4"/>
      <dgm:spPr/>
      <dgm:t>
        <a:bodyPr/>
        <a:lstStyle/>
        <a:p>
          <a:endParaRPr lang="en-US"/>
        </a:p>
      </dgm:t>
    </dgm:pt>
    <dgm:pt modelId="{5B7FD492-8262-428F-9A81-E2EFE23A9844}" type="pres">
      <dgm:prSet presAssocID="{5D347E2E-BDEE-4D39-8A19-DC6F588A8BC7}" presName="vert1" presStyleCnt="0"/>
      <dgm:spPr/>
    </dgm:pt>
    <dgm:pt modelId="{698324D1-FF10-4E32-9897-7B62787F94A2}" type="pres">
      <dgm:prSet presAssocID="{98BBAC5F-3ED4-4CF9-85D5-0D3585631633}" presName="thickLine" presStyleLbl="alignNode1" presStyleIdx="2" presStyleCnt="4"/>
      <dgm:spPr/>
    </dgm:pt>
    <dgm:pt modelId="{EAF8FD0C-D23E-4EB3-8569-348430F065CC}" type="pres">
      <dgm:prSet presAssocID="{98BBAC5F-3ED4-4CF9-85D5-0D3585631633}" presName="horz1" presStyleCnt="0"/>
      <dgm:spPr/>
    </dgm:pt>
    <dgm:pt modelId="{0815AC29-56BF-4A89-9466-8669C91D6EFF}" type="pres">
      <dgm:prSet presAssocID="{98BBAC5F-3ED4-4CF9-85D5-0D3585631633}" presName="tx1" presStyleLbl="revTx" presStyleIdx="2" presStyleCnt="4"/>
      <dgm:spPr/>
      <dgm:t>
        <a:bodyPr/>
        <a:lstStyle/>
        <a:p>
          <a:endParaRPr lang="en-US"/>
        </a:p>
      </dgm:t>
    </dgm:pt>
    <dgm:pt modelId="{C3F4745B-BE8A-47B2-A1F5-2368C702F52D}" type="pres">
      <dgm:prSet presAssocID="{98BBAC5F-3ED4-4CF9-85D5-0D3585631633}" presName="vert1" presStyleCnt="0"/>
      <dgm:spPr/>
    </dgm:pt>
    <dgm:pt modelId="{E24F74CC-CA36-4B33-B7E5-F1AAEC600383}" type="pres">
      <dgm:prSet presAssocID="{43F974A0-23C4-4E98-866F-BF4773A91B54}" presName="thickLine" presStyleLbl="alignNode1" presStyleIdx="3" presStyleCnt="4"/>
      <dgm:spPr/>
    </dgm:pt>
    <dgm:pt modelId="{7F10B0CD-1F20-4B5F-9B4D-75E2A36A12E4}" type="pres">
      <dgm:prSet presAssocID="{43F974A0-23C4-4E98-866F-BF4773A91B54}" presName="horz1" presStyleCnt="0"/>
      <dgm:spPr/>
    </dgm:pt>
    <dgm:pt modelId="{34ED6D2E-79D6-4AA3-9900-94A1A74EB002}" type="pres">
      <dgm:prSet presAssocID="{43F974A0-23C4-4E98-866F-BF4773A91B54}" presName="tx1" presStyleLbl="revTx" presStyleIdx="3" presStyleCnt="4"/>
      <dgm:spPr/>
      <dgm:t>
        <a:bodyPr/>
        <a:lstStyle/>
        <a:p>
          <a:endParaRPr lang="en-US"/>
        </a:p>
      </dgm:t>
    </dgm:pt>
    <dgm:pt modelId="{67238A19-60F8-43DF-8B3A-BB802F0AB5D8}" type="pres">
      <dgm:prSet presAssocID="{43F974A0-23C4-4E98-866F-BF4773A91B54}" presName="vert1" presStyleCnt="0"/>
      <dgm:spPr/>
    </dgm:pt>
  </dgm:ptLst>
  <dgm:cxnLst>
    <dgm:cxn modelId="{315D4950-DA90-47A5-83DB-43D5AE34A3DB}" type="presOf" srcId="{D935DA5E-3EC1-4569-A4E9-7F62BB6A2D32}" destId="{28DD85B1-FF5A-492E-9A61-723DF0B45EA5}" srcOrd="0" destOrd="0" presId="urn:microsoft.com/office/officeart/2008/layout/LinedList"/>
    <dgm:cxn modelId="{49F64BE2-A3D3-4F08-AF4E-0175E8BF4FC3}" srcId="{D935DA5E-3EC1-4569-A4E9-7F62BB6A2D32}" destId="{98BBAC5F-3ED4-4CF9-85D5-0D3585631633}" srcOrd="2" destOrd="0" parTransId="{2D70E20B-715C-4E4A-A7BC-92B3BE6FB417}" sibTransId="{DE978603-ABCA-4FD2-A0AD-882E96D71EB6}"/>
    <dgm:cxn modelId="{51D73E61-8BCF-41FC-AAF1-D49C5F30849C}" srcId="{D935DA5E-3EC1-4569-A4E9-7F62BB6A2D32}" destId="{5D347E2E-BDEE-4D39-8A19-DC6F588A8BC7}" srcOrd="1" destOrd="0" parTransId="{E8787596-66C1-4320-8B9C-5474C152B589}" sibTransId="{775DD52C-3BBD-4E76-8934-7D22103687D7}"/>
    <dgm:cxn modelId="{039027E7-3639-4409-8ECC-684423225C21}" srcId="{D935DA5E-3EC1-4569-A4E9-7F62BB6A2D32}" destId="{55CA12FD-E77E-4690-93D2-C6E8FC8BBF9D}" srcOrd="0" destOrd="0" parTransId="{4B124CE6-2701-465C-9256-7F63D28549A7}" sibTransId="{B0F25CC4-0B5B-4B7B-B8B2-93497D85FF4F}"/>
    <dgm:cxn modelId="{3CDA41E8-07F8-408F-A700-D3FF604DF70E}" type="presOf" srcId="{43F974A0-23C4-4E98-866F-BF4773A91B54}" destId="{34ED6D2E-79D6-4AA3-9900-94A1A74EB002}" srcOrd="0" destOrd="0" presId="urn:microsoft.com/office/officeart/2008/layout/LinedList"/>
    <dgm:cxn modelId="{1CEE59F9-2923-4603-AD18-579E832865DE}" type="presOf" srcId="{5D347E2E-BDEE-4D39-8A19-DC6F588A8BC7}" destId="{50DE622E-A667-4151-964A-FE68F8ABCB91}" srcOrd="0" destOrd="0" presId="urn:microsoft.com/office/officeart/2008/layout/LinedList"/>
    <dgm:cxn modelId="{99EBD359-648C-4FF8-8C77-1A7C77734E6F}" type="presOf" srcId="{55CA12FD-E77E-4690-93D2-C6E8FC8BBF9D}" destId="{AB4FE7A7-EB8F-41A0-9183-F713684C7337}" srcOrd="0" destOrd="0" presId="urn:microsoft.com/office/officeart/2008/layout/LinedList"/>
    <dgm:cxn modelId="{7973EA6A-E788-4343-9892-EFE815F72672}" type="presOf" srcId="{98BBAC5F-3ED4-4CF9-85D5-0D3585631633}" destId="{0815AC29-56BF-4A89-9466-8669C91D6EFF}" srcOrd="0" destOrd="0" presId="urn:microsoft.com/office/officeart/2008/layout/LinedList"/>
    <dgm:cxn modelId="{DAB01E69-162E-440B-A81A-6BCA476980F8}" srcId="{D935DA5E-3EC1-4569-A4E9-7F62BB6A2D32}" destId="{43F974A0-23C4-4E98-866F-BF4773A91B54}" srcOrd="3" destOrd="0" parTransId="{17343332-79D5-40BE-9EE3-0CEEB04B6653}" sibTransId="{9847FC78-F862-4B31-9A5E-F19BDC31E9A4}"/>
    <dgm:cxn modelId="{4DA5B38B-38AB-4B65-82DD-1B12ED0348A1}" type="presParOf" srcId="{28DD85B1-FF5A-492E-9A61-723DF0B45EA5}" destId="{346356BB-92F9-465F-BE7E-B8711C5FBC9C}" srcOrd="0" destOrd="0" presId="urn:microsoft.com/office/officeart/2008/layout/LinedList"/>
    <dgm:cxn modelId="{E79144EB-57D1-458F-90E9-C6A996F45A7B}" type="presParOf" srcId="{28DD85B1-FF5A-492E-9A61-723DF0B45EA5}" destId="{3B74094D-EE2B-49CE-9FF2-A4AE26227393}" srcOrd="1" destOrd="0" presId="urn:microsoft.com/office/officeart/2008/layout/LinedList"/>
    <dgm:cxn modelId="{C72FA3D8-D907-4A7C-B6F7-00116CE52AB4}" type="presParOf" srcId="{3B74094D-EE2B-49CE-9FF2-A4AE26227393}" destId="{AB4FE7A7-EB8F-41A0-9183-F713684C7337}" srcOrd="0" destOrd="0" presId="urn:microsoft.com/office/officeart/2008/layout/LinedList"/>
    <dgm:cxn modelId="{94B80683-5952-4333-A6D0-DAED7A4079FB}" type="presParOf" srcId="{3B74094D-EE2B-49CE-9FF2-A4AE26227393}" destId="{05E8A007-D106-45E1-B60A-36732C79CAEB}" srcOrd="1" destOrd="0" presId="urn:microsoft.com/office/officeart/2008/layout/LinedList"/>
    <dgm:cxn modelId="{72C800C7-B869-48E1-B90A-45408052948A}" type="presParOf" srcId="{28DD85B1-FF5A-492E-9A61-723DF0B45EA5}" destId="{A66C8837-8913-43C4-A72A-EB9CB459F3A7}" srcOrd="2" destOrd="0" presId="urn:microsoft.com/office/officeart/2008/layout/LinedList"/>
    <dgm:cxn modelId="{FBC30422-2144-43A7-A85E-5497DD3574ED}" type="presParOf" srcId="{28DD85B1-FF5A-492E-9A61-723DF0B45EA5}" destId="{439C2F6E-D993-4E1F-B207-EC9B93012860}" srcOrd="3" destOrd="0" presId="urn:microsoft.com/office/officeart/2008/layout/LinedList"/>
    <dgm:cxn modelId="{E3E8BCD9-F857-48F3-9C5C-6C781792A4E0}" type="presParOf" srcId="{439C2F6E-D993-4E1F-B207-EC9B93012860}" destId="{50DE622E-A667-4151-964A-FE68F8ABCB91}" srcOrd="0" destOrd="0" presId="urn:microsoft.com/office/officeart/2008/layout/LinedList"/>
    <dgm:cxn modelId="{3620A78D-68F6-4D4C-850D-D4C2D50BC869}" type="presParOf" srcId="{439C2F6E-D993-4E1F-B207-EC9B93012860}" destId="{5B7FD492-8262-428F-9A81-E2EFE23A9844}" srcOrd="1" destOrd="0" presId="urn:microsoft.com/office/officeart/2008/layout/LinedList"/>
    <dgm:cxn modelId="{32FA2BA3-3CDD-4046-B21A-63219FB08A5A}" type="presParOf" srcId="{28DD85B1-FF5A-492E-9A61-723DF0B45EA5}" destId="{698324D1-FF10-4E32-9897-7B62787F94A2}" srcOrd="4" destOrd="0" presId="urn:microsoft.com/office/officeart/2008/layout/LinedList"/>
    <dgm:cxn modelId="{87257F9C-94E2-449F-ADA6-B8F530F8B45D}" type="presParOf" srcId="{28DD85B1-FF5A-492E-9A61-723DF0B45EA5}" destId="{EAF8FD0C-D23E-4EB3-8569-348430F065CC}" srcOrd="5" destOrd="0" presId="urn:microsoft.com/office/officeart/2008/layout/LinedList"/>
    <dgm:cxn modelId="{66F5B386-0148-4A4A-9F24-CF731792FC7C}" type="presParOf" srcId="{EAF8FD0C-D23E-4EB3-8569-348430F065CC}" destId="{0815AC29-56BF-4A89-9466-8669C91D6EFF}" srcOrd="0" destOrd="0" presId="urn:microsoft.com/office/officeart/2008/layout/LinedList"/>
    <dgm:cxn modelId="{D35D85EE-1B73-48B9-A6C0-6F42368A310E}" type="presParOf" srcId="{EAF8FD0C-D23E-4EB3-8569-348430F065CC}" destId="{C3F4745B-BE8A-47B2-A1F5-2368C702F52D}" srcOrd="1" destOrd="0" presId="urn:microsoft.com/office/officeart/2008/layout/LinedList"/>
    <dgm:cxn modelId="{54DE2932-17EA-4BB3-BBC0-BCC0EA0FC42F}" type="presParOf" srcId="{28DD85B1-FF5A-492E-9A61-723DF0B45EA5}" destId="{E24F74CC-CA36-4B33-B7E5-F1AAEC600383}" srcOrd="6" destOrd="0" presId="urn:microsoft.com/office/officeart/2008/layout/LinedList"/>
    <dgm:cxn modelId="{3F0E2476-8E54-4686-8E89-11AB61D37636}" type="presParOf" srcId="{28DD85B1-FF5A-492E-9A61-723DF0B45EA5}" destId="{7F10B0CD-1F20-4B5F-9B4D-75E2A36A12E4}" srcOrd="7" destOrd="0" presId="urn:microsoft.com/office/officeart/2008/layout/LinedList"/>
    <dgm:cxn modelId="{FABBCE20-4BF2-47B0-AE4C-235513FC14E6}" type="presParOf" srcId="{7F10B0CD-1F20-4B5F-9B4D-75E2A36A12E4}" destId="{34ED6D2E-79D6-4AA3-9900-94A1A74EB002}" srcOrd="0" destOrd="0" presId="urn:microsoft.com/office/officeart/2008/layout/LinedList"/>
    <dgm:cxn modelId="{AF96484D-E0A2-42C2-B355-DA9F3B9636CE}" type="presParOf" srcId="{7F10B0CD-1F20-4B5F-9B4D-75E2A36A12E4}" destId="{67238A19-60F8-43DF-8B3A-BB802F0AB5D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B2FD9FC-CFC9-41A3-8F3F-32E4D3D54460}" type="doc">
      <dgm:prSet loTypeId="urn:microsoft.com/office/officeart/2005/8/layout/process4" loCatId="process" qsTypeId="urn:microsoft.com/office/officeart/2005/8/quickstyle/simple1" qsCatId="simple" csTypeId="urn:microsoft.com/office/officeart/2005/8/colors/colorful4" csCatId="colorful" phldr="1"/>
      <dgm:spPr/>
      <dgm:t>
        <a:bodyPr/>
        <a:lstStyle/>
        <a:p>
          <a:endParaRPr lang="en-US"/>
        </a:p>
      </dgm:t>
    </dgm:pt>
    <dgm:pt modelId="{BFE114F9-877A-44C4-BD0A-73509C243E70}">
      <dgm:prSet phldrT="[Text]"/>
      <dgm:spPr/>
      <dgm:t>
        <a:bodyPr/>
        <a:lstStyle/>
        <a:p>
          <a:r>
            <a:rPr lang="en-US" dirty="0" smtClean="0"/>
            <a:t>Introduction </a:t>
          </a:r>
          <a:endParaRPr lang="en-US" dirty="0"/>
        </a:p>
      </dgm:t>
    </dgm:pt>
    <dgm:pt modelId="{C9F658D9-C04E-406D-9E84-EDAADEEB3158}" type="parTrans" cxnId="{F4A07733-24CA-4937-BFAF-167888F09CA2}">
      <dgm:prSet/>
      <dgm:spPr/>
      <dgm:t>
        <a:bodyPr/>
        <a:lstStyle/>
        <a:p>
          <a:endParaRPr lang="en-US"/>
        </a:p>
      </dgm:t>
    </dgm:pt>
    <dgm:pt modelId="{F0095846-B78F-4438-B85C-F02DD2E17D51}" type="sibTrans" cxnId="{F4A07733-24CA-4937-BFAF-167888F09CA2}">
      <dgm:prSet/>
      <dgm:spPr/>
      <dgm:t>
        <a:bodyPr/>
        <a:lstStyle/>
        <a:p>
          <a:endParaRPr lang="en-US"/>
        </a:p>
      </dgm:t>
    </dgm:pt>
    <dgm:pt modelId="{F21902F3-9AC7-4DAB-816C-030EED61AC38}">
      <dgm:prSet phldrT="[Text]"/>
      <dgm:spPr/>
      <dgm:t>
        <a:bodyPr/>
        <a:lstStyle/>
        <a:p>
          <a:r>
            <a:rPr lang="en-US" dirty="0" smtClean="0"/>
            <a:t>Body Paragraph </a:t>
          </a:r>
          <a:endParaRPr lang="en-US" dirty="0"/>
        </a:p>
      </dgm:t>
    </dgm:pt>
    <dgm:pt modelId="{11F992BE-FED6-4C7A-A9C1-CD336FAB32B2}" type="parTrans" cxnId="{3A17ECB1-5153-4E2A-AD05-A7AB72648CF5}">
      <dgm:prSet/>
      <dgm:spPr/>
      <dgm:t>
        <a:bodyPr/>
        <a:lstStyle/>
        <a:p>
          <a:endParaRPr lang="en-US"/>
        </a:p>
      </dgm:t>
    </dgm:pt>
    <dgm:pt modelId="{523164A7-3BEA-4A81-A317-D8A849C855F8}" type="sibTrans" cxnId="{3A17ECB1-5153-4E2A-AD05-A7AB72648CF5}">
      <dgm:prSet/>
      <dgm:spPr/>
      <dgm:t>
        <a:bodyPr/>
        <a:lstStyle/>
        <a:p>
          <a:endParaRPr lang="en-US"/>
        </a:p>
      </dgm:t>
    </dgm:pt>
    <dgm:pt modelId="{F5049B11-1878-49C0-838B-B8B5BE86258F}">
      <dgm:prSet phldrT="[Text]"/>
      <dgm:spPr/>
      <dgm:t>
        <a:bodyPr/>
        <a:lstStyle/>
        <a:p>
          <a:r>
            <a:rPr lang="en-US" dirty="0" smtClean="0"/>
            <a:t>Conclusion </a:t>
          </a:r>
          <a:endParaRPr lang="en-US" dirty="0"/>
        </a:p>
      </dgm:t>
    </dgm:pt>
    <dgm:pt modelId="{5AA5737D-F5C4-4B1D-A7B6-B3258ADAB28D}" type="parTrans" cxnId="{6195FC7F-1070-4313-A2CE-7E8C8D52C62F}">
      <dgm:prSet/>
      <dgm:spPr/>
      <dgm:t>
        <a:bodyPr/>
        <a:lstStyle/>
        <a:p>
          <a:endParaRPr lang="en-US"/>
        </a:p>
      </dgm:t>
    </dgm:pt>
    <dgm:pt modelId="{72337384-84AA-47D4-9FBA-86A59BBC2E89}" type="sibTrans" cxnId="{6195FC7F-1070-4313-A2CE-7E8C8D52C62F}">
      <dgm:prSet/>
      <dgm:spPr/>
      <dgm:t>
        <a:bodyPr/>
        <a:lstStyle/>
        <a:p>
          <a:endParaRPr lang="en-US"/>
        </a:p>
      </dgm:t>
    </dgm:pt>
    <dgm:pt modelId="{F5E58193-ADE6-43C3-9EC6-15C0E739C11B}" type="pres">
      <dgm:prSet presAssocID="{5B2FD9FC-CFC9-41A3-8F3F-32E4D3D54460}" presName="Name0" presStyleCnt="0">
        <dgm:presLayoutVars>
          <dgm:dir/>
          <dgm:animLvl val="lvl"/>
          <dgm:resizeHandles val="exact"/>
        </dgm:presLayoutVars>
      </dgm:prSet>
      <dgm:spPr/>
      <dgm:t>
        <a:bodyPr/>
        <a:lstStyle/>
        <a:p>
          <a:endParaRPr lang="en-US"/>
        </a:p>
      </dgm:t>
    </dgm:pt>
    <dgm:pt modelId="{600FC2B4-1340-4BEA-9A2E-937AADBADF56}" type="pres">
      <dgm:prSet presAssocID="{F5049B11-1878-49C0-838B-B8B5BE86258F}" presName="boxAndChildren" presStyleCnt="0"/>
      <dgm:spPr/>
    </dgm:pt>
    <dgm:pt modelId="{C326C4C0-47FE-4EE3-9714-894818DC9F3E}" type="pres">
      <dgm:prSet presAssocID="{F5049B11-1878-49C0-838B-B8B5BE86258F}" presName="parentTextBox" presStyleLbl="node1" presStyleIdx="0" presStyleCnt="3"/>
      <dgm:spPr/>
      <dgm:t>
        <a:bodyPr/>
        <a:lstStyle/>
        <a:p>
          <a:endParaRPr lang="en-US"/>
        </a:p>
      </dgm:t>
    </dgm:pt>
    <dgm:pt modelId="{4D119E9B-2F95-4F43-9A74-6E609A562F26}" type="pres">
      <dgm:prSet presAssocID="{523164A7-3BEA-4A81-A317-D8A849C855F8}" presName="sp" presStyleCnt="0"/>
      <dgm:spPr/>
    </dgm:pt>
    <dgm:pt modelId="{7C5275FC-9E9C-407A-AF35-CADDB648A832}" type="pres">
      <dgm:prSet presAssocID="{F21902F3-9AC7-4DAB-816C-030EED61AC38}" presName="arrowAndChildren" presStyleCnt="0"/>
      <dgm:spPr/>
    </dgm:pt>
    <dgm:pt modelId="{0EFCB0C5-3B98-4EB5-A26C-10E50EF953CB}" type="pres">
      <dgm:prSet presAssocID="{F21902F3-9AC7-4DAB-816C-030EED61AC38}" presName="parentTextArrow" presStyleLbl="node1" presStyleIdx="1" presStyleCnt="3"/>
      <dgm:spPr/>
      <dgm:t>
        <a:bodyPr/>
        <a:lstStyle/>
        <a:p>
          <a:endParaRPr lang="en-US"/>
        </a:p>
      </dgm:t>
    </dgm:pt>
    <dgm:pt modelId="{18308074-2EFE-4A03-98D8-8B65172523DE}" type="pres">
      <dgm:prSet presAssocID="{F0095846-B78F-4438-B85C-F02DD2E17D51}" presName="sp" presStyleCnt="0"/>
      <dgm:spPr/>
    </dgm:pt>
    <dgm:pt modelId="{8D53EBBD-49E6-49B7-BCA6-8670F646928A}" type="pres">
      <dgm:prSet presAssocID="{BFE114F9-877A-44C4-BD0A-73509C243E70}" presName="arrowAndChildren" presStyleCnt="0"/>
      <dgm:spPr/>
    </dgm:pt>
    <dgm:pt modelId="{C603E821-84A3-4BD6-B02D-52AAF6C6AE59}" type="pres">
      <dgm:prSet presAssocID="{BFE114F9-877A-44C4-BD0A-73509C243E70}" presName="parentTextArrow" presStyleLbl="node1" presStyleIdx="2" presStyleCnt="3"/>
      <dgm:spPr/>
      <dgm:t>
        <a:bodyPr/>
        <a:lstStyle/>
        <a:p>
          <a:endParaRPr lang="en-US"/>
        </a:p>
      </dgm:t>
    </dgm:pt>
  </dgm:ptLst>
  <dgm:cxnLst>
    <dgm:cxn modelId="{4285257A-8F3D-4ABA-9A0B-801807DD2E67}" type="presOf" srcId="{BFE114F9-877A-44C4-BD0A-73509C243E70}" destId="{C603E821-84A3-4BD6-B02D-52AAF6C6AE59}" srcOrd="0" destOrd="0" presId="urn:microsoft.com/office/officeart/2005/8/layout/process4"/>
    <dgm:cxn modelId="{68D0B7BF-FDC2-43A3-896E-F9041FFDE3D7}" type="presOf" srcId="{5B2FD9FC-CFC9-41A3-8F3F-32E4D3D54460}" destId="{F5E58193-ADE6-43C3-9EC6-15C0E739C11B}" srcOrd="0" destOrd="0" presId="urn:microsoft.com/office/officeart/2005/8/layout/process4"/>
    <dgm:cxn modelId="{2FFE2C9A-5558-4334-BB1E-D48399B79B2C}" type="presOf" srcId="{F21902F3-9AC7-4DAB-816C-030EED61AC38}" destId="{0EFCB0C5-3B98-4EB5-A26C-10E50EF953CB}" srcOrd="0" destOrd="0" presId="urn:microsoft.com/office/officeart/2005/8/layout/process4"/>
    <dgm:cxn modelId="{3A17ECB1-5153-4E2A-AD05-A7AB72648CF5}" srcId="{5B2FD9FC-CFC9-41A3-8F3F-32E4D3D54460}" destId="{F21902F3-9AC7-4DAB-816C-030EED61AC38}" srcOrd="1" destOrd="0" parTransId="{11F992BE-FED6-4C7A-A9C1-CD336FAB32B2}" sibTransId="{523164A7-3BEA-4A81-A317-D8A849C855F8}"/>
    <dgm:cxn modelId="{6195FC7F-1070-4313-A2CE-7E8C8D52C62F}" srcId="{5B2FD9FC-CFC9-41A3-8F3F-32E4D3D54460}" destId="{F5049B11-1878-49C0-838B-B8B5BE86258F}" srcOrd="2" destOrd="0" parTransId="{5AA5737D-F5C4-4B1D-A7B6-B3258ADAB28D}" sibTransId="{72337384-84AA-47D4-9FBA-86A59BBC2E89}"/>
    <dgm:cxn modelId="{5DF300C5-7F73-4F63-8A74-6BB215B947D9}" type="presOf" srcId="{F5049B11-1878-49C0-838B-B8B5BE86258F}" destId="{C326C4C0-47FE-4EE3-9714-894818DC9F3E}" srcOrd="0" destOrd="0" presId="urn:microsoft.com/office/officeart/2005/8/layout/process4"/>
    <dgm:cxn modelId="{F4A07733-24CA-4937-BFAF-167888F09CA2}" srcId="{5B2FD9FC-CFC9-41A3-8F3F-32E4D3D54460}" destId="{BFE114F9-877A-44C4-BD0A-73509C243E70}" srcOrd="0" destOrd="0" parTransId="{C9F658D9-C04E-406D-9E84-EDAADEEB3158}" sibTransId="{F0095846-B78F-4438-B85C-F02DD2E17D51}"/>
    <dgm:cxn modelId="{8B8C3B44-77BA-4401-9741-28399343984A}" type="presParOf" srcId="{F5E58193-ADE6-43C3-9EC6-15C0E739C11B}" destId="{600FC2B4-1340-4BEA-9A2E-937AADBADF56}" srcOrd="0" destOrd="0" presId="urn:microsoft.com/office/officeart/2005/8/layout/process4"/>
    <dgm:cxn modelId="{85DC035A-5208-4663-952B-5A8049129950}" type="presParOf" srcId="{600FC2B4-1340-4BEA-9A2E-937AADBADF56}" destId="{C326C4C0-47FE-4EE3-9714-894818DC9F3E}" srcOrd="0" destOrd="0" presId="urn:microsoft.com/office/officeart/2005/8/layout/process4"/>
    <dgm:cxn modelId="{6E061D09-DFB3-4EEE-AF28-2798F66DDE52}" type="presParOf" srcId="{F5E58193-ADE6-43C3-9EC6-15C0E739C11B}" destId="{4D119E9B-2F95-4F43-9A74-6E609A562F26}" srcOrd="1" destOrd="0" presId="urn:microsoft.com/office/officeart/2005/8/layout/process4"/>
    <dgm:cxn modelId="{25ABAEF6-F18F-4806-B685-B974FF970E39}" type="presParOf" srcId="{F5E58193-ADE6-43C3-9EC6-15C0E739C11B}" destId="{7C5275FC-9E9C-407A-AF35-CADDB648A832}" srcOrd="2" destOrd="0" presId="urn:microsoft.com/office/officeart/2005/8/layout/process4"/>
    <dgm:cxn modelId="{4E2CD313-0981-4247-9AF0-B27F4964B35C}" type="presParOf" srcId="{7C5275FC-9E9C-407A-AF35-CADDB648A832}" destId="{0EFCB0C5-3B98-4EB5-A26C-10E50EF953CB}" srcOrd="0" destOrd="0" presId="urn:microsoft.com/office/officeart/2005/8/layout/process4"/>
    <dgm:cxn modelId="{9B83DF47-FAE7-4136-ADCA-20BD408E3023}" type="presParOf" srcId="{F5E58193-ADE6-43C3-9EC6-15C0E739C11B}" destId="{18308074-2EFE-4A03-98D8-8B65172523DE}" srcOrd="3" destOrd="0" presId="urn:microsoft.com/office/officeart/2005/8/layout/process4"/>
    <dgm:cxn modelId="{C1138E5F-1003-4C49-AF7F-70DB702273B1}" type="presParOf" srcId="{F5E58193-ADE6-43C3-9EC6-15C0E739C11B}" destId="{8D53EBBD-49E6-49B7-BCA6-8670F646928A}" srcOrd="4" destOrd="0" presId="urn:microsoft.com/office/officeart/2005/8/layout/process4"/>
    <dgm:cxn modelId="{1A51CC9B-12A1-4C32-8941-CDB4A554E717}" type="presParOf" srcId="{8D53EBBD-49E6-49B7-BCA6-8670F646928A}" destId="{C603E821-84A3-4BD6-B02D-52AAF6C6AE59}"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3582674-F4DB-4935-940A-47ED0F03490B}" type="doc">
      <dgm:prSet loTypeId="urn:microsoft.com/office/officeart/2005/8/layout/arrow2" loCatId="process" qsTypeId="urn:microsoft.com/office/officeart/2005/8/quickstyle/simple1" qsCatId="simple" csTypeId="urn:microsoft.com/office/officeart/2005/8/colors/colorful1" csCatId="colorful" phldr="1"/>
      <dgm:spPr/>
      <dgm:t>
        <a:bodyPr/>
        <a:lstStyle/>
        <a:p>
          <a:endParaRPr lang="en-US"/>
        </a:p>
      </dgm:t>
    </dgm:pt>
    <dgm:pt modelId="{CE4757E9-5DCB-4839-A99E-E77768733F15}">
      <dgm:prSet phldrT="[Text]"/>
      <dgm:spPr/>
      <dgm:t>
        <a:bodyPr/>
        <a:lstStyle/>
        <a:p>
          <a:r>
            <a:rPr lang="en-US" dirty="0" smtClean="0"/>
            <a:t>Attention/ getter Hook </a:t>
          </a:r>
          <a:endParaRPr lang="en-US" dirty="0"/>
        </a:p>
      </dgm:t>
    </dgm:pt>
    <dgm:pt modelId="{8352F0A7-E27E-4860-AF19-2F510B784D6D}" type="parTrans" cxnId="{31E3B616-CFB7-4E81-A123-C70915DBCCD8}">
      <dgm:prSet/>
      <dgm:spPr/>
      <dgm:t>
        <a:bodyPr/>
        <a:lstStyle/>
        <a:p>
          <a:endParaRPr lang="en-US"/>
        </a:p>
      </dgm:t>
    </dgm:pt>
    <dgm:pt modelId="{17CA16AC-0BA5-4366-92D3-D14205513ACF}" type="sibTrans" cxnId="{31E3B616-CFB7-4E81-A123-C70915DBCCD8}">
      <dgm:prSet/>
      <dgm:spPr/>
      <dgm:t>
        <a:bodyPr/>
        <a:lstStyle/>
        <a:p>
          <a:endParaRPr lang="en-US"/>
        </a:p>
      </dgm:t>
    </dgm:pt>
    <dgm:pt modelId="{D4D2593E-64E6-441D-9E25-2534D47749A9}">
      <dgm:prSet phldrT="[Text]"/>
      <dgm:spPr/>
      <dgm:t>
        <a:bodyPr/>
        <a:lstStyle/>
        <a:p>
          <a:r>
            <a:rPr lang="en-US" dirty="0" smtClean="0"/>
            <a:t>Background Knowledge </a:t>
          </a:r>
          <a:endParaRPr lang="en-US" dirty="0"/>
        </a:p>
      </dgm:t>
    </dgm:pt>
    <dgm:pt modelId="{4CAACBDA-AAB8-4147-9254-63EE19E706AA}" type="parTrans" cxnId="{A2632F0C-D7B1-45B2-BCF3-ECFD6AF34E46}">
      <dgm:prSet/>
      <dgm:spPr/>
      <dgm:t>
        <a:bodyPr/>
        <a:lstStyle/>
        <a:p>
          <a:endParaRPr lang="en-US"/>
        </a:p>
      </dgm:t>
    </dgm:pt>
    <dgm:pt modelId="{B420A419-41FC-4AD8-B18D-C675B3FD17CF}" type="sibTrans" cxnId="{A2632F0C-D7B1-45B2-BCF3-ECFD6AF34E46}">
      <dgm:prSet/>
      <dgm:spPr/>
      <dgm:t>
        <a:bodyPr/>
        <a:lstStyle/>
        <a:p>
          <a:endParaRPr lang="en-US"/>
        </a:p>
      </dgm:t>
    </dgm:pt>
    <dgm:pt modelId="{EB471170-9643-444D-9995-41831296CFF7}">
      <dgm:prSet phldrT="[Text]"/>
      <dgm:spPr/>
      <dgm:t>
        <a:bodyPr/>
        <a:lstStyle/>
        <a:p>
          <a:r>
            <a:rPr lang="en-US" dirty="0" smtClean="0"/>
            <a:t>Thesis Statement </a:t>
          </a:r>
          <a:endParaRPr lang="en-US" dirty="0"/>
        </a:p>
      </dgm:t>
    </dgm:pt>
    <dgm:pt modelId="{61BCF944-1292-4B8D-AFC2-539D729F2A58}" type="parTrans" cxnId="{EDFAE6CF-DF05-4371-95E0-93EE03726A1E}">
      <dgm:prSet/>
      <dgm:spPr/>
      <dgm:t>
        <a:bodyPr/>
        <a:lstStyle/>
        <a:p>
          <a:endParaRPr lang="en-US"/>
        </a:p>
      </dgm:t>
    </dgm:pt>
    <dgm:pt modelId="{81F5C6A6-D367-40C5-B90F-3556580186A0}" type="sibTrans" cxnId="{EDFAE6CF-DF05-4371-95E0-93EE03726A1E}">
      <dgm:prSet/>
      <dgm:spPr/>
      <dgm:t>
        <a:bodyPr/>
        <a:lstStyle/>
        <a:p>
          <a:endParaRPr lang="en-US"/>
        </a:p>
      </dgm:t>
    </dgm:pt>
    <dgm:pt modelId="{C3617011-A184-4315-9672-C36643FCB359}" type="pres">
      <dgm:prSet presAssocID="{53582674-F4DB-4935-940A-47ED0F03490B}" presName="arrowDiagram" presStyleCnt="0">
        <dgm:presLayoutVars>
          <dgm:chMax val="5"/>
          <dgm:dir/>
          <dgm:resizeHandles val="exact"/>
        </dgm:presLayoutVars>
      </dgm:prSet>
      <dgm:spPr/>
      <dgm:t>
        <a:bodyPr/>
        <a:lstStyle/>
        <a:p>
          <a:endParaRPr lang="en-US"/>
        </a:p>
      </dgm:t>
    </dgm:pt>
    <dgm:pt modelId="{D5D451F6-5CAD-4C38-B24A-210F82B63B9A}" type="pres">
      <dgm:prSet presAssocID="{53582674-F4DB-4935-940A-47ED0F03490B}" presName="arrow" presStyleLbl="bgShp" presStyleIdx="0" presStyleCnt="1" custScaleX="139600"/>
      <dgm:spPr/>
    </dgm:pt>
    <dgm:pt modelId="{6432334D-C1CB-4736-8AFA-C8384DD5CA82}" type="pres">
      <dgm:prSet presAssocID="{53582674-F4DB-4935-940A-47ED0F03490B}" presName="arrowDiagram3" presStyleCnt="0"/>
      <dgm:spPr/>
    </dgm:pt>
    <dgm:pt modelId="{A5F12CFF-D545-47EF-B5A0-B81778F9FC59}" type="pres">
      <dgm:prSet presAssocID="{CE4757E9-5DCB-4839-A99E-E77768733F15}" presName="bullet3a" presStyleLbl="node1" presStyleIdx="0" presStyleCnt="3"/>
      <dgm:spPr/>
    </dgm:pt>
    <dgm:pt modelId="{EAC6C643-2CA3-48C6-AB34-579405FBDEFF}" type="pres">
      <dgm:prSet presAssocID="{CE4757E9-5DCB-4839-A99E-E77768733F15}" presName="textBox3a" presStyleLbl="revTx" presStyleIdx="0" presStyleCnt="3">
        <dgm:presLayoutVars>
          <dgm:bulletEnabled val="1"/>
        </dgm:presLayoutVars>
      </dgm:prSet>
      <dgm:spPr/>
      <dgm:t>
        <a:bodyPr/>
        <a:lstStyle/>
        <a:p>
          <a:endParaRPr lang="en-US"/>
        </a:p>
      </dgm:t>
    </dgm:pt>
    <dgm:pt modelId="{CD58479A-48BD-4E23-85D6-8C8CAA5190E1}" type="pres">
      <dgm:prSet presAssocID="{D4D2593E-64E6-441D-9E25-2534D47749A9}" presName="bullet3b" presStyleLbl="node1" presStyleIdx="1" presStyleCnt="3"/>
      <dgm:spPr/>
    </dgm:pt>
    <dgm:pt modelId="{F77485CA-7C7E-43B3-A6EA-533A9DFFFA72}" type="pres">
      <dgm:prSet presAssocID="{D4D2593E-64E6-441D-9E25-2534D47749A9}" presName="textBox3b" presStyleLbl="revTx" presStyleIdx="1" presStyleCnt="3">
        <dgm:presLayoutVars>
          <dgm:bulletEnabled val="1"/>
        </dgm:presLayoutVars>
      </dgm:prSet>
      <dgm:spPr/>
      <dgm:t>
        <a:bodyPr/>
        <a:lstStyle/>
        <a:p>
          <a:endParaRPr lang="en-US"/>
        </a:p>
      </dgm:t>
    </dgm:pt>
    <dgm:pt modelId="{43F05525-226D-492F-A1A8-F04C62A0E034}" type="pres">
      <dgm:prSet presAssocID="{EB471170-9643-444D-9995-41831296CFF7}" presName="bullet3c" presStyleLbl="node1" presStyleIdx="2" presStyleCnt="3"/>
      <dgm:spPr/>
    </dgm:pt>
    <dgm:pt modelId="{5A816744-D539-4CA4-9902-63D67DAB5CE8}" type="pres">
      <dgm:prSet presAssocID="{EB471170-9643-444D-9995-41831296CFF7}" presName="textBox3c" presStyleLbl="revTx" presStyleIdx="2" presStyleCnt="3">
        <dgm:presLayoutVars>
          <dgm:bulletEnabled val="1"/>
        </dgm:presLayoutVars>
      </dgm:prSet>
      <dgm:spPr/>
      <dgm:t>
        <a:bodyPr/>
        <a:lstStyle/>
        <a:p>
          <a:endParaRPr lang="en-US"/>
        </a:p>
      </dgm:t>
    </dgm:pt>
  </dgm:ptLst>
  <dgm:cxnLst>
    <dgm:cxn modelId="{223247E2-B827-4082-BC31-309B9C052E2D}" type="presOf" srcId="{53582674-F4DB-4935-940A-47ED0F03490B}" destId="{C3617011-A184-4315-9672-C36643FCB359}" srcOrd="0" destOrd="0" presId="urn:microsoft.com/office/officeart/2005/8/layout/arrow2"/>
    <dgm:cxn modelId="{E0C0BA45-8A91-4199-8FB6-3C9C8A226FA4}" type="presOf" srcId="{D4D2593E-64E6-441D-9E25-2534D47749A9}" destId="{F77485CA-7C7E-43B3-A6EA-533A9DFFFA72}" srcOrd="0" destOrd="0" presId="urn:microsoft.com/office/officeart/2005/8/layout/arrow2"/>
    <dgm:cxn modelId="{83423598-039E-47FB-B911-796F7272C75A}" type="presOf" srcId="{CE4757E9-5DCB-4839-A99E-E77768733F15}" destId="{EAC6C643-2CA3-48C6-AB34-579405FBDEFF}" srcOrd="0" destOrd="0" presId="urn:microsoft.com/office/officeart/2005/8/layout/arrow2"/>
    <dgm:cxn modelId="{A2632F0C-D7B1-45B2-BCF3-ECFD6AF34E46}" srcId="{53582674-F4DB-4935-940A-47ED0F03490B}" destId="{D4D2593E-64E6-441D-9E25-2534D47749A9}" srcOrd="1" destOrd="0" parTransId="{4CAACBDA-AAB8-4147-9254-63EE19E706AA}" sibTransId="{B420A419-41FC-4AD8-B18D-C675B3FD17CF}"/>
    <dgm:cxn modelId="{EDFAE6CF-DF05-4371-95E0-93EE03726A1E}" srcId="{53582674-F4DB-4935-940A-47ED0F03490B}" destId="{EB471170-9643-444D-9995-41831296CFF7}" srcOrd="2" destOrd="0" parTransId="{61BCF944-1292-4B8D-AFC2-539D729F2A58}" sibTransId="{81F5C6A6-D367-40C5-B90F-3556580186A0}"/>
    <dgm:cxn modelId="{1DFC62B5-6EEA-4464-9DCB-6B72652B2B36}" type="presOf" srcId="{EB471170-9643-444D-9995-41831296CFF7}" destId="{5A816744-D539-4CA4-9902-63D67DAB5CE8}" srcOrd="0" destOrd="0" presId="urn:microsoft.com/office/officeart/2005/8/layout/arrow2"/>
    <dgm:cxn modelId="{31E3B616-CFB7-4E81-A123-C70915DBCCD8}" srcId="{53582674-F4DB-4935-940A-47ED0F03490B}" destId="{CE4757E9-5DCB-4839-A99E-E77768733F15}" srcOrd="0" destOrd="0" parTransId="{8352F0A7-E27E-4860-AF19-2F510B784D6D}" sibTransId="{17CA16AC-0BA5-4366-92D3-D14205513ACF}"/>
    <dgm:cxn modelId="{6F68150B-8D57-40E6-9C74-E3AAE98DDFDC}" type="presParOf" srcId="{C3617011-A184-4315-9672-C36643FCB359}" destId="{D5D451F6-5CAD-4C38-B24A-210F82B63B9A}" srcOrd="0" destOrd="0" presId="urn:microsoft.com/office/officeart/2005/8/layout/arrow2"/>
    <dgm:cxn modelId="{B94922BA-66F7-4335-8780-F7402EE0508C}" type="presParOf" srcId="{C3617011-A184-4315-9672-C36643FCB359}" destId="{6432334D-C1CB-4736-8AFA-C8384DD5CA82}" srcOrd="1" destOrd="0" presId="urn:microsoft.com/office/officeart/2005/8/layout/arrow2"/>
    <dgm:cxn modelId="{098FD12A-6BCE-48FC-9F3B-F8A0B62984DA}" type="presParOf" srcId="{6432334D-C1CB-4736-8AFA-C8384DD5CA82}" destId="{A5F12CFF-D545-47EF-B5A0-B81778F9FC59}" srcOrd="0" destOrd="0" presId="urn:microsoft.com/office/officeart/2005/8/layout/arrow2"/>
    <dgm:cxn modelId="{289E69D4-DBE7-435B-8A45-A418CE03D4D4}" type="presParOf" srcId="{6432334D-C1CB-4736-8AFA-C8384DD5CA82}" destId="{EAC6C643-2CA3-48C6-AB34-579405FBDEFF}" srcOrd="1" destOrd="0" presId="urn:microsoft.com/office/officeart/2005/8/layout/arrow2"/>
    <dgm:cxn modelId="{F6FC1C06-ED71-4BBB-B8F1-006470519639}" type="presParOf" srcId="{6432334D-C1CB-4736-8AFA-C8384DD5CA82}" destId="{CD58479A-48BD-4E23-85D6-8C8CAA5190E1}" srcOrd="2" destOrd="0" presId="urn:microsoft.com/office/officeart/2005/8/layout/arrow2"/>
    <dgm:cxn modelId="{3A17EB19-A1DA-4265-8479-60320F8FDCC9}" type="presParOf" srcId="{6432334D-C1CB-4736-8AFA-C8384DD5CA82}" destId="{F77485CA-7C7E-43B3-A6EA-533A9DFFFA72}" srcOrd="3" destOrd="0" presId="urn:microsoft.com/office/officeart/2005/8/layout/arrow2"/>
    <dgm:cxn modelId="{73479B49-1B7E-471C-AE34-09B27B4650AB}" type="presParOf" srcId="{6432334D-C1CB-4736-8AFA-C8384DD5CA82}" destId="{43F05525-226D-492F-A1A8-F04C62A0E034}" srcOrd="4" destOrd="0" presId="urn:microsoft.com/office/officeart/2005/8/layout/arrow2"/>
    <dgm:cxn modelId="{DBF4E1E5-4423-4648-A8E8-5A7B84E1C55F}" type="presParOf" srcId="{6432334D-C1CB-4736-8AFA-C8384DD5CA82}" destId="{5A816744-D539-4CA4-9902-63D67DAB5CE8}" srcOrd="5" destOrd="0" presId="urn:microsoft.com/office/officeart/2005/8/layout/arrow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02483C2-49ED-434D-85B3-5506BD1002BF}"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6F3C384C-1971-4927-8F48-1773C5783829}">
      <dgm:prSet phldrT="[Text]" custT="1"/>
      <dgm:spPr/>
      <dgm:t>
        <a:bodyPr/>
        <a:lstStyle/>
        <a:p>
          <a:r>
            <a:rPr lang="en-US" sz="4400" dirty="0" smtClean="0"/>
            <a:t>Definition</a:t>
          </a:r>
          <a:r>
            <a:rPr lang="en-US" sz="3100" dirty="0" smtClean="0"/>
            <a:t> </a:t>
          </a:r>
          <a:endParaRPr lang="en-US" sz="3100" dirty="0"/>
        </a:p>
      </dgm:t>
    </dgm:pt>
    <dgm:pt modelId="{C7B16ACB-B0D4-405A-8B01-8C2BB5657A47}" type="parTrans" cxnId="{4683CD18-4422-45E8-9353-89A4593DB0F7}">
      <dgm:prSet/>
      <dgm:spPr/>
      <dgm:t>
        <a:bodyPr/>
        <a:lstStyle/>
        <a:p>
          <a:endParaRPr lang="en-US"/>
        </a:p>
      </dgm:t>
    </dgm:pt>
    <dgm:pt modelId="{175E1A58-D455-4532-B129-A80FE7A479D7}" type="sibTrans" cxnId="{4683CD18-4422-45E8-9353-89A4593DB0F7}">
      <dgm:prSet/>
      <dgm:spPr/>
      <dgm:t>
        <a:bodyPr/>
        <a:lstStyle/>
        <a:p>
          <a:endParaRPr lang="en-US"/>
        </a:p>
      </dgm:t>
    </dgm:pt>
    <dgm:pt modelId="{AD7672FB-D2F5-4042-AF3D-D7020CDB0D21}">
      <dgm:prSet phldrT="[Text]" custT="1"/>
      <dgm:spPr/>
      <dgm:t>
        <a:bodyPr/>
        <a:lstStyle/>
        <a:p>
          <a:r>
            <a:rPr lang="en-US" sz="3600" dirty="0" smtClean="0"/>
            <a:t>Process</a:t>
          </a:r>
          <a:r>
            <a:rPr lang="en-US" sz="3100" dirty="0" smtClean="0"/>
            <a:t> </a:t>
          </a:r>
          <a:endParaRPr lang="en-US" sz="3100" dirty="0"/>
        </a:p>
      </dgm:t>
    </dgm:pt>
    <dgm:pt modelId="{4A63FCC2-D469-43FC-B1B8-7E0154454992}" type="parTrans" cxnId="{E5508E30-D471-4567-B9BE-F4B18BA132F2}">
      <dgm:prSet/>
      <dgm:spPr/>
      <dgm:t>
        <a:bodyPr/>
        <a:lstStyle/>
        <a:p>
          <a:endParaRPr lang="en-US"/>
        </a:p>
      </dgm:t>
    </dgm:pt>
    <dgm:pt modelId="{25597C48-722F-465D-8ECF-22EE82AC8DD1}" type="sibTrans" cxnId="{E5508E30-D471-4567-B9BE-F4B18BA132F2}">
      <dgm:prSet/>
      <dgm:spPr/>
      <dgm:t>
        <a:bodyPr/>
        <a:lstStyle/>
        <a:p>
          <a:endParaRPr lang="en-US"/>
        </a:p>
      </dgm:t>
    </dgm:pt>
    <dgm:pt modelId="{DEB22F26-AD7A-4148-8676-BF4970D74844}">
      <dgm:prSet phldrT="[Text]" custT="1"/>
      <dgm:spPr/>
      <dgm:t>
        <a:bodyPr/>
        <a:lstStyle/>
        <a:p>
          <a:r>
            <a:rPr lang="en-US" sz="4000" dirty="0" smtClean="0"/>
            <a:t>Descriptive</a:t>
          </a:r>
          <a:r>
            <a:rPr lang="en-US" sz="3100" dirty="0" smtClean="0"/>
            <a:t> </a:t>
          </a:r>
          <a:endParaRPr lang="en-US" sz="3100" dirty="0"/>
        </a:p>
      </dgm:t>
    </dgm:pt>
    <dgm:pt modelId="{BF1BD8BB-3002-4E0B-A8E4-0F30F075C388}" type="parTrans" cxnId="{C15E7CB2-370F-47A8-83E7-D0EBEF28FE5E}">
      <dgm:prSet/>
      <dgm:spPr/>
      <dgm:t>
        <a:bodyPr/>
        <a:lstStyle/>
        <a:p>
          <a:endParaRPr lang="en-US"/>
        </a:p>
      </dgm:t>
    </dgm:pt>
    <dgm:pt modelId="{32B834C0-BFE4-42D1-B7B1-C809D261A6D9}" type="sibTrans" cxnId="{C15E7CB2-370F-47A8-83E7-D0EBEF28FE5E}">
      <dgm:prSet/>
      <dgm:spPr/>
      <dgm:t>
        <a:bodyPr/>
        <a:lstStyle/>
        <a:p>
          <a:endParaRPr lang="en-US"/>
        </a:p>
      </dgm:t>
    </dgm:pt>
    <dgm:pt modelId="{8629C217-0952-4819-841B-AE1BC3A992B5}">
      <dgm:prSet phldrT="[Text]" custT="1"/>
      <dgm:spPr/>
      <dgm:t>
        <a:bodyPr/>
        <a:lstStyle/>
        <a:p>
          <a:r>
            <a:rPr lang="en-US" sz="4000" dirty="0" smtClean="0"/>
            <a:t>Compare/Contras</a:t>
          </a:r>
          <a:r>
            <a:rPr lang="en-US" sz="3100" dirty="0" smtClean="0"/>
            <a:t>t </a:t>
          </a:r>
          <a:endParaRPr lang="en-US" sz="3100" dirty="0"/>
        </a:p>
      </dgm:t>
    </dgm:pt>
    <dgm:pt modelId="{172B6095-BAD5-40F5-9B61-C8B22B322BF7}" type="parTrans" cxnId="{376C3EF4-9692-4FC8-88E2-68B67BE1B717}">
      <dgm:prSet/>
      <dgm:spPr/>
      <dgm:t>
        <a:bodyPr/>
        <a:lstStyle/>
        <a:p>
          <a:endParaRPr lang="en-US"/>
        </a:p>
      </dgm:t>
    </dgm:pt>
    <dgm:pt modelId="{826C4F65-3D6F-4271-8B7E-3F1254597C4B}" type="sibTrans" cxnId="{376C3EF4-9692-4FC8-88E2-68B67BE1B717}">
      <dgm:prSet/>
      <dgm:spPr/>
      <dgm:t>
        <a:bodyPr/>
        <a:lstStyle/>
        <a:p>
          <a:endParaRPr lang="en-US"/>
        </a:p>
      </dgm:t>
    </dgm:pt>
    <dgm:pt modelId="{5036FD2F-1BE3-4CFF-8D1C-DBD6C972DC1E}">
      <dgm:prSet phldrT="[Text]" custT="1"/>
      <dgm:spPr/>
      <dgm:t>
        <a:bodyPr/>
        <a:lstStyle/>
        <a:p>
          <a:r>
            <a:rPr lang="en-US" sz="4000" dirty="0" smtClean="0"/>
            <a:t>Expository</a:t>
          </a:r>
          <a:r>
            <a:rPr lang="en-US" sz="3100" dirty="0" smtClean="0"/>
            <a:t> </a:t>
          </a:r>
          <a:endParaRPr lang="en-US" sz="3100" dirty="0"/>
        </a:p>
      </dgm:t>
    </dgm:pt>
    <dgm:pt modelId="{41D35053-E4DC-4AB6-9CD3-00A2707E9723}" type="sibTrans" cxnId="{131D6B25-A831-4368-B67B-F9571D8E1D80}">
      <dgm:prSet/>
      <dgm:spPr/>
      <dgm:t>
        <a:bodyPr/>
        <a:lstStyle/>
        <a:p>
          <a:endParaRPr lang="en-US"/>
        </a:p>
      </dgm:t>
    </dgm:pt>
    <dgm:pt modelId="{2EDF7815-6742-46A5-AD34-4208652F1CE9}" type="parTrans" cxnId="{131D6B25-A831-4368-B67B-F9571D8E1D80}">
      <dgm:prSet/>
      <dgm:spPr/>
      <dgm:t>
        <a:bodyPr/>
        <a:lstStyle/>
        <a:p>
          <a:endParaRPr lang="en-US"/>
        </a:p>
      </dgm:t>
    </dgm:pt>
    <dgm:pt modelId="{D51E5883-8374-407A-A536-48819FB032D1}" type="pres">
      <dgm:prSet presAssocID="{802483C2-49ED-434D-85B3-5506BD1002BF}" presName="diagram" presStyleCnt="0">
        <dgm:presLayoutVars>
          <dgm:dir/>
          <dgm:resizeHandles val="exact"/>
        </dgm:presLayoutVars>
      </dgm:prSet>
      <dgm:spPr/>
      <dgm:t>
        <a:bodyPr/>
        <a:lstStyle/>
        <a:p>
          <a:endParaRPr lang="en-US"/>
        </a:p>
      </dgm:t>
    </dgm:pt>
    <dgm:pt modelId="{589279BB-8712-42B8-9E41-66AEC76D3C08}" type="pres">
      <dgm:prSet presAssocID="{5036FD2F-1BE3-4CFF-8D1C-DBD6C972DC1E}" presName="node" presStyleLbl="node1" presStyleIdx="0" presStyleCnt="5">
        <dgm:presLayoutVars>
          <dgm:bulletEnabled val="1"/>
        </dgm:presLayoutVars>
      </dgm:prSet>
      <dgm:spPr>
        <a:prstGeom prst="flowChartPunchedTape">
          <a:avLst/>
        </a:prstGeom>
      </dgm:spPr>
      <dgm:t>
        <a:bodyPr/>
        <a:lstStyle/>
        <a:p>
          <a:endParaRPr lang="en-US"/>
        </a:p>
      </dgm:t>
    </dgm:pt>
    <dgm:pt modelId="{6DDD660D-8406-44E7-AF1F-355498D7D171}" type="pres">
      <dgm:prSet presAssocID="{41D35053-E4DC-4AB6-9CD3-00A2707E9723}" presName="sibTrans" presStyleCnt="0"/>
      <dgm:spPr/>
    </dgm:pt>
    <dgm:pt modelId="{1C8BE3B0-D3B0-4A92-83F2-2F06CD626A43}" type="pres">
      <dgm:prSet presAssocID="{6F3C384C-1971-4927-8F48-1773C5783829}" presName="node" presStyleLbl="node1" presStyleIdx="1" presStyleCnt="5">
        <dgm:presLayoutVars>
          <dgm:bulletEnabled val="1"/>
        </dgm:presLayoutVars>
      </dgm:prSet>
      <dgm:spPr>
        <a:prstGeom prst="flowChartPunchedTape">
          <a:avLst/>
        </a:prstGeom>
      </dgm:spPr>
      <dgm:t>
        <a:bodyPr/>
        <a:lstStyle/>
        <a:p>
          <a:endParaRPr lang="en-US"/>
        </a:p>
      </dgm:t>
    </dgm:pt>
    <dgm:pt modelId="{2B24519A-8CC3-464F-82C1-37AD7CF285CF}" type="pres">
      <dgm:prSet presAssocID="{175E1A58-D455-4532-B129-A80FE7A479D7}" presName="sibTrans" presStyleCnt="0"/>
      <dgm:spPr/>
    </dgm:pt>
    <dgm:pt modelId="{2BC6ABEA-8B3F-4779-8782-DADF2BC695E5}" type="pres">
      <dgm:prSet presAssocID="{AD7672FB-D2F5-4042-AF3D-D7020CDB0D21}" presName="node" presStyleLbl="node1" presStyleIdx="2" presStyleCnt="5">
        <dgm:presLayoutVars>
          <dgm:bulletEnabled val="1"/>
        </dgm:presLayoutVars>
      </dgm:prSet>
      <dgm:spPr>
        <a:prstGeom prst="flowChartPunchedTape">
          <a:avLst/>
        </a:prstGeom>
      </dgm:spPr>
      <dgm:t>
        <a:bodyPr/>
        <a:lstStyle/>
        <a:p>
          <a:endParaRPr lang="en-US"/>
        </a:p>
      </dgm:t>
    </dgm:pt>
    <dgm:pt modelId="{CFAA43E2-5C0C-4DDE-BD84-D5EB10271828}" type="pres">
      <dgm:prSet presAssocID="{25597C48-722F-465D-8ECF-22EE82AC8DD1}" presName="sibTrans" presStyleCnt="0"/>
      <dgm:spPr/>
    </dgm:pt>
    <dgm:pt modelId="{901AB78B-2B4F-4902-878D-B92ED9BD8D47}" type="pres">
      <dgm:prSet presAssocID="{DEB22F26-AD7A-4148-8676-BF4970D74844}" presName="node" presStyleLbl="node1" presStyleIdx="3" presStyleCnt="5">
        <dgm:presLayoutVars>
          <dgm:bulletEnabled val="1"/>
        </dgm:presLayoutVars>
      </dgm:prSet>
      <dgm:spPr>
        <a:prstGeom prst="flowChartPunchedTape">
          <a:avLst/>
        </a:prstGeom>
      </dgm:spPr>
      <dgm:t>
        <a:bodyPr/>
        <a:lstStyle/>
        <a:p>
          <a:endParaRPr lang="en-US"/>
        </a:p>
      </dgm:t>
    </dgm:pt>
    <dgm:pt modelId="{2BEFB666-5FE1-43EE-996D-2680C58A31AA}" type="pres">
      <dgm:prSet presAssocID="{32B834C0-BFE4-42D1-B7B1-C809D261A6D9}" presName="sibTrans" presStyleCnt="0"/>
      <dgm:spPr/>
    </dgm:pt>
    <dgm:pt modelId="{A0330DF0-0127-45A4-8A11-CDB29B71F0C0}" type="pres">
      <dgm:prSet presAssocID="{8629C217-0952-4819-841B-AE1BC3A992B5}" presName="node" presStyleLbl="node1" presStyleIdx="4" presStyleCnt="5" custScaleX="138009" custLinFactNeighborX="32963" custLinFactNeighborY="2854">
        <dgm:presLayoutVars>
          <dgm:bulletEnabled val="1"/>
        </dgm:presLayoutVars>
      </dgm:prSet>
      <dgm:spPr>
        <a:prstGeom prst="flowChartPunchedTape">
          <a:avLst/>
        </a:prstGeom>
      </dgm:spPr>
      <dgm:t>
        <a:bodyPr/>
        <a:lstStyle/>
        <a:p>
          <a:endParaRPr lang="en-US"/>
        </a:p>
      </dgm:t>
    </dgm:pt>
  </dgm:ptLst>
  <dgm:cxnLst>
    <dgm:cxn modelId="{E5508E30-D471-4567-B9BE-F4B18BA132F2}" srcId="{802483C2-49ED-434D-85B3-5506BD1002BF}" destId="{AD7672FB-D2F5-4042-AF3D-D7020CDB0D21}" srcOrd="2" destOrd="0" parTransId="{4A63FCC2-D469-43FC-B1B8-7E0154454992}" sibTransId="{25597C48-722F-465D-8ECF-22EE82AC8DD1}"/>
    <dgm:cxn modelId="{28B2A447-BB1E-4B3C-AED4-8912016D9CF4}" type="presOf" srcId="{8629C217-0952-4819-841B-AE1BC3A992B5}" destId="{A0330DF0-0127-45A4-8A11-CDB29B71F0C0}" srcOrd="0" destOrd="0" presId="urn:microsoft.com/office/officeart/2005/8/layout/default"/>
    <dgm:cxn modelId="{C2C82511-49D2-4DD8-A532-64F80A68EA38}" type="presOf" srcId="{AD7672FB-D2F5-4042-AF3D-D7020CDB0D21}" destId="{2BC6ABEA-8B3F-4779-8782-DADF2BC695E5}" srcOrd="0" destOrd="0" presId="urn:microsoft.com/office/officeart/2005/8/layout/default"/>
    <dgm:cxn modelId="{2F5A2537-2639-47C9-AA2B-1533526BB3A0}" type="presOf" srcId="{802483C2-49ED-434D-85B3-5506BD1002BF}" destId="{D51E5883-8374-407A-A536-48819FB032D1}" srcOrd="0" destOrd="0" presId="urn:microsoft.com/office/officeart/2005/8/layout/default"/>
    <dgm:cxn modelId="{2230C962-522D-411D-A9E8-B378BA72D0E4}" type="presOf" srcId="{DEB22F26-AD7A-4148-8676-BF4970D74844}" destId="{901AB78B-2B4F-4902-878D-B92ED9BD8D47}" srcOrd="0" destOrd="0" presId="urn:microsoft.com/office/officeart/2005/8/layout/default"/>
    <dgm:cxn modelId="{96F909B1-253A-4267-B35F-A359AEB87EA7}" type="presOf" srcId="{5036FD2F-1BE3-4CFF-8D1C-DBD6C972DC1E}" destId="{589279BB-8712-42B8-9E41-66AEC76D3C08}" srcOrd="0" destOrd="0" presId="urn:microsoft.com/office/officeart/2005/8/layout/default"/>
    <dgm:cxn modelId="{4683CD18-4422-45E8-9353-89A4593DB0F7}" srcId="{802483C2-49ED-434D-85B3-5506BD1002BF}" destId="{6F3C384C-1971-4927-8F48-1773C5783829}" srcOrd="1" destOrd="0" parTransId="{C7B16ACB-B0D4-405A-8B01-8C2BB5657A47}" sibTransId="{175E1A58-D455-4532-B129-A80FE7A479D7}"/>
    <dgm:cxn modelId="{376C3EF4-9692-4FC8-88E2-68B67BE1B717}" srcId="{802483C2-49ED-434D-85B3-5506BD1002BF}" destId="{8629C217-0952-4819-841B-AE1BC3A992B5}" srcOrd="4" destOrd="0" parTransId="{172B6095-BAD5-40F5-9B61-C8B22B322BF7}" sibTransId="{826C4F65-3D6F-4271-8B7E-3F1254597C4B}"/>
    <dgm:cxn modelId="{E8F7DCC5-68A2-4B9F-8D6B-98BD02D5165C}" type="presOf" srcId="{6F3C384C-1971-4927-8F48-1773C5783829}" destId="{1C8BE3B0-D3B0-4A92-83F2-2F06CD626A43}" srcOrd="0" destOrd="0" presId="urn:microsoft.com/office/officeart/2005/8/layout/default"/>
    <dgm:cxn modelId="{C15E7CB2-370F-47A8-83E7-D0EBEF28FE5E}" srcId="{802483C2-49ED-434D-85B3-5506BD1002BF}" destId="{DEB22F26-AD7A-4148-8676-BF4970D74844}" srcOrd="3" destOrd="0" parTransId="{BF1BD8BB-3002-4E0B-A8E4-0F30F075C388}" sibTransId="{32B834C0-BFE4-42D1-B7B1-C809D261A6D9}"/>
    <dgm:cxn modelId="{131D6B25-A831-4368-B67B-F9571D8E1D80}" srcId="{802483C2-49ED-434D-85B3-5506BD1002BF}" destId="{5036FD2F-1BE3-4CFF-8D1C-DBD6C972DC1E}" srcOrd="0" destOrd="0" parTransId="{2EDF7815-6742-46A5-AD34-4208652F1CE9}" sibTransId="{41D35053-E4DC-4AB6-9CD3-00A2707E9723}"/>
    <dgm:cxn modelId="{3FB1EC3A-DEC4-421D-BCFA-747B00C12D5A}" type="presParOf" srcId="{D51E5883-8374-407A-A536-48819FB032D1}" destId="{589279BB-8712-42B8-9E41-66AEC76D3C08}" srcOrd="0" destOrd="0" presId="urn:microsoft.com/office/officeart/2005/8/layout/default"/>
    <dgm:cxn modelId="{DA00CF9E-426C-4629-B868-7AD6AAD146B3}" type="presParOf" srcId="{D51E5883-8374-407A-A536-48819FB032D1}" destId="{6DDD660D-8406-44E7-AF1F-355498D7D171}" srcOrd="1" destOrd="0" presId="urn:microsoft.com/office/officeart/2005/8/layout/default"/>
    <dgm:cxn modelId="{9A1B7B2C-C6D2-48C1-A137-091003615DB2}" type="presParOf" srcId="{D51E5883-8374-407A-A536-48819FB032D1}" destId="{1C8BE3B0-D3B0-4A92-83F2-2F06CD626A43}" srcOrd="2" destOrd="0" presId="urn:microsoft.com/office/officeart/2005/8/layout/default"/>
    <dgm:cxn modelId="{FA1C4DC4-5013-4EA6-B490-81650B7C26B2}" type="presParOf" srcId="{D51E5883-8374-407A-A536-48819FB032D1}" destId="{2B24519A-8CC3-464F-82C1-37AD7CF285CF}" srcOrd="3" destOrd="0" presId="urn:microsoft.com/office/officeart/2005/8/layout/default"/>
    <dgm:cxn modelId="{D527D4E9-6E37-435E-9BEB-1EF677623D51}" type="presParOf" srcId="{D51E5883-8374-407A-A536-48819FB032D1}" destId="{2BC6ABEA-8B3F-4779-8782-DADF2BC695E5}" srcOrd="4" destOrd="0" presId="urn:microsoft.com/office/officeart/2005/8/layout/default"/>
    <dgm:cxn modelId="{FFDC9D99-BA89-4FD4-8AD6-DA68D384DB54}" type="presParOf" srcId="{D51E5883-8374-407A-A536-48819FB032D1}" destId="{CFAA43E2-5C0C-4DDE-BD84-D5EB10271828}" srcOrd="5" destOrd="0" presId="urn:microsoft.com/office/officeart/2005/8/layout/default"/>
    <dgm:cxn modelId="{AC360630-C5C8-482D-8504-D9FC87463615}" type="presParOf" srcId="{D51E5883-8374-407A-A536-48819FB032D1}" destId="{901AB78B-2B4F-4902-878D-B92ED9BD8D47}" srcOrd="6" destOrd="0" presId="urn:microsoft.com/office/officeart/2005/8/layout/default"/>
    <dgm:cxn modelId="{61DDE1C0-18A9-4DAB-92DE-9CD4EA49B6A2}" type="presParOf" srcId="{D51E5883-8374-407A-A536-48819FB032D1}" destId="{2BEFB666-5FE1-43EE-996D-2680C58A31AA}" srcOrd="7" destOrd="0" presId="urn:microsoft.com/office/officeart/2005/8/layout/default"/>
    <dgm:cxn modelId="{9A69E43A-DD87-4F77-8E7A-D734370730CB}" type="presParOf" srcId="{D51E5883-8374-407A-A536-48819FB032D1}" destId="{A0330DF0-0127-45A4-8A11-CDB29B71F0C0}"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02483C2-49ED-434D-85B3-5506BD1002BF}"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5036FD2F-1BE3-4CFF-8D1C-DBD6C972DC1E}">
      <dgm:prSet phldrT="[Text]"/>
      <dgm:spPr/>
      <dgm:t>
        <a:bodyPr/>
        <a:lstStyle/>
        <a:p>
          <a:r>
            <a:rPr lang="en-US" dirty="0" smtClean="0"/>
            <a:t>Narrative </a:t>
          </a:r>
          <a:endParaRPr lang="en-US" dirty="0"/>
        </a:p>
      </dgm:t>
    </dgm:pt>
    <dgm:pt modelId="{2EDF7815-6742-46A5-AD34-4208652F1CE9}" type="parTrans" cxnId="{131D6B25-A831-4368-B67B-F9571D8E1D80}">
      <dgm:prSet/>
      <dgm:spPr/>
      <dgm:t>
        <a:bodyPr/>
        <a:lstStyle/>
        <a:p>
          <a:endParaRPr lang="en-US"/>
        </a:p>
      </dgm:t>
    </dgm:pt>
    <dgm:pt modelId="{41D35053-E4DC-4AB6-9CD3-00A2707E9723}" type="sibTrans" cxnId="{131D6B25-A831-4368-B67B-F9571D8E1D80}">
      <dgm:prSet/>
      <dgm:spPr/>
      <dgm:t>
        <a:bodyPr/>
        <a:lstStyle/>
        <a:p>
          <a:endParaRPr lang="en-US"/>
        </a:p>
      </dgm:t>
    </dgm:pt>
    <dgm:pt modelId="{6F3C384C-1971-4927-8F48-1773C5783829}">
      <dgm:prSet phldrT="[Text]"/>
      <dgm:spPr/>
      <dgm:t>
        <a:bodyPr/>
        <a:lstStyle/>
        <a:p>
          <a:r>
            <a:rPr lang="en-US" dirty="0" smtClean="0"/>
            <a:t>Critical </a:t>
          </a:r>
          <a:endParaRPr lang="en-US" dirty="0"/>
        </a:p>
      </dgm:t>
    </dgm:pt>
    <dgm:pt modelId="{C7B16ACB-B0D4-405A-8B01-8C2BB5657A47}" type="parTrans" cxnId="{4683CD18-4422-45E8-9353-89A4593DB0F7}">
      <dgm:prSet/>
      <dgm:spPr/>
      <dgm:t>
        <a:bodyPr/>
        <a:lstStyle/>
        <a:p>
          <a:endParaRPr lang="en-US"/>
        </a:p>
      </dgm:t>
    </dgm:pt>
    <dgm:pt modelId="{175E1A58-D455-4532-B129-A80FE7A479D7}" type="sibTrans" cxnId="{4683CD18-4422-45E8-9353-89A4593DB0F7}">
      <dgm:prSet/>
      <dgm:spPr/>
      <dgm:t>
        <a:bodyPr/>
        <a:lstStyle/>
        <a:p>
          <a:endParaRPr lang="en-US"/>
        </a:p>
      </dgm:t>
    </dgm:pt>
    <dgm:pt modelId="{AD7672FB-D2F5-4042-AF3D-D7020CDB0D21}">
      <dgm:prSet phldrT="[Text]"/>
      <dgm:spPr/>
      <dgm:t>
        <a:bodyPr/>
        <a:lstStyle/>
        <a:p>
          <a:r>
            <a:rPr lang="en-US" dirty="0" smtClean="0"/>
            <a:t>Cause &amp; Effect </a:t>
          </a:r>
          <a:endParaRPr lang="en-US" dirty="0"/>
        </a:p>
      </dgm:t>
    </dgm:pt>
    <dgm:pt modelId="{4A63FCC2-D469-43FC-B1B8-7E0154454992}" type="parTrans" cxnId="{E5508E30-D471-4567-B9BE-F4B18BA132F2}">
      <dgm:prSet/>
      <dgm:spPr/>
      <dgm:t>
        <a:bodyPr/>
        <a:lstStyle/>
        <a:p>
          <a:endParaRPr lang="en-US"/>
        </a:p>
      </dgm:t>
    </dgm:pt>
    <dgm:pt modelId="{25597C48-722F-465D-8ECF-22EE82AC8DD1}" type="sibTrans" cxnId="{E5508E30-D471-4567-B9BE-F4B18BA132F2}">
      <dgm:prSet/>
      <dgm:spPr/>
      <dgm:t>
        <a:bodyPr/>
        <a:lstStyle/>
        <a:p>
          <a:endParaRPr lang="en-US"/>
        </a:p>
      </dgm:t>
    </dgm:pt>
    <dgm:pt modelId="{DEB22F26-AD7A-4148-8676-BF4970D74844}">
      <dgm:prSet phldrT="[Text]"/>
      <dgm:spPr/>
      <dgm:t>
        <a:bodyPr/>
        <a:lstStyle/>
        <a:p>
          <a:r>
            <a:rPr lang="en-US" dirty="0" smtClean="0"/>
            <a:t>Persuasive </a:t>
          </a:r>
          <a:endParaRPr lang="en-US" dirty="0"/>
        </a:p>
      </dgm:t>
    </dgm:pt>
    <dgm:pt modelId="{BF1BD8BB-3002-4E0B-A8E4-0F30F075C388}" type="parTrans" cxnId="{C15E7CB2-370F-47A8-83E7-D0EBEF28FE5E}">
      <dgm:prSet/>
      <dgm:spPr/>
      <dgm:t>
        <a:bodyPr/>
        <a:lstStyle/>
        <a:p>
          <a:endParaRPr lang="en-US"/>
        </a:p>
      </dgm:t>
    </dgm:pt>
    <dgm:pt modelId="{32B834C0-BFE4-42D1-B7B1-C809D261A6D9}" type="sibTrans" cxnId="{C15E7CB2-370F-47A8-83E7-D0EBEF28FE5E}">
      <dgm:prSet/>
      <dgm:spPr/>
      <dgm:t>
        <a:bodyPr/>
        <a:lstStyle/>
        <a:p>
          <a:endParaRPr lang="en-US"/>
        </a:p>
      </dgm:t>
    </dgm:pt>
    <dgm:pt modelId="{8629C217-0952-4819-841B-AE1BC3A992B5}">
      <dgm:prSet phldrT="[Text]"/>
      <dgm:spPr/>
      <dgm:t>
        <a:bodyPr/>
        <a:lstStyle/>
        <a:p>
          <a:r>
            <a:rPr lang="en-US" dirty="0" smtClean="0"/>
            <a:t>Argumentative </a:t>
          </a:r>
          <a:endParaRPr lang="en-US" dirty="0"/>
        </a:p>
      </dgm:t>
    </dgm:pt>
    <dgm:pt modelId="{172B6095-BAD5-40F5-9B61-C8B22B322BF7}" type="parTrans" cxnId="{376C3EF4-9692-4FC8-88E2-68B67BE1B717}">
      <dgm:prSet/>
      <dgm:spPr/>
      <dgm:t>
        <a:bodyPr/>
        <a:lstStyle/>
        <a:p>
          <a:endParaRPr lang="en-US"/>
        </a:p>
      </dgm:t>
    </dgm:pt>
    <dgm:pt modelId="{826C4F65-3D6F-4271-8B7E-3F1254597C4B}" type="sibTrans" cxnId="{376C3EF4-9692-4FC8-88E2-68B67BE1B717}">
      <dgm:prSet/>
      <dgm:spPr/>
      <dgm:t>
        <a:bodyPr/>
        <a:lstStyle/>
        <a:p>
          <a:endParaRPr lang="en-US"/>
        </a:p>
      </dgm:t>
    </dgm:pt>
    <dgm:pt modelId="{D51E5883-8374-407A-A536-48819FB032D1}" type="pres">
      <dgm:prSet presAssocID="{802483C2-49ED-434D-85B3-5506BD1002BF}" presName="diagram" presStyleCnt="0">
        <dgm:presLayoutVars>
          <dgm:dir/>
          <dgm:resizeHandles val="exact"/>
        </dgm:presLayoutVars>
      </dgm:prSet>
      <dgm:spPr/>
      <dgm:t>
        <a:bodyPr/>
        <a:lstStyle/>
        <a:p>
          <a:endParaRPr lang="en-US"/>
        </a:p>
      </dgm:t>
    </dgm:pt>
    <dgm:pt modelId="{589279BB-8712-42B8-9E41-66AEC76D3C08}" type="pres">
      <dgm:prSet presAssocID="{5036FD2F-1BE3-4CFF-8D1C-DBD6C972DC1E}" presName="node" presStyleLbl="node1" presStyleIdx="0" presStyleCnt="5">
        <dgm:presLayoutVars>
          <dgm:bulletEnabled val="1"/>
        </dgm:presLayoutVars>
      </dgm:prSet>
      <dgm:spPr>
        <a:prstGeom prst="flowChartPunchedTape">
          <a:avLst/>
        </a:prstGeom>
      </dgm:spPr>
      <dgm:t>
        <a:bodyPr/>
        <a:lstStyle/>
        <a:p>
          <a:endParaRPr lang="en-US"/>
        </a:p>
      </dgm:t>
    </dgm:pt>
    <dgm:pt modelId="{6DDD660D-8406-44E7-AF1F-355498D7D171}" type="pres">
      <dgm:prSet presAssocID="{41D35053-E4DC-4AB6-9CD3-00A2707E9723}" presName="sibTrans" presStyleCnt="0"/>
      <dgm:spPr/>
    </dgm:pt>
    <dgm:pt modelId="{1C8BE3B0-D3B0-4A92-83F2-2F06CD626A43}" type="pres">
      <dgm:prSet presAssocID="{6F3C384C-1971-4927-8F48-1773C5783829}" presName="node" presStyleLbl="node1" presStyleIdx="1" presStyleCnt="5">
        <dgm:presLayoutVars>
          <dgm:bulletEnabled val="1"/>
        </dgm:presLayoutVars>
      </dgm:prSet>
      <dgm:spPr>
        <a:prstGeom prst="flowChartPunchedTape">
          <a:avLst/>
        </a:prstGeom>
      </dgm:spPr>
      <dgm:t>
        <a:bodyPr/>
        <a:lstStyle/>
        <a:p>
          <a:endParaRPr lang="en-US"/>
        </a:p>
      </dgm:t>
    </dgm:pt>
    <dgm:pt modelId="{2B24519A-8CC3-464F-82C1-37AD7CF285CF}" type="pres">
      <dgm:prSet presAssocID="{175E1A58-D455-4532-B129-A80FE7A479D7}" presName="sibTrans" presStyleCnt="0"/>
      <dgm:spPr/>
    </dgm:pt>
    <dgm:pt modelId="{2BC6ABEA-8B3F-4779-8782-DADF2BC695E5}" type="pres">
      <dgm:prSet presAssocID="{AD7672FB-D2F5-4042-AF3D-D7020CDB0D21}" presName="node" presStyleLbl="node1" presStyleIdx="2" presStyleCnt="5">
        <dgm:presLayoutVars>
          <dgm:bulletEnabled val="1"/>
        </dgm:presLayoutVars>
      </dgm:prSet>
      <dgm:spPr>
        <a:prstGeom prst="flowChartPunchedTape">
          <a:avLst/>
        </a:prstGeom>
      </dgm:spPr>
      <dgm:t>
        <a:bodyPr/>
        <a:lstStyle/>
        <a:p>
          <a:endParaRPr lang="en-US"/>
        </a:p>
      </dgm:t>
    </dgm:pt>
    <dgm:pt modelId="{CFAA43E2-5C0C-4DDE-BD84-D5EB10271828}" type="pres">
      <dgm:prSet presAssocID="{25597C48-722F-465D-8ECF-22EE82AC8DD1}" presName="sibTrans" presStyleCnt="0"/>
      <dgm:spPr/>
    </dgm:pt>
    <dgm:pt modelId="{901AB78B-2B4F-4902-878D-B92ED9BD8D47}" type="pres">
      <dgm:prSet presAssocID="{DEB22F26-AD7A-4148-8676-BF4970D74844}" presName="node" presStyleLbl="node1" presStyleIdx="3" presStyleCnt="5">
        <dgm:presLayoutVars>
          <dgm:bulletEnabled val="1"/>
        </dgm:presLayoutVars>
      </dgm:prSet>
      <dgm:spPr>
        <a:prstGeom prst="flowChartPunchedTape">
          <a:avLst/>
        </a:prstGeom>
      </dgm:spPr>
      <dgm:t>
        <a:bodyPr/>
        <a:lstStyle/>
        <a:p>
          <a:endParaRPr lang="en-US"/>
        </a:p>
      </dgm:t>
    </dgm:pt>
    <dgm:pt modelId="{2BEFB666-5FE1-43EE-996D-2680C58A31AA}" type="pres">
      <dgm:prSet presAssocID="{32B834C0-BFE4-42D1-B7B1-C809D261A6D9}" presName="sibTrans" presStyleCnt="0"/>
      <dgm:spPr/>
    </dgm:pt>
    <dgm:pt modelId="{A0330DF0-0127-45A4-8A11-CDB29B71F0C0}" type="pres">
      <dgm:prSet presAssocID="{8629C217-0952-4819-841B-AE1BC3A992B5}" presName="node" presStyleLbl="node1" presStyleIdx="4" presStyleCnt="5">
        <dgm:presLayoutVars>
          <dgm:bulletEnabled val="1"/>
        </dgm:presLayoutVars>
      </dgm:prSet>
      <dgm:spPr>
        <a:prstGeom prst="flowChartPunchedTape">
          <a:avLst/>
        </a:prstGeom>
      </dgm:spPr>
      <dgm:t>
        <a:bodyPr/>
        <a:lstStyle/>
        <a:p>
          <a:endParaRPr lang="en-US"/>
        </a:p>
      </dgm:t>
    </dgm:pt>
  </dgm:ptLst>
  <dgm:cxnLst>
    <dgm:cxn modelId="{E5508E30-D471-4567-B9BE-F4B18BA132F2}" srcId="{802483C2-49ED-434D-85B3-5506BD1002BF}" destId="{AD7672FB-D2F5-4042-AF3D-D7020CDB0D21}" srcOrd="2" destOrd="0" parTransId="{4A63FCC2-D469-43FC-B1B8-7E0154454992}" sibTransId="{25597C48-722F-465D-8ECF-22EE82AC8DD1}"/>
    <dgm:cxn modelId="{28B2A447-BB1E-4B3C-AED4-8912016D9CF4}" type="presOf" srcId="{8629C217-0952-4819-841B-AE1BC3A992B5}" destId="{A0330DF0-0127-45A4-8A11-CDB29B71F0C0}" srcOrd="0" destOrd="0" presId="urn:microsoft.com/office/officeart/2005/8/layout/default"/>
    <dgm:cxn modelId="{C2C82511-49D2-4DD8-A532-64F80A68EA38}" type="presOf" srcId="{AD7672FB-D2F5-4042-AF3D-D7020CDB0D21}" destId="{2BC6ABEA-8B3F-4779-8782-DADF2BC695E5}" srcOrd="0" destOrd="0" presId="urn:microsoft.com/office/officeart/2005/8/layout/default"/>
    <dgm:cxn modelId="{2F5A2537-2639-47C9-AA2B-1533526BB3A0}" type="presOf" srcId="{802483C2-49ED-434D-85B3-5506BD1002BF}" destId="{D51E5883-8374-407A-A536-48819FB032D1}" srcOrd="0" destOrd="0" presId="urn:microsoft.com/office/officeart/2005/8/layout/default"/>
    <dgm:cxn modelId="{2230C962-522D-411D-A9E8-B378BA72D0E4}" type="presOf" srcId="{DEB22F26-AD7A-4148-8676-BF4970D74844}" destId="{901AB78B-2B4F-4902-878D-B92ED9BD8D47}" srcOrd="0" destOrd="0" presId="urn:microsoft.com/office/officeart/2005/8/layout/default"/>
    <dgm:cxn modelId="{96F909B1-253A-4267-B35F-A359AEB87EA7}" type="presOf" srcId="{5036FD2F-1BE3-4CFF-8D1C-DBD6C972DC1E}" destId="{589279BB-8712-42B8-9E41-66AEC76D3C08}" srcOrd="0" destOrd="0" presId="urn:microsoft.com/office/officeart/2005/8/layout/default"/>
    <dgm:cxn modelId="{4683CD18-4422-45E8-9353-89A4593DB0F7}" srcId="{802483C2-49ED-434D-85B3-5506BD1002BF}" destId="{6F3C384C-1971-4927-8F48-1773C5783829}" srcOrd="1" destOrd="0" parTransId="{C7B16ACB-B0D4-405A-8B01-8C2BB5657A47}" sibTransId="{175E1A58-D455-4532-B129-A80FE7A479D7}"/>
    <dgm:cxn modelId="{376C3EF4-9692-4FC8-88E2-68B67BE1B717}" srcId="{802483C2-49ED-434D-85B3-5506BD1002BF}" destId="{8629C217-0952-4819-841B-AE1BC3A992B5}" srcOrd="4" destOrd="0" parTransId="{172B6095-BAD5-40F5-9B61-C8B22B322BF7}" sibTransId="{826C4F65-3D6F-4271-8B7E-3F1254597C4B}"/>
    <dgm:cxn modelId="{E8F7DCC5-68A2-4B9F-8D6B-98BD02D5165C}" type="presOf" srcId="{6F3C384C-1971-4927-8F48-1773C5783829}" destId="{1C8BE3B0-D3B0-4A92-83F2-2F06CD626A43}" srcOrd="0" destOrd="0" presId="urn:microsoft.com/office/officeart/2005/8/layout/default"/>
    <dgm:cxn modelId="{C15E7CB2-370F-47A8-83E7-D0EBEF28FE5E}" srcId="{802483C2-49ED-434D-85B3-5506BD1002BF}" destId="{DEB22F26-AD7A-4148-8676-BF4970D74844}" srcOrd="3" destOrd="0" parTransId="{BF1BD8BB-3002-4E0B-A8E4-0F30F075C388}" sibTransId="{32B834C0-BFE4-42D1-B7B1-C809D261A6D9}"/>
    <dgm:cxn modelId="{131D6B25-A831-4368-B67B-F9571D8E1D80}" srcId="{802483C2-49ED-434D-85B3-5506BD1002BF}" destId="{5036FD2F-1BE3-4CFF-8D1C-DBD6C972DC1E}" srcOrd="0" destOrd="0" parTransId="{2EDF7815-6742-46A5-AD34-4208652F1CE9}" sibTransId="{41D35053-E4DC-4AB6-9CD3-00A2707E9723}"/>
    <dgm:cxn modelId="{3FB1EC3A-DEC4-421D-BCFA-747B00C12D5A}" type="presParOf" srcId="{D51E5883-8374-407A-A536-48819FB032D1}" destId="{589279BB-8712-42B8-9E41-66AEC76D3C08}" srcOrd="0" destOrd="0" presId="urn:microsoft.com/office/officeart/2005/8/layout/default"/>
    <dgm:cxn modelId="{DA00CF9E-426C-4629-B868-7AD6AAD146B3}" type="presParOf" srcId="{D51E5883-8374-407A-A536-48819FB032D1}" destId="{6DDD660D-8406-44E7-AF1F-355498D7D171}" srcOrd="1" destOrd="0" presId="urn:microsoft.com/office/officeart/2005/8/layout/default"/>
    <dgm:cxn modelId="{9A1B7B2C-C6D2-48C1-A137-091003615DB2}" type="presParOf" srcId="{D51E5883-8374-407A-A536-48819FB032D1}" destId="{1C8BE3B0-D3B0-4A92-83F2-2F06CD626A43}" srcOrd="2" destOrd="0" presId="urn:microsoft.com/office/officeart/2005/8/layout/default"/>
    <dgm:cxn modelId="{FA1C4DC4-5013-4EA6-B490-81650B7C26B2}" type="presParOf" srcId="{D51E5883-8374-407A-A536-48819FB032D1}" destId="{2B24519A-8CC3-464F-82C1-37AD7CF285CF}" srcOrd="3" destOrd="0" presId="urn:microsoft.com/office/officeart/2005/8/layout/default"/>
    <dgm:cxn modelId="{D527D4E9-6E37-435E-9BEB-1EF677623D51}" type="presParOf" srcId="{D51E5883-8374-407A-A536-48819FB032D1}" destId="{2BC6ABEA-8B3F-4779-8782-DADF2BC695E5}" srcOrd="4" destOrd="0" presId="urn:microsoft.com/office/officeart/2005/8/layout/default"/>
    <dgm:cxn modelId="{FFDC9D99-BA89-4FD4-8AD6-DA68D384DB54}" type="presParOf" srcId="{D51E5883-8374-407A-A536-48819FB032D1}" destId="{CFAA43E2-5C0C-4DDE-BD84-D5EB10271828}" srcOrd="5" destOrd="0" presId="urn:microsoft.com/office/officeart/2005/8/layout/default"/>
    <dgm:cxn modelId="{AC360630-C5C8-482D-8504-D9FC87463615}" type="presParOf" srcId="{D51E5883-8374-407A-A536-48819FB032D1}" destId="{901AB78B-2B4F-4902-878D-B92ED9BD8D47}" srcOrd="6" destOrd="0" presId="urn:microsoft.com/office/officeart/2005/8/layout/default"/>
    <dgm:cxn modelId="{61DDE1C0-18A9-4DAB-92DE-9CD4EA49B6A2}" type="presParOf" srcId="{D51E5883-8374-407A-A536-48819FB032D1}" destId="{2BEFB666-5FE1-43EE-996D-2680C58A31AA}" srcOrd="7" destOrd="0" presId="urn:microsoft.com/office/officeart/2005/8/layout/default"/>
    <dgm:cxn modelId="{9A69E43A-DD87-4F77-8E7A-D734370730CB}" type="presParOf" srcId="{D51E5883-8374-407A-A536-48819FB032D1}" destId="{A0330DF0-0127-45A4-8A11-CDB29B71F0C0}"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771090-EA99-4160-B180-1DE5AEE4B160}">
      <dsp:nvSpPr>
        <dsp:cNvPr id="0" name=""/>
        <dsp:cNvSpPr/>
      </dsp:nvSpPr>
      <dsp:spPr>
        <a:xfrm>
          <a:off x="581025" y="2678"/>
          <a:ext cx="3446859" cy="206811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5740" tIns="205740" rIns="205740" bIns="205740" numCol="1" spcCol="1270" anchor="ctr" anchorCtr="0">
          <a:noAutofit/>
        </a:bodyPr>
        <a:lstStyle/>
        <a:p>
          <a:pPr lvl="0" algn="ctr" defTabSz="2400300">
            <a:lnSpc>
              <a:spcPct val="90000"/>
            </a:lnSpc>
            <a:spcBef>
              <a:spcPct val="0"/>
            </a:spcBef>
            <a:spcAft>
              <a:spcPct val="35000"/>
            </a:spcAft>
          </a:pPr>
          <a:r>
            <a:rPr lang="en-US" sz="5400" kern="1200" dirty="0" smtClean="0"/>
            <a:t>Cohesion </a:t>
          </a:r>
          <a:endParaRPr lang="en-US" sz="5400" kern="1200" dirty="0"/>
        </a:p>
      </dsp:txBody>
      <dsp:txXfrm>
        <a:off x="581025" y="2678"/>
        <a:ext cx="3446859" cy="2068115"/>
      </dsp:txXfrm>
    </dsp:sp>
    <dsp:sp modelId="{539DD0F7-69E6-48BA-91DB-A9DE70C285D9}">
      <dsp:nvSpPr>
        <dsp:cNvPr id="0" name=""/>
        <dsp:cNvSpPr/>
      </dsp:nvSpPr>
      <dsp:spPr>
        <a:xfrm>
          <a:off x="4372570" y="2678"/>
          <a:ext cx="3446859" cy="2068115"/>
        </a:xfrm>
        <a:prstGeom prst="rect">
          <a:avLst/>
        </a:prstGeom>
        <a:solidFill>
          <a:schemeClr val="accent4">
            <a:hueOff val="3465231"/>
            <a:satOff val="-15989"/>
            <a:lumOff val="5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5740" tIns="205740" rIns="205740" bIns="205740" numCol="1" spcCol="1270" anchor="ctr" anchorCtr="0">
          <a:noAutofit/>
        </a:bodyPr>
        <a:lstStyle/>
        <a:p>
          <a:pPr lvl="0" algn="ctr" defTabSz="2400300">
            <a:lnSpc>
              <a:spcPct val="90000"/>
            </a:lnSpc>
            <a:spcBef>
              <a:spcPct val="0"/>
            </a:spcBef>
            <a:spcAft>
              <a:spcPct val="35000"/>
            </a:spcAft>
          </a:pPr>
          <a:r>
            <a:rPr lang="en-US" sz="5400" kern="1200" dirty="0" smtClean="0"/>
            <a:t>Coherence </a:t>
          </a:r>
          <a:endParaRPr lang="en-US" sz="5400" kern="1200" dirty="0"/>
        </a:p>
      </dsp:txBody>
      <dsp:txXfrm>
        <a:off x="4372570" y="2678"/>
        <a:ext cx="3446859" cy="2068115"/>
      </dsp:txXfrm>
    </dsp:sp>
    <dsp:sp modelId="{75C5C306-D292-45AB-9AA6-6EEF8E3B8A9C}">
      <dsp:nvSpPr>
        <dsp:cNvPr id="0" name=""/>
        <dsp:cNvSpPr/>
      </dsp:nvSpPr>
      <dsp:spPr>
        <a:xfrm>
          <a:off x="8164115" y="2678"/>
          <a:ext cx="3446859" cy="2068115"/>
        </a:xfrm>
        <a:prstGeom prst="rect">
          <a:avLst/>
        </a:prstGeom>
        <a:solidFill>
          <a:schemeClr val="accent4">
            <a:hueOff val="6930461"/>
            <a:satOff val="-31979"/>
            <a:lumOff val="1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5740" tIns="205740" rIns="205740" bIns="205740" numCol="1" spcCol="1270" anchor="ctr" anchorCtr="0">
          <a:noAutofit/>
        </a:bodyPr>
        <a:lstStyle/>
        <a:p>
          <a:pPr lvl="0" algn="ctr" defTabSz="2400300">
            <a:lnSpc>
              <a:spcPct val="90000"/>
            </a:lnSpc>
            <a:spcBef>
              <a:spcPct val="0"/>
            </a:spcBef>
            <a:spcAft>
              <a:spcPct val="35000"/>
            </a:spcAft>
          </a:pPr>
          <a:r>
            <a:rPr lang="en-US" sz="5400" kern="1200" dirty="0" smtClean="0"/>
            <a:t>Citations </a:t>
          </a:r>
          <a:endParaRPr lang="en-US" sz="5400" kern="1200" dirty="0"/>
        </a:p>
      </dsp:txBody>
      <dsp:txXfrm>
        <a:off x="8164115" y="2678"/>
        <a:ext cx="3446859" cy="2068115"/>
      </dsp:txXfrm>
    </dsp:sp>
    <dsp:sp modelId="{E0BCF496-62BA-4D21-AB44-CE7E5961AC92}">
      <dsp:nvSpPr>
        <dsp:cNvPr id="0" name=""/>
        <dsp:cNvSpPr/>
      </dsp:nvSpPr>
      <dsp:spPr>
        <a:xfrm>
          <a:off x="4372570" y="2415480"/>
          <a:ext cx="3446859" cy="2068115"/>
        </a:xfrm>
        <a:prstGeom prst="rect">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5740" tIns="205740" rIns="205740" bIns="205740" numCol="1" spcCol="1270" anchor="ctr" anchorCtr="0">
          <a:noAutofit/>
        </a:bodyPr>
        <a:lstStyle/>
        <a:p>
          <a:pPr lvl="0" algn="ctr" defTabSz="2400300">
            <a:lnSpc>
              <a:spcPct val="90000"/>
            </a:lnSpc>
            <a:spcBef>
              <a:spcPct val="0"/>
            </a:spcBef>
            <a:spcAft>
              <a:spcPct val="35000"/>
            </a:spcAft>
          </a:pPr>
          <a:r>
            <a:rPr lang="en-US" sz="5400" kern="1200" dirty="0" smtClean="0"/>
            <a:t>Facts and Statistics </a:t>
          </a:r>
          <a:endParaRPr lang="en-US" sz="5400" kern="1200" dirty="0"/>
        </a:p>
      </dsp:txBody>
      <dsp:txXfrm>
        <a:off x="4372570" y="2415480"/>
        <a:ext cx="3446859" cy="20681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CF3D06-0F32-4323-9EA8-67FE36D2D5C7}">
      <dsp:nvSpPr>
        <dsp:cNvPr id="0" name=""/>
        <dsp:cNvSpPr/>
      </dsp:nvSpPr>
      <dsp:spPr>
        <a:xfrm>
          <a:off x="0" y="0"/>
          <a:ext cx="9304718" cy="995838"/>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lvl="0" algn="l" defTabSz="1911350">
            <a:lnSpc>
              <a:spcPct val="90000"/>
            </a:lnSpc>
            <a:spcBef>
              <a:spcPct val="0"/>
            </a:spcBef>
            <a:spcAft>
              <a:spcPct val="35000"/>
            </a:spcAft>
          </a:pPr>
          <a:r>
            <a:rPr lang="en-US" sz="4300" kern="1200" dirty="0" smtClean="0"/>
            <a:t>Communication skills </a:t>
          </a:r>
          <a:endParaRPr lang="en-US" sz="4300" kern="1200" dirty="0"/>
        </a:p>
      </dsp:txBody>
      <dsp:txXfrm>
        <a:off x="29167" y="29167"/>
        <a:ext cx="8113618" cy="937504"/>
      </dsp:txXfrm>
    </dsp:sp>
    <dsp:sp modelId="{78DF38E6-A2E8-492D-AE59-35825DE8AD5C}">
      <dsp:nvSpPr>
        <dsp:cNvPr id="0" name=""/>
        <dsp:cNvSpPr/>
      </dsp:nvSpPr>
      <dsp:spPr>
        <a:xfrm>
          <a:off x="694832" y="1134149"/>
          <a:ext cx="9304718" cy="995838"/>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lvl="0" algn="l" defTabSz="1911350">
            <a:lnSpc>
              <a:spcPct val="90000"/>
            </a:lnSpc>
            <a:spcBef>
              <a:spcPct val="0"/>
            </a:spcBef>
            <a:spcAft>
              <a:spcPct val="35000"/>
            </a:spcAft>
          </a:pPr>
          <a:r>
            <a:rPr lang="en-US" sz="4300" kern="1200" dirty="0" smtClean="0"/>
            <a:t>Evaluating knowledge </a:t>
          </a:r>
          <a:endParaRPr lang="en-US" sz="4300" kern="1200" dirty="0"/>
        </a:p>
      </dsp:txBody>
      <dsp:txXfrm>
        <a:off x="723999" y="1163316"/>
        <a:ext cx="7904256" cy="937504"/>
      </dsp:txXfrm>
    </dsp:sp>
    <dsp:sp modelId="{AD4946CE-1D4E-411D-8136-A2EC6D56C847}">
      <dsp:nvSpPr>
        <dsp:cNvPr id="0" name=""/>
        <dsp:cNvSpPr/>
      </dsp:nvSpPr>
      <dsp:spPr>
        <a:xfrm>
          <a:off x="1389665" y="2268299"/>
          <a:ext cx="9304718" cy="995838"/>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lvl="0" algn="l" defTabSz="1911350">
            <a:lnSpc>
              <a:spcPct val="90000"/>
            </a:lnSpc>
            <a:spcBef>
              <a:spcPct val="0"/>
            </a:spcBef>
            <a:spcAft>
              <a:spcPct val="35000"/>
            </a:spcAft>
          </a:pPr>
          <a:r>
            <a:rPr lang="en-US" sz="4300" kern="1200" dirty="0" smtClean="0"/>
            <a:t>Develops  Critical thinking </a:t>
          </a:r>
          <a:endParaRPr lang="en-US" sz="4300" kern="1200" dirty="0"/>
        </a:p>
      </dsp:txBody>
      <dsp:txXfrm>
        <a:off x="1418832" y="2297466"/>
        <a:ext cx="7904256" cy="937504"/>
      </dsp:txXfrm>
    </dsp:sp>
    <dsp:sp modelId="{B64EE6F4-5965-40D1-A923-358572039310}">
      <dsp:nvSpPr>
        <dsp:cNvPr id="0" name=""/>
        <dsp:cNvSpPr/>
      </dsp:nvSpPr>
      <dsp:spPr>
        <a:xfrm>
          <a:off x="2084498" y="3402448"/>
          <a:ext cx="9304718" cy="995838"/>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lvl="0" algn="l" defTabSz="1911350">
            <a:lnSpc>
              <a:spcPct val="90000"/>
            </a:lnSpc>
            <a:spcBef>
              <a:spcPct val="0"/>
            </a:spcBef>
            <a:spcAft>
              <a:spcPct val="35000"/>
            </a:spcAft>
          </a:pPr>
          <a:r>
            <a:rPr lang="en-US" sz="4300" kern="1200" dirty="0" smtClean="0"/>
            <a:t>Develops Research Skills  </a:t>
          </a:r>
          <a:endParaRPr lang="en-US" sz="4300" kern="1200" dirty="0"/>
        </a:p>
      </dsp:txBody>
      <dsp:txXfrm>
        <a:off x="2113665" y="3431615"/>
        <a:ext cx="7904256" cy="937504"/>
      </dsp:txXfrm>
    </dsp:sp>
    <dsp:sp modelId="{69E0B318-1532-4E2B-96CC-46C6F483A4AD}">
      <dsp:nvSpPr>
        <dsp:cNvPr id="0" name=""/>
        <dsp:cNvSpPr/>
      </dsp:nvSpPr>
      <dsp:spPr>
        <a:xfrm>
          <a:off x="2779331" y="4536598"/>
          <a:ext cx="9304718" cy="995838"/>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lvl="0" algn="l" defTabSz="1911350">
            <a:lnSpc>
              <a:spcPct val="90000"/>
            </a:lnSpc>
            <a:spcBef>
              <a:spcPct val="0"/>
            </a:spcBef>
            <a:spcAft>
              <a:spcPct val="35000"/>
            </a:spcAft>
          </a:pPr>
          <a:r>
            <a:rPr lang="en-US" sz="4300" kern="1200" dirty="0" smtClean="0"/>
            <a:t>Continues Learning </a:t>
          </a:r>
          <a:endParaRPr lang="en-US" sz="4300" kern="1200" dirty="0"/>
        </a:p>
      </dsp:txBody>
      <dsp:txXfrm>
        <a:off x="2808498" y="4565765"/>
        <a:ext cx="7904256" cy="937504"/>
      </dsp:txXfrm>
    </dsp:sp>
    <dsp:sp modelId="{1C44B932-E83E-46E1-80AF-1D5F02F1B48B}">
      <dsp:nvSpPr>
        <dsp:cNvPr id="0" name=""/>
        <dsp:cNvSpPr/>
      </dsp:nvSpPr>
      <dsp:spPr>
        <a:xfrm>
          <a:off x="8657423" y="727515"/>
          <a:ext cx="647295" cy="647295"/>
        </a:xfrm>
        <a:prstGeom prst="downArrow">
          <a:avLst>
            <a:gd name="adj1" fmla="val 55000"/>
            <a:gd name="adj2" fmla="val 45000"/>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lvl="0" algn="ctr" defTabSz="1289050">
            <a:lnSpc>
              <a:spcPct val="90000"/>
            </a:lnSpc>
            <a:spcBef>
              <a:spcPct val="0"/>
            </a:spcBef>
            <a:spcAft>
              <a:spcPct val="35000"/>
            </a:spcAft>
          </a:pPr>
          <a:endParaRPr lang="en-US" sz="2900" kern="1200"/>
        </a:p>
      </dsp:txBody>
      <dsp:txXfrm>
        <a:off x="8803064" y="727515"/>
        <a:ext cx="356013" cy="487089"/>
      </dsp:txXfrm>
    </dsp:sp>
    <dsp:sp modelId="{3D784E9F-B7D9-4382-8F74-0386B2506E62}">
      <dsp:nvSpPr>
        <dsp:cNvPr id="0" name=""/>
        <dsp:cNvSpPr/>
      </dsp:nvSpPr>
      <dsp:spPr>
        <a:xfrm>
          <a:off x="9352256" y="1861665"/>
          <a:ext cx="647295" cy="647295"/>
        </a:xfrm>
        <a:prstGeom prst="downArrow">
          <a:avLst>
            <a:gd name="adj1" fmla="val 55000"/>
            <a:gd name="adj2" fmla="val 45000"/>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lvl="0" algn="ctr" defTabSz="1289050">
            <a:lnSpc>
              <a:spcPct val="90000"/>
            </a:lnSpc>
            <a:spcBef>
              <a:spcPct val="0"/>
            </a:spcBef>
            <a:spcAft>
              <a:spcPct val="35000"/>
            </a:spcAft>
          </a:pPr>
          <a:endParaRPr lang="en-US" sz="2900" kern="1200"/>
        </a:p>
      </dsp:txBody>
      <dsp:txXfrm>
        <a:off x="9497897" y="1861665"/>
        <a:ext cx="356013" cy="487089"/>
      </dsp:txXfrm>
    </dsp:sp>
    <dsp:sp modelId="{EEB4B1B3-FC7B-4DE7-9789-146BA0BFF791}">
      <dsp:nvSpPr>
        <dsp:cNvPr id="0" name=""/>
        <dsp:cNvSpPr/>
      </dsp:nvSpPr>
      <dsp:spPr>
        <a:xfrm>
          <a:off x="10047089" y="2979217"/>
          <a:ext cx="647295" cy="647295"/>
        </a:xfrm>
        <a:prstGeom prst="downArrow">
          <a:avLst>
            <a:gd name="adj1" fmla="val 55000"/>
            <a:gd name="adj2" fmla="val 45000"/>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lvl="0" algn="ctr" defTabSz="1289050">
            <a:lnSpc>
              <a:spcPct val="90000"/>
            </a:lnSpc>
            <a:spcBef>
              <a:spcPct val="0"/>
            </a:spcBef>
            <a:spcAft>
              <a:spcPct val="35000"/>
            </a:spcAft>
          </a:pPr>
          <a:endParaRPr lang="en-US" sz="2900" kern="1200"/>
        </a:p>
      </dsp:txBody>
      <dsp:txXfrm>
        <a:off x="10192730" y="2979217"/>
        <a:ext cx="356013" cy="487089"/>
      </dsp:txXfrm>
    </dsp:sp>
    <dsp:sp modelId="{4361269E-9AF3-4EB0-B82B-06A1A212425A}">
      <dsp:nvSpPr>
        <dsp:cNvPr id="0" name=""/>
        <dsp:cNvSpPr/>
      </dsp:nvSpPr>
      <dsp:spPr>
        <a:xfrm>
          <a:off x="10741921" y="4124431"/>
          <a:ext cx="647295" cy="647295"/>
        </a:xfrm>
        <a:prstGeom prst="downArrow">
          <a:avLst>
            <a:gd name="adj1" fmla="val 55000"/>
            <a:gd name="adj2" fmla="val 45000"/>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6830" tIns="36830" rIns="36830" bIns="36830" numCol="1" spcCol="1270" anchor="ctr" anchorCtr="0">
          <a:noAutofit/>
        </a:bodyPr>
        <a:lstStyle/>
        <a:p>
          <a:pPr lvl="0" algn="ctr" defTabSz="1289050">
            <a:lnSpc>
              <a:spcPct val="90000"/>
            </a:lnSpc>
            <a:spcBef>
              <a:spcPct val="0"/>
            </a:spcBef>
            <a:spcAft>
              <a:spcPct val="35000"/>
            </a:spcAft>
          </a:pPr>
          <a:endParaRPr lang="en-US" sz="2900" kern="1200"/>
        </a:p>
      </dsp:txBody>
      <dsp:txXfrm>
        <a:off x="10887562" y="4124431"/>
        <a:ext cx="356013" cy="4870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6356BB-92F9-465F-BE7E-B8711C5FBC9C}">
      <dsp:nvSpPr>
        <dsp:cNvPr id="0" name=""/>
        <dsp:cNvSpPr/>
      </dsp:nvSpPr>
      <dsp:spPr>
        <a:xfrm>
          <a:off x="0" y="0"/>
          <a:ext cx="1170432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4FE7A7-EB8F-41A0-9183-F713684C7337}">
      <dsp:nvSpPr>
        <dsp:cNvPr id="0" name=""/>
        <dsp:cNvSpPr/>
      </dsp:nvSpPr>
      <dsp:spPr>
        <a:xfrm>
          <a:off x="0" y="0"/>
          <a:ext cx="11704320" cy="12660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980" tIns="220980" rIns="220980" bIns="220980" numCol="1" spcCol="1270" anchor="t" anchorCtr="0">
          <a:noAutofit/>
        </a:bodyPr>
        <a:lstStyle/>
        <a:p>
          <a:pPr lvl="0" algn="l" defTabSz="2578100">
            <a:lnSpc>
              <a:spcPct val="90000"/>
            </a:lnSpc>
            <a:spcBef>
              <a:spcPct val="0"/>
            </a:spcBef>
            <a:spcAft>
              <a:spcPct val="35000"/>
            </a:spcAft>
          </a:pPr>
          <a:r>
            <a:rPr lang="en-US" sz="5800" b="1" kern="1200" smtClean="0"/>
            <a:t>Expository</a:t>
          </a:r>
          <a:endParaRPr lang="en-US" sz="5800" b="1" kern="1200"/>
        </a:p>
      </dsp:txBody>
      <dsp:txXfrm>
        <a:off x="0" y="0"/>
        <a:ext cx="11704320" cy="1266092"/>
      </dsp:txXfrm>
    </dsp:sp>
    <dsp:sp modelId="{A66C8837-8913-43C4-A72A-EB9CB459F3A7}">
      <dsp:nvSpPr>
        <dsp:cNvPr id="0" name=""/>
        <dsp:cNvSpPr/>
      </dsp:nvSpPr>
      <dsp:spPr>
        <a:xfrm>
          <a:off x="0" y="1266092"/>
          <a:ext cx="1170432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DE622E-A667-4151-964A-FE68F8ABCB91}">
      <dsp:nvSpPr>
        <dsp:cNvPr id="0" name=""/>
        <dsp:cNvSpPr/>
      </dsp:nvSpPr>
      <dsp:spPr>
        <a:xfrm>
          <a:off x="0" y="1266092"/>
          <a:ext cx="11704320" cy="12660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980" tIns="220980" rIns="220980" bIns="220980" numCol="1" spcCol="1270" anchor="t" anchorCtr="0">
          <a:noAutofit/>
        </a:bodyPr>
        <a:lstStyle/>
        <a:p>
          <a:pPr lvl="0" algn="l" defTabSz="2578100">
            <a:lnSpc>
              <a:spcPct val="90000"/>
            </a:lnSpc>
            <a:spcBef>
              <a:spcPct val="0"/>
            </a:spcBef>
            <a:spcAft>
              <a:spcPct val="35000"/>
            </a:spcAft>
          </a:pPr>
          <a:r>
            <a:rPr lang="en-US" sz="5800" b="1" kern="1200" smtClean="0"/>
            <a:t>Persuasive</a:t>
          </a:r>
          <a:endParaRPr lang="en-US" sz="5800" b="1" kern="1200"/>
        </a:p>
      </dsp:txBody>
      <dsp:txXfrm>
        <a:off x="0" y="1266092"/>
        <a:ext cx="11704320" cy="1266092"/>
      </dsp:txXfrm>
    </dsp:sp>
    <dsp:sp modelId="{698324D1-FF10-4E32-9897-7B62787F94A2}">
      <dsp:nvSpPr>
        <dsp:cNvPr id="0" name=""/>
        <dsp:cNvSpPr/>
      </dsp:nvSpPr>
      <dsp:spPr>
        <a:xfrm>
          <a:off x="0" y="2532184"/>
          <a:ext cx="11704320"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15AC29-56BF-4A89-9466-8669C91D6EFF}">
      <dsp:nvSpPr>
        <dsp:cNvPr id="0" name=""/>
        <dsp:cNvSpPr/>
      </dsp:nvSpPr>
      <dsp:spPr>
        <a:xfrm>
          <a:off x="0" y="2532184"/>
          <a:ext cx="11704320" cy="12660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980" tIns="220980" rIns="220980" bIns="220980" numCol="1" spcCol="1270" anchor="t" anchorCtr="0">
          <a:noAutofit/>
        </a:bodyPr>
        <a:lstStyle/>
        <a:p>
          <a:pPr lvl="0" algn="l" defTabSz="2578100">
            <a:lnSpc>
              <a:spcPct val="90000"/>
            </a:lnSpc>
            <a:spcBef>
              <a:spcPct val="0"/>
            </a:spcBef>
            <a:spcAft>
              <a:spcPct val="35000"/>
            </a:spcAft>
          </a:pPr>
          <a:r>
            <a:rPr lang="en-US" sz="5800" b="1" kern="1200" smtClean="0"/>
            <a:t>Descriptive</a:t>
          </a:r>
          <a:endParaRPr lang="en-US" sz="5800" b="1" kern="1200"/>
        </a:p>
      </dsp:txBody>
      <dsp:txXfrm>
        <a:off x="0" y="2532184"/>
        <a:ext cx="11704320" cy="1266092"/>
      </dsp:txXfrm>
    </dsp:sp>
    <dsp:sp modelId="{E24F74CC-CA36-4B33-B7E5-F1AAEC600383}">
      <dsp:nvSpPr>
        <dsp:cNvPr id="0" name=""/>
        <dsp:cNvSpPr/>
      </dsp:nvSpPr>
      <dsp:spPr>
        <a:xfrm>
          <a:off x="0" y="3798275"/>
          <a:ext cx="11704320"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ED6D2E-79D6-4AA3-9900-94A1A74EB002}">
      <dsp:nvSpPr>
        <dsp:cNvPr id="0" name=""/>
        <dsp:cNvSpPr/>
      </dsp:nvSpPr>
      <dsp:spPr>
        <a:xfrm>
          <a:off x="0" y="3798276"/>
          <a:ext cx="11704320" cy="12660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0980" tIns="220980" rIns="220980" bIns="220980" numCol="1" spcCol="1270" anchor="t" anchorCtr="0">
          <a:noAutofit/>
        </a:bodyPr>
        <a:lstStyle/>
        <a:p>
          <a:pPr lvl="0" algn="l" defTabSz="2578100">
            <a:lnSpc>
              <a:spcPct val="90000"/>
            </a:lnSpc>
            <a:spcBef>
              <a:spcPct val="0"/>
            </a:spcBef>
            <a:spcAft>
              <a:spcPct val="35000"/>
            </a:spcAft>
          </a:pPr>
          <a:r>
            <a:rPr lang="en-US" sz="5800" b="1" kern="1200" smtClean="0"/>
            <a:t>Narrative</a:t>
          </a:r>
          <a:endParaRPr lang="en-US" sz="5800" b="1" kern="1200"/>
        </a:p>
      </dsp:txBody>
      <dsp:txXfrm>
        <a:off x="0" y="3798276"/>
        <a:ext cx="11704320" cy="12660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26C4C0-47FE-4EE3-9714-894818DC9F3E}">
      <dsp:nvSpPr>
        <dsp:cNvPr id="0" name=""/>
        <dsp:cNvSpPr/>
      </dsp:nvSpPr>
      <dsp:spPr>
        <a:xfrm>
          <a:off x="0" y="4164558"/>
          <a:ext cx="12192000" cy="136690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1376" tIns="341376" rIns="341376" bIns="341376" numCol="1" spcCol="1270" anchor="ctr" anchorCtr="0">
          <a:noAutofit/>
        </a:bodyPr>
        <a:lstStyle/>
        <a:p>
          <a:pPr lvl="0" algn="ctr" defTabSz="2133600">
            <a:lnSpc>
              <a:spcPct val="90000"/>
            </a:lnSpc>
            <a:spcBef>
              <a:spcPct val="0"/>
            </a:spcBef>
            <a:spcAft>
              <a:spcPct val="35000"/>
            </a:spcAft>
          </a:pPr>
          <a:r>
            <a:rPr lang="en-US" sz="4800" kern="1200" dirty="0" smtClean="0"/>
            <a:t>Conclusion </a:t>
          </a:r>
          <a:endParaRPr lang="en-US" sz="4800" kern="1200" dirty="0"/>
        </a:p>
      </dsp:txBody>
      <dsp:txXfrm>
        <a:off x="0" y="4164558"/>
        <a:ext cx="12192000" cy="1366900"/>
      </dsp:txXfrm>
    </dsp:sp>
    <dsp:sp modelId="{0EFCB0C5-3B98-4EB5-A26C-10E50EF953CB}">
      <dsp:nvSpPr>
        <dsp:cNvPr id="0" name=""/>
        <dsp:cNvSpPr/>
      </dsp:nvSpPr>
      <dsp:spPr>
        <a:xfrm rot="10800000">
          <a:off x="0" y="2082768"/>
          <a:ext cx="12192000" cy="2102293"/>
        </a:xfrm>
        <a:prstGeom prst="upArrowCallout">
          <a:avLst/>
        </a:prstGeom>
        <a:solidFill>
          <a:schemeClr val="accent4">
            <a:hueOff val="5197846"/>
            <a:satOff val="-23984"/>
            <a:lumOff val="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1376" tIns="341376" rIns="341376" bIns="341376" numCol="1" spcCol="1270" anchor="ctr" anchorCtr="0">
          <a:noAutofit/>
        </a:bodyPr>
        <a:lstStyle/>
        <a:p>
          <a:pPr lvl="0" algn="ctr" defTabSz="2133600">
            <a:lnSpc>
              <a:spcPct val="90000"/>
            </a:lnSpc>
            <a:spcBef>
              <a:spcPct val="0"/>
            </a:spcBef>
            <a:spcAft>
              <a:spcPct val="35000"/>
            </a:spcAft>
          </a:pPr>
          <a:r>
            <a:rPr lang="en-US" sz="4800" kern="1200" dirty="0" smtClean="0"/>
            <a:t>Body Paragraph </a:t>
          </a:r>
          <a:endParaRPr lang="en-US" sz="4800" kern="1200" dirty="0"/>
        </a:p>
      </dsp:txBody>
      <dsp:txXfrm rot="10800000">
        <a:off x="0" y="2082768"/>
        <a:ext cx="12192000" cy="1366007"/>
      </dsp:txXfrm>
    </dsp:sp>
    <dsp:sp modelId="{C603E821-84A3-4BD6-B02D-52AAF6C6AE59}">
      <dsp:nvSpPr>
        <dsp:cNvPr id="0" name=""/>
        <dsp:cNvSpPr/>
      </dsp:nvSpPr>
      <dsp:spPr>
        <a:xfrm rot="10800000">
          <a:off x="0" y="977"/>
          <a:ext cx="12192000" cy="2102293"/>
        </a:xfrm>
        <a:prstGeom prst="upArrowCallout">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1376" tIns="341376" rIns="341376" bIns="341376" numCol="1" spcCol="1270" anchor="ctr" anchorCtr="0">
          <a:noAutofit/>
        </a:bodyPr>
        <a:lstStyle/>
        <a:p>
          <a:pPr lvl="0" algn="ctr" defTabSz="2133600">
            <a:lnSpc>
              <a:spcPct val="90000"/>
            </a:lnSpc>
            <a:spcBef>
              <a:spcPct val="0"/>
            </a:spcBef>
            <a:spcAft>
              <a:spcPct val="35000"/>
            </a:spcAft>
          </a:pPr>
          <a:r>
            <a:rPr lang="en-US" sz="4800" kern="1200" dirty="0" smtClean="0"/>
            <a:t>Introduction </a:t>
          </a:r>
          <a:endParaRPr lang="en-US" sz="4800" kern="1200" dirty="0"/>
        </a:p>
      </dsp:txBody>
      <dsp:txXfrm rot="10800000">
        <a:off x="0" y="977"/>
        <a:ext cx="12192000" cy="136600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D451F6-5CAD-4C38-B24A-210F82B63B9A}">
      <dsp:nvSpPr>
        <dsp:cNvPr id="0" name=""/>
        <dsp:cNvSpPr/>
      </dsp:nvSpPr>
      <dsp:spPr>
        <a:xfrm>
          <a:off x="126616" y="0"/>
          <a:ext cx="11657413" cy="5219114"/>
        </a:xfrm>
        <a:prstGeom prst="swooshArrow">
          <a:avLst>
            <a:gd name="adj1" fmla="val 25000"/>
            <a:gd name="adj2" fmla="val 25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F12CFF-D545-47EF-B5A0-B81778F9FC59}">
      <dsp:nvSpPr>
        <dsp:cNvPr id="0" name=""/>
        <dsp:cNvSpPr/>
      </dsp:nvSpPr>
      <dsp:spPr>
        <a:xfrm>
          <a:off x="2840555" y="3602232"/>
          <a:ext cx="217115" cy="217115"/>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C6C643-2CA3-48C6-AB34-579405FBDEFF}">
      <dsp:nvSpPr>
        <dsp:cNvPr id="0" name=""/>
        <dsp:cNvSpPr/>
      </dsp:nvSpPr>
      <dsp:spPr>
        <a:xfrm>
          <a:off x="2949113" y="3710790"/>
          <a:ext cx="1945685" cy="15083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045" tIns="0" rIns="0" bIns="0" numCol="1" spcCol="1270" anchor="t" anchorCtr="0">
          <a:noAutofit/>
        </a:bodyPr>
        <a:lstStyle/>
        <a:p>
          <a:pPr lvl="0" algn="l" defTabSz="1289050">
            <a:lnSpc>
              <a:spcPct val="90000"/>
            </a:lnSpc>
            <a:spcBef>
              <a:spcPct val="0"/>
            </a:spcBef>
            <a:spcAft>
              <a:spcPct val="35000"/>
            </a:spcAft>
          </a:pPr>
          <a:r>
            <a:rPr lang="en-US" sz="2900" kern="1200" dirty="0" smtClean="0"/>
            <a:t>Attention/ getter Hook </a:t>
          </a:r>
          <a:endParaRPr lang="en-US" sz="2900" kern="1200" dirty="0"/>
        </a:p>
      </dsp:txBody>
      <dsp:txXfrm>
        <a:off x="2949113" y="3710790"/>
        <a:ext cx="1945685" cy="1508323"/>
      </dsp:txXfrm>
    </dsp:sp>
    <dsp:sp modelId="{CD58479A-48BD-4E23-85D6-8C8CAA5190E1}">
      <dsp:nvSpPr>
        <dsp:cNvPr id="0" name=""/>
        <dsp:cNvSpPr/>
      </dsp:nvSpPr>
      <dsp:spPr>
        <a:xfrm>
          <a:off x="4757014" y="2183677"/>
          <a:ext cx="392477" cy="392477"/>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7485CA-7C7E-43B3-A6EA-533A9DFFFA72}">
      <dsp:nvSpPr>
        <dsp:cNvPr id="0" name=""/>
        <dsp:cNvSpPr/>
      </dsp:nvSpPr>
      <dsp:spPr>
        <a:xfrm>
          <a:off x="4953253" y="2379915"/>
          <a:ext cx="2004139" cy="28391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7966" tIns="0" rIns="0" bIns="0" numCol="1" spcCol="1270" anchor="t" anchorCtr="0">
          <a:noAutofit/>
        </a:bodyPr>
        <a:lstStyle/>
        <a:p>
          <a:pPr lvl="0" algn="l" defTabSz="1289050">
            <a:lnSpc>
              <a:spcPct val="90000"/>
            </a:lnSpc>
            <a:spcBef>
              <a:spcPct val="0"/>
            </a:spcBef>
            <a:spcAft>
              <a:spcPct val="35000"/>
            </a:spcAft>
          </a:pPr>
          <a:r>
            <a:rPr lang="en-US" sz="2900" kern="1200" dirty="0" smtClean="0"/>
            <a:t>Background Knowledge </a:t>
          </a:r>
          <a:endParaRPr lang="en-US" sz="2900" kern="1200" dirty="0"/>
        </a:p>
      </dsp:txBody>
      <dsp:txXfrm>
        <a:off x="4953253" y="2379915"/>
        <a:ext cx="2004139" cy="2839198"/>
      </dsp:txXfrm>
    </dsp:sp>
    <dsp:sp modelId="{43F05525-226D-492F-A1A8-F04C62A0E034}">
      <dsp:nvSpPr>
        <dsp:cNvPr id="0" name=""/>
        <dsp:cNvSpPr/>
      </dsp:nvSpPr>
      <dsp:spPr>
        <a:xfrm>
          <a:off x="7061775" y="1320435"/>
          <a:ext cx="542787" cy="542787"/>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816744-D539-4CA4-9902-63D67DAB5CE8}">
      <dsp:nvSpPr>
        <dsp:cNvPr id="0" name=""/>
        <dsp:cNvSpPr/>
      </dsp:nvSpPr>
      <dsp:spPr>
        <a:xfrm>
          <a:off x="7333169" y="1591829"/>
          <a:ext cx="2004139" cy="36272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7612" tIns="0" rIns="0" bIns="0" numCol="1" spcCol="1270" anchor="t" anchorCtr="0">
          <a:noAutofit/>
        </a:bodyPr>
        <a:lstStyle/>
        <a:p>
          <a:pPr lvl="0" algn="l" defTabSz="1289050">
            <a:lnSpc>
              <a:spcPct val="90000"/>
            </a:lnSpc>
            <a:spcBef>
              <a:spcPct val="0"/>
            </a:spcBef>
            <a:spcAft>
              <a:spcPct val="35000"/>
            </a:spcAft>
          </a:pPr>
          <a:r>
            <a:rPr lang="en-US" sz="2900" kern="1200" dirty="0" smtClean="0"/>
            <a:t>Thesis Statement </a:t>
          </a:r>
          <a:endParaRPr lang="en-US" sz="2900" kern="1200" dirty="0"/>
        </a:p>
      </dsp:txBody>
      <dsp:txXfrm>
        <a:off x="7333169" y="1591829"/>
        <a:ext cx="2004139" cy="362728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9279BB-8712-42B8-9E41-66AEC76D3C08}">
      <dsp:nvSpPr>
        <dsp:cNvPr id="0" name=""/>
        <dsp:cNvSpPr/>
      </dsp:nvSpPr>
      <dsp:spPr>
        <a:xfrm>
          <a:off x="0" y="39687"/>
          <a:ext cx="3286125" cy="1971675"/>
        </a:xfrm>
        <a:prstGeom prst="flowChartPunchedTap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en-US" sz="4000" kern="1200" dirty="0" smtClean="0"/>
            <a:t>Expository</a:t>
          </a:r>
          <a:r>
            <a:rPr lang="en-US" sz="3100" kern="1200" dirty="0" smtClean="0"/>
            <a:t> </a:t>
          </a:r>
          <a:endParaRPr lang="en-US" sz="3100" kern="1200" dirty="0"/>
        </a:p>
      </dsp:txBody>
      <dsp:txXfrm>
        <a:off x="0" y="434022"/>
        <a:ext cx="3286125" cy="1183005"/>
      </dsp:txXfrm>
    </dsp:sp>
    <dsp:sp modelId="{1C8BE3B0-D3B0-4A92-83F2-2F06CD626A43}">
      <dsp:nvSpPr>
        <dsp:cNvPr id="0" name=""/>
        <dsp:cNvSpPr/>
      </dsp:nvSpPr>
      <dsp:spPr>
        <a:xfrm>
          <a:off x="3614737" y="39687"/>
          <a:ext cx="3286125" cy="1971675"/>
        </a:xfrm>
        <a:prstGeom prst="flowChartPunchedTap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lvl="0" algn="ctr" defTabSz="1955800">
            <a:lnSpc>
              <a:spcPct val="90000"/>
            </a:lnSpc>
            <a:spcBef>
              <a:spcPct val="0"/>
            </a:spcBef>
            <a:spcAft>
              <a:spcPct val="35000"/>
            </a:spcAft>
          </a:pPr>
          <a:r>
            <a:rPr lang="en-US" sz="4400" kern="1200" dirty="0" smtClean="0"/>
            <a:t>Definition</a:t>
          </a:r>
          <a:r>
            <a:rPr lang="en-US" sz="3100" kern="1200" dirty="0" smtClean="0"/>
            <a:t> </a:t>
          </a:r>
          <a:endParaRPr lang="en-US" sz="3100" kern="1200" dirty="0"/>
        </a:p>
      </dsp:txBody>
      <dsp:txXfrm>
        <a:off x="3614737" y="434022"/>
        <a:ext cx="3286125" cy="1183005"/>
      </dsp:txXfrm>
    </dsp:sp>
    <dsp:sp modelId="{2BC6ABEA-8B3F-4779-8782-DADF2BC695E5}">
      <dsp:nvSpPr>
        <dsp:cNvPr id="0" name=""/>
        <dsp:cNvSpPr/>
      </dsp:nvSpPr>
      <dsp:spPr>
        <a:xfrm>
          <a:off x="7229475" y="39687"/>
          <a:ext cx="3286125" cy="1971675"/>
        </a:xfrm>
        <a:prstGeom prst="flowChartPunchedTap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n-US" sz="3600" kern="1200" dirty="0" smtClean="0"/>
            <a:t>Process</a:t>
          </a:r>
          <a:r>
            <a:rPr lang="en-US" sz="3100" kern="1200" dirty="0" smtClean="0"/>
            <a:t> </a:t>
          </a:r>
          <a:endParaRPr lang="en-US" sz="3100" kern="1200" dirty="0"/>
        </a:p>
      </dsp:txBody>
      <dsp:txXfrm>
        <a:off x="7229475" y="434022"/>
        <a:ext cx="3286125" cy="1183005"/>
      </dsp:txXfrm>
    </dsp:sp>
    <dsp:sp modelId="{901AB78B-2B4F-4902-878D-B92ED9BD8D47}">
      <dsp:nvSpPr>
        <dsp:cNvPr id="0" name=""/>
        <dsp:cNvSpPr/>
      </dsp:nvSpPr>
      <dsp:spPr>
        <a:xfrm>
          <a:off x="1182857" y="2339975"/>
          <a:ext cx="3286125" cy="1971675"/>
        </a:xfrm>
        <a:prstGeom prst="flowChartPunchedTap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en-US" sz="4000" kern="1200" dirty="0" smtClean="0"/>
            <a:t>Descriptive</a:t>
          </a:r>
          <a:r>
            <a:rPr lang="en-US" sz="3100" kern="1200" dirty="0" smtClean="0"/>
            <a:t> </a:t>
          </a:r>
          <a:endParaRPr lang="en-US" sz="3100" kern="1200" dirty="0"/>
        </a:p>
      </dsp:txBody>
      <dsp:txXfrm>
        <a:off x="1182857" y="2734310"/>
        <a:ext cx="3286125" cy="1183005"/>
      </dsp:txXfrm>
    </dsp:sp>
    <dsp:sp modelId="{A0330DF0-0127-45A4-8A11-CDB29B71F0C0}">
      <dsp:nvSpPr>
        <dsp:cNvPr id="0" name=""/>
        <dsp:cNvSpPr/>
      </dsp:nvSpPr>
      <dsp:spPr>
        <a:xfrm>
          <a:off x="5880800" y="2379663"/>
          <a:ext cx="4535148" cy="1971675"/>
        </a:xfrm>
        <a:prstGeom prst="flowChartPunchedTap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ctr" defTabSz="1778000">
            <a:lnSpc>
              <a:spcPct val="90000"/>
            </a:lnSpc>
            <a:spcBef>
              <a:spcPct val="0"/>
            </a:spcBef>
            <a:spcAft>
              <a:spcPct val="35000"/>
            </a:spcAft>
          </a:pPr>
          <a:r>
            <a:rPr lang="en-US" sz="4000" kern="1200" dirty="0" smtClean="0"/>
            <a:t>Compare/Contras</a:t>
          </a:r>
          <a:r>
            <a:rPr lang="en-US" sz="3100" kern="1200" dirty="0" smtClean="0"/>
            <a:t>t </a:t>
          </a:r>
          <a:endParaRPr lang="en-US" sz="3100" kern="1200" dirty="0"/>
        </a:p>
      </dsp:txBody>
      <dsp:txXfrm>
        <a:off x="5880800" y="2773998"/>
        <a:ext cx="4535148" cy="118300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9279BB-8712-42B8-9E41-66AEC76D3C08}">
      <dsp:nvSpPr>
        <dsp:cNvPr id="0" name=""/>
        <dsp:cNvSpPr/>
      </dsp:nvSpPr>
      <dsp:spPr>
        <a:xfrm>
          <a:off x="0" y="39687"/>
          <a:ext cx="3286125" cy="1971675"/>
        </a:xfrm>
        <a:prstGeom prst="flowChartPunchedTap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lvl="0" algn="ctr" defTabSz="1733550">
            <a:lnSpc>
              <a:spcPct val="90000"/>
            </a:lnSpc>
            <a:spcBef>
              <a:spcPct val="0"/>
            </a:spcBef>
            <a:spcAft>
              <a:spcPct val="35000"/>
            </a:spcAft>
          </a:pPr>
          <a:r>
            <a:rPr lang="en-US" sz="3900" kern="1200" dirty="0" smtClean="0"/>
            <a:t>Narrative </a:t>
          </a:r>
          <a:endParaRPr lang="en-US" sz="3900" kern="1200" dirty="0"/>
        </a:p>
      </dsp:txBody>
      <dsp:txXfrm>
        <a:off x="0" y="434022"/>
        <a:ext cx="3286125" cy="1183005"/>
      </dsp:txXfrm>
    </dsp:sp>
    <dsp:sp modelId="{1C8BE3B0-D3B0-4A92-83F2-2F06CD626A43}">
      <dsp:nvSpPr>
        <dsp:cNvPr id="0" name=""/>
        <dsp:cNvSpPr/>
      </dsp:nvSpPr>
      <dsp:spPr>
        <a:xfrm>
          <a:off x="3614737" y="39687"/>
          <a:ext cx="3286125" cy="1971675"/>
        </a:xfrm>
        <a:prstGeom prst="flowChartPunchedTap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lvl="0" algn="ctr" defTabSz="1733550">
            <a:lnSpc>
              <a:spcPct val="90000"/>
            </a:lnSpc>
            <a:spcBef>
              <a:spcPct val="0"/>
            </a:spcBef>
            <a:spcAft>
              <a:spcPct val="35000"/>
            </a:spcAft>
          </a:pPr>
          <a:r>
            <a:rPr lang="en-US" sz="3900" kern="1200" dirty="0" smtClean="0"/>
            <a:t>Critical </a:t>
          </a:r>
          <a:endParaRPr lang="en-US" sz="3900" kern="1200" dirty="0"/>
        </a:p>
      </dsp:txBody>
      <dsp:txXfrm>
        <a:off x="3614737" y="434022"/>
        <a:ext cx="3286125" cy="1183005"/>
      </dsp:txXfrm>
    </dsp:sp>
    <dsp:sp modelId="{2BC6ABEA-8B3F-4779-8782-DADF2BC695E5}">
      <dsp:nvSpPr>
        <dsp:cNvPr id="0" name=""/>
        <dsp:cNvSpPr/>
      </dsp:nvSpPr>
      <dsp:spPr>
        <a:xfrm>
          <a:off x="7229475" y="39687"/>
          <a:ext cx="3286125" cy="1971675"/>
        </a:xfrm>
        <a:prstGeom prst="flowChartPunchedTap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lvl="0" algn="ctr" defTabSz="1733550">
            <a:lnSpc>
              <a:spcPct val="90000"/>
            </a:lnSpc>
            <a:spcBef>
              <a:spcPct val="0"/>
            </a:spcBef>
            <a:spcAft>
              <a:spcPct val="35000"/>
            </a:spcAft>
          </a:pPr>
          <a:r>
            <a:rPr lang="en-US" sz="3900" kern="1200" dirty="0" smtClean="0"/>
            <a:t>Cause &amp; Effect </a:t>
          </a:r>
          <a:endParaRPr lang="en-US" sz="3900" kern="1200" dirty="0"/>
        </a:p>
      </dsp:txBody>
      <dsp:txXfrm>
        <a:off x="7229475" y="434022"/>
        <a:ext cx="3286125" cy="1183005"/>
      </dsp:txXfrm>
    </dsp:sp>
    <dsp:sp modelId="{901AB78B-2B4F-4902-878D-B92ED9BD8D47}">
      <dsp:nvSpPr>
        <dsp:cNvPr id="0" name=""/>
        <dsp:cNvSpPr/>
      </dsp:nvSpPr>
      <dsp:spPr>
        <a:xfrm>
          <a:off x="1807368" y="2339975"/>
          <a:ext cx="3286125" cy="1971675"/>
        </a:xfrm>
        <a:prstGeom prst="flowChartPunchedTap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lvl="0" algn="ctr" defTabSz="1733550">
            <a:lnSpc>
              <a:spcPct val="90000"/>
            </a:lnSpc>
            <a:spcBef>
              <a:spcPct val="0"/>
            </a:spcBef>
            <a:spcAft>
              <a:spcPct val="35000"/>
            </a:spcAft>
          </a:pPr>
          <a:r>
            <a:rPr lang="en-US" sz="3900" kern="1200" dirty="0" smtClean="0"/>
            <a:t>Persuasive </a:t>
          </a:r>
          <a:endParaRPr lang="en-US" sz="3900" kern="1200" dirty="0"/>
        </a:p>
      </dsp:txBody>
      <dsp:txXfrm>
        <a:off x="1807368" y="2734310"/>
        <a:ext cx="3286125" cy="1183005"/>
      </dsp:txXfrm>
    </dsp:sp>
    <dsp:sp modelId="{A0330DF0-0127-45A4-8A11-CDB29B71F0C0}">
      <dsp:nvSpPr>
        <dsp:cNvPr id="0" name=""/>
        <dsp:cNvSpPr/>
      </dsp:nvSpPr>
      <dsp:spPr>
        <a:xfrm>
          <a:off x="5422106" y="2339975"/>
          <a:ext cx="3286125" cy="1971675"/>
        </a:xfrm>
        <a:prstGeom prst="flowChartPunchedTap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lvl="0" algn="ctr" defTabSz="1733550">
            <a:lnSpc>
              <a:spcPct val="90000"/>
            </a:lnSpc>
            <a:spcBef>
              <a:spcPct val="0"/>
            </a:spcBef>
            <a:spcAft>
              <a:spcPct val="35000"/>
            </a:spcAft>
          </a:pPr>
          <a:r>
            <a:rPr lang="en-US" sz="3900" kern="1200" dirty="0" smtClean="0"/>
            <a:t>Argumentative </a:t>
          </a:r>
          <a:endParaRPr lang="en-US" sz="3900" kern="1200" dirty="0"/>
        </a:p>
      </dsp:txBody>
      <dsp:txXfrm>
        <a:off x="5422106" y="2734310"/>
        <a:ext cx="3286125" cy="118300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830EE97-320B-4734-B54C-FF6B6E052E72}" type="datetimeFigureOut">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9B552B-9A5F-443D-BFFD-DAD2E3136EE0}" type="slidenum">
              <a:rPr lang="en-US" smtClean="0"/>
              <a:t>‹#›</a:t>
            </a:fld>
            <a:endParaRPr lang="en-US"/>
          </a:p>
        </p:txBody>
      </p:sp>
    </p:spTree>
    <p:extLst>
      <p:ext uri="{BB962C8B-B14F-4D97-AF65-F5344CB8AC3E}">
        <p14:creationId xmlns:p14="http://schemas.microsoft.com/office/powerpoint/2010/main" val="2020315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30EE97-320B-4734-B54C-FF6B6E052E72}" type="datetimeFigureOut">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9B552B-9A5F-443D-BFFD-DAD2E3136EE0}" type="slidenum">
              <a:rPr lang="en-US" smtClean="0"/>
              <a:t>‹#›</a:t>
            </a:fld>
            <a:endParaRPr lang="en-US"/>
          </a:p>
        </p:txBody>
      </p:sp>
    </p:spTree>
    <p:extLst>
      <p:ext uri="{BB962C8B-B14F-4D97-AF65-F5344CB8AC3E}">
        <p14:creationId xmlns:p14="http://schemas.microsoft.com/office/powerpoint/2010/main" val="15857608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830EE97-320B-4734-B54C-FF6B6E052E72}" type="datetimeFigureOut">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9B552B-9A5F-443D-BFFD-DAD2E3136EE0}" type="slidenum">
              <a:rPr lang="en-US" smtClean="0"/>
              <a:t>‹#›</a:t>
            </a:fld>
            <a:endParaRPr lang="en-US"/>
          </a:p>
        </p:txBody>
      </p:sp>
    </p:spTree>
    <p:extLst>
      <p:ext uri="{BB962C8B-B14F-4D97-AF65-F5344CB8AC3E}">
        <p14:creationId xmlns:p14="http://schemas.microsoft.com/office/powerpoint/2010/main" val="36183783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830EE97-320B-4734-B54C-FF6B6E052E72}" type="datetimeFigureOut">
              <a:rPr lang="en-US" smtClean="0"/>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9B552B-9A5F-443D-BFFD-DAD2E3136EE0}" type="slidenum">
              <a:rPr lang="en-US" smtClean="0"/>
              <a:t>‹#›</a:t>
            </a:fld>
            <a:endParaRPr lang="en-US"/>
          </a:p>
        </p:txBody>
      </p:sp>
    </p:spTree>
    <p:extLst>
      <p:ext uri="{BB962C8B-B14F-4D97-AF65-F5344CB8AC3E}">
        <p14:creationId xmlns:p14="http://schemas.microsoft.com/office/powerpoint/2010/main" val="6935640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830EE97-320B-4734-B54C-FF6B6E052E72}" type="datetimeFigureOut">
              <a:rPr lang="en-US" smtClean="0"/>
              <a:t>9/13/2025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9B552B-9A5F-443D-BFFD-DAD2E3136EE0}" type="slidenum">
              <a:rPr lang="en-US" smtClean="0"/>
              <a:t>‹#›</a:t>
            </a:fld>
            <a:endParaRPr lang="en-US"/>
          </a:p>
        </p:txBody>
      </p:sp>
    </p:spTree>
    <p:extLst>
      <p:ext uri="{BB962C8B-B14F-4D97-AF65-F5344CB8AC3E}">
        <p14:creationId xmlns:p14="http://schemas.microsoft.com/office/powerpoint/2010/main" val="3900178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830EE97-320B-4734-B54C-FF6B6E052E72}" type="datetimeFigureOut">
              <a:rPr lang="en-US" smtClean="0"/>
              <a:t>9/13/2025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9B552B-9A5F-443D-BFFD-DAD2E3136EE0}" type="slidenum">
              <a:rPr lang="en-US" smtClean="0"/>
              <a:t>‹#›</a:t>
            </a:fld>
            <a:endParaRPr lang="en-US"/>
          </a:p>
        </p:txBody>
      </p:sp>
    </p:spTree>
    <p:extLst>
      <p:ext uri="{BB962C8B-B14F-4D97-AF65-F5344CB8AC3E}">
        <p14:creationId xmlns:p14="http://schemas.microsoft.com/office/powerpoint/2010/main" val="1931935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30EE97-320B-4734-B54C-FF6B6E052E72}" type="datetimeFigureOut">
              <a:rPr lang="en-US" smtClean="0"/>
              <a:t>9/13/2025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49B552B-9A5F-443D-BFFD-DAD2E3136EE0}" type="slidenum">
              <a:rPr lang="en-US" smtClean="0"/>
              <a:t>‹#›</a:t>
            </a:fld>
            <a:endParaRPr lang="en-US"/>
          </a:p>
        </p:txBody>
      </p:sp>
    </p:spTree>
    <p:extLst>
      <p:ext uri="{BB962C8B-B14F-4D97-AF65-F5344CB8AC3E}">
        <p14:creationId xmlns:p14="http://schemas.microsoft.com/office/powerpoint/2010/main" val="2568579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830EE97-320B-4734-B54C-FF6B6E052E72}" type="datetimeFigureOut">
              <a:rPr lang="en-US" smtClean="0"/>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9B552B-9A5F-443D-BFFD-DAD2E3136EE0}" type="slidenum">
              <a:rPr lang="en-US" smtClean="0"/>
              <a:t>‹#›</a:t>
            </a:fld>
            <a:endParaRPr lang="en-US"/>
          </a:p>
        </p:txBody>
      </p:sp>
    </p:spTree>
    <p:extLst>
      <p:ext uri="{BB962C8B-B14F-4D97-AF65-F5344CB8AC3E}">
        <p14:creationId xmlns:p14="http://schemas.microsoft.com/office/powerpoint/2010/main" val="2746150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830EE97-320B-4734-B54C-FF6B6E052E72}" type="datetimeFigureOut">
              <a:rPr lang="en-US" smtClean="0"/>
              <a:t>9/13/2025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9B552B-9A5F-443D-BFFD-DAD2E3136EE0}" type="slidenum">
              <a:rPr lang="en-US" smtClean="0"/>
              <a:t>‹#›</a:t>
            </a:fld>
            <a:endParaRPr lang="en-US"/>
          </a:p>
        </p:txBody>
      </p:sp>
    </p:spTree>
    <p:extLst>
      <p:ext uri="{BB962C8B-B14F-4D97-AF65-F5344CB8AC3E}">
        <p14:creationId xmlns:p14="http://schemas.microsoft.com/office/powerpoint/2010/main" val="4246708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30EE97-320B-4734-B54C-FF6B6E052E72}" type="datetimeFigureOut">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9B552B-9A5F-443D-BFFD-DAD2E3136EE0}" type="slidenum">
              <a:rPr lang="en-US" smtClean="0"/>
              <a:t>‹#›</a:t>
            </a:fld>
            <a:endParaRPr lang="en-US"/>
          </a:p>
        </p:txBody>
      </p:sp>
    </p:spTree>
    <p:extLst>
      <p:ext uri="{BB962C8B-B14F-4D97-AF65-F5344CB8AC3E}">
        <p14:creationId xmlns:p14="http://schemas.microsoft.com/office/powerpoint/2010/main" val="369283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30EE97-320B-4734-B54C-FF6B6E052E72}" type="datetimeFigureOut">
              <a:rPr lang="en-US" smtClean="0"/>
              <a:t>9/13/2025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9B552B-9A5F-443D-BFFD-DAD2E3136EE0}" type="slidenum">
              <a:rPr lang="en-US" smtClean="0"/>
              <a:t>‹#›</a:t>
            </a:fld>
            <a:endParaRPr lang="en-US"/>
          </a:p>
        </p:txBody>
      </p:sp>
    </p:spTree>
    <p:extLst>
      <p:ext uri="{BB962C8B-B14F-4D97-AF65-F5344CB8AC3E}">
        <p14:creationId xmlns:p14="http://schemas.microsoft.com/office/powerpoint/2010/main" val="2399377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30EE97-320B-4734-B54C-FF6B6E052E72}" type="datetimeFigureOut">
              <a:rPr lang="en-US" smtClean="0"/>
              <a:t>9/13/2025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9B552B-9A5F-443D-BFFD-DAD2E3136EE0}" type="slidenum">
              <a:rPr lang="en-US" smtClean="0"/>
              <a:t>‹#›</a:t>
            </a:fld>
            <a:endParaRPr lang="en-US"/>
          </a:p>
        </p:txBody>
      </p:sp>
    </p:spTree>
    <p:extLst>
      <p:ext uri="{BB962C8B-B14F-4D97-AF65-F5344CB8AC3E}">
        <p14:creationId xmlns:p14="http://schemas.microsoft.com/office/powerpoint/2010/main" val="678462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0"/>
            <a:ext cx="12192000" cy="6463308"/>
          </a:xfrm>
          <a:prstGeom prst="rect">
            <a:avLst/>
          </a:prstGeom>
          <a:solidFill>
            <a:srgbClr val="FFC000"/>
          </a:solidFill>
        </p:spPr>
        <p:txBody>
          <a:bodyPr wrap="square" rtlCol="0">
            <a:spAutoFit/>
          </a:bodyPr>
          <a:lstStyle/>
          <a:p>
            <a:pPr lvl="0" algn="just"/>
            <a:r>
              <a:rPr lang="en-GB" sz="13800" dirty="0" smtClean="0">
                <a:latin typeface="Algerian" panose="04020705040A02060702" pitchFamily="82" charset="0"/>
              </a:rPr>
              <a:t>STRUCTURE AND TYPES OF ESSAY  </a:t>
            </a:r>
            <a:endParaRPr lang="en-US" sz="13800" dirty="0">
              <a:latin typeface="Algerian" panose="04020705040A02060702" pitchFamily="82" charset="0"/>
            </a:endParaRPr>
          </a:p>
        </p:txBody>
      </p:sp>
      <p:sp>
        <p:nvSpPr>
          <p:cNvPr id="2" name="TextBox 1"/>
          <p:cNvSpPr txBox="1"/>
          <p:nvPr/>
        </p:nvSpPr>
        <p:spPr>
          <a:xfrm>
            <a:off x="7244862" y="5036234"/>
            <a:ext cx="1856935" cy="584775"/>
          </a:xfrm>
          <a:prstGeom prst="rect">
            <a:avLst/>
          </a:prstGeom>
          <a:solidFill>
            <a:srgbClr val="92D050"/>
          </a:solidFill>
          <a:ln>
            <a:solidFill>
              <a:schemeClr val="tx2">
                <a:lumMod val="75000"/>
              </a:schemeClr>
            </a:solidFill>
          </a:ln>
        </p:spPr>
        <p:txBody>
          <a:bodyPr wrap="square" rtlCol="0">
            <a:spAutoFit/>
          </a:bodyPr>
          <a:lstStyle/>
          <a:p>
            <a:r>
              <a:rPr lang="en-US" sz="3200" b="1" dirty="0" smtClean="0"/>
              <a:t>Lecture 2</a:t>
            </a:r>
            <a:endParaRPr lang="en-US" sz="3200" b="1" dirty="0"/>
          </a:p>
        </p:txBody>
      </p:sp>
    </p:spTree>
    <p:extLst>
      <p:ext uri="{BB962C8B-B14F-4D97-AF65-F5344CB8AC3E}">
        <p14:creationId xmlns:p14="http://schemas.microsoft.com/office/powerpoint/2010/main" val="2233373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pPr algn="ctr"/>
            <a:r>
              <a:rPr lang="en-US" sz="6600" b="1" dirty="0">
                <a:effectLst>
                  <a:outerShdw blurRad="38100" dist="38100" dir="2700000" algn="tl">
                    <a:srgbClr val="000000">
                      <a:alpha val="43137"/>
                    </a:srgbClr>
                  </a:outerShdw>
                </a:effectLst>
              </a:rPr>
              <a:t>Thesis statement</a:t>
            </a:r>
          </a:p>
        </p:txBody>
      </p:sp>
      <p:sp>
        <p:nvSpPr>
          <p:cNvPr id="3" name="Content Placeholder 2"/>
          <p:cNvSpPr>
            <a:spLocks noGrp="1"/>
          </p:cNvSpPr>
          <p:nvPr>
            <p:ph idx="1"/>
          </p:nvPr>
        </p:nvSpPr>
        <p:spPr>
          <a:xfrm>
            <a:off x="0" y="1153552"/>
            <a:ext cx="12192000" cy="5704448"/>
          </a:xfrm>
        </p:spPr>
        <p:txBody>
          <a:bodyPr>
            <a:noAutofit/>
          </a:bodyPr>
          <a:lstStyle/>
          <a:p>
            <a:r>
              <a:rPr lang="en-US" sz="3200" dirty="0"/>
              <a:t>Your </a:t>
            </a:r>
            <a:r>
              <a:rPr lang="en-US" sz="3200" b="1" dirty="0">
                <a:solidFill>
                  <a:srgbClr val="FF0000"/>
                </a:solidFill>
                <a:effectLst>
                  <a:outerShdw blurRad="38100" dist="38100" dir="2700000" algn="tl">
                    <a:srgbClr val="000000">
                      <a:alpha val="43137"/>
                    </a:srgbClr>
                  </a:outerShdw>
                </a:effectLst>
              </a:rPr>
              <a:t>thesis statement needs to be well thought out and presented clearly in your opening paragraph</a:t>
            </a:r>
            <a:r>
              <a:rPr lang="en-US" sz="3200" dirty="0"/>
              <a:t>. Your thesis statement is the decisive statement around which you’ve built your entire essay</a:t>
            </a:r>
            <a:r>
              <a:rPr lang="en-US" sz="3200" dirty="0" smtClean="0"/>
              <a:t>.</a:t>
            </a:r>
          </a:p>
          <a:p>
            <a:r>
              <a:rPr lang="en-US" sz="3200" dirty="0"/>
              <a:t>A good thesis statement is a sentence that communicates your essay’s position, the context for this position, and the scope of your essay’s supporting paragraphs</a:t>
            </a:r>
            <a:r>
              <a:rPr lang="en-US" sz="3200" dirty="0" smtClean="0"/>
              <a:t>.</a:t>
            </a:r>
          </a:p>
          <a:p>
            <a:r>
              <a:rPr lang="en-US" sz="3200" dirty="0" smtClean="0"/>
              <a:t>Stating </a:t>
            </a:r>
            <a:r>
              <a:rPr lang="en-US" sz="3200" dirty="0"/>
              <a:t>the </a:t>
            </a:r>
            <a:r>
              <a:rPr lang="en-US" sz="3200" b="1" dirty="0">
                <a:solidFill>
                  <a:srgbClr val="002060"/>
                </a:solidFill>
                <a:effectLst>
                  <a:outerShdw blurRad="38100" dist="38100" dir="2700000" algn="tl">
                    <a:srgbClr val="000000">
                      <a:alpha val="43137"/>
                    </a:srgbClr>
                  </a:outerShdw>
                </a:effectLst>
              </a:rPr>
              <a:t>purpose and setting the direction of an </a:t>
            </a:r>
            <a:r>
              <a:rPr lang="en-US" sz="3200" b="1" dirty="0" smtClean="0">
                <a:solidFill>
                  <a:srgbClr val="002060"/>
                </a:solidFill>
                <a:effectLst>
                  <a:outerShdw blurRad="38100" dist="38100" dir="2700000" algn="tl">
                    <a:srgbClr val="000000">
                      <a:alpha val="43137"/>
                    </a:srgbClr>
                  </a:outerShdw>
                </a:effectLst>
              </a:rPr>
              <a:t>essay. </a:t>
            </a:r>
          </a:p>
          <a:p>
            <a:r>
              <a:rPr lang="en-US" sz="3200" dirty="0" smtClean="0"/>
              <a:t>it </a:t>
            </a:r>
            <a:r>
              <a:rPr lang="en-US" sz="3200" dirty="0"/>
              <a:t>acts as a guide for both readers and the writer. It creates coherence in the entire essay. </a:t>
            </a:r>
            <a:endParaRPr lang="en-US" sz="3200" dirty="0" smtClean="0"/>
          </a:p>
          <a:p>
            <a:r>
              <a:rPr lang="en-US" sz="3200" dirty="0" smtClean="0"/>
              <a:t>It </a:t>
            </a:r>
            <a:r>
              <a:rPr lang="en-US" sz="3200" dirty="0"/>
              <a:t>is the statement of the essay which requires analysis and facts to support </a:t>
            </a:r>
            <a:r>
              <a:rPr lang="en-US" sz="3200" dirty="0" smtClean="0"/>
              <a:t>it. </a:t>
            </a:r>
            <a:endParaRPr lang="en-US" sz="3200" dirty="0"/>
          </a:p>
        </p:txBody>
      </p:sp>
    </p:spTree>
    <p:extLst>
      <p:ext uri="{BB962C8B-B14F-4D97-AF65-F5344CB8AC3E}">
        <p14:creationId xmlns:p14="http://schemas.microsoft.com/office/powerpoint/2010/main" val="4016456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600" b="1" dirty="0" smtClean="0">
                <a:effectLst>
                  <a:outerShdw blurRad="38100" dist="38100" dir="2700000" algn="tl">
                    <a:srgbClr val="000000">
                      <a:alpha val="43137"/>
                    </a:srgbClr>
                  </a:outerShdw>
                </a:effectLst>
              </a:rPr>
              <a:t>WHAT IS AN ESSAY </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sz="3600" dirty="0" smtClean="0"/>
              <a:t>Piece </a:t>
            </a:r>
            <a:r>
              <a:rPr lang="en-US" sz="3600" dirty="0"/>
              <a:t>of writing used to argue, analyze and share perspectives on a particular subject matter / </a:t>
            </a:r>
            <a:r>
              <a:rPr lang="en-US" sz="3600" dirty="0" smtClean="0"/>
              <a:t>topic</a:t>
            </a:r>
          </a:p>
          <a:p>
            <a:r>
              <a:rPr lang="en-US" sz="3600" b="1" dirty="0" smtClean="0">
                <a:solidFill>
                  <a:schemeClr val="accent2">
                    <a:lumMod val="40000"/>
                    <a:lumOff val="60000"/>
                  </a:schemeClr>
                </a:solidFill>
                <a:effectLst>
                  <a:outerShdw blurRad="38100" dist="38100" dir="2700000" algn="tl">
                    <a:srgbClr val="000000">
                      <a:alpha val="43137"/>
                    </a:srgbClr>
                  </a:outerShdw>
                </a:effectLst>
              </a:rPr>
              <a:t>Structurally </a:t>
            </a:r>
            <a:r>
              <a:rPr lang="en-US" sz="3600" b="1" dirty="0">
                <a:solidFill>
                  <a:schemeClr val="accent2">
                    <a:lumMod val="40000"/>
                    <a:lumOff val="60000"/>
                  </a:schemeClr>
                </a:solidFill>
                <a:effectLst>
                  <a:outerShdw blurRad="38100" dist="38100" dir="2700000" algn="tl">
                    <a:srgbClr val="000000">
                      <a:alpha val="43137"/>
                    </a:srgbClr>
                  </a:outerShdw>
                </a:effectLst>
              </a:rPr>
              <a:t>organized </a:t>
            </a:r>
            <a:r>
              <a:rPr lang="en-US" sz="3600" dirty="0"/>
              <a:t>presentation of </a:t>
            </a:r>
            <a:r>
              <a:rPr lang="en-US" sz="3600" dirty="0" smtClean="0"/>
              <a:t>ideas</a:t>
            </a:r>
          </a:p>
          <a:p>
            <a:r>
              <a:rPr lang="en-US" sz="3600" dirty="0" smtClean="0"/>
              <a:t>Generally </a:t>
            </a:r>
            <a:r>
              <a:rPr lang="en-US" sz="3600" dirty="0"/>
              <a:t>defined as a </a:t>
            </a:r>
            <a:r>
              <a:rPr lang="en-US" sz="3600" b="1" dirty="0">
                <a:effectLst>
                  <a:outerShdw blurRad="38100" dist="38100" dir="2700000" algn="tl">
                    <a:srgbClr val="000000">
                      <a:alpha val="43137"/>
                    </a:srgbClr>
                  </a:outerShdw>
                </a:effectLst>
              </a:rPr>
              <a:t>form of </a:t>
            </a:r>
            <a:r>
              <a:rPr lang="en-US" sz="3600" b="1" dirty="0">
                <a:solidFill>
                  <a:srgbClr val="FFFF00"/>
                </a:solidFill>
                <a:effectLst>
                  <a:outerShdw blurRad="38100" dist="38100" dir="2700000" algn="tl">
                    <a:srgbClr val="000000">
                      <a:alpha val="43137"/>
                    </a:srgbClr>
                  </a:outerShdw>
                </a:effectLst>
              </a:rPr>
              <a:t>academic</a:t>
            </a:r>
            <a:r>
              <a:rPr lang="en-US" sz="3600" b="1" dirty="0">
                <a:effectLst>
                  <a:outerShdw blurRad="38100" dist="38100" dir="2700000" algn="tl">
                    <a:srgbClr val="000000">
                      <a:alpha val="43137"/>
                    </a:srgbClr>
                  </a:outerShdw>
                </a:effectLst>
              </a:rPr>
              <a:t> </a:t>
            </a:r>
            <a:r>
              <a:rPr lang="en-US" sz="3600" b="1" dirty="0" smtClean="0">
                <a:effectLst>
                  <a:outerShdw blurRad="38100" dist="38100" dir="2700000" algn="tl">
                    <a:srgbClr val="000000">
                      <a:alpha val="43137"/>
                    </a:srgbClr>
                  </a:outerShdw>
                </a:effectLst>
              </a:rPr>
              <a:t>writing</a:t>
            </a:r>
          </a:p>
          <a:p>
            <a:r>
              <a:rPr lang="en-US" sz="3600" dirty="0" smtClean="0"/>
              <a:t>Used </a:t>
            </a:r>
            <a:r>
              <a:rPr lang="en-US" sz="3600" dirty="0"/>
              <a:t>in different contexts such </a:t>
            </a:r>
            <a:r>
              <a:rPr lang="en-US" sz="3600" b="1" dirty="0">
                <a:effectLst>
                  <a:outerShdw blurRad="38100" dist="38100" dir="2700000" algn="tl">
                    <a:srgbClr val="000000">
                      <a:alpha val="43137"/>
                    </a:srgbClr>
                  </a:outerShdw>
                </a:effectLst>
              </a:rPr>
              <a:t>as fiction (literature) and non-fiction (journalism) </a:t>
            </a:r>
          </a:p>
        </p:txBody>
      </p:sp>
    </p:spTree>
    <p:extLst>
      <p:ext uri="{BB962C8B-B14F-4D97-AF65-F5344CB8AC3E}">
        <p14:creationId xmlns:p14="http://schemas.microsoft.com/office/powerpoint/2010/main" val="3088109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246" y="140041"/>
            <a:ext cx="11535508" cy="1325563"/>
          </a:xfrm>
        </p:spPr>
        <p:txBody>
          <a:bodyPr>
            <a:normAutofit/>
          </a:bodyPr>
          <a:lstStyle/>
          <a:p>
            <a:r>
              <a:rPr lang="en-US" sz="6600" b="1" dirty="0">
                <a:effectLst>
                  <a:outerShdw blurRad="38100" dist="38100" dir="2700000" algn="tl">
                    <a:srgbClr val="000000">
                      <a:alpha val="43137"/>
                    </a:srgbClr>
                  </a:outerShdw>
                </a:effectLst>
              </a:rPr>
              <a:t>Characteristics of an Essay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11696028"/>
              </p:ext>
            </p:extLst>
          </p:nvPr>
        </p:nvGraphicFramePr>
        <p:xfrm>
          <a:off x="0" y="1690688"/>
          <a:ext cx="12192000" cy="4486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90983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4745"/>
            <a:ext cx="10515600" cy="1378633"/>
          </a:xfrm>
        </p:spPr>
        <p:txBody>
          <a:bodyPr>
            <a:normAutofit/>
          </a:bodyPr>
          <a:lstStyle/>
          <a:p>
            <a:pPr algn="ctr"/>
            <a:r>
              <a:rPr lang="en-US" sz="7300" b="1" dirty="0" smtClean="0">
                <a:effectLst>
                  <a:outerShdw blurRad="38100" dist="38100" dir="2700000" algn="tl">
                    <a:srgbClr val="000000">
                      <a:alpha val="43137"/>
                    </a:srgbClr>
                  </a:outerShdw>
                </a:effectLst>
              </a:rPr>
              <a:t>Cohesion</a:t>
            </a:r>
            <a:r>
              <a:rPr lang="en-US" dirty="0" smtClean="0"/>
              <a:t> ½ </a:t>
            </a:r>
            <a:endParaRPr lang="en-US" dirty="0"/>
          </a:p>
        </p:txBody>
      </p:sp>
      <p:sp>
        <p:nvSpPr>
          <p:cNvPr id="3" name="Content Placeholder 2"/>
          <p:cNvSpPr>
            <a:spLocks noGrp="1"/>
          </p:cNvSpPr>
          <p:nvPr>
            <p:ph idx="1"/>
          </p:nvPr>
        </p:nvSpPr>
        <p:spPr>
          <a:xfrm>
            <a:off x="112542" y="1181686"/>
            <a:ext cx="11873132" cy="5542671"/>
          </a:xfrm>
        </p:spPr>
        <p:txBody>
          <a:bodyPr>
            <a:normAutofit/>
          </a:bodyPr>
          <a:lstStyle/>
          <a:p>
            <a:r>
              <a:rPr lang="en-US" sz="4000" dirty="0"/>
              <a:t>Cohesion in an essay refers to the</a:t>
            </a:r>
            <a:r>
              <a:rPr lang="en-US" sz="4000" dirty="0">
                <a:solidFill>
                  <a:schemeClr val="accent1">
                    <a:lumMod val="50000"/>
                  </a:schemeClr>
                </a:solidFill>
              </a:rPr>
              <a:t> </a:t>
            </a:r>
            <a:r>
              <a:rPr lang="en-US" sz="4000" b="1" dirty="0">
                <a:solidFill>
                  <a:schemeClr val="accent1">
                    <a:lumMod val="50000"/>
                  </a:schemeClr>
                </a:solidFill>
                <a:effectLst>
                  <a:outerShdw blurRad="38100" dist="38100" dir="2700000" algn="tl">
                    <a:srgbClr val="000000">
                      <a:alpha val="43137"/>
                    </a:srgbClr>
                  </a:outerShdw>
                </a:effectLst>
              </a:rPr>
              <a:t>logical and smooth flow of ideas </a:t>
            </a:r>
            <a:r>
              <a:rPr lang="en-US" sz="4000" dirty="0"/>
              <a:t>and information throughout the text. </a:t>
            </a:r>
            <a:endParaRPr lang="en-US" sz="4000" dirty="0" smtClean="0"/>
          </a:p>
          <a:p>
            <a:r>
              <a:rPr lang="en-US" sz="4000" dirty="0" smtClean="0"/>
              <a:t>Achieving </a:t>
            </a:r>
            <a:r>
              <a:rPr lang="en-US" sz="4000" dirty="0"/>
              <a:t>cohesion involves </a:t>
            </a:r>
            <a:r>
              <a:rPr lang="en-US" sz="4000" b="1" dirty="0">
                <a:solidFill>
                  <a:srgbClr val="FFC000"/>
                </a:solidFill>
                <a:effectLst>
                  <a:outerShdw blurRad="38100" dist="38100" dir="2700000" algn="tl">
                    <a:srgbClr val="000000">
                      <a:alpha val="43137"/>
                    </a:srgbClr>
                  </a:outerShdw>
                </a:effectLst>
              </a:rPr>
              <a:t>using appropriate transition words and phrases to connect sentences and paragraphs</a:t>
            </a:r>
            <a:r>
              <a:rPr lang="en-US" sz="4000" dirty="0"/>
              <a:t>, ensuring that readers can follow the argument or narrative without confusion. </a:t>
            </a:r>
            <a:endParaRPr lang="en-US" sz="4000" dirty="0" smtClean="0"/>
          </a:p>
          <a:p>
            <a:r>
              <a:rPr lang="en-US" sz="4000" dirty="0" smtClean="0"/>
              <a:t>This </a:t>
            </a:r>
            <a:r>
              <a:rPr lang="en-US" sz="4000" dirty="0"/>
              <a:t>helps maintain the </a:t>
            </a:r>
            <a:r>
              <a:rPr lang="en-US" sz="4000" b="1" dirty="0">
                <a:solidFill>
                  <a:srgbClr val="0070C0"/>
                </a:solidFill>
                <a:effectLst>
                  <a:outerShdw blurRad="38100" dist="38100" dir="2700000" algn="tl">
                    <a:srgbClr val="000000">
                      <a:alpha val="43137"/>
                    </a:srgbClr>
                  </a:outerShdw>
                </a:effectLst>
              </a:rPr>
              <a:t>essay's clarity and </a:t>
            </a:r>
            <a:r>
              <a:rPr lang="en-US" sz="4000" b="1" dirty="0" smtClean="0">
                <a:solidFill>
                  <a:srgbClr val="0070C0"/>
                </a:solidFill>
                <a:effectLst>
                  <a:outerShdw blurRad="38100" dist="38100" dir="2700000" algn="tl">
                    <a:srgbClr val="000000">
                      <a:alpha val="43137"/>
                    </a:srgbClr>
                  </a:outerShdw>
                </a:effectLst>
              </a:rPr>
              <a:t>readability.</a:t>
            </a:r>
          </a:p>
          <a:p>
            <a:r>
              <a:rPr lang="en-US" sz="4000" b="1" dirty="0" smtClean="0">
                <a:solidFill>
                  <a:srgbClr val="0070C0"/>
                </a:solidFill>
                <a:effectLst>
                  <a:outerShdw blurRad="38100" dist="38100" dir="2700000" algn="tl">
                    <a:srgbClr val="000000">
                      <a:alpha val="43137"/>
                    </a:srgbClr>
                  </a:outerShdw>
                </a:effectLst>
              </a:rPr>
              <a:t>Hangs together  </a:t>
            </a:r>
            <a:endParaRPr lang="en-US" sz="4000" b="1" dirty="0">
              <a:solidFill>
                <a:srgbClr val="0070C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40468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effectLst>
                  <a:outerShdw blurRad="38100" dist="38100" dir="2700000" algn="tl">
                    <a:srgbClr val="000000">
                      <a:alpha val="43137"/>
                    </a:srgbClr>
                  </a:outerShdw>
                </a:effectLst>
              </a:rPr>
              <a:t>Cohesion</a:t>
            </a:r>
            <a:r>
              <a:rPr lang="en-US" dirty="0"/>
              <a:t> </a:t>
            </a:r>
            <a:r>
              <a:rPr lang="en-US" dirty="0" smtClean="0"/>
              <a:t>2/2  </a:t>
            </a:r>
            <a:endParaRPr lang="en-US" dirty="0"/>
          </a:p>
        </p:txBody>
      </p:sp>
      <p:sp>
        <p:nvSpPr>
          <p:cNvPr id="3" name="Content Placeholder 2"/>
          <p:cNvSpPr>
            <a:spLocks noGrp="1"/>
          </p:cNvSpPr>
          <p:nvPr>
            <p:ph idx="1"/>
          </p:nvPr>
        </p:nvSpPr>
        <p:spPr>
          <a:xfrm>
            <a:off x="140677" y="1406769"/>
            <a:ext cx="11873132" cy="4770194"/>
          </a:xfrm>
        </p:spPr>
        <p:txBody>
          <a:bodyPr>
            <a:normAutofit lnSpcReduction="10000"/>
          </a:bodyPr>
          <a:lstStyle/>
          <a:p>
            <a:r>
              <a:rPr lang="en-US" sz="3600" b="1" dirty="0">
                <a:effectLst>
                  <a:outerShdw blurRad="38100" dist="38100" dir="2700000" algn="tl">
                    <a:srgbClr val="000000">
                      <a:alpha val="43137"/>
                    </a:srgbClr>
                  </a:outerShdw>
                </a:effectLst>
              </a:rPr>
              <a:t>“Cogency” </a:t>
            </a:r>
            <a:r>
              <a:rPr lang="en-US" dirty="0"/>
              <a:t>sounds like “coherence,” </a:t>
            </a:r>
            <a:r>
              <a:rPr lang="en-US" dirty="0" smtClean="0"/>
              <a:t>but means</a:t>
            </a:r>
            <a:r>
              <a:rPr lang="en-US" dirty="0"/>
              <a:t> </a:t>
            </a:r>
            <a:r>
              <a:rPr lang="en-US" i="1" dirty="0"/>
              <a:t>convincing </a:t>
            </a:r>
            <a:r>
              <a:rPr lang="en-US" dirty="0"/>
              <a:t>or </a:t>
            </a:r>
            <a:r>
              <a:rPr lang="en-US" i="1" dirty="0"/>
              <a:t>persuasive</a:t>
            </a:r>
            <a:r>
              <a:rPr lang="en-US" dirty="0"/>
              <a:t>. The two terms are related, though: </a:t>
            </a:r>
            <a:r>
              <a:rPr lang="en-US" sz="3600" b="1" dirty="0"/>
              <a:t>an argument cannot be cogent if it’s not coherent, because coherence is essential to persuasion. </a:t>
            </a:r>
            <a:endParaRPr lang="en-US" b="1" dirty="0" smtClean="0"/>
          </a:p>
          <a:p>
            <a:r>
              <a:rPr lang="en-US" dirty="0" smtClean="0"/>
              <a:t>However</a:t>
            </a:r>
            <a:r>
              <a:rPr lang="en-US" dirty="0"/>
              <a:t>, </a:t>
            </a:r>
            <a:r>
              <a:rPr lang="en-US" sz="3600" b="1" dirty="0">
                <a:effectLst>
                  <a:outerShdw blurRad="38100" dist="38100" dir="2700000" algn="tl">
                    <a:srgbClr val="000000">
                      <a:alpha val="43137"/>
                    </a:srgbClr>
                  </a:outerShdw>
                </a:effectLst>
              </a:rPr>
              <a:t>an argument could be coherent but not cogent </a:t>
            </a:r>
            <a:r>
              <a:rPr lang="en-US" dirty="0"/>
              <a:t>(i.e. it’s clear, unified, and easy to read, but the argument does not persuade its reader</a:t>
            </a:r>
            <a:r>
              <a:rPr lang="en-US" dirty="0" smtClean="0"/>
              <a:t>).</a:t>
            </a:r>
          </a:p>
          <a:p>
            <a:r>
              <a:rPr lang="en-US" sz="4400" b="1" dirty="0">
                <a:solidFill>
                  <a:schemeClr val="tx2">
                    <a:lumMod val="60000"/>
                    <a:lumOff val="40000"/>
                  </a:schemeClr>
                </a:solidFill>
                <a:effectLst>
                  <a:outerShdw blurRad="38100" dist="38100" dir="2700000" algn="tl">
                    <a:srgbClr val="000000">
                      <a:alpha val="43137"/>
                    </a:srgbClr>
                  </a:outerShdw>
                </a:effectLst>
              </a:rPr>
              <a:t>Focus</a:t>
            </a:r>
            <a:r>
              <a:rPr lang="en-US" dirty="0"/>
              <a:t> is also related to coherence. Often, coherence problems emerge when the focus is too broad. When the focus is broad, there are just too many parts to cover all at once, and writers struggle to maintain coherence.</a:t>
            </a:r>
          </a:p>
        </p:txBody>
      </p:sp>
    </p:spTree>
    <p:extLst>
      <p:ext uri="{BB962C8B-B14F-4D97-AF65-F5344CB8AC3E}">
        <p14:creationId xmlns:p14="http://schemas.microsoft.com/office/powerpoint/2010/main" val="307334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a:effectLst>
                  <a:outerShdw blurRad="38100" dist="38100" dir="2700000" algn="tl">
                    <a:srgbClr val="000000">
                      <a:alpha val="43137"/>
                    </a:srgbClr>
                  </a:outerShdw>
                </a:effectLst>
              </a:rPr>
              <a:t>Coherence</a:t>
            </a:r>
          </a:p>
        </p:txBody>
      </p:sp>
      <p:sp>
        <p:nvSpPr>
          <p:cNvPr id="3" name="Content Placeholder 2"/>
          <p:cNvSpPr>
            <a:spLocks noGrp="1"/>
          </p:cNvSpPr>
          <p:nvPr>
            <p:ph idx="1"/>
          </p:nvPr>
        </p:nvSpPr>
        <p:spPr>
          <a:xfrm>
            <a:off x="267286" y="1547446"/>
            <a:ext cx="11924714" cy="5162843"/>
          </a:xfrm>
        </p:spPr>
        <p:txBody>
          <a:bodyPr/>
          <a:lstStyle/>
          <a:p>
            <a:r>
              <a:rPr lang="en-US" dirty="0"/>
              <a:t>Coherence, on the other hand, pertains to the </a:t>
            </a:r>
            <a:r>
              <a:rPr lang="en-US" sz="3600" b="1" dirty="0">
                <a:effectLst>
                  <a:outerShdw blurRad="38100" dist="38100" dir="2700000" algn="tl">
                    <a:srgbClr val="000000">
                      <a:alpha val="43137"/>
                    </a:srgbClr>
                  </a:outerShdw>
                </a:effectLst>
              </a:rPr>
              <a:t>overall unity and consistency </a:t>
            </a:r>
            <a:r>
              <a:rPr lang="en-US" dirty="0"/>
              <a:t>of the essay. </a:t>
            </a:r>
            <a:endParaRPr lang="en-US" dirty="0" smtClean="0"/>
          </a:p>
          <a:p>
            <a:r>
              <a:rPr lang="en-US" dirty="0" smtClean="0"/>
              <a:t>It </a:t>
            </a:r>
            <a:r>
              <a:rPr lang="en-US" dirty="0"/>
              <a:t>involves organizing the content in a logical and orderly manner, with each paragraph and section </a:t>
            </a:r>
            <a:r>
              <a:rPr lang="en-US" sz="3600" b="1" dirty="0">
                <a:effectLst>
                  <a:outerShdw blurRad="38100" dist="38100" dir="2700000" algn="tl">
                    <a:srgbClr val="000000">
                      <a:alpha val="43137"/>
                    </a:srgbClr>
                  </a:outerShdw>
                </a:effectLst>
              </a:rPr>
              <a:t>contributing to the central theme </a:t>
            </a:r>
            <a:r>
              <a:rPr lang="en-US" dirty="0"/>
              <a:t>or argument. </a:t>
            </a:r>
            <a:endParaRPr lang="en-US" dirty="0" smtClean="0"/>
          </a:p>
          <a:p>
            <a:r>
              <a:rPr lang="en-US" dirty="0" smtClean="0"/>
              <a:t>Coherence </a:t>
            </a:r>
            <a:r>
              <a:rPr lang="en-US" dirty="0"/>
              <a:t>ensures that the essay feels like </a:t>
            </a:r>
            <a:r>
              <a:rPr lang="en-US" sz="3600" b="1" dirty="0">
                <a:effectLst>
                  <a:outerShdw blurRad="38100" dist="38100" dir="2700000" algn="tl">
                    <a:srgbClr val="000000">
                      <a:alpha val="43137"/>
                    </a:srgbClr>
                  </a:outerShdw>
                </a:effectLst>
              </a:rPr>
              <a:t>a </a:t>
            </a:r>
            <a:r>
              <a:rPr lang="en-US" sz="3600" b="1" dirty="0" smtClean="0">
                <a:effectLst>
                  <a:outerShdw blurRad="38100" dist="38100" dir="2700000" algn="tl">
                    <a:srgbClr val="000000">
                      <a:alpha val="43137"/>
                    </a:srgbClr>
                  </a:outerShdw>
                </a:effectLst>
              </a:rPr>
              <a:t>well structured </a:t>
            </a:r>
            <a:r>
              <a:rPr lang="en-US" dirty="0"/>
              <a:t>whole, making it easier for </a:t>
            </a:r>
            <a:r>
              <a:rPr lang="en-US" sz="3200" b="1" dirty="0">
                <a:effectLst>
                  <a:outerShdw blurRad="38100" dist="38100" dir="2700000" algn="tl">
                    <a:srgbClr val="000000">
                      <a:alpha val="43137"/>
                    </a:srgbClr>
                  </a:outerShdw>
                </a:effectLst>
              </a:rPr>
              <a:t>readers to understand and engage </a:t>
            </a:r>
            <a:r>
              <a:rPr lang="en-US" dirty="0"/>
              <a:t>with the material. </a:t>
            </a:r>
          </a:p>
        </p:txBody>
      </p:sp>
    </p:spTree>
    <p:extLst>
      <p:ext uri="{BB962C8B-B14F-4D97-AF65-F5344CB8AC3E}">
        <p14:creationId xmlns:p14="http://schemas.microsoft.com/office/powerpoint/2010/main" val="39118680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C000"/>
          </a:solidFill>
        </p:spPr>
        <p:txBody>
          <a:bodyPr>
            <a:normAutofit/>
          </a:bodyPr>
          <a:lstStyle/>
          <a:p>
            <a:pPr algn="ctr"/>
            <a:r>
              <a:rPr lang="en-US" sz="6600" b="1" dirty="0">
                <a:effectLst>
                  <a:outerShdw blurRad="38100" dist="38100" dir="2700000" algn="tl">
                    <a:srgbClr val="000000">
                      <a:alpha val="43137"/>
                    </a:srgbClr>
                  </a:outerShdw>
                </a:effectLst>
              </a:rPr>
              <a:t>Citations</a:t>
            </a:r>
          </a:p>
        </p:txBody>
      </p:sp>
      <p:sp>
        <p:nvSpPr>
          <p:cNvPr id="3" name="Content Placeholder 2"/>
          <p:cNvSpPr>
            <a:spLocks noGrp="1"/>
          </p:cNvSpPr>
          <p:nvPr>
            <p:ph idx="1"/>
          </p:nvPr>
        </p:nvSpPr>
        <p:spPr>
          <a:xfrm>
            <a:off x="98474" y="1825624"/>
            <a:ext cx="11971606" cy="5032375"/>
          </a:xfrm>
        </p:spPr>
        <p:txBody>
          <a:bodyPr/>
          <a:lstStyle/>
          <a:p>
            <a:r>
              <a:rPr lang="en-US" dirty="0"/>
              <a:t>Citations are essential in essays to provide</a:t>
            </a:r>
            <a:r>
              <a:rPr lang="en-US" sz="3600" dirty="0"/>
              <a:t> </a:t>
            </a:r>
            <a:r>
              <a:rPr lang="en-US" sz="3600" b="1" dirty="0">
                <a:effectLst>
                  <a:outerShdw blurRad="38100" dist="38100" dir="2700000" algn="tl">
                    <a:srgbClr val="000000">
                      <a:alpha val="43137"/>
                    </a:srgbClr>
                  </a:outerShdw>
                </a:effectLst>
              </a:rPr>
              <a:t>proper attribution to the sources of information and ideas used</a:t>
            </a:r>
            <a:r>
              <a:rPr lang="en-US" sz="3600" dirty="0"/>
              <a:t>.</a:t>
            </a:r>
            <a:r>
              <a:rPr lang="en-US" dirty="0"/>
              <a:t> </a:t>
            </a:r>
            <a:endParaRPr lang="en-US" dirty="0" smtClean="0"/>
          </a:p>
          <a:p>
            <a:r>
              <a:rPr lang="en-US" dirty="0" smtClean="0"/>
              <a:t>They </a:t>
            </a:r>
            <a:r>
              <a:rPr lang="en-US" dirty="0"/>
              <a:t>serve as a way to validate the author's claims, offer credibility to the essay, and </a:t>
            </a:r>
            <a:r>
              <a:rPr lang="en-US" sz="3600" b="1" dirty="0">
                <a:effectLst>
                  <a:outerShdw blurRad="38100" dist="38100" dir="2700000" algn="tl">
                    <a:srgbClr val="000000">
                      <a:alpha val="43137"/>
                    </a:srgbClr>
                  </a:outerShdw>
                </a:effectLst>
              </a:rPr>
              <a:t>avoid plagiarism</a:t>
            </a:r>
            <a:r>
              <a:rPr lang="en-US" dirty="0"/>
              <a:t>. </a:t>
            </a:r>
            <a:endParaRPr lang="en-US" dirty="0" smtClean="0"/>
          </a:p>
          <a:p>
            <a:r>
              <a:rPr lang="en-US" dirty="0" smtClean="0"/>
              <a:t>Citations </a:t>
            </a:r>
            <a:r>
              <a:rPr lang="en-US" dirty="0"/>
              <a:t>follow a </a:t>
            </a:r>
            <a:r>
              <a:rPr lang="en-US" sz="3600" b="1" dirty="0">
                <a:effectLst>
                  <a:outerShdw blurRad="38100" dist="38100" dir="2700000" algn="tl">
                    <a:srgbClr val="000000">
                      <a:alpha val="43137"/>
                    </a:srgbClr>
                  </a:outerShdw>
                </a:effectLst>
              </a:rPr>
              <a:t>specific style guide (e.g., APA, MLA, Chicago) </a:t>
            </a:r>
            <a:r>
              <a:rPr lang="en-US" dirty="0"/>
              <a:t>and typically include the author's name, publication date, and the source's title, among other details, depending on the style guide used.</a:t>
            </a:r>
          </a:p>
        </p:txBody>
      </p:sp>
    </p:spTree>
    <p:extLst>
      <p:ext uri="{BB962C8B-B14F-4D97-AF65-F5344CB8AC3E}">
        <p14:creationId xmlns:p14="http://schemas.microsoft.com/office/powerpoint/2010/main" val="4162991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a:solidFill>
            <a:srgbClr val="92D050"/>
          </a:solidFill>
        </p:spPr>
        <p:txBody>
          <a:bodyPr>
            <a:normAutofit/>
          </a:bodyPr>
          <a:lstStyle/>
          <a:p>
            <a:pPr algn="ctr"/>
            <a:r>
              <a:rPr lang="en-US" sz="6600" b="1" dirty="0"/>
              <a:t>Facts and statistics</a:t>
            </a:r>
          </a:p>
        </p:txBody>
      </p:sp>
      <p:sp>
        <p:nvSpPr>
          <p:cNvPr id="3" name="Content Placeholder 2"/>
          <p:cNvSpPr>
            <a:spLocks noGrp="1"/>
          </p:cNvSpPr>
          <p:nvPr>
            <p:ph idx="1"/>
          </p:nvPr>
        </p:nvSpPr>
        <p:spPr>
          <a:xfrm>
            <a:off x="0" y="1463040"/>
            <a:ext cx="12192000" cy="5394960"/>
          </a:xfrm>
        </p:spPr>
        <p:txBody>
          <a:bodyPr>
            <a:noAutofit/>
          </a:bodyPr>
          <a:lstStyle/>
          <a:p>
            <a:r>
              <a:rPr lang="en-US" sz="3600" dirty="0"/>
              <a:t>Facts and statistics are crucial for </a:t>
            </a:r>
            <a:r>
              <a:rPr lang="en-US" sz="3600" b="1" dirty="0">
                <a:solidFill>
                  <a:srgbClr val="FF0000"/>
                </a:solidFill>
                <a:effectLst>
                  <a:outerShdw blurRad="38100" dist="38100" dir="2700000" algn="tl">
                    <a:srgbClr val="000000">
                      <a:alpha val="43137"/>
                    </a:srgbClr>
                  </a:outerShdw>
                </a:effectLst>
              </a:rPr>
              <a:t>supporting arguments </a:t>
            </a:r>
            <a:r>
              <a:rPr lang="en-US" sz="3600" dirty="0"/>
              <a:t>in an </a:t>
            </a:r>
            <a:r>
              <a:rPr lang="en-US" sz="3600" dirty="0" smtClean="0"/>
              <a:t>essay.</a:t>
            </a:r>
          </a:p>
          <a:p>
            <a:r>
              <a:rPr lang="en-US" sz="3600" dirty="0" smtClean="0"/>
              <a:t>They </a:t>
            </a:r>
            <a:r>
              <a:rPr lang="en-US" sz="3600" dirty="0"/>
              <a:t>provide evidence and substantiate the author's claims, making the essay more</a:t>
            </a:r>
            <a:r>
              <a:rPr lang="en-US" sz="3600" b="1" dirty="0">
                <a:effectLst>
                  <a:outerShdw blurRad="38100" dist="38100" dir="2700000" algn="tl">
                    <a:srgbClr val="000000">
                      <a:alpha val="43137"/>
                    </a:srgbClr>
                  </a:outerShdw>
                </a:effectLst>
              </a:rPr>
              <a:t> </a:t>
            </a:r>
            <a:r>
              <a:rPr lang="en-US" sz="3600" b="1" dirty="0">
                <a:solidFill>
                  <a:srgbClr val="FF0000"/>
                </a:solidFill>
                <a:effectLst>
                  <a:outerShdw blurRad="38100" dist="38100" dir="2700000" algn="tl">
                    <a:srgbClr val="000000">
                      <a:alpha val="43137"/>
                    </a:srgbClr>
                  </a:outerShdw>
                </a:effectLst>
              </a:rPr>
              <a:t>persuasive and informative</a:t>
            </a:r>
            <a:r>
              <a:rPr lang="en-US" sz="3600" dirty="0">
                <a:solidFill>
                  <a:srgbClr val="FF0000"/>
                </a:solidFill>
              </a:rPr>
              <a:t>. </a:t>
            </a:r>
            <a:endParaRPr lang="en-US" sz="3600" dirty="0" smtClean="0">
              <a:solidFill>
                <a:srgbClr val="FF0000"/>
              </a:solidFill>
            </a:endParaRPr>
          </a:p>
          <a:p>
            <a:r>
              <a:rPr lang="en-US" sz="3600" dirty="0" smtClean="0"/>
              <a:t>It's </a:t>
            </a:r>
            <a:r>
              <a:rPr lang="en-US" sz="3600" dirty="0"/>
              <a:t>important to ensure that the facts and statistics are accurate, up-to-date, and relevant to the essay's topic, and they should be </a:t>
            </a:r>
            <a:r>
              <a:rPr lang="en-US" sz="3600" b="1" dirty="0">
                <a:solidFill>
                  <a:srgbClr val="FF0000"/>
                </a:solidFill>
                <a:effectLst>
                  <a:outerShdw blurRad="38100" dist="38100" dir="2700000" algn="tl">
                    <a:srgbClr val="000000">
                      <a:alpha val="43137"/>
                    </a:srgbClr>
                  </a:outerShdw>
                </a:effectLst>
              </a:rPr>
              <a:t>integrated seamlessly </a:t>
            </a:r>
            <a:r>
              <a:rPr lang="en-US" sz="3600" dirty="0"/>
              <a:t>into the text to enhance the overall quality of the argument.</a:t>
            </a:r>
          </a:p>
        </p:txBody>
      </p:sp>
    </p:spTree>
    <p:extLst>
      <p:ext uri="{BB962C8B-B14F-4D97-AF65-F5344CB8AC3E}">
        <p14:creationId xmlns:p14="http://schemas.microsoft.com/office/powerpoint/2010/main" val="77174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84148" cy="1325563"/>
          </a:xfrm>
          <a:solidFill>
            <a:srgbClr val="00B0F0"/>
          </a:solidFill>
        </p:spPr>
        <p:txBody>
          <a:bodyPr>
            <a:normAutofit/>
          </a:bodyPr>
          <a:lstStyle/>
          <a:p>
            <a:pPr algn="ctr"/>
            <a:r>
              <a:rPr lang="en-US" sz="5400" b="1" dirty="0">
                <a:effectLst>
                  <a:outerShdw blurRad="38100" dist="38100" dir="2700000" algn="tl">
                    <a:srgbClr val="000000">
                      <a:alpha val="43137"/>
                    </a:srgbClr>
                  </a:outerShdw>
                </a:effectLst>
              </a:rPr>
              <a:t>Significance of Essay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42931486"/>
              </p:ext>
            </p:extLst>
          </p:nvPr>
        </p:nvGraphicFramePr>
        <p:xfrm>
          <a:off x="0" y="1325563"/>
          <a:ext cx="12084050" cy="5532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6666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chemeClr val="accent2">
              <a:lumMod val="40000"/>
              <a:lumOff val="60000"/>
            </a:schemeClr>
          </a:solidFill>
        </p:spPr>
        <p:txBody>
          <a:bodyPr>
            <a:normAutofit/>
          </a:bodyPr>
          <a:lstStyle/>
          <a:p>
            <a:pPr algn="ctr"/>
            <a:r>
              <a:rPr lang="en-US" sz="6600" b="1" dirty="0" smtClean="0">
                <a:effectLst>
                  <a:outerShdw blurRad="38100" dist="38100" dir="2700000" algn="tl">
                    <a:srgbClr val="000000">
                      <a:alpha val="43137"/>
                    </a:srgbClr>
                  </a:outerShdw>
                </a:effectLst>
              </a:rPr>
              <a:t>Communication Skills </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325562"/>
            <a:ext cx="12192000" cy="5532437"/>
          </a:xfrm>
        </p:spPr>
        <p:txBody>
          <a:bodyPr>
            <a:normAutofit/>
          </a:bodyPr>
          <a:lstStyle/>
          <a:p>
            <a:pPr algn="just"/>
            <a:r>
              <a:rPr lang="en-US" sz="3600" dirty="0"/>
              <a:t>Essays play a vital role in developing </a:t>
            </a:r>
            <a:r>
              <a:rPr lang="en-US" sz="3600" b="1" dirty="0">
                <a:effectLst>
                  <a:outerShdw blurRad="38100" dist="38100" dir="2700000" algn="tl">
                    <a:srgbClr val="000000">
                      <a:alpha val="43137"/>
                    </a:srgbClr>
                  </a:outerShdw>
                </a:effectLst>
              </a:rPr>
              <a:t>strong communication skills. </a:t>
            </a:r>
            <a:endParaRPr lang="en-US" sz="3600" b="1" dirty="0" smtClean="0">
              <a:effectLst>
                <a:outerShdw blurRad="38100" dist="38100" dir="2700000" algn="tl">
                  <a:srgbClr val="000000">
                    <a:alpha val="43137"/>
                  </a:srgbClr>
                </a:outerShdw>
              </a:effectLst>
            </a:endParaRPr>
          </a:p>
          <a:p>
            <a:pPr algn="just"/>
            <a:r>
              <a:rPr lang="en-US" sz="3600" dirty="0" smtClean="0"/>
              <a:t>They </a:t>
            </a:r>
            <a:r>
              <a:rPr lang="en-US" sz="3600" dirty="0"/>
              <a:t>require the writer to articulate thoughts and ideas clearly and coherently, which enhances their </a:t>
            </a:r>
            <a:r>
              <a:rPr lang="en-US" sz="3600" b="1" dirty="0">
                <a:effectLst>
                  <a:outerShdw blurRad="38100" dist="38100" dir="2700000" algn="tl">
                    <a:srgbClr val="000000">
                      <a:alpha val="43137"/>
                    </a:srgbClr>
                  </a:outerShdw>
                </a:effectLst>
              </a:rPr>
              <a:t>ability to express themselves effectively. </a:t>
            </a:r>
            <a:endParaRPr lang="en-US" sz="3600" b="1" dirty="0" smtClean="0">
              <a:effectLst>
                <a:outerShdw blurRad="38100" dist="38100" dir="2700000" algn="tl">
                  <a:srgbClr val="000000">
                    <a:alpha val="43137"/>
                  </a:srgbClr>
                </a:outerShdw>
              </a:effectLst>
            </a:endParaRPr>
          </a:p>
          <a:p>
            <a:pPr algn="just"/>
            <a:r>
              <a:rPr lang="en-US" sz="3600" dirty="0" smtClean="0"/>
              <a:t>Additionally</a:t>
            </a:r>
            <a:r>
              <a:rPr lang="en-US" sz="3600" dirty="0"/>
              <a:t>, essays help individuals refine their writing style, grammar, and vocabulary, enabling them </a:t>
            </a:r>
            <a:r>
              <a:rPr lang="en-US" sz="3600" b="1" dirty="0">
                <a:effectLst>
                  <a:outerShdw blurRad="38100" dist="38100" dir="2700000" algn="tl">
                    <a:srgbClr val="000000">
                      <a:alpha val="43137"/>
                    </a:srgbClr>
                  </a:outerShdw>
                </a:effectLst>
              </a:rPr>
              <a:t>to convey complex information to a broader audience</a:t>
            </a:r>
            <a:r>
              <a:rPr lang="en-US" sz="3600" dirty="0"/>
              <a:t>, a skill that is valuable in both academic and professional contexts.</a:t>
            </a:r>
          </a:p>
        </p:txBody>
      </p:sp>
    </p:spTree>
    <p:extLst>
      <p:ext uri="{BB962C8B-B14F-4D97-AF65-F5344CB8AC3E}">
        <p14:creationId xmlns:p14="http://schemas.microsoft.com/office/powerpoint/2010/main" val="2104634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chemeClr val="bg1">
              <a:lumMod val="75000"/>
            </a:schemeClr>
          </a:solidFill>
        </p:spPr>
        <p:txBody>
          <a:bodyPr>
            <a:normAutofit/>
          </a:bodyPr>
          <a:lstStyle/>
          <a:p>
            <a:pPr algn="ctr"/>
            <a:r>
              <a:rPr lang="en-US" sz="6600" b="1" dirty="0">
                <a:effectLst>
                  <a:outerShdw blurRad="38100" dist="38100" dir="2700000" algn="tl">
                    <a:srgbClr val="000000">
                      <a:alpha val="43137"/>
                    </a:srgbClr>
                  </a:outerShdw>
                </a:effectLst>
              </a:rPr>
              <a:t>Evaluating Knowledge</a:t>
            </a:r>
          </a:p>
        </p:txBody>
      </p:sp>
      <p:sp>
        <p:nvSpPr>
          <p:cNvPr id="3" name="Content Placeholder 2"/>
          <p:cNvSpPr>
            <a:spLocks noGrp="1"/>
          </p:cNvSpPr>
          <p:nvPr>
            <p:ph idx="1"/>
          </p:nvPr>
        </p:nvSpPr>
        <p:spPr>
          <a:xfrm>
            <a:off x="0" y="1325562"/>
            <a:ext cx="12192000" cy="5532437"/>
          </a:xfrm>
        </p:spPr>
        <p:txBody>
          <a:bodyPr>
            <a:normAutofit/>
          </a:bodyPr>
          <a:lstStyle/>
          <a:p>
            <a:pPr algn="just"/>
            <a:r>
              <a:rPr lang="en-US" sz="3600" dirty="0"/>
              <a:t>Essays serve as a tool for individuals to evaluate their own </a:t>
            </a:r>
            <a:r>
              <a:rPr lang="en-US" sz="3600" dirty="0">
                <a:solidFill>
                  <a:srgbClr val="FF0000"/>
                </a:solidFill>
              </a:rPr>
              <a:t>knowledge and understanding </a:t>
            </a:r>
            <a:r>
              <a:rPr lang="en-US" sz="3600" dirty="0"/>
              <a:t>of a subject. </a:t>
            </a:r>
            <a:endParaRPr lang="en-US" sz="3600" dirty="0" smtClean="0"/>
          </a:p>
          <a:p>
            <a:pPr algn="just"/>
            <a:r>
              <a:rPr lang="en-US" sz="3600" dirty="0" smtClean="0"/>
              <a:t>When </a:t>
            </a:r>
            <a:r>
              <a:rPr lang="en-US" sz="3600" dirty="0"/>
              <a:t>crafting an essay, one must synthesize information and structure arguments, highlighting </a:t>
            </a:r>
            <a:r>
              <a:rPr lang="en-US" sz="3600" dirty="0">
                <a:solidFill>
                  <a:srgbClr val="FF0000"/>
                </a:solidFill>
              </a:rPr>
              <a:t>areas of strength and identifying gaps </a:t>
            </a:r>
            <a:r>
              <a:rPr lang="en-US" sz="3600" dirty="0"/>
              <a:t>in their </a:t>
            </a:r>
            <a:r>
              <a:rPr lang="en-US" sz="3600" dirty="0" smtClean="0"/>
              <a:t>knowledge.</a:t>
            </a:r>
          </a:p>
          <a:p>
            <a:pPr algn="just"/>
            <a:r>
              <a:rPr lang="en-US" sz="3600" dirty="0" smtClean="0"/>
              <a:t>This </a:t>
            </a:r>
            <a:r>
              <a:rPr lang="en-US" sz="3600" dirty="0"/>
              <a:t>self-assessment encourages </a:t>
            </a:r>
            <a:r>
              <a:rPr lang="en-US" sz="3600" b="1" dirty="0">
                <a:solidFill>
                  <a:srgbClr val="FF0000"/>
                </a:solidFill>
              </a:rPr>
              <a:t>ongoing learning and improvement</a:t>
            </a:r>
            <a:r>
              <a:rPr lang="en-US" sz="3600" dirty="0"/>
              <a:t>, as it prompts individuals to seek out and fill those knowledge gaps.</a:t>
            </a:r>
          </a:p>
        </p:txBody>
      </p:sp>
    </p:spTree>
    <p:extLst>
      <p:ext uri="{BB962C8B-B14F-4D97-AF65-F5344CB8AC3E}">
        <p14:creationId xmlns:p14="http://schemas.microsoft.com/office/powerpoint/2010/main" val="4216535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rgbClr val="FFC000"/>
          </a:solidFill>
        </p:spPr>
        <p:txBody>
          <a:bodyPr>
            <a:normAutofit/>
          </a:bodyPr>
          <a:lstStyle/>
          <a:p>
            <a:pPr algn="ctr"/>
            <a:r>
              <a:rPr lang="en-US" sz="6600" b="1" dirty="0">
                <a:effectLst>
                  <a:outerShdw blurRad="38100" dist="38100" dir="2700000" algn="tl">
                    <a:srgbClr val="000000">
                      <a:alpha val="43137"/>
                    </a:srgbClr>
                  </a:outerShdw>
                </a:effectLst>
              </a:rPr>
              <a:t>Develops Critical Thinking</a:t>
            </a:r>
          </a:p>
        </p:txBody>
      </p:sp>
      <p:sp>
        <p:nvSpPr>
          <p:cNvPr id="3" name="Content Placeholder 2"/>
          <p:cNvSpPr>
            <a:spLocks noGrp="1"/>
          </p:cNvSpPr>
          <p:nvPr>
            <p:ph idx="1"/>
          </p:nvPr>
        </p:nvSpPr>
        <p:spPr>
          <a:xfrm>
            <a:off x="0" y="1325562"/>
            <a:ext cx="12070080" cy="5532437"/>
          </a:xfrm>
        </p:spPr>
        <p:txBody>
          <a:bodyPr>
            <a:noAutofit/>
          </a:bodyPr>
          <a:lstStyle/>
          <a:p>
            <a:pPr algn="just"/>
            <a:r>
              <a:rPr lang="en-US" sz="3600" dirty="0"/>
              <a:t>Essay writing </a:t>
            </a:r>
            <a:r>
              <a:rPr lang="en-US" sz="3600" dirty="0">
                <a:solidFill>
                  <a:srgbClr val="92D050"/>
                </a:solidFill>
                <a:effectLst>
                  <a:outerShdw blurRad="38100" dist="38100" dir="2700000" algn="tl">
                    <a:srgbClr val="000000">
                      <a:alpha val="43137"/>
                    </a:srgbClr>
                  </a:outerShdw>
                </a:effectLst>
              </a:rPr>
              <a:t>nurtures critical thinking </a:t>
            </a:r>
            <a:r>
              <a:rPr lang="en-US" sz="3600" dirty="0"/>
              <a:t>skills by requiring individuals to analyze, interpret, and evaluate information. </a:t>
            </a:r>
            <a:endParaRPr lang="en-US" sz="3600" dirty="0" smtClean="0"/>
          </a:p>
          <a:p>
            <a:pPr algn="just"/>
            <a:r>
              <a:rPr lang="en-US" sz="3600" dirty="0" smtClean="0"/>
              <a:t>Writers </a:t>
            </a:r>
            <a:r>
              <a:rPr lang="en-US" sz="3600" dirty="0"/>
              <a:t>must consider </a:t>
            </a:r>
            <a:r>
              <a:rPr lang="en-US" sz="3600" b="1" dirty="0">
                <a:solidFill>
                  <a:srgbClr val="FFC000"/>
                </a:solidFill>
                <a:effectLst>
                  <a:outerShdw blurRad="38100" dist="38100" dir="2700000" algn="tl">
                    <a:srgbClr val="000000">
                      <a:alpha val="43137"/>
                    </a:srgbClr>
                  </a:outerShdw>
                </a:effectLst>
              </a:rPr>
              <a:t>multiple perspectives, assess the quality of sources, and construct well-reasoned arguments. </a:t>
            </a:r>
            <a:endParaRPr lang="en-US" sz="3600" b="1" dirty="0" smtClean="0">
              <a:solidFill>
                <a:srgbClr val="FFC000"/>
              </a:solidFill>
              <a:effectLst>
                <a:outerShdw blurRad="38100" dist="38100" dir="2700000" algn="tl">
                  <a:srgbClr val="000000">
                    <a:alpha val="43137"/>
                  </a:srgbClr>
                </a:outerShdw>
              </a:effectLst>
            </a:endParaRPr>
          </a:p>
          <a:p>
            <a:pPr algn="just"/>
            <a:r>
              <a:rPr lang="en-US" sz="3600" dirty="0" smtClean="0"/>
              <a:t>This </a:t>
            </a:r>
            <a:r>
              <a:rPr lang="en-US" sz="3600" dirty="0"/>
              <a:t>process encourages individuals to think critically, question assumptions, and </a:t>
            </a:r>
            <a:r>
              <a:rPr lang="en-US" sz="3600" b="1" dirty="0">
                <a:solidFill>
                  <a:srgbClr val="FFC000"/>
                </a:solidFill>
                <a:effectLst>
                  <a:outerShdw blurRad="38100" dist="38100" dir="2700000" algn="tl">
                    <a:srgbClr val="000000">
                      <a:alpha val="43137"/>
                    </a:srgbClr>
                  </a:outerShdw>
                </a:effectLst>
              </a:rPr>
              <a:t>make informed judgments, skills that are valuable in problem-solving and decision-making. </a:t>
            </a:r>
          </a:p>
        </p:txBody>
      </p:sp>
    </p:spTree>
    <p:extLst>
      <p:ext uri="{BB962C8B-B14F-4D97-AF65-F5344CB8AC3E}">
        <p14:creationId xmlns:p14="http://schemas.microsoft.com/office/powerpoint/2010/main" val="1549049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56012" cy="1325563"/>
          </a:xfrm>
          <a:solidFill>
            <a:srgbClr val="00B0F0"/>
          </a:solidFill>
        </p:spPr>
        <p:txBody>
          <a:bodyPr>
            <a:normAutofit/>
          </a:bodyPr>
          <a:lstStyle/>
          <a:p>
            <a:pPr algn="ctr"/>
            <a:r>
              <a:rPr lang="en-US" sz="6600" b="1" dirty="0">
                <a:effectLst>
                  <a:outerShdw blurRad="38100" dist="38100" dir="2700000" algn="tl">
                    <a:srgbClr val="000000">
                      <a:alpha val="43137"/>
                    </a:srgbClr>
                  </a:outerShdw>
                </a:effectLst>
              </a:rPr>
              <a:t>Develops Research Skills </a:t>
            </a:r>
          </a:p>
        </p:txBody>
      </p:sp>
      <p:sp>
        <p:nvSpPr>
          <p:cNvPr id="3" name="Content Placeholder 2"/>
          <p:cNvSpPr>
            <a:spLocks noGrp="1"/>
          </p:cNvSpPr>
          <p:nvPr>
            <p:ph idx="1"/>
          </p:nvPr>
        </p:nvSpPr>
        <p:spPr>
          <a:xfrm>
            <a:off x="0" y="1325562"/>
            <a:ext cx="12056012" cy="5426929"/>
          </a:xfrm>
        </p:spPr>
        <p:txBody>
          <a:bodyPr>
            <a:noAutofit/>
          </a:bodyPr>
          <a:lstStyle/>
          <a:p>
            <a:pPr algn="just"/>
            <a:r>
              <a:rPr lang="en-US" sz="3600" dirty="0"/>
              <a:t>Essays often involve extensive research to</a:t>
            </a:r>
            <a:r>
              <a:rPr lang="en-US" sz="3600" b="1" dirty="0">
                <a:solidFill>
                  <a:srgbClr val="FFC000"/>
                </a:solidFill>
                <a:effectLst>
                  <a:outerShdw blurRad="38100" dist="38100" dir="2700000" algn="tl">
                    <a:srgbClr val="000000">
                      <a:alpha val="43137"/>
                    </a:srgbClr>
                  </a:outerShdw>
                </a:effectLst>
              </a:rPr>
              <a:t> gather relevant information and evidence </a:t>
            </a:r>
            <a:r>
              <a:rPr lang="en-US" sz="3600" dirty="0"/>
              <a:t>to support the argument. </a:t>
            </a:r>
            <a:endParaRPr lang="en-US" sz="3600" dirty="0" smtClean="0"/>
          </a:p>
          <a:p>
            <a:pPr algn="just"/>
            <a:r>
              <a:rPr lang="en-US" sz="3600" dirty="0" smtClean="0"/>
              <a:t>This </a:t>
            </a:r>
            <a:r>
              <a:rPr lang="en-US" sz="3600" dirty="0"/>
              <a:t>research process fosters research skills, including </a:t>
            </a:r>
            <a:r>
              <a:rPr lang="en-US" sz="3600" dirty="0">
                <a:solidFill>
                  <a:srgbClr val="FF0000"/>
                </a:solidFill>
                <a:effectLst>
                  <a:outerShdw blurRad="38100" dist="38100" dir="2700000" algn="tl">
                    <a:srgbClr val="000000">
                      <a:alpha val="43137"/>
                    </a:srgbClr>
                  </a:outerShdw>
                </a:effectLst>
              </a:rPr>
              <a:t>the ability to locate credible sources, synthesize information from various outlets, and cite sources appropriately.</a:t>
            </a:r>
            <a:r>
              <a:rPr lang="en-US" sz="3600" dirty="0">
                <a:solidFill>
                  <a:srgbClr val="FF0000"/>
                </a:solidFill>
              </a:rPr>
              <a:t> </a:t>
            </a:r>
            <a:endParaRPr lang="en-US" sz="3600" dirty="0" smtClean="0">
              <a:solidFill>
                <a:srgbClr val="FF0000"/>
              </a:solidFill>
            </a:endParaRPr>
          </a:p>
          <a:p>
            <a:pPr algn="just"/>
            <a:r>
              <a:rPr lang="en-US" sz="3600" dirty="0" smtClean="0"/>
              <a:t>These </a:t>
            </a:r>
            <a:r>
              <a:rPr lang="en-US" sz="3600" dirty="0"/>
              <a:t>research skills extend beyond academic contexts and can be applied to </a:t>
            </a:r>
            <a:r>
              <a:rPr lang="en-US" sz="3600" b="1" dirty="0">
                <a:solidFill>
                  <a:srgbClr val="FF0000"/>
                </a:solidFill>
                <a:effectLst>
                  <a:outerShdw blurRad="38100" dist="38100" dir="2700000" algn="tl">
                    <a:srgbClr val="000000">
                      <a:alpha val="43137"/>
                    </a:srgbClr>
                  </a:outerShdw>
                </a:effectLst>
              </a:rPr>
              <a:t>real-life scenarios</a:t>
            </a:r>
            <a:r>
              <a:rPr lang="en-US" sz="3600" dirty="0"/>
              <a:t>, enabling individuals to make informed decisions based on reliable </a:t>
            </a:r>
            <a:r>
              <a:rPr lang="en-US" sz="3600" dirty="0" smtClean="0"/>
              <a:t>information.</a:t>
            </a:r>
            <a:endParaRPr lang="en-US" sz="3600" dirty="0"/>
          </a:p>
        </p:txBody>
      </p:sp>
    </p:spTree>
    <p:extLst>
      <p:ext uri="{BB962C8B-B14F-4D97-AF65-F5344CB8AC3E}">
        <p14:creationId xmlns:p14="http://schemas.microsoft.com/office/powerpoint/2010/main" val="3884685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chemeClr val="accent6">
              <a:lumMod val="40000"/>
              <a:lumOff val="60000"/>
            </a:schemeClr>
          </a:solidFill>
        </p:spPr>
        <p:txBody>
          <a:bodyPr>
            <a:normAutofit/>
          </a:bodyPr>
          <a:lstStyle/>
          <a:p>
            <a:pPr algn="ctr"/>
            <a:r>
              <a:rPr lang="en-US" sz="6600" b="1" dirty="0" smtClean="0">
                <a:effectLst>
                  <a:outerShdw blurRad="38100" dist="38100" dir="2700000" algn="tl">
                    <a:srgbClr val="000000">
                      <a:alpha val="43137"/>
                    </a:srgbClr>
                  </a:outerShdw>
                </a:effectLst>
              </a:rPr>
              <a:t>Continuous Learning </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325562"/>
            <a:ext cx="12192000" cy="5532437"/>
          </a:xfrm>
        </p:spPr>
        <p:txBody>
          <a:bodyPr>
            <a:normAutofit/>
          </a:bodyPr>
          <a:lstStyle/>
          <a:p>
            <a:pPr algn="just"/>
            <a:r>
              <a:rPr lang="en-US" sz="3600" dirty="0"/>
              <a:t>Essays promote a </a:t>
            </a:r>
            <a:r>
              <a:rPr lang="en-US" sz="3600" b="1" dirty="0">
                <a:effectLst>
                  <a:outerShdw blurRad="38100" dist="38100" dir="2700000" algn="tl">
                    <a:srgbClr val="000000">
                      <a:alpha val="43137"/>
                    </a:srgbClr>
                  </a:outerShdw>
                </a:effectLst>
              </a:rPr>
              <a:t>culture of continuous learning</a:t>
            </a:r>
            <a:r>
              <a:rPr lang="en-US" sz="3600" dirty="0"/>
              <a:t>. </a:t>
            </a:r>
            <a:endParaRPr lang="en-US" sz="3600" dirty="0" smtClean="0"/>
          </a:p>
          <a:p>
            <a:pPr algn="just"/>
            <a:r>
              <a:rPr lang="en-US" sz="3600" dirty="0" smtClean="0"/>
              <a:t>They </a:t>
            </a:r>
            <a:r>
              <a:rPr lang="en-US" sz="3600" dirty="0"/>
              <a:t>encourage individuals to </a:t>
            </a:r>
            <a:r>
              <a:rPr lang="en-US" sz="3600" b="1" dirty="0">
                <a:solidFill>
                  <a:srgbClr val="FFC000"/>
                </a:solidFill>
                <a:effectLst>
                  <a:outerShdw blurRad="38100" dist="38100" dir="2700000" algn="tl">
                    <a:srgbClr val="000000">
                      <a:alpha val="43137"/>
                    </a:srgbClr>
                  </a:outerShdw>
                </a:effectLst>
              </a:rPr>
              <a:t>explore new topics </a:t>
            </a:r>
            <a:r>
              <a:rPr lang="en-US" sz="3600" dirty="0"/>
              <a:t>and delve into subjects they may not have encountered before. </a:t>
            </a:r>
            <a:endParaRPr lang="en-US" sz="3600" dirty="0" smtClean="0"/>
          </a:p>
          <a:p>
            <a:pPr algn="just"/>
            <a:r>
              <a:rPr lang="en-US" sz="3600" dirty="0" smtClean="0"/>
              <a:t>Through </a:t>
            </a:r>
            <a:r>
              <a:rPr lang="en-US" sz="3600" dirty="0"/>
              <a:t>the process of researching, writing, and revising essays, individuals can expand their knowledge and adapt to </a:t>
            </a:r>
            <a:r>
              <a:rPr lang="en-US" sz="3600" b="1" dirty="0">
                <a:solidFill>
                  <a:srgbClr val="FFC000"/>
                </a:solidFill>
              </a:rPr>
              <a:t>evolving information and ideas. </a:t>
            </a:r>
            <a:endParaRPr lang="en-US" sz="3600" b="1" dirty="0" smtClean="0">
              <a:solidFill>
                <a:srgbClr val="FFC000"/>
              </a:solidFill>
            </a:endParaRPr>
          </a:p>
          <a:p>
            <a:pPr algn="just"/>
            <a:r>
              <a:rPr lang="en-US" sz="3600" dirty="0" smtClean="0"/>
              <a:t>Essays </a:t>
            </a:r>
            <a:r>
              <a:rPr lang="en-US" sz="3600" dirty="0"/>
              <a:t>thus serve as a means of </a:t>
            </a:r>
            <a:r>
              <a:rPr lang="en-US" sz="3600" dirty="0">
                <a:solidFill>
                  <a:srgbClr val="FF0000"/>
                </a:solidFill>
                <a:effectLst>
                  <a:outerShdw blurRad="38100" dist="38100" dir="2700000" algn="tl">
                    <a:srgbClr val="000000">
                      <a:alpha val="43137"/>
                    </a:srgbClr>
                  </a:outerShdw>
                </a:effectLst>
              </a:rPr>
              <a:t>intellectual growth and a mechanism </a:t>
            </a:r>
            <a:r>
              <a:rPr lang="en-US" sz="3600" dirty="0"/>
              <a:t>for staying informed in an ever-changing world.</a:t>
            </a:r>
          </a:p>
        </p:txBody>
      </p:sp>
    </p:spTree>
    <p:extLst>
      <p:ext uri="{BB962C8B-B14F-4D97-AF65-F5344CB8AC3E}">
        <p14:creationId xmlns:p14="http://schemas.microsoft.com/office/powerpoint/2010/main" val="21318252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7300" b="1" dirty="0">
                <a:effectLst>
                  <a:outerShdw blurRad="38100" dist="38100" dir="2700000" algn="tl">
                    <a:srgbClr val="000000">
                      <a:alpha val="43137"/>
                    </a:srgbClr>
                  </a:outerShdw>
                </a:effectLst>
              </a:rPr>
              <a:t>Types of Writing</a:t>
            </a:r>
            <a:r>
              <a:rPr lang="en-US" b="1" dirty="0"/>
              <a:t/>
            </a:r>
            <a:br>
              <a:rPr lang="en-US" b="1" dirty="0"/>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28948237"/>
              </p:ext>
            </p:extLst>
          </p:nvPr>
        </p:nvGraphicFramePr>
        <p:xfrm>
          <a:off x="323557" y="1589650"/>
          <a:ext cx="11704320" cy="50643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8108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rgbClr val="FFC000"/>
          </a:solidFill>
        </p:spPr>
        <p:txBody>
          <a:bodyPr>
            <a:normAutofit/>
          </a:bodyPr>
          <a:lstStyle/>
          <a:p>
            <a:pPr algn="ctr"/>
            <a:r>
              <a:rPr lang="en-US" sz="6600" b="1" dirty="0" smtClean="0">
                <a:effectLst>
                  <a:outerShdw blurRad="38100" dist="38100" dir="2700000" algn="tl">
                    <a:srgbClr val="000000">
                      <a:alpha val="43137"/>
                    </a:srgbClr>
                  </a:outerShdw>
                </a:effectLst>
              </a:rPr>
              <a:t>Structure of an Essay </a:t>
            </a:r>
            <a:endParaRPr lang="en-US" sz="6600" b="1" dirty="0">
              <a:effectLst>
                <a:outerShdw blurRad="38100" dist="38100" dir="2700000" algn="tl">
                  <a:srgbClr val="000000">
                    <a:alpha val="43137"/>
                  </a:srgbClr>
                </a:outerShdw>
              </a:effectLs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32288779"/>
              </p:ext>
            </p:extLst>
          </p:nvPr>
        </p:nvGraphicFramePr>
        <p:xfrm>
          <a:off x="0" y="1325563"/>
          <a:ext cx="12192000" cy="5532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685219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692" y="365125"/>
            <a:ext cx="11002108" cy="1027577"/>
          </a:xfrm>
        </p:spPr>
        <p:txBody>
          <a:bodyPr>
            <a:normAutofit fontScale="90000"/>
          </a:bodyPr>
          <a:lstStyle/>
          <a:p>
            <a:pPr algn="ctr"/>
            <a:r>
              <a:rPr lang="en-US" sz="6000" b="1" dirty="0">
                <a:effectLst>
                  <a:outerShdw blurRad="38100" dist="38100" dir="2700000" algn="tl">
                    <a:srgbClr val="000000">
                      <a:alpha val="43137"/>
                    </a:srgbClr>
                  </a:outerShdw>
                </a:effectLst>
              </a:rPr>
              <a:t>How to structure </a:t>
            </a:r>
            <a:r>
              <a:rPr lang="en-US" sz="6000" b="1" dirty="0" smtClean="0">
                <a:effectLst>
                  <a:outerShdw blurRad="38100" dist="38100" dir="2700000" algn="tl">
                    <a:srgbClr val="000000">
                      <a:alpha val="43137"/>
                    </a:srgbClr>
                  </a:outerShdw>
                </a:effectLst>
              </a:rPr>
              <a:t>an </a:t>
            </a:r>
            <a:r>
              <a:rPr lang="en-US" sz="6000" b="1" dirty="0">
                <a:effectLst>
                  <a:outerShdw blurRad="38100" dist="38100" dir="2700000" algn="tl">
                    <a:srgbClr val="000000">
                      <a:alpha val="43137"/>
                    </a:srgbClr>
                  </a:outerShdw>
                </a:effectLst>
              </a:rPr>
              <a:t>essay</a:t>
            </a:r>
            <a:r>
              <a:rPr lang="en-US" b="1" dirty="0"/>
              <a:t/>
            </a:r>
            <a:br>
              <a:rPr lang="en-US" b="1" dirty="0"/>
            </a:br>
            <a:endParaRPr lang="en-US" dirty="0"/>
          </a:p>
        </p:txBody>
      </p:sp>
      <p:sp>
        <p:nvSpPr>
          <p:cNvPr id="3" name="Content Placeholder 2"/>
          <p:cNvSpPr>
            <a:spLocks noGrp="1"/>
          </p:cNvSpPr>
          <p:nvPr>
            <p:ph idx="1"/>
          </p:nvPr>
        </p:nvSpPr>
        <p:spPr>
          <a:xfrm>
            <a:off x="253218" y="1223888"/>
            <a:ext cx="11746524" cy="5444197"/>
          </a:xfrm>
        </p:spPr>
        <p:txBody>
          <a:bodyPr>
            <a:normAutofit/>
          </a:bodyPr>
          <a:lstStyle/>
          <a:p>
            <a:r>
              <a:rPr lang="en-US" sz="3200" dirty="0"/>
              <a:t>A</a:t>
            </a:r>
            <a:r>
              <a:rPr lang="en-US" sz="3200" dirty="0" smtClean="0"/>
              <a:t>n introduction </a:t>
            </a:r>
          </a:p>
          <a:p>
            <a:r>
              <a:rPr lang="en-US" sz="3200" dirty="0" smtClean="0"/>
              <a:t>body </a:t>
            </a:r>
            <a:r>
              <a:rPr lang="en-US" sz="3200" dirty="0"/>
              <a:t>paragraphs that support and expand upon the points you made in your introduction, </a:t>
            </a:r>
            <a:endParaRPr lang="en-US" sz="3200" dirty="0" smtClean="0"/>
          </a:p>
          <a:p>
            <a:r>
              <a:rPr lang="en-US" sz="3200" dirty="0" smtClean="0"/>
              <a:t>then </a:t>
            </a:r>
            <a:r>
              <a:rPr lang="en-US" sz="3200" dirty="0"/>
              <a:t>a conclusion that reiterates those points and underscores your thesis</a:t>
            </a:r>
            <a:r>
              <a:rPr lang="en-US" sz="3200" dirty="0" smtClean="0"/>
              <a:t>.</a:t>
            </a:r>
          </a:p>
          <a:p>
            <a:r>
              <a:rPr lang="en-US" sz="3200" dirty="0"/>
              <a:t>Unless your instructor requires your essay to hit a certain word count, there’s no specific length your essay needs to be. Similarly, it doesn’t need to have a specific number of paragraphs—but it does need to express your points thoroughly and accurately. To achieve this, your essay should follow this format, give or take the quantity of body paragraphs for the number of supporting points you make:</a:t>
            </a:r>
          </a:p>
        </p:txBody>
      </p:sp>
    </p:spTree>
    <p:extLst>
      <p:ext uri="{BB962C8B-B14F-4D97-AF65-F5344CB8AC3E}">
        <p14:creationId xmlns:p14="http://schemas.microsoft.com/office/powerpoint/2010/main" val="17980723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700" b="1" dirty="0">
                <a:effectLst>
                  <a:outerShdw blurRad="38100" dist="38100" dir="2700000" algn="tl">
                    <a:srgbClr val="000000">
                      <a:alpha val="43137"/>
                    </a:srgbClr>
                  </a:outerShdw>
                </a:effectLst>
              </a:rPr>
              <a:t>Introduction</a:t>
            </a:r>
            <a:r>
              <a:rPr lang="en-US" b="1" dirty="0"/>
              <a:t/>
            </a:r>
            <a:br>
              <a:rPr lang="en-US" b="1" dirty="0"/>
            </a:br>
            <a:endParaRPr lang="en-US" dirty="0"/>
          </a:p>
        </p:txBody>
      </p:sp>
      <p:sp>
        <p:nvSpPr>
          <p:cNvPr id="3" name="Content Placeholder 2"/>
          <p:cNvSpPr>
            <a:spLocks noGrp="1"/>
          </p:cNvSpPr>
          <p:nvPr>
            <p:ph idx="1"/>
          </p:nvPr>
        </p:nvSpPr>
        <p:spPr/>
        <p:txBody>
          <a:bodyPr/>
          <a:lstStyle/>
          <a:p>
            <a:r>
              <a:rPr lang="en-US" sz="3600" dirty="0"/>
              <a:t>In the introduction, you present your </a:t>
            </a:r>
            <a:r>
              <a:rPr lang="en-US" sz="3600" dirty="0">
                <a:solidFill>
                  <a:srgbClr val="FF0000"/>
                </a:solidFill>
              </a:rPr>
              <a:t>essay topic and your thesis statement</a:t>
            </a:r>
            <a:r>
              <a:rPr lang="en-US" sz="3600" dirty="0"/>
              <a:t>, ideally hooking your reader with intriguing facts. </a:t>
            </a:r>
            <a:endParaRPr lang="en-US" sz="3600" dirty="0" smtClean="0"/>
          </a:p>
          <a:p>
            <a:r>
              <a:rPr lang="en-US" sz="3600" dirty="0" smtClean="0"/>
              <a:t>You </a:t>
            </a:r>
            <a:r>
              <a:rPr lang="en-US" sz="3600" dirty="0"/>
              <a:t>also introduce your supporting evidence and all necessary context to help your reader understand your thesis.</a:t>
            </a:r>
            <a:r>
              <a:rPr lang="en-US" dirty="0"/>
              <a:t> </a:t>
            </a:r>
          </a:p>
        </p:txBody>
      </p:sp>
    </p:spTree>
    <p:extLst>
      <p:ext uri="{BB962C8B-B14F-4D97-AF65-F5344CB8AC3E}">
        <p14:creationId xmlns:p14="http://schemas.microsoft.com/office/powerpoint/2010/main" val="20005627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38100" dir="2700000" algn="tl">
                    <a:srgbClr val="000000">
                      <a:alpha val="43137"/>
                    </a:srgbClr>
                  </a:outerShdw>
                </a:effectLst>
              </a:rPr>
              <a:t>Introduction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61803419"/>
              </p:ext>
            </p:extLst>
          </p:nvPr>
        </p:nvGraphicFramePr>
        <p:xfrm>
          <a:off x="281354" y="1505243"/>
          <a:ext cx="11910646" cy="52191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75398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163" y="168178"/>
            <a:ext cx="11985674" cy="1325563"/>
          </a:xfrm>
        </p:spPr>
        <p:txBody>
          <a:bodyPr>
            <a:normAutofit/>
          </a:bodyPr>
          <a:lstStyle/>
          <a:p>
            <a:pPr algn="ctr"/>
            <a:r>
              <a:rPr lang="en-US" sz="6600" b="1" dirty="0" smtClean="0">
                <a:effectLst>
                  <a:outerShdw blurRad="38100" dist="38100" dir="2700000" algn="tl">
                    <a:srgbClr val="000000">
                      <a:alpha val="43137"/>
                    </a:srgbClr>
                  </a:outerShdw>
                </a:effectLst>
              </a:rPr>
              <a:t>Intro......</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03163" y="1493742"/>
            <a:ext cx="11985673" cy="5364258"/>
          </a:xfrm>
        </p:spPr>
        <p:txBody>
          <a:bodyPr>
            <a:noAutofit/>
          </a:bodyPr>
          <a:lstStyle/>
          <a:p>
            <a:r>
              <a:rPr lang="en-US" sz="3600" dirty="0" smtClean="0"/>
              <a:t>First </a:t>
            </a:r>
            <a:r>
              <a:rPr lang="en-US" sz="3600" dirty="0"/>
              <a:t>paragraph of the </a:t>
            </a:r>
            <a:r>
              <a:rPr lang="en-US" sz="3600" dirty="0" smtClean="0"/>
              <a:t>essay</a:t>
            </a:r>
          </a:p>
          <a:p>
            <a:r>
              <a:rPr lang="en-US" sz="3600" dirty="0" smtClean="0"/>
              <a:t>Begins </a:t>
            </a:r>
            <a:r>
              <a:rPr lang="en-US" sz="3600" dirty="0"/>
              <a:t>with an </a:t>
            </a:r>
            <a:r>
              <a:rPr lang="en-US" sz="3600" b="1" dirty="0">
                <a:solidFill>
                  <a:srgbClr val="FF0000"/>
                </a:solidFill>
                <a:effectLst>
                  <a:outerShdw blurRad="38100" dist="38100" dir="2700000" algn="tl">
                    <a:srgbClr val="000000">
                      <a:alpha val="43137"/>
                    </a:srgbClr>
                  </a:outerShdw>
                </a:effectLst>
              </a:rPr>
              <a:t>Attention Getter / hook </a:t>
            </a:r>
            <a:r>
              <a:rPr lang="en-US" sz="3600" dirty="0"/>
              <a:t>such as brief anecdote, surprising fact, question, quotation </a:t>
            </a:r>
            <a:r>
              <a:rPr lang="en-US" sz="3600" dirty="0" smtClean="0"/>
              <a:t>etc.</a:t>
            </a:r>
          </a:p>
          <a:p>
            <a:r>
              <a:rPr lang="en-US" sz="3600" dirty="0" smtClean="0"/>
              <a:t>It </a:t>
            </a:r>
            <a:r>
              <a:rPr lang="en-US" sz="3600" dirty="0"/>
              <a:t>is followed by the </a:t>
            </a:r>
            <a:r>
              <a:rPr lang="en-US" sz="3600" b="1" dirty="0">
                <a:effectLst>
                  <a:outerShdw blurRad="38100" dist="38100" dir="2700000" algn="tl">
                    <a:srgbClr val="000000">
                      <a:alpha val="43137"/>
                    </a:srgbClr>
                  </a:outerShdw>
                </a:effectLst>
              </a:rPr>
              <a:t>background information </a:t>
            </a:r>
            <a:r>
              <a:rPr lang="en-US" sz="3600" dirty="0"/>
              <a:t>for understanding the subject </a:t>
            </a:r>
            <a:r>
              <a:rPr lang="en-US" sz="3600" dirty="0" smtClean="0"/>
              <a:t>matter.</a:t>
            </a:r>
          </a:p>
          <a:p>
            <a:r>
              <a:rPr lang="en-US" sz="3600" dirty="0" smtClean="0"/>
              <a:t>Then </a:t>
            </a:r>
            <a:r>
              <a:rPr lang="en-US" sz="3600" dirty="0"/>
              <a:t>the introduction has </a:t>
            </a:r>
            <a:r>
              <a:rPr lang="en-US" sz="3600" b="1" dirty="0">
                <a:solidFill>
                  <a:srgbClr val="FF0000"/>
                </a:solidFill>
                <a:effectLst>
                  <a:outerShdw blurRad="38100" dist="38100" dir="2700000" algn="tl">
                    <a:srgbClr val="000000">
                      <a:alpha val="43137"/>
                    </a:srgbClr>
                  </a:outerShdw>
                </a:effectLst>
              </a:rPr>
              <a:t>a clear and concise thesis statement stating </a:t>
            </a:r>
            <a:r>
              <a:rPr lang="en-US" sz="3600" dirty="0"/>
              <a:t>the purpose and setting the direction of an </a:t>
            </a:r>
            <a:r>
              <a:rPr lang="en-US" sz="3600" dirty="0" smtClean="0"/>
              <a:t>essay. </a:t>
            </a:r>
            <a:endParaRPr lang="en-US" sz="3600" dirty="0"/>
          </a:p>
        </p:txBody>
      </p:sp>
    </p:spTree>
    <p:extLst>
      <p:ext uri="{BB962C8B-B14F-4D97-AF65-F5344CB8AC3E}">
        <p14:creationId xmlns:p14="http://schemas.microsoft.com/office/powerpoint/2010/main" val="18153603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dirty="0">
                <a:effectLst>
                  <a:outerShdw blurRad="38100" dist="38100" dir="2700000" algn="tl">
                    <a:srgbClr val="000000">
                      <a:alpha val="43137"/>
                    </a:srgbClr>
                  </a:outerShdw>
                </a:effectLst>
              </a:rPr>
              <a:t>Thesis Statement</a:t>
            </a:r>
          </a:p>
        </p:txBody>
      </p:sp>
      <p:sp>
        <p:nvSpPr>
          <p:cNvPr id="3" name="Content Placeholder 2"/>
          <p:cNvSpPr>
            <a:spLocks noGrp="1"/>
          </p:cNvSpPr>
          <p:nvPr>
            <p:ph idx="1"/>
          </p:nvPr>
        </p:nvSpPr>
        <p:spPr/>
        <p:txBody>
          <a:bodyPr>
            <a:normAutofit/>
          </a:bodyPr>
          <a:lstStyle/>
          <a:p>
            <a:r>
              <a:rPr lang="en-US" sz="3600" dirty="0" smtClean="0"/>
              <a:t>Clear </a:t>
            </a:r>
            <a:r>
              <a:rPr lang="en-US" sz="3600" dirty="0"/>
              <a:t>and concise </a:t>
            </a:r>
            <a:r>
              <a:rPr lang="en-US" sz="3600" dirty="0" smtClean="0"/>
              <a:t>sentence</a:t>
            </a:r>
          </a:p>
          <a:p>
            <a:r>
              <a:rPr lang="en-US" sz="3600" dirty="0" smtClean="0"/>
              <a:t>Presents </a:t>
            </a:r>
            <a:r>
              <a:rPr lang="en-US" sz="3600" dirty="0"/>
              <a:t>main argument (point of view) of an </a:t>
            </a:r>
            <a:r>
              <a:rPr lang="en-US" sz="3600" dirty="0" smtClean="0"/>
              <a:t>essay</a:t>
            </a:r>
          </a:p>
          <a:p>
            <a:r>
              <a:rPr lang="en-US" sz="3600" dirty="0" smtClean="0"/>
              <a:t>Defines </a:t>
            </a:r>
            <a:r>
              <a:rPr lang="en-US" sz="3600" dirty="0"/>
              <a:t>the scope of the </a:t>
            </a:r>
            <a:r>
              <a:rPr lang="en-US" sz="3600" dirty="0" smtClean="0"/>
              <a:t>essay</a:t>
            </a:r>
          </a:p>
          <a:p>
            <a:r>
              <a:rPr lang="en-US" sz="3600" dirty="0" smtClean="0"/>
              <a:t>Presents </a:t>
            </a:r>
            <a:r>
              <a:rPr lang="en-US" sz="3600" dirty="0"/>
              <a:t>a roadmap for the </a:t>
            </a:r>
            <a:r>
              <a:rPr lang="en-US" sz="3600" dirty="0" smtClean="0"/>
              <a:t>reader</a:t>
            </a:r>
          </a:p>
          <a:p>
            <a:r>
              <a:rPr lang="en-US" sz="3600" dirty="0" smtClean="0"/>
              <a:t>Highlights </a:t>
            </a:r>
            <a:r>
              <a:rPr lang="en-US" sz="3600" dirty="0"/>
              <a:t>the theme of the </a:t>
            </a:r>
            <a:r>
              <a:rPr lang="en-US" sz="3600" dirty="0" smtClean="0"/>
              <a:t>essay</a:t>
            </a:r>
          </a:p>
          <a:p>
            <a:r>
              <a:rPr lang="en-US" sz="3600" dirty="0" smtClean="0"/>
              <a:t>It </a:t>
            </a:r>
            <a:r>
              <a:rPr lang="en-US" sz="3600" dirty="0"/>
              <a:t>is found in the first paragraph of the essay (introduction)</a:t>
            </a:r>
          </a:p>
        </p:txBody>
      </p:sp>
    </p:spTree>
    <p:extLst>
      <p:ext uri="{BB962C8B-B14F-4D97-AF65-F5344CB8AC3E}">
        <p14:creationId xmlns:p14="http://schemas.microsoft.com/office/powerpoint/2010/main" val="10321694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p:spPr>
        <p:txBody>
          <a:bodyPr>
            <a:normAutofit/>
          </a:bodyPr>
          <a:lstStyle/>
          <a:p>
            <a:r>
              <a:rPr lang="en-US" sz="6000" b="1" dirty="0" smtClean="0">
                <a:effectLst>
                  <a:outerShdw blurRad="38100" dist="38100" dir="2700000" algn="tl">
                    <a:srgbClr val="000000">
                      <a:alpha val="43137"/>
                    </a:srgbClr>
                  </a:outerShdw>
                </a:effectLst>
              </a:rPr>
              <a:t>Example </a:t>
            </a:r>
            <a:r>
              <a:rPr lang="en-US" sz="6000" b="1" dirty="0">
                <a:effectLst>
                  <a:outerShdw blurRad="38100" dist="38100" dir="2700000" algn="tl">
                    <a:srgbClr val="000000">
                      <a:alpha val="43137"/>
                    </a:srgbClr>
                  </a:outerShdw>
                </a:effectLst>
              </a:rPr>
              <a:t>of a Thesis Statement</a:t>
            </a:r>
          </a:p>
        </p:txBody>
      </p:sp>
      <p:sp>
        <p:nvSpPr>
          <p:cNvPr id="3" name="Content Placeholder 2"/>
          <p:cNvSpPr>
            <a:spLocks noGrp="1"/>
          </p:cNvSpPr>
          <p:nvPr>
            <p:ph idx="1"/>
          </p:nvPr>
        </p:nvSpPr>
        <p:spPr/>
        <p:txBody>
          <a:bodyPr>
            <a:normAutofit/>
          </a:bodyPr>
          <a:lstStyle/>
          <a:p>
            <a:pPr marL="0" indent="0" algn="ctr">
              <a:buNone/>
            </a:pPr>
            <a:r>
              <a:rPr lang="en-US" sz="3600" dirty="0">
                <a:solidFill>
                  <a:srgbClr val="FF0000"/>
                </a:solidFill>
              </a:rPr>
              <a:t>The implementation of inclusive education policies </a:t>
            </a:r>
            <a:r>
              <a:rPr lang="en-US" sz="3600" dirty="0"/>
              <a:t>positively impacts </a:t>
            </a:r>
            <a:r>
              <a:rPr lang="en-US" sz="3600" dirty="0">
                <a:solidFill>
                  <a:srgbClr val="FF0000"/>
                </a:solidFill>
              </a:rPr>
              <a:t>students with disabilities by fostering a sense of belonging, improving academic outcomes, and promoting social integration</a:t>
            </a:r>
          </a:p>
        </p:txBody>
      </p:sp>
    </p:spTree>
    <p:extLst>
      <p:ext uri="{BB962C8B-B14F-4D97-AF65-F5344CB8AC3E}">
        <p14:creationId xmlns:p14="http://schemas.microsoft.com/office/powerpoint/2010/main" val="804519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7300" b="1" dirty="0">
                <a:effectLst>
                  <a:outerShdw blurRad="38100" dist="38100" dir="2700000" algn="tl">
                    <a:srgbClr val="000000">
                      <a:alpha val="43137"/>
                    </a:srgbClr>
                  </a:outerShdw>
                </a:effectLst>
              </a:rPr>
              <a:t>Body </a:t>
            </a:r>
            <a:r>
              <a:rPr lang="en-US" sz="7300" b="1" dirty="0" smtClean="0">
                <a:effectLst>
                  <a:outerShdw blurRad="38100" dist="38100" dir="2700000" algn="tl">
                    <a:srgbClr val="000000">
                      <a:alpha val="43137"/>
                    </a:srgbClr>
                  </a:outerShdw>
                </a:effectLst>
              </a:rPr>
              <a:t>Paragraph</a:t>
            </a:r>
            <a:r>
              <a:rPr lang="en-US" b="1" dirty="0"/>
              <a:t/>
            </a:r>
            <a:br>
              <a:rPr lang="en-US" b="1" dirty="0"/>
            </a:br>
            <a:endParaRPr lang="en-US" dirty="0"/>
          </a:p>
        </p:txBody>
      </p:sp>
      <p:sp>
        <p:nvSpPr>
          <p:cNvPr id="3" name="Content Placeholder 2"/>
          <p:cNvSpPr>
            <a:spLocks noGrp="1"/>
          </p:cNvSpPr>
          <p:nvPr>
            <p:ph idx="1"/>
          </p:nvPr>
        </p:nvSpPr>
        <p:spPr>
          <a:xfrm>
            <a:off x="239151" y="1825625"/>
            <a:ext cx="11507371" cy="4351338"/>
          </a:xfrm>
        </p:spPr>
        <p:txBody>
          <a:bodyPr>
            <a:normAutofit/>
          </a:bodyPr>
          <a:lstStyle/>
          <a:p>
            <a:pPr algn="just"/>
            <a:r>
              <a:rPr lang="en-US" sz="3600" b="1" dirty="0">
                <a:solidFill>
                  <a:srgbClr val="FF0000"/>
                </a:solidFill>
                <a:effectLst>
                  <a:outerShdw blurRad="38100" dist="38100" dir="2700000" algn="tl">
                    <a:srgbClr val="000000">
                      <a:alpha val="43137"/>
                    </a:srgbClr>
                  </a:outerShdw>
                </a:effectLst>
              </a:rPr>
              <a:t>Each supporting point </a:t>
            </a:r>
            <a:r>
              <a:rPr lang="en-US" sz="3600" dirty="0"/>
              <a:t>you make needs its own body paragraph. Although the five-paragraph essay is typically considered the “standard” essay length, </a:t>
            </a:r>
            <a:endParaRPr lang="en-US" sz="3600" dirty="0" smtClean="0"/>
          </a:p>
          <a:p>
            <a:pPr algn="just"/>
            <a:r>
              <a:rPr lang="en-US" sz="3600" dirty="0" smtClean="0"/>
              <a:t>you </a:t>
            </a:r>
            <a:r>
              <a:rPr lang="en-US" sz="3600" dirty="0"/>
              <a:t>might need a six-paragraph or longer essay to </a:t>
            </a:r>
            <a:r>
              <a:rPr lang="en-US" sz="3600" b="1" dirty="0">
                <a:solidFill>
                  <a:srgbClr val="FF0000"/>
                </a:solidFill>
                <a:effectLst>
                  <a:outerShdw blurRad="38100" dist="38100" dir="2700000" algn="tl">
                    <a:srgbClr val="000000">
                      <a:alpha val="43137"/>
                    </a:srgbClr>
                  </a:outerShdw>
                </a:effectLst>
              </a:rPr>
              <a:t>thoroughly communicate your thesis statement. </a:t>
            </a:r>
          </a:p>
        </p:txBody>
      </p:sp>
    </p:spTree>
    <p:extLst>
      <p:ext uri="{BB962C8B-B14F-4D97-AF65-F5344CB8AC3E}">
        <p14:creationId xmlns:p14="http://schemas.microsoft.com/office/powerpoint/2010/main" val="26887180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1182"/>
            <a:ext cx="10515600" cy="5515781"/>
          </a:xfrm>
        </p:spPr>
        <p:txBody>
          <a:bodyPr>
            <a:normAutofit/>
          </a:bodyPr>
          <a:lstStyle/>
          <a:p>
            <a:pPr algn="just"/>
            <a:r>
              <a:rPr lang="en-US" sz="4000" dirty="0"/>
              <a:t>Use transition words and sentences to transition between body paragraphs. </a:t>
            </a:r>
            <a:endParaRPr lang="en-US" sz="4000" dirty="0" smtClean="0"/>
          </a:p>
          <a:p>
            <a:pPr algn="just"/>
            <a:r>
              <a:rPr lang="en-US" sz="4000" dirty="0" smtClean="0"/>
              <a:t>Transition </a:t>
            </a:r>
            <a:r>
              <a:rPr lang="en-US" sz="4000" dirty="0"/>
              <a:t>words and sentences are the phrases that express the relationship between two paragraphs, </a:t>
            </a:r>
            <a:r>
              <a:rPr lang="en-US" sz="4000" b="1" dirty="0">
                <a:solidFill>
                  <a:srgbClr val="FFC000"/>
                </a:solidFill>
                <a:effectLst>
                  <a:outerShdw blurRad="38100" dist="38100" dir="2700000" algn="tl">
                    <a:srgbClr val="000000">
                      <a:alpha val="43137"/>
                    </a:srgbClr>
                  </a:outerShdw>
                </a:effectLst>
              </a:rPr>
              <a:t>signaling to the reader </a:t>
            </a:r>
            <a:r>
              <a:rPr lang="en-US" sz="4000" b="1" i="1" dirty="0">
                <a:solidFill>
                  <a:srgbClr val="FFC000"/>
                </a:solidFill>
                <a:effectLst>
                  <a:outerShdw blurRad="38100" dist="38100" dir="2700000" algn="tl">
                    <a:srgbClr val="000000">
                      <a:alpha val="43137"/>
                    </a:srgbClr>
                  </a:outerShdw>
                </a:effectLst>
              </a:rPr>
              <a:t>why</a:t>
            </a:r>
            <a:r>
              <a:rPr lang="en-US" sz="4000" b="1" dirty="0">
                <a:solidFill>
                  <a:srgbClr val="FFC000"/>
                </a:solidFill>
                <a:effectLst>
                  <a:outerShdw blurRad="38100" dist="38100" dir="2700000" algn="tl">
                    <a:srgbClr val="000000">
                      <a:alpha val="43137"/>
                    </a:srgbClr>
                  </a:outerShdw>
                </a:effectLst>
              </a:rPr>
              <a:t> you’re making a specific point and </a:t>
            </a:r>
            <a:r>
              <a:rPr lang="en-US" sz="4000" b="1" i="1" dirty="0">
                <a:solidFill>
                  <a:srgbClr val="FFC000"/>
                </a:solidFill>
                <a:effectLst>
                  <a:outerShdw blurRad="38100" dist="38100" dir="2700000" algn="tl">
                    <a:srgbClr val="000000">
                      <a:alpha val="43137"/>
                    </a:srgbClr>
                  </a:outerShdw>
                </a:effectLst>
              </a:rPr>
              <a:t>how</a:t>
            </a:r>
            <a:r>
              <a:rPr lang="en-US" sz="4000" b="1" dirty="0">
                <a:solidFill>
                  <a:srgbClr val="FFC000"/>
                </a:solidFill>
                <a:effectLst>
                  <a:outerShdw blurRad="38100" dist="38100" dir="2700000" algn="tl">
                    <a:srgbClr val="000000">
                      <a:alpha val="43137"/>
                    </a:srgbClr>
                  </a:outerShdw>
                </a:effectLst>
              </a:rPr>
              <a:t> that point fits into your overall work.</a:t>
            </a:r>
          </a:p>
        </p:txBody>
      </p:sp>
    </p:spTree>
    <p:extLst>
      <p:ext uri="{BB962C8B-B14F-4D97-AF65-F5344CB8AC3E}">
        <p14:creationId xmlns:p14="http://schemas.microsoft.com/office/powerpoint/2010/main" val="1794355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2440" y="798683"/>
            <a:ext cx="10515600" cy="4351338"/>
          </a:xfrm>
        </p:spPr>
        <p:txBody>
          <a:bodyPr>
            <a:normAutofit/>
          </a:bodyPr>
          <a:lstStyle/>
          <a:p>
            <a:r>
              <a:rPr lang="en-US" sz="4400" dirty="0"/>
              <a:t>In your last body paragraph, you’ll need to transition to your conclusion. That doesn’t mean you </a:t>
            </a:r>
            <a:r>
              <a:rPr lang="en-US" sz="4400" dirty="0">
                <a:solidFill>
                  <a:srgbClr val="FF0000"/>
                </a:solidFill>
              </a:rPr>
              <a:t>should start </a:t>
            </a:r>
            <a:r>
              <a:rPr lang="en-US" sz="4400" dirty="0" smtClean="0">
                <a:solidFill>
                  <a:srgbClr val="FF0000"/>
                </a:solidFill>
              </a:rPr>
              <a:t>summarizing </a:t>
            </a:r>
            <a:r>
              <a:rPr lang="en-US" sz="4400" dirty="0" smtClean="0"/>
              <a:t>here—give </a:t>
            </a:r>
            <a:r>
              <a:rPr lang="en-US" sz="4400" dirty="0"/>
              <a:t>your final body paragraph as much insight and detail as you gave your previous body paragraphs.</a:t>
            </a:r>
          </a:p>
        </p:txBody>
      </p:sp>
    </p:spTree>
    <p:extLst>
      <p:ext uri="{BB962C8B-B14F-4D97-AF65-F5344CB8AC3E}">
        <p14:creationId xmlns:p14="http://schemas.microsoft.com/office/powerpoint/2010/main" val="29032961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8682"/>
            <a:ext cx="10515600" cy="1325563"/>
          </a:xfrm>
        </p:spPr>
        <p:txBody>
          <a:bodyPr>
            <a:normAutofit fontScale="90000"/>
          </a:bodyPr>
          <a:lstStyle/>
          <a:p>
            <a:pPr algn="ctr"/>
            <a:r>
              <a:rPr lang="en-US" sz="6700" b="1" dirty="0">
                <a:effectLst>
                  <a:outerShdw blurRad="38100" dist="38100" dir="2700000" algn="tl">
                    <a:srgbClr val="000000">
                      <a:alpha val="43137"/>
                    </a:srgbClr>
                  </a:outerShdw>
                </a:effectLst>
              </a:rPr>
              <a:t>Conclusion</a:t>
            </a:r>
            <a:r>
              <a:rPr lang="en-US" b="1" dirty="0"/>
              <a:t/>
            </a:r>
            <a:br>
              <a:rPr lang="en-US" b="1" dirty="0"/>
            </a:br>
            <a:endParaRPr lang="en-US" dirty="0"/>
          </a:p>
        </p:txBody>
      </p:sp>
      <p:sp>
        <p:nvSpPr>
          <p:cNvPr id="3" name="Content Placeholder 2"/>
          <p:cNvSpPr>
            <a:spLocks noGrp="1"/>
          </p:cNvSpPr>
          <p:nvPr>
            <p:ph idx="1"/>
          </p:nvPr>
        </p:nvSpPr>
        <p:spPr>
          <a:xfrm>
            <a:off x="154745" y="1825625"/>
            <a:ext cx="11844997" cy="4351338"/>
          </a:xfrm>
        </p:spPr>
        <p:txBody>
          <a:bodyPr/>
          <a:lstStyle/>
          <a:p>
            <a:pPr algn="just"/>
            <a:r>
              <a:rPr lang="en-US" sz="3600" dirty="0"/>
              <a:t>In your conclusion, </a:t>
            </a:r>
            <a:r>
              <a:rPr lang="en-US" sz="3600" dirty="0">
                <a:solidFill>
                  <a:srgbClr val="FF0000"/>
                </a:solidFill>
              </a:rPr>
              <a:t>you restate your thesis statement and summarize </a:t>
            </a:r>
            <a:r>
              <a:rPr lang="en-US" sz="3600" dirty="0"/>
              <a:t>the points you made in your body paragraphs. </a:t>
            </a:r>
            <a:endParaRPr lang="en-US" sz="3600" dirty="0" smtClean="0"/>
          </a:p>
          <a:p>
            <a:pPr algn="just"/>
            <a:r>
              <a:rPr lang="en-US" sz="3600" dirty="0" smtClean="0"/>
              <a:t>It </a:t>
            </a:r>
            <a:r>
              <a:rPr lang="en-US" sz="3600" dirty="0"/>
              <a:t>should neatly tie up </a:t>
            </a:r>
            <a:r>
              <a:rPr lang="en-US" sz="3600" b="1" dirty="0">
                <a:solidFill>
                  <a:srgbClr val="FF0000"/>
                </a:solidFill>
                <a:effectLst>
                  <a:outerShdw blurRad="38100" dist="38100" dir="2700000" algn="tl">
                    <a:srgbClr val="000000">
                      <a:alpha val="43137"/>
                    </a:srgbClr>
                  </a:outerShdw>
                </a:effectLst>
              </a:rPr>
              <a:t>any loose ends and answer </a:t>
            </a:r>
            <a:r>
              <a:rPr lang="en-US" sz="3600" dirty="0"/>
              <a:t>any lingering questions the reader may have.</a:t>
            </a:r>
            <a:r>
              <a:rPr lang="en-US" dirty="0"/>
              <a:t> </a:t>
            </a:r>
          </a:p>
        </p:txBody>
      </p:sp>
    </p:spTree>
    <p:extLst>
      <p:ext uri="{BB962C8B-B14F-4D97-AF65-F5344CB8AC3E}">
        <p14:creationId xmlns:p14="http://schemas.microsoft.com/office/powerpoint/2010/main" val="2260073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7625" y="111907"/>
            <a:ext cx="11016175" cy="1325563"/>
          </a:xfrm>
        </p:spPr>
        <p:txBody>
          <a:bodyPr>
            <a:normAutofit fontScale="90000"/>
          </a:bodyPr>
          <a:lstStyle/>
          <a:p>
            <a:pPr algn="ctr"/>
            <a:r>
              <a:rPr lang="en-US" sz="7300" b="1" dirty="0">
                <a:effectLst>
                  <a:outerShdw blurRad="38100" dist="38100" dir="2700000" algn="tl">
                    <a:srgbClr val="000000">
                      <a:alpha val="43137"/>
                    </a:srgbClr>
                  </a:outerShdw>
                </a:effectLst>
              </a:rPr>
              <a:t>How do you write an </a:t>
            </a:r>
            <a:r>
              <a:rPr lang="en-US" sz="7300" b="1" dirty="0" smtClean="0">
                <a:effectLst>
                  <a:outerShdw blurRad="38100" dist="38100" dir="2700000" algn="tl">
                    <a:srgbClr val="000000">
                      <a:alpha val="43137"/>
                    </a:srgbClr>
                  </a:outerShdw>
                </a:effectLst>
              </a:rPr>
              <a:t>essay</a:t>
            </a:r>
            <a:r>
              <a:rPr lang="en-US" sz="7300" b="1" dirty="0">
                <a:effectLst>
                  <a:outerShdw blurRad="38100" dist="38100" dir="2700000" algn="tl">
                    <a:srgbClr val="000000">
                      <a:alpha val="43137"/>
                    </a:srgbClr>
                  </a:outerShdw>
                </a:effectLst>
              </a:rPr>
              <a:t>?</a:t>
            </a:r>
            <a:r>
              <a:rPr lang="en-US" b="1" dirty="0"/>
              <a:t/>
            </a:r>
            <a:br>
              <a:rPr lang="en-US" b="1" dirty="0"/>
            </a:br>
            <a:endParaRPr lang="en-US" dirty="0"/>
          </a:p>
        </p:txBody>
      </p:sp>
      <p:sp>
        <p:nvSpPr>
          <p:cNvPr id="3" name="Content Placeholder 2"/>
          <p:cNvSpPr>
            <a:spLocks noGrp="1"/>
          </p:cNvSpPr>
          <p:nvPr>
            <p:ph idx="1"/>
          </p:nvPr>
        </p:nvSpPr>
        <p:spPr>
          <a:xfrm>
            <a:off x="182880" y="1744394"/>
            <a:ext cx="11859065" cy="4937760"/>
          </a:xfrm>
        </p:spPr>
        <p:txBody>
          <a:bodyPr/>
          <a:lstStyle/>
          <a:p>
            <a:pPr marL="0" indent="0">
              <a:buNone/>
            </a:pPr>
            <a:r>
              <a:rPr lang="en-US" sz="3600" dirty="0"/>
              <a:t>The basic steps for how to write an essay are: </a:t>
            </a:r>
          </a:p>
          <a:p>
            <a:r>
              <a:rPr lang="en-US" sz="3600" dirty="0"/>
              <a:t>Generate ideas and pick a type of essay to write. </a:t>
            </a:r>
          </a:p>
          <a:p>
            <a:r>
              <a:rPr lang="en-US" sz="3600" dirty="0"/>
              <a:t>Outline your essay paragraph by paragraph. </a:t>
            </a:r>
          </a:p>
          <a:p>
            <a:r>
              <a:rPr lang="en-US" sz="3600" dirty="0"/>
              <a:t>Write a rough first draft without worrying about details like word choice or grammar.</a:t>
            </a:r>
          </a:p>
          <a:p>
            <a:r>
              <a:rPr lang="en-US" sz="3600" dirty="0"/>
              <a:t>Edit your rough draft, and revise and fix the details.</a:t>
            </a:r>
          </a:p>
          <a:p>
            <a:r>
              <a:rPr lang="en-US" sz="3600" dirty="0"/>
              <a:t>Review your essay for typos, mistakes, and any other problems.</a:t>
            </a:r>
          </a:p>
          <a:p>
            <a:endParaRPr lang="en-US" dirty="0"/>
          </a:p>
        </p:txBody>
      </p:sp>
    </p:spTree>
    <p:extLst>
      <p:ext uri="{BB962C8B-B14F-4D97-AF65-F5344CB8AC3E}">
        <p14:creationId xmlns:p14="http://schemas.microsoft.com/office/powerpoint/2010/main" val="16773976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C000"/>
          </a:solidFill>
        </p:spPr>
        <p:txBody>
          <a:bodyPr>
            <a:normAutofit/>
          </a:bodyPr>
          <a:lstStyle/>
          <a:p>
            <a:pPr algn="ctr"/>
            <a:r>
              <a:rPr lang="en-US" sz="6600" b="1" dirty="0" smtClean="0">
                <a:effectLst>
                  <a:outerShdw blurRad="38100" dist="38100" dir="2700000" algn="tl">
                    <a:srgbClr val="000000">
                      <a:alpha val="43137"/>
                    </a:srgbClr>
                  </a:outerShdw>
                </a:effectLst>
              </a:rPr>
              <a:t>Types of Essay </a:t>
            </a:r>
            <a:endParaRPr lang="en-US" sz="6600" b="1" dirty="0">
              <a:effectLst>
                <a:outerShdw blurRad="38100" dist="38100" dir="2700000" algn="tl">
                  <a:srgbClr val="000000">
                    <a:alpha val="43137"/>
                  </a:srgbClr>
                </a:outerShdw>
              </a:effectLs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8438379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716462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C000"/>
          </a:solidFill>
        </p:spPr>
        <p:txBody>
          <a:bodyPr>
            <a:normAutofit/>
          </a:bodyPr>
          <a:lstStyle/>
          <a:p>
            <a:pPr algn="ctr"/>
            <a:r>
              <a:rPr lang="en-US" sz="6600" b="1" dirty="0" smtClean="0">
                <a:effectLst>
                  <a:outerShdw blurRad="38100" dist="38100" dir="2700000" algn="tl">
                    <a:srgbClr val="000000">
                      <a:alpha val="43137"/>
                    </a:srgbClr>
                  </a:outerShdw>
                </a:effectLst>
              </a:rPr>
              <a:t>Types of Essay </a:t>
            </a:r>
            <a:endParaRPr lang="en-US" sz="6600" b="1" dirty="0">
              <a:effectLst>
                <a:outerShdw blurRad="38100" dist="38100" dir="2700000" algn="tl">
                  <a:srgbClr val="000000">
                    <a:alpha val="43137"/>
                  </a:srgbClr>
                </a:outerShdw>
              </a:effectLs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7444063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164023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000" b="1" dirty="0">
                <a:effectLst>
                  <a:outerShdw blurRad="38100" dist="38100" dir="2700000" algn="tl">
                    <a:srgbClr val="000000">
                      <a:alpha val="43137"/>
                    </a:srgbClr>
                  </a:outerShdw>
                </a:effectLst>
              </a:rPr>
              <a:t>Expository Essays</a:t>
            </a:r>
            <a:r>
              <a:rPr lang="en-US" b="1" dirty="0"/>
              <a:t/>
            </a:r>
            <a:br>
              <a:rPr lang="en-US" b="1" dirty="0"/>
            </a:br>
            <a:endParaRPr lang="en-US" dirty="0"/>
          </a:p>
        </p:txBody>
      </p:sp>
      <p:sp>
        <p:nvSpPr>
          <p:cNvPr id="3" name="Content Placeholder 2"/>
          <p:cNvSpPr>
            <a:spLocks noGrp="1"/>
          </p:cNvSpPr>
          <p:nvPr>
            <p:ph idx="1"/>
          </p:nvPr>
        </p:nvSpPr>
        <p:spPr>
          <a:xfrm>
            <a:off x="126609" y="1223888"/>
            <a:ext cx="11352628" cy="5634112"/>
          </a:xfrm>
        </p:spPr>
        <p:txBody>
          <a:bodyPr>
            <a:noAutofit/>
          </a:bodyPr>
          <a:lstStyle/>
          <a:p>
            <a:pPr algn="just"/>
            <a:r>
              <a:rPr lang="en-US" sz="3600" dirty="0"/>
              <a:t>The expository essay is a genre of essay that requires the student to </a:t>
            </a:r>
            <a:endParaRPr lang="en-US" sz="3600" dirty="0" smtClean="0"/>
          </a:p>
          <a:p>
            <a:pPr algn="just"/>
            <a:r>
              <a:rPr lang="en-US" sz="3600" dirty="0">
                <a:solidFill>
                  <a:srgbClr val="FFC000"/>
                </a:solidFill>
              </a:rPr>
              <a:t>I</a:t>
            </a:r>
            <a:r>
              <a:rPr lang="en-US" sz="3600" dirty="0" smtClean="0">
                <a:solidFill>
                  <a:srgbClr val="FFC000"/>
                </a:solidFill>
              </a:rPr>
              <a:t>nvestigate </a:t>
            </a:r>
            <a:r>
              <a:rPr lang="en-US" sz="3600" dirty="0">
                <a:solidFill>
                  <a:srgbClr val="FFC000"/>
                </a:solidFill>
              </a:rPr>
              <a:t>an idea</a:t>
            </a:r>
            <a:r>
              <a:rPr lang="en-US" sz="3600" dirty="0"/>
              <a:t>, </a:t>
            </a:r>
            <a:endParaRPr lang="en-US" sz="3600" dirty="0" smtClean="0"/>
          </a:p>
          <a:p>
            <a:pPr algn="just"/>
            <a:r>
              <a:rPr lang="en-US" sz="3600" dirty="0">
                <a:solidFill>
                  <a:srgbClr val="92D050"/>
                </a:solidFill>
              </a:rPr>
              <a:t>E</a:t>
            </a:r>
            <a:r>
              <a:rPr lang="en-US" sz="3600" dirty="0" smtClean="0">
                <a:solidFill>
                  <a:srgbClr val="92D050"/>
                </a:solidFill>
              </a:rPr>
              <a:t>valuate evidence</a:t>
            </a:r>
            <a:r>
              <a:rPr lang="en-US" sz="3600" dirty="0" smtClean="0"/>
              <a:t>,</a:t>
            </a:r>
          </a:p>
          <a:p>
            <a:pPr algn="just"/>
            <a:r>
              <a:rPr lang="en-US" sz="3600" dirty="0">
                <a:solidFill>
                  <a:srgbClr val="FF0000"/>
                </a:solidFill>
              </a:rPr>
              <a:t>E</a:t>
            </a:r>
            <a:r>
              <a:rPr lang="en-US" sz="3600" dirty="0" smtClean="0">
                <a:solidFill>
                  <a:srgbClr val="FF0000"/>
                </a:solidFill>
              </a:rPr>
              <a:t>xpound </a:t>
            </a:r>
            <a:r>
              <a:rPr lang="en-US" sz="3600" dirty="0">
                <a:solidFill>
                  <a:srgbClr val="FF0000"/>
                </a:solidFill>
              </a:rPr>
              <a:t>on the idea, </a:t>
            </a:r>
            <a:endParaRPr lang="en-US" sz="3600" dirty="0" smtClean="0">
              <a:solidFill>
                <a:srgbClr val="FF0000"/>
              </a:solidFill>
            </a:endParaRPr>
          </a:p>
          <a:p>
            <a:pPr algn="just"/>
            <a:r>
              <a:rPr lang="en-US" sz="3600" dirty="0" smtClean="0"/>
              <a:t>and </a:t>
            </a:r>
            <a:r>
              <a:rPr lang="en-US" sz="3600" dirty="0"/>
              <a:t>set forth an argument concerning that idea in a clear and concise manner. </a:t>
            </a:r>
          </a:p>
          <a:p>
            <a:pPr algn="just"/>
            <a:r>
              <a:rPr lang="en-US" sz="3600" dirty="0" smtClean="0"/>
              <a:t>This </a:t>
            </a:r>
            <a:r>
              <a:rPr lang="en-US" sz="3600" dirty="0"/>
              <a:t>can be accomplished through comparison and contrast, definition, example, the analysis of cause and effect, </a:t>
            </a:r>
            <a:r>
              <a:rPr lang="en-US" sz="3600" dirty="0" err="1" smtClean="0"/>
              <a:t>etc</a:t>
            </a:r>
            <a:endParaRPr lang="en-US" sz="3600" dirty="0" smtClean="0"/>
          </a:p>
          <a:p>
            <a:pPr algn="just"/>
            <a:r>
              <a:rPr lang="en-US" sz="3600" dirty="0"/>
              <a:t>Expository essays rely on different structures to communicate their positions, like compare and contrast, process essays, and analyzing cause and effect. </a:t>
            </a:r>
          </a:p>
        </p:txBody>
      </p:sp>
    </p:spTree>
    <p:extLst>
      <p:ext uri="{BB962C8B-B14F-4D97-AF65-F5344CB8AC3E}">
        <p14:creationId xmlns:p14="http://schemas.microsoft.com/office/powerpoint/2010/main" val="31485226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1591" y="111907"/>
            <a:ext cx="10515600" cy="1325563"/>
          </a:xfrm>
          <a:solidFill>
            <a:schemeClr val="accent2">
              <a:lumMod val="20000"/>
              <a:lumOff val="80000"/>
            </a:schemeClr>
          </a:solidFill>
        </p:spPr>
        <p:txBody>
          <a:bodyPr>
            <a:normAutofit/>
          </a:bodyPr>
          <a:lstStyle/>
          <a:p>
            <a:r>
              <a:rPr lang="en-US" sz="6000" b="1" dirty="0" smtClean="0"/>
              <a:t>Examples of Expository Essay  </a:t>
            </a:r>
            <a:endParaRPr lang="en-US" sz="6000" b="1" dirty="0"/>
          </a:p>
        </p:txBody>
      </p:sp>
      <p:sp>
        <p:nvSpPr>
          <p:cNvPr id="3" name="Content Placeholder 2"/>
          <p:cNvSpPr>
            <a:spLocks noGrp="1"/>
          </p:cNvSpPr>
          <p:nvPr>
            <p:ph idx="1"/>
          </p:nvPr>
        </p:nvSpPr>
        <p:spPr>
          <a:xfrm>
            <a:off x="140677" y="1437470"/>
            <a:ext cx="12051323" cy="5272819"/>
          </a:xfrm>
        </p:spPr>
        <p:txBody>
          <a:bodyPr>
            <a:normAutofit/>
          </a:bodyPr>
          <a:lstStyle/>
          <a:p>
            <a:pPr algn="ctr"/>
            <a:r>
              <a:rPr lang="en-US" sz="3600" dirty="0"/>
              <a:t>Impact of Artificial Intelligence on </a:t>
            </a:r>
            <a:r>
              <a:rPr lang="en-US" sz="3600" dirty="0" smtClean="0"/>
              <a:t>health sector </a:t>
            </a:r>
          </a:p>
          <a:p>
            <a:pPr algn="ctr"/>
            <a:r>
              <a:rPr lang="en-US" sz="3600" dirty="0" smtClean="0"/>
              <a:t>Effect </a:t>
            </a:r>
            <a:r>
              <a:rPr lang="en-US" sz="3600" dirty="0"/>
              <a:t>of Social Media </a:t>
            </a:r>
            <a:r>
              <a:rPr lang="en-US" sz="3600" dirty="0" smtClean="0"/>
              <a:t>on youth </a:t>
            </a:r>
          </a:p>
          <a:p>
            <a:pPr algn="ctr"/>
            <a:r>
              <a:rPr lang="en-US" sz="3600" dirty="0" smtClean="0"/>
              <a:t>Importance </a:t>
            </a:r>
            <a:r>
              <a:rPr lang="en-US" sz="3600" dirty="0"/>
              <a:t>of </a:t>
            </a:r>
            <a:r>
              <a:rPr lang="en-US" sz="3600" dirty="0" smtClean="0"/>
              <a:t>green </a:t>
            </a:r>
            <a:r>
              <a:rPr lang="en-US" sz="3600" dirty="0"/>
              <a:t>Energy </a:t>
            </a:r>
            <a:r>
              <a:rPr lang="en-US" sz="3600" dirty="0" smtClean="0"/>
              <a:t>for Developing countries  </a:t>
            </a:r>
            <a:endParaRPr lang="en-US" sz="3600" dirty="0"/>
          </a:p>
        </p:txBody>
      </p:sp>
    </p:spTree>
    <p:extLst>
      <p:ext uri="{BB962C8B-B14F-4D97-AF65-F5344CB8AC3E}">
        <p14:creationId xmlns:p14="http://schemas.microsoft.com/office/powerpoint/2010/main" val="26059558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7300" b="1" dirty="0" smtClean="0">
                <a:effectLst>
                  <a:outerShdw blurRad="38100" dist="38100" dir="2700000" algn="tl">
                    <a:srgbClr val="000000">
                      <a:alpha val="43137"/>
                    </a:srgbClr>
                  </a:outerShdw>
                </a:effectLst>
              </a:rPr>
              <a:t>Definition essays</a:t>
            </a:r>
            <a:r>
              <a:rPr lang="en-US" b="1" dirty="0" smtClean="0"/>
              <a:t/>
            </a:r>
            <a:br>
              <a:rPr lang="en-US" b="1" dirty="0" smtClean="0"/>
            </a:br>
            <a:endParaRPr lang="en-US" dirty="0"/>
          </a:p>
        </p:txBody>
      </p:sp>
      <p:sp>
        <p:nvSpPr>
          <p:cNvPr id="3" name="Content Placeholder 2"/>
          <p:cNvSpPr>
            <a:spLocks noGrp="1"/>
          </p:cNvSpPr>
          <p:nvPr>
            <p:ph idx="1"/>
          </p:nvPr>
        </p:nvSpPr>
        <p:spPr>
          <a:xfrm>
            <a:off x="0" y="1533378"/>
            <a:ext cx="12192000" cy="5176911"/>
          </a:xfrm>
        </p:spPr>
        <p:txBody>
          <a:bodyPr>
            <a:noAutofit/>
          </a:bodyPr>
          <a:lstStyle/>
          <a:p>
            <a:pPr algn="just"/>
            <a:r>
              <a:rPr lang="en-US" sz="4000" dirty="0"/>
              <a:t>A definition essay defines its subject by presenting clear facts about it. </a:t>
            </a:r>
            <a:endParaRPr lang="en-US" sz="4000" dirty="0" smtClean="0"/>
          </a:p>
          <a:p>
            <a:pPr algn="just"/>
            <a:r>
              <a:rPr lang="en-US" sz="4000" dirty="0" smtClean="0"/>
              <a:t>Your </a:t>
            </a:r>
            <a:r>
              <a:rPr lang="en-US" sz="4000" dirty="0"/>
              <a:t>definition essay might challenge commonly repeated myths about a historical event by presenting firsthand accounts of the event from </a:t>
            </a:r>
            <a:r>
              <a:rPr lang="en-US" sz="4000" b="1" dirty="0">
                <a:solidFill>
                  <a:srgbClr val="FFC000"/>
                </a:solidFill>
                <a:effectLst>
                  <a:outerShdw blurRad="38100" dist="38100" dir="2700000" algn="tl">
                    <a:srgbClr val="000000">
                      <a:alpha val="43137"/>
                    </a:srgbClr>
                  </a:outerShdw>
                </a:effectLst>
              </a:rPr>
              <a:t>primary sources</a:t>
            </a:r>
            <a:r>
              <a:rPr lang="en-US" sz="4000" b="1" dirty="0"/>
              <a:t> </a:t>
            </a:r>
            <a:r>
              <a:rPr lang="en-US" sz="4000" dirty="0"/>
              <a:t>and </a:t>
            </a:r>
            <a:r>
              <a:rPr lang="en-US" sz="4000" b="1" dirty="0">
                <a:solidFill>
                  <a:srgbClr val="FF0000"/>
                </a:solidFill>
                <a:effectLst>
                  <a:outerShdw blurRad="38100" dist="38100" dir="2700000" algn="tl">
                    <a:srgbClr val="000000">
                      <a:alpha val="43137"/>
                    </a:srgbClr>
                  </a:outerShdw>
                </a:effectLst>
              </a:rPr>
              <a:t>discussing relevant social, political, and economic trends </a:t>
            </a:r>
            <a:r>
              <a:rPr lang="en-US" sz="4000" dirty="0"/>
              <a:t>that impacted the event and influenced perceptions of it.</a:t>
            </a:r>
            <a:r>
              <a:rPr lang="en-US" sz="3600" dirty="0"/>
              <a:t> </a:t>
            </a:r>
          </a:p>
        </p:txBody>
      </p:sp>
    </p:spTree>
    <p:extLst>
      <p:ext uri="{BB962C8B-B14F-4D97-AF65-F5344CB8AC3E}">
        <p14:creationId xmlns:p14="http://schemas.microsoft.com/office/powerpoint/2010/main" val="37132762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0505" y="0"/>
            <a:ext cx="11353800" cy="1325563"/>
          </a:xfrm>
          <a:solidFill>
            <a:schemeClr val="accent1">
              <a:lumMod val="60000"/>
              <a:lumOff val="40000"/>
            </a:schemeClr>
          </a:solidFill>
        </p:spPr>
        <p:txBody>
          <a:bodyPr>
            <a:normAutofit/>
          </a:bodyPr>
          <a:lstStyle/>
          <a:p>
            <a:pPr algn="ctr"/>
            <a:r>
              <a:rPr lang="en-US" sz="6000" b="1" dirty="0" smtClean="0">
                <a:effectLst>
                  <a:outerShdw blurRad="38100" dist="38100" dir="2700000" algn="tl">
                    <a:srgbClr val="000000">
                      <a:alpha val="43137"/>
                    </a:srgbClr>
                  </a:outerShdw>
                </a:effectLst>
              </a:rPr>
              <a:t>Examples of Definition Essays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sz="3600" dirty="0" smtClean="0"/>
              <a:t>Beauty</a:t>
            </a:r>
          </a:p>
          <a:p>
            <a:r>
              <a:rPr lang="en-US" sz="3600" dirty="0"/>
              <a:t>Freedom</a:t>
            </a:r>
          </a:p>
          <a:p>
            <a:r>
              <a:rPr lang="en-US" sz="3600" dirty="0"/>
              <a:t>Feminism</a:t>
            </a:r>
          </a:p>
          <a:p>
            <a:r>
              <a:rPr lang="en-US" sz="3600" dirty="0"/>
              <a:t>Democracy</a:t>
            </a:r>
          </a:p>
          <a:p>
            <a:r>
              <a:rPr lang="en-US" sz="3600" dirty="0"/>
              <a:t>Privacy in the Digital Age</a:t>
            </a:r>
          </a:p>
          <a:p>
            <a:r>
              <a:rPr lang="en-US" sz="3600" dirty="0"/>
              <a:t>Cyberbullying</a:t>
            </a:r>
          </a:p>
          <a:p>
            <a:r>
              <a:rPr lang="en-US" sz="3600" dirty="0"/>
              <a:t>Self-Care</a:t>
            </a:r>
          </a:p>
          <a:p>
            <a:pPr marL="0" indent="0">
              <a:buNone/>
            </a:pPr>
            <a:endParaRPr lang="en-US" dirty="0"/>
          </a:p>
        </p:txBody>
      </p:sp>
    </p:spTree>
    <p:extLst>
      <p:ext uri="{BB962C8B-B14F-4D97-AF65-F5344CB8AC3E}">
        <p14:creationId xmlns:p14="http://schemas.microsoft.com/office/powerpoint/2010/main" val="39521732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4110"/>
            <a:ext cx="10515600" cy="1325563"/>
          </a:xfrm>
          <a:solidFill>
            <a:srgbClr val="FFC000"/>
          </a:solidFill>
        </p:spPr>
        <p:txBody>
          <a:bodyPr>
            <a:normAutofit fontScale="90000"/>
          </a:bodyPr>
          <a:lstStyle/>
          <a:p>
            <a:pPr algn="ctr"/>
            <a:r>
              <a:rPr lang="en-US" sz="7300" b="1" dirty="0" smtClean="0">
                <a:effectLst>
                  <a:outerShdw blurRad="38100" dist="38100" dir="2700000" algn="tl">
                    <a:srgbClr val="000000">
                      <a:alpha val="43137"/>
                    </a:srgbClr>
                  </a:outerShdw>
                </a:effectLst>
              </a:rPr>
              <a:t>Process Essays</a:t>
            </a:r>
            <a:r>
              <a:rPr lang="en-US" b="1" dirty="0" smtClean="0"/>
              <a:t/>
            </a:r>
            <a:br>
              <a:rPr lang="en-US" b="1" dirty="0" smtClean="0"/>
            </a:br>
            <a:endParaRPr lang="en-US" dirty="0"/>
          </a:p>
        </p:txBody>
      </p:sp>
      <p:sp>
        <p:nvSpPr>
          <p:cNvPr id="3" name="Content Placeholder 2"/>
          <p:cNvSpPr>
            <a:spLocks noGrp="1"/>
          </p:cNvSpPr>
          <p:nvPr>
            <p:ph idx="1"/>
          </p:nvPr>
        </p:nvSpPr>
        <p:spPr>
          <a:xfrm>
            <a:off x="154745" y="1479673"/>
            <a:ext cx="12037255" cy="5244684"/>
          </a:xfrm>
        </p:spPr>
        <p:txBody>
          <a:bodyPr>
            <a:normAutofit/>
          </a:bodyPr>
          <a:lstStyle/>
          <a:p>
            <a:pPr algn="just"/>
            <a:r>
              <a:rPr lang="en-US" sz="3600" dirty="0"/>
              <a:t>A process essay walks the reader through the steps involved in completing a task. </a:t>
            </a:r>
            <a:endParaRPr lang="en-US" sz="3600" dirty="0" smtClean="0"/>
          </a:p>
          <a:p>
            <a:pPr algn="just"/>
            <a:r>
              <a:rPr lang="en-US" sz="3600" dirty="0" smtClean="0"/>
              <a:t>A </a:t>
            </a:r>
            <a:r>
              <a:rPr lang="en-US" sz="3600" dirty="0"/>
              <a:t>recipe has a lot in common with a process essay. A process essay’s opening paragraph explains the process that will be covered and the end result of following the directions. </a:t>
            </a:r>
            <a:endParaRPr lang="en-US" sz="3600" dirty="0" smtClean="0"/>
          </a:p>
          <a:p>
            <a:pPr algn="just"/>
            <a:r>
              <a:rPr lang="en-US" sz="3600" dirty="0" smtClean="0"/>
              <a:t>Each </a:t>
            </a:r>
            <a:r>
              <a:rPr lang="en-US" sz="3600" dirty="0"/>
              <a:t>body paragraph is a step in the process, then the conclusion explains what the reader should have achieved by completing each step.</a:t>
            </a:r>
          </a:p>
        </p:txBody>
      </p:sp>
    </p:spTree>
    <p:extLst>
      <p:ext uri="{BB962C8B-B14F-4D97-AF65-F5344CB8AC3E}">
        <p14:creationId xmlns:p14="http://schemas.microsoft.com/office/powerpoint/2010/main" val="3023676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a:solidFill>
            <a:schemeClr val="accent3">
              <a:lumMod val="20000"/>
              <a:lumOff val="80000"/>
            </a:schemeClr>
          </a:solidFill>
        </p:spPr>
        <p:txBody>
          <a:bodyPr>
            <a:normAutofit/>
          </a:bodyPr>
          <a:lstStyle/>
          <a:p>
            <a:pPr algn="ctr"/>
            <a:r>
              <a:rPr lang="en-US" sz="6600" b="1" dirty="0" smtClean="0">
                <a:effectLst>
                  <a:outerShdw blurRad="38100" dist="38100" dir="2700000" algn="tl">
                    <a:srgbClr val="000000">
                      <a:alpha val="43137"/>
                    </a:srgbClr>
                  </a:outerShdw>
                </a:effectLst>
              </a:rPr>
              <a:t>Example of Process Essay </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54745" y="1325563"/>
            <a:ext cx="11887200" cy="4851400"/>
          </a:xfrm>
        </p:spPr>
        <p:txBody>
          <a:bodyPr/>
          <a:lstStyle/>
          <a:p>
            <a:pPr algn="ctr"/>
            <a:r>
              <a:rPr lang="en-US" sz="3600" b="1" dirty="0" smtClean="0"/>
              <a:t>Conduct </a:t>
            </a:r>
            <a:r>
              <a:rPr lang="en-US" sz="3600" b="1" dirty="0"/>
              <a:t>a Effective Code Review</a:t>
            </a:r>
            <a:endParaRPr lang="en-US" sz="3600" dirty="0"/>
          </a:p>
          <a:p>
            <a:pPr algn="ctr"/>
            <a:r>
              <a:rPr lang="en-US" sz="3600" b="1" dirty="0" smtClean="0"/>
              <a:t>Perform </a:t>
            </a:r>
            <a:r>
              <a:rPr lang="en-US" sz="3600" b="1" dirty="0"/>
              <a:t>Load Testing on a Web Service</a:t>
            </a:r>
            <a:endParaRPr lang="en-US" sz="3600" dirty="0"/>
          </a:p>
          <a:p>
            <a:pPr algn="ctr"/>
            <a:r>
              <a:rPr lang="en-US" sz="3600" b="1" dirty="0" smtClean="0"/>
              <a:t>Perform </a:t>
            </a:r>
            <a:r>
              <a:rPr lang="en-US" sz="3600" b="1" dirty="0"/>
              <a:t>a Content Audit for a Website</a:t>
            </a:r>
            <a:endParaRPr lang="en-US" sz="3600" dirty="0"/>
          </a:p>
          <a:p>
            <a:pPr algn="ctr"/>
            <a:r>
              <a:rPr lang="en-US" sz="3600" b="1" dirty="0" smtClean="0"/>
              <a:t>Using </a:t>
            </a:r>
            <a:r>
              <a:rPr lang="en-US" sz="3600" b="1" dirty="0"/>
              <a:t>Focus Groups for Market Research</a:t>
            </a:r>
            <a:endParaRPr lang="en-US" sz="3600" dirty="0"/>
          </a:p>
          <a:p>
            <a:endParaRPr lang="en-US" dirty="0"/>
          </a:p>
        </p:txBody>
      </p:sp>
    </p:spTree>
    <p:extLst>
      <p:ext uri="{BB962C8B-B14F-4D97-AF65-F5344CB8AC3E}">
        <p14:creationId xmlns:p14="http://schemas.microsoft.com/office/powerpoint/2010/main" val="10009809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1929403" cy="1325563"/>
          </a:xfrm>
          <a:solidFill>
            <a:schemeClr val="accent2">
              <a:lumMod val="40000"/>
              <a:lumOff val="60000"/>
            </a:schemeClr>
          </a:solidFill>
        </p:spPr>
        <p:txBody>
          <a:bodyPr>
            <a:normAutofit/>
          </a:bodyPr>
          <a:lstStyle/>
          <a:p>
            <a:pPr algn="ctr"/>
            <a:r>
              <a:rPr lang="en-US" sz="6600" b="1" dirty="0" smtClean="0">
                <a:effectLst>
                  <a:outerShdw blurRad="38100" dist="38100" dir="2700000" algn="tl">
                    <a:srgbClr val="000000">
                      <a:alpha val="43137"/>
                    </a:srgbClr>
                  </a:outerShdw>
                </a:effectLst>
              </a:rPr>
              <a:t>Description Essays </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54745" y="1325563"/>
            <a:ext cx="11915335" cy="5532437"/>
          </a:xfrm>
        </p:spPr>
        <p:txBody>
          <a:bodyPr>
            <a:normAutofit/>
          </a:bodyPr>
          <a:lstStyle/>
          <a:p>
            <a:pPr algn="just"/>
            <a:r>
              <a:rPr lang="en-US" sz="3600" dirty="0"/>
              <a:t>The type of essay which provides </a:t>
            </a:r>
            <a:r>
              <a:rPr lang="en-US" sz="3600" b="1" dirty="0">
                <a:solidFill>
                  <a:srgbClr val="FF0000"/>
                </a:solidFill>
                <a:effectLst>
                  <a:outerShdw blurRad="38100" dist="38100" dir="2700000" algn="tl">
                    <a:srgbClr val="000000">
                      <a:alpha val="43137"/>
                    </a:srgbClr>
                  </a:outerShdw>
                </a:effectLst>
              </a:rPr>
              <a:t>detailed, vivid and sensory description </a:t>
            </a:r>
            <a:r>
              <a:rPr lang="en-US" sz="3600" dirty="0"/>
              <a:t>of person, place, object, event. </a:t>
            </a:r>
            <a:endParaRPr lang="en-US" sz="3600" dirty="0" smtClean="0"/>
          </a:p>
          <a:p>
            <a:pPr algn="just"/>
            <a:r>
              <a:rPr lang="en-US" sz="3600" dirty="0" smtClean="0"/>
              <a:t>In </a:t>
            </a:r>
            <a:r>
              <a:rPr lang="en-US" sz="3600" dirty="0"/>
              <a:t>this essay, focus remains on the description of subject. It involves the use of descriptive adjectives such as </a:t>
            </a:r>
            <a:r>
              <a:rPr lang="en-US" sz="3600" dirty="0">
                <a:solidFill>
                  <a:srgbClr val="FF0000"/>
                </a:solidFill>
              </a:rPr>
              <a:t>beautiful, pristine </a:t>
            </a:r>
            <a:r>
              <a:rPr lang="en-US" sz="3600" dirty="0" err="1">
                <a:solidFill>
                  <a:srgbClr val="FF0000"/>
                </a:solidFill>
              </a:rPr>
              <a:t>etc</a:t>
            </a:r>
            <a:r>
              <a:rPr lang="en-US" sz="3600" dirty="0">
                <a:solidFill>
                  <a:srgbClr val="FF0000"/>
                </a:solidFill>
              </a:rPr>
              <a:t> </a:t>
            </a:r>
            <a:r>
              <a:rPr lang="en-US" sz="3600" dirty="0"/>
              <a:t>and action verbs such as </a:t>
            </a:r>
            <a:r>
              <a:rPr lang="en-US" sz="3600" u="sng" dirty="0">
                <a:solidFill>
                  <a:srgbClr val="FF0000"/>
                </a:solidFill>
              </a:rPr>
              <a:t>whisper, emerge, conquer. </a:t>
            </a:r>
            <a:endParaRPr lang="en-US" sz="3600" u="sng" dirty="0" smtClean="0">
              <a:solidFill>
                <a:srgbClr val="FF0000"/>
              </a:solidFill>
            </a:endParaRPr>
          </a:p>
          <a:p>
            <a:pPr algn="just"/>
            <a:r>
              <a:rPr lang="en-US" sz="3600" dirty="0" smtClean="0"/>
              <a:t>It </a:t>
            </a:r>
            <a:r>
              <a:rPr lang="en-US" sz="3600" dirty="0"/>
              <a:t>also involves the </a:t>
            </a:r>
            <a:r>
              <a:rPr lang="en-US" sz="4000" b="1" u="sng" dirty="0">
                <a:solidFill>
                  <a:schemeClr val="accent1">
                    <a:lumMod val="60000"/>
                    <a:lumOff val="40000"/>
                  </a:schemeClr>
                </a:solidFill>
              </a:rPr>
              <a:t>spatial use of language</a:t>
            </a:r>
            <a:r>
              <a:rPr lang="en-US" sz="3600" dirty="0"/>
              <a:t>. </a:t>
            </a:r>
            <a:endParaRPr lang="en-US" sz="3600" dirty="0" smtClean="0"/>
          </a:p>
          <a:p>
            <a:pPr algn="just"/>
            <a:r>
              <a:rPr lang="en-US" sz="3600" dirty="0" smtClean="0"/>
              <a:t>Descriptive </a:t>
            </a:r>
            <a:r>
              <a:rPr lang="en-US" sz="3600" dirty="0"/>
              <a:t>essays can be written on topics such as: Favorite Personality, Historical Site, Memorable Farewell Dinner</a:t>
            </a:r>
          </a:p>
        </p:txBody>
      </p:sp>
    </p:spTree>
    <p:extLst>
      <p:ext uri="{BB962C8B-B14F-4D97-AF65-F5344CB8AC3E}">
        <p14:creationId xmlns:p14="http://schemas.microsoft.com/office/powerpoint/2010/main" val="11837996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chemeClr val="accent1">
              <a:lumMod val="20000"/>
              <a:lumOff val="80000"/>
            </a:schemeClr>
          </a:solidFill>
        </p:spPr>
        <p:txBody>
          <a:bodyPr>
            <a:normAutofit/>
          </a:bodyPr>
          <a:lstStyle/>
          <a:p>
            <a:pPr algn="ctr"/>
            <a:r>
              <a:rPr lang="en-US" sz="6600" b="1" dirty="0">
                <a:effectLst>
                  <a:outerShdw blurRad="38100" dist="38100" dir="2700000" algn="tl">
                    <a:srgbClr val="000000">
                      <a:alpha val="43137"/>
                    </a:srgbClr>
                  </a:outerShdw>
                </a:effectLst>
              </a:rPr>
              <a:t>Spatial Language</a:t>
            </a:r>
          </a:p>
        </p:txBody>
      </p:sp>
      <p:sp>
        <p:nvSpPr>
          <p:cNvPr id="3" name="Content Placeholder 2"/>
          <p:cNvSpPr>
            <a:spLocks noGrp="1"/>
          </p:cNvSpPr>
          <p:nvPr>
            <p:ph idx="1"/>
          </p:nvPr>
        </p:nvSpPr>
        <p:spPr>
          <a:xfrm>
            <a:off x="0" y="1325562"/>
            <a:ext cx="12192000" cy="5532437"/>
          </a:xfrm>
        </p:spPr>
        <p:txBody>
          <a:bodyPr>
            <a:noAutofit/>
          </a:bodyPr>
          <a:lstStyle/>
          <a:p>
            <a:pPr algn="just"/>
            <a:r>
              <a:rPr lang="en-US" sz="3200" dirty="0"/>
              <a:t>our capacity to </a:t>
            </a:r>
            <a:r>
              <a:rPr lang="en-US" sz="3200" b="1" dirty="0">
                <a:solidFill>
                  <a:srgbClr val="FF0000"/>
                </a:solidFill>
              </a:rPr>
              <a:t>represent objects, motions, and their spatial relationships through </a:t>
            </a:r>
            <a:r>
              <a:rPr lang="en-US" sz="3200" b="1" dirty="0" smtClean="0">
                <a:solidFill>
                  <a:srgbClr val="FF0000"/>
                </a:solidFill>
              </a:rPr>
              <a:t>language</a:t>
            </a:r>
            <a:r>
              <a:rPr lang="en-US" sz="3200" dirty="0" smtClean="0"/>
              <a:t>.</a:t>
            </a:r>
          </a:p>
          <a:p>
            <a:pPr algn="just"/>
            <a:r>
              <a:rPr lang="en-US" sz="3200" dirty="0"/>
              <a:t>The fundamental linguistic tools for talking about </a:t>
            </a:r>
            <a:r>
              <a:rPr lang="en-US" sz="3200" dirty="0">
                <a:solidFill>
                  <a:srgbClr val="002060"/>
                </a:solidFill>
              </a:rPr>
              <a:t>space include expressions for objects, motions, and spatial relationships</a:t>
            </a:r>
            <a:r>
              <a:rPr lang="en-US" sz="3200" dirty="0" smtClean="0">
                <a:solidFill>
                  <a:srgbClr val="002060"/>
                </a:solidFill>
              </a:rPr>
              <a:t>.</a:t>
            </a:r>
          </a:p>
          <a:p>
            <a:pPr algn="just"/>
            <a:r>
              <a:rPr lang="en-US" sz="3200" dirty="0"/>
              <a:t>In English, there are approximately 85 spatial prepositions, which encode basic spatial </a:t>
            </a:r>
            <a:r>
              <a:rPr lang="en-US" sz="3200" dirty="0" smtClean="0"/>
              <a:t>relationships. </a:t>
            </a:r>
            <a:r>
              <a:rPr lang="en-US" sz="3200" dirty="0"/>
              <a:t>(including, “in,” “on,” “under,” and “between”)</a:t>
            </a:r>
            <a:endParaRPr lang="en-US" sz="3200" dirty="0" smtClean="0"/>
          </a:p>
          <a:p>
            <a:pPr algn="just"/>
            <a:r>
              <a:rPr lang="en-US" sz="3200" dirty="0"/>
              <a:t>By assembling these basic spatial terms in various combinations, we can construct an infinite set of descriptions that encode detailed spatial relationships (e.g., “in the middle of the front edge of the table”).</a:t>
            </a:r>
            <a:endParaRPr lang="en-US" sz="3200" dirty="0" smtClean="0"/>
          </a:p>
        </p:txBody>
      </p:sp>
    </p:spTree>
    <p:extLst>
      <p:ext uri="{BB962C8B-B14F-4D97-AF65-F5344CB8AC3E}">
        <p14:creationId xmlns:p14="http://schemas.microsoft.com/office/powerpoint/2010/main" val="18762758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434905"/>
          </a:xfrm>
          <a:solidFill>
            <a:schemeClr val="accent1">
              <a:lumMod val="20000"/>
              <a:lumOff val="80000"/>
            </a:schemeClr>
          </a:solidFill>
        </p:spPr>
        <p:txBody>
          <a:bodyPr>
            <a:normAutofit fontScale="90000"/>
          </a:bodyPr>
          <a:lstStyle/>
          <a:p>
            <a:pPr algn="ctr"/>
            <a:r>
              <a:rPr lang="en-US" b="1" dirty="0" smtClean="0"/>
              <a:t/>
            </a:r>
            <a:br>
              <a:rPr lang="en-US" b="1" dirty="0" smtClean="0"/>
            </a:br>
            <a:r>
              <a:rPr lang="en-US" sz="7300" b="1" dirty="0">
                <a:effectLst>
                  <a:outerShdw blurRad="38100" dist="38100" dir="2700000" algn="tl">
                    <a:srgbClr val="000000">
                      <a:alpha val="43137"/>
                    </a:srgbClr>
                  </a:outerShdw>
                </a:effectLst>
              </a:rPr>
              <a:t>Compare-and-contrast essays</a:t>
            </a:r>
            <a:endParaRPr lang="en-US" sz="7300" dirty="0"/>
          </a:p>
        </p:txBody>
      </p:sp>
      <p:sp>
        <p:nvSpPr>
          <p:cNvPr id="3" name="Content Placeholder 2"/>
          <p:cNvSpPr>
            <a:spLocks noGrp="1"/>
          </p:cNvSpPr>
          <p:nvPr>
            <p:ph idx="1"/>
          </p:nvPr>
        </p:nvSpPr>
        <p:spPr>
          <a:xfrm>
            <a:off x="0" y="1434905"/>
            <a:ext cx="12192000" cy="5317588"/>
          </a:xfrm>
        </p:spPr>
        <p:txBody>
          <a:bodyPr>
            <a:noAutofit/>
          </a:bodyPr>
          <a:lstStyle/>
          <a:p>
            <a:r>
              <a:rPr lang="en-US" sz="3600" dirty="0"/>
              <a:t>In a compare-and-contrast essay, you support your thesis statement by examining the differences and similarities between the sources cited</a:t>
            </a:r>
            <a:r>
              <a:rPr lang="en-US" sz="3600" dirty="0" smtClean="0"/>
              <a:t>.</a:t>
            </a:r>
          </a:p>
          <a:p>
            <a:r>
              <a:rPr lang="en-US" sz="3600" dirty="0" smtClean="0"/>
              <a:t> </a:t>
            </a:r>
            <a:r>
              <a:rPr lang="en-US" sz="3600" dirty="0"/>
              <a:t>For example, you might write an essay comparing and contrasting the dress code at your school with the dress codes at two neighboring schools. </a:t>
            </a:r>
            <a:endParaRPr lang="en-US" sz="3600" dirty="0" smtClean="0"/>
          </a:p>
          <a:p>
            <a:r>
              <a:rPr lang="en-US" sz="3600" dirty="0" smtClean="0"/>
              <a:t>Your </a:t>
            </a:r>
            <a:r>
              <a:rPr lang="en-US" sz="3600" dirty="0"/>
              <a:t>body paragraphs might examine the differences in which articles of clothing are and aren’t allowed as well as the overall preciseness of each dress code’s language and the amount of “gray area” present in each policy. </a:t>
            </a:r>
          </a:p>
        </p:txBody>
      </p:sp>
    </p:spTree>
    <p:extLst>
      <p:ext uri="{BB962C8B-B14F-4D97-AF65-F5344CB8AC3E}">
        <p14:creationId xmlns:p14="http://schemas.microsoft.com/office/powerpoint/2010/main" val="21667014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chemeClr val="accent2">
              <a:lumMod val="40000"/>
              <a:lumOff val="60000"/>
            </a:schemeClr>
          </a:solidFill>
        </p:spPr>
        <p:txBody>
          <a:bodyPr>
            <a:normAutofit/>
          </a:bodyPr>
          <a:lstStyle/>
          <a:p>
            <a:pPr lvl="0" algn="ctr"/>
            <a:r>
              <a:rPr lang="en-US" sz="6600" b="1" dirty="0" smtClean="0">
                <a:effectLst>
                  <a:outerShdw blurRad="38100" dist="38100" dir="2700000" algn="tl">
                    <a:srgbClr val="000000">
                      <a:alpha val="43137"/>
                    </a:srgbClr>
                  </a:outerShdw>
                </a:effectLst>
              </a:rPr>
              <a:t>Narrative Essay </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325562"/>
            <a:ext cx="12192000" cy="5532437"/>
          </a:xfrm>
        </p:spPr>
        <p:txBody>
          <a:bodyPr>
            <a:normAutofit/>
          </a:bodyPr>
          <a:lstStyle/>
          <a:p>
            <a:pPr algn="just"/>
            <a:r>
              <a:rPr lang="en-US" sz="3600" dirty="0"/>
              <a:t>The type of essay which is used to tell a story or recount personal experience is known as narrative essay. </a:t>
            </a:r>
            <a:endParaRPr lang="en-US" sz="3600" dirty="0" smtClean="0"/>
          </a:p>
          <a:p>
            <a:pPr algn="just"/>
            <a:r>
              <a:rPr lang="en-US" sz="3600" dirty="0" smtClean="0"/>
              <a:t>This </a:t>
            </a:r>
            <a:r>
              <a:rPr lang="en-US" sz="3600" dirty="0"/>
              <a:t>essay is recognized for developing creativity and imagination among writers. </a:t>
            </a:r>
            <a:endParaRPr lang="en-US" sz="3600" dirty="0" smtClean="0"/>
          </a:p>
          <a:p>
            <a:pPr algn="just"/>
            <a:r>
              <a:rPr lang="en-US" sz="3600" dirty="0" smtClean="0"/>
              <a:t>It </a:t>
            </a:r>
            <a:r>
              <a:rPr lang="en-US" sz="3600" dirty="0"/>
              <a:t>involves the use of literary techniques such as dialogues, analogies, metaphors, alliteration etc. </a:t>
            </a:r>
            <a:endParaRPr lang="en-US" sz="3600" dirty="0" smtClean="0"/>
          </a:p>
        </p:txBody>
      </p:sp>
    </p:spTree>
    <p:extLst>
      <p:ext uri="{BB962C8B-B14F-4D97-AF65-F5344CB8AC3E}">
        <p14:creationId xmlns:p14="http://schemas.microsoft.com/office/powerpoint/2010/main" val="4519242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a:solidFill>
            <a:schemeClr val="accent1">
              <a:lumMod val="20000"/>
              <a:lumOff val="80000"/>
            </a:schemeClr>
          </a:solidFill>
        </p:spPr>
        <p:txBody>
          <a:bodyPr>
            <a:normAutofit/>
          </a:bodyPr>
          <a:lstStyle/>
          <a:p>
            <a:pPr algn="ctr"/>
            <a:r>
              <a:rPr lang="en-US" sz="6600" b="1" dirty="0">
                <a:effectLst>
                  <a:outerShdw blurRad="38100" dist="38100" dir="2700000" algn="tl">
                    <a:srgbClr val="000000">
                      <a:alpha val="43137"/>
                    </a:srgbClr>
                  </a:outerShdw>
                </a:effectLst>
              </a:rPr>
              <a:t>Narrative Essay </a:t>
            </a:r>
          </a:p>
        </p:txBody>
      </p:sp>
      <p:sp>
        <p:nvSpPr>
          <p:cNvPr id="3" name="Content Placeholder 2"/>
          <p:cNvSpPr>
            <a:spLocks noGrp="1"/>
          </p:cNvSpPr>
          <p:nvPr>
            <p:ph idx="1"/>
          </p:nvPr>
        </p:nvSpPr>
        <p:spPr>
          <a:xfrm>
            <a:off x="0" y="1325562"/>
            <a:ext cx="12192000" cy="5532437"/>
          </a:xfrm>
        </p:spPr>
        <p:txBody>
          <a:bodyPr/>
          <a:lstStyle/>
          <a:p>
            <a:r>
              <a:rPr lang="en-US" sz="3600" dirty="0"/>
              <a:t>It is used to emotionally engage the readers, provide lessons learned from experience. </a:t>
            </a:r>
            <a:endParaRPr lang="en-US" sz="3600" dirty="0" smtClean="0"/>
          </a:p>
          <a:p>
            <a:r>
              <a:rPr lang="en-US" sz="3600" dirty="0" smtClean="0"/>
              <a:t>It </a:t>
            </a:r>
            <a:r>
              <a:rPr lang="en-US" sz="3600" dirty="0"/>
              <a:t>generally has a chronological structure. </a:t>
            </a:r>
            <a:endParaRPr lang="en-US" sz="3600" dirty="0" smtClean="0"/>
          </a:p>
          <a:p>
            <a:r>
              <a:rPr lang="en-US" sz="3600" dirty="0" smtClean="0"/>
              <a:t>Introduction </a:t>
            </a:r>
            <a:r>
              <a:rPr lang="en-US" sz="3600" dirty="0"/>
              <a:t>sets the scene, body paragraphs describe the events in order, conclusion reflects on the experience. </a:t>
            </a:r>
            <a:endParaRPr lang="en-US" sz="3600" dirty="0" smtClean="0"/>
          </a:p>
          <a:p>
            <a:r>
              <a:rPr lang="en-US" sz="3600" dirty="0" smtClean="0"/>
              <a:t>Narrative </a:t>
            </a:r>
            <a:r>
              <a:rPr lang="en-US" sz="3600" dirty="0"/>
              <a:t>can be written on topics such as</a:t>
            </a:r>
            <a:r>
              <a:rPr lang="en-US" sz="3600" dirty="0" smtClean="0"/>
              <a:t>:</a:t>
            </a:r>
          </a:p>
          <a:p>
            <a:r>
              <a:rPr lang="en-US" sz="3600" dirty="0"/>
              <a:t>My First Day at University, A Memorable Orientation Ceremony, A Trip that Changed My Life</a:t>
            </a:r>
          </a:p>
          <a:p>
            <a:endParaRPr lang="en-US" dirty="0"/>
          </a:p>
        </p:txBody>
      </p:sp>
    </p:spTree>
    <p:extLst>
      <p:ext uri="{BB962C8B-B14F-4D97-AF65-F5344CB8AC3E}">
        <p14:creationId xmlns:p14="http://schemas.microsoft.com/office/powerpoint/2010/main" val="41934915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a:solidFill>
            <a:srgbClr val="FFC000"/>
          </a:solidFill>
        </p:spPr>
        <p:txBody>
          <a:bodyPr>
            <a:normAutofit/>
          </a:bodyPr>
          <a:lstStyle/>
          <a:p>
            <a:pPr algn="ctr"/>
            <a:r>
              <a:rPr lang="en-US" sz="6600" b="1" dirty="0">
                <a:effectLst>
                  <a:outerShdw blurRad="38100" dist="38100" dir="2700000" algn="tl">
                    <a:srgbClr val="000000">
                      <a:alpha val="43137"/>
                    </a:srgbClr>
                  </a:outerShdw>
                </a:effectLst>
              </a:rPr>
              <a:t>Critical Essay</a:t>
            </a:r>
          </a:p>
        </p:txBody>
      </p:sp>
      <p:sp>
        <p:nvSpPr>
          <p:cNvPr id="3" name="Content Placeholder 2"/>
          <p:cNvSpPr>
            <a:spLocks noGrp="1"/>
          </p:cNvSpPr>
          <p:nvPr>
            <p:ph idx="1"/>
          </p:nvPr>
        </p:nvSpPr>
        <p:spPr>
          <a:xfrm>
            <a:off x="838200" y="1325563"/>
            <a:ext cx="10515600" cy="5398794"/>
          </a:xfrm>
        </p:spPr>
        <p:txBody>
          <a:bodyPr>
            <a:noAutofit/>
          </a:bodyPr>
          <a:lstStyle/>
          <a:p>
            <a:pPr algn="just"/>
            <a:r>
              <a:rPr lang="en-US" sz="3600" dirty="0"/>
              <a:t>Generally used within the domain of Arts &amp; </a:t>
            </a:r>
            <a:r>
              <a:rPr lang="en-US" sz="3600" dirty="0" smtClean="0"/>
              <a:t>Humanities</a:t>
            </a:r>
          </a:p>
          <a:p>
            <a:pPr algn="just"/>
            <a:r>
              <a:rPr lang="en-US" sz="3600" dirty="0" smtClean="0"/>
              <a:t>Used </a:t>
            </a:r>
            <a:r>
              <a:rPr lang="en-US" sz="3600" dirty="0"/>
              <a:t>to provide a critical analysis, explanation and evaluation of art, literature, concept, idea </a:t>
            </a:r>
            <a:r>
              <a:rPr lang="en-US" sz="3600" dirty="0" err="1" smtClean="0"/>
              <a:t>etc</a:t>
            </a:r>
            <a:endParaRPr lang="en-US" sz="3600" dirty="0" smtClean="0"/>
          </a:p>
          <a:p>
            <a:pPr algn="just"/>
            <a:r>
              <a:rPr lang="en-US" sz="3600" dirty="0" smtClean="0"/>
              <a:t>Readers </a:t>
            </a:r>
            <a:r>
              <a:rPr lang="en-US" sz="3600" dirty="0"/>
              <a:t>become aware of the strengths and weakness of a subject </a:t>
            </a:r>
            <a:r>
              <a:rPr lang="en-US" sz="3600" dirty="0" smtClean="0"/>
              <a:t>matter.</a:t>
            </a:r>
          </a:p>
          <a:p>
            <a:pPr algn="just"/>
            <a:r>
              <a:rPr lang="en-US" sz="3600" dirty="0" smtClean="0"/>
              <a:t>Used </a:t>
            </a:r>
            <a:r>
              <a:rPr lang="en-US" sz="3600" dirty="0"/>
              <a:t>for reviewing books, portraits, movies </a:t>
            </a:r>
            <a:r>
              <a:rPr lang="en-US" sz="3600" dirty="0" err="1" smtClean="0"/>
              <a:t>etc</a:t>
            </a:r>
            <a:endParaRPr lang="en-US" sz="3600" dirty="0" smtClean="0"/>
          </a:p>
          <a:p>
            <a:pPr algn="just"/>
            <a:r>
              <a:rPr lang="en-US" sz="3600" dirty="0" smtClean="0"/>
              <a:t>Introduction </a:t>
            </a:r>
            <a:r>
              <a:rPr lang="en-US" sz="3600" dirty="0"/>
              <a:t>has the thesis statement presenting the subject matter for analysis and evaluation</a:t>
            </a:r>
          </a:p>
        </p:txBody>
      </p:sp>
    </p:spTree>
    <p:extLst>
      <p:ext uri="{BB962C8B-B14F-4D97-AF65-F5344CB8AC3E}">
        <p14:creationId xmlns:p14="http://schemas.microsoft.com/office/powerpoint/2010/main" val="12929316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868"/>
            <a:ext cx="10515600" cy="1325563"/>
          </a:xfrm>
          <a:solidFill>
            <a:schemeClr val="accent1">
              <a:lumMod val="20000"/>
              <a:lumOff val="80000"/>
            </a:schemeClr>
          </a:solidFill>
        </p:spPr>
        <p:txBody>
          <a:bodyPr>
            <a:normAutofit fontScale="90000"/>
          </a:bodyPr>
          <a:lstStyle/>
          <a:p>
            <a:pPr algn="ctr"/>
            <a:r>
              <a:rPr lang="en-US" sz="6700" b="1" dirty="0" smtClean="0">
                <a:effectLst>
                  <a:outerShdw blurRad="38100" dist="38100" dir="2700000" algn="tl">
                    <a:srgbClr val="000000">
                      <a:alpha val="43137"/>
                    </a:srgbClr>
                  </a:outerShdw>
                </a:effectLst>
              </a:rPr>
              <a:t>Cause-and-effect essays</a:t>
            </a:r>
            <a:r>
              <a:rPr lang="en-US" b="1" dirty="0" smtClean="0"/>
              <a:t/>
            </a:r>
            <a:br>
              <a:rPr lang="en-US" b="1" dirty="0" smtClean="0"/>
            </a:br>
            <a:endParaRPr lang="en-US" dirty="0"/>
          </a:p>
        </p:txBody>
      </p:sp>
      <p:sp>
        <p:nvSpPr>
          <p:cNvPr id="3" name="Content Placeholder 2"/>
          <p:cNvSpPr>
            <a:spLocks noGrp="1"/>
          </p:cNvSpPr>
          <p:nvPr>
            <p:ph idx="1"/>
          </p:nvPr>
        </p:nvSpPr>
        <p:spPr>
          <a:xfrm>
            <a:off x="838200" y="1336431"/>
            <a:ext cx="10515600" cy="4840532"/>
          </a:xfrm>
        </p:spPr>
        <p:txBody>
          <a:bodyPr>
            <a:normAutofit/>
          </a:bodyPr>
          <a:lstStyle/>
          <a:p>
            <a:pPr algn="just"/>
            <a:r>
              <a:rPr lang="en-US" sz="3200" dirty="0"/>
              <a:t>As the name implies, a cause-and-effect essay gets into how specific events and/or actions caused others to occur. </a:t>
            </a:r>
            <a:endParaRPr lang="en-US" sz="3200" dirty="0" smtClean="0"/>
          </a:p>
          <a:p>
            <a:pPr algn="just"/>
            <a:r>
              <a:rPr lang="en-US" sz="3200" dirty="0" smtClean="0"/>
              <a:t>They </a:t>
            </a:r>
            <a:r>
              <a:rPr lang="en-US" sz="3200" dirty="0"/>
              <a:t>sometimes trace chains of events to explore why we find ourselves facing certain circumstances today. </a:t>
            </a:r>
            <a:endParaRPr lang="en-US" sz="3200" dirty="0" smtClean="0"/>
          </a:p>
          <a:p>
            <a:pPr algn="just"/>
            <a:r>
              <a:rPr lang="en-US" sz="3200" dirty="0" smtClean="0"/>
              <a:t>An </a:t>
            </a:r>
            <a:r>
              <a:rPr lang="en-US" sz="3200" dirty="0"/>
              <a:t>example of a cause-and-effect essay might be one tracking how shifting market trends over the past few decades impacted the industries in your region, creating the current local economy.</a:t>
            </a:r>
          </a:p>
        </p:txBody>
      </p:sp>
    </p:spTree>
    <p:extLst>
      <p:ext uri="{BB962C8B-B14F-4D97-AF65-F5344CB8AC3E}">
        <p14:creationId xmlns:p14="http://schemas.microsoft.com/office/powerpoint/2010/main" val="28474843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a:solidFill>
            <a:schemeClr val="accent2">
              <a:lumMod val="40000"/>
              <a:lumOff val="60000"/>
            </a:schemeClr>
          </a:solidFill>
        </p:spPr>
        <p:txBody>
          <a:bodyPr>
            <a:normAutofit/>
          </a:bodyPr>
          <a:lstStyle/>
          <a:p>
            <a:pPr algn="ctr"/>
            <a:r>
              <a:rPr lang="en-US" sz="6600" b="1" dirty="0">
                <a:effectLst>
                  <a:outerShdw blurRad="38100" dist="38100" dir="2700000" algn="tl">
                    <a:srgbClr val="000000">
                      <a:alpha val="43137"/>
                    </a:srgbClr>
                  </a:outerShdw>
                </a:effectLst>
              </a:rPr>
              <a:t>Argumentative Essay</a:t>
            </a:r>
          </a:p>
        </p:txBody>
      </p:sp>
      <p:sp>
        <p:nvSpPr>
          <p:cNvPr id="3" name="Content Placeholder 2"/>
          <p:cNvSpPr>
            <a:spLocks noGrp="1"/>
          </p:cNvSpPr>
          <p:nvPr>
            <p:ph idx="1"/>
          </p:nvPr>
        </p:nvSpPr>
        <p:spPr>
          <a:xfrm>
            <a:off x="98474" y="1325563"/>
            <a:ext cx="11901268" cy="5398794"/>
          </a:xfrm>
        </p:spPr>
        <p:txBody>
          <a:bodyPr>
            <a:noAutofit/>
          </a:bodyPr>
          <a:lstStyle/>
          <a:p>
            <a:r>
              <a:rPr lang="en-US" sz="3600" dirty="0"/>
              <a:t>Used to present an argument or claim on a specific </a:t>
            </a:r>
            <a:r>
              <a:rPr lang="en-US" sz="3600" dirty="0" smtClean="0"/>
              <a:t>point</a:t>
            </a:r>
          </a:p>
          <a:p>
            <a:r>
              <a:rPr lang="en-US" sz="3600" dirty="0" smtClean="0"/>
              <a:t>Relies </a:t>
            </a:r>
            <a:r>
              <a:rPr lang="en-US" sz="3600" dirty="0"/>
              <a:t>on facts instead of emotions to convince </a:t>
            </a:r>
            <a:r>
              <a:rPr lang="en-US" sz="3600" dirty="0" smtClean="0"/>
              <a:t>readers</a:t>
            </a:r>
          </a:p>
          <a:p>
            <a:r>
              <a:rPr lang="en-US" sz="3600" dirty="0" smtClean="0"/>
              <a:t>Main </a:t>
            </a:r>
            <a:r>
              <a:rPr lang="en-US" sz="3600" dirty="0"/>
              <a:t>purpose is to convince readers to agree or accept writer’s </a:t>
            </a:r>
            <a:r>
              <a:rPr lang="en-US" sz="3600" dirty="0" smtClean="0"/>
              <a:t>perspective</a:t>
            </a:r>
          </a:p>
          <a:p>
            <a:r>
              <a:rPr lang="en-US" sz="3600" dirty="0" smtClean="0"/>
              <a:t>Provides </a:t>
            </a:r>
            <a:r>
              <a:rPr lang="en-US" sz="3600" dirty="0"/>
              <a:t>a clear presentation of writer’s </a:t>
            </a:r>
            <a:r>
              <a:rPr lang="en-US" sz="3600" dirty="0" smtClean="0"/>
              <a:t>stance</a:t>
            </a:r>
          </a:p>
          <a:p>
            <a:r>
              <a:rPr lang="en-US" sz="3600" dirty="0" smtClean="0"/>
              <a:t>Comprehensive </a:t>
            </a:r>
            <a:r>
              <a:rPr lang="en-US" sz="3600" dirty="0"/>
              <a:t>analysis of counterarguments to strengthen writer’s </a:t>
            </a:r>
            <a:r>
              <a:rPr lang="en-US" sz="3600" dirty="0" smtClean="0"/>
              <a:t>viewpoint.</a:t>
            </a:r>
          </a:p>
          <a:p>
            <a:r>
              <a:rPr lang="en-US" sz="3600" dirty="0"/>
              <a:t>Includes citation from relevant </a:t>
            </a:r>
            <a:r>
              <a:rPr lang="en-US" sz="3600" dirty="0" smtClean="0"/>
              <a:t>sources</a:t>
            </a:r>
          </a:p>
          <a:p>
            <a:r>
              <a:rPr lang="en-US" sz="3600" dirty="0" smtClean="0"/>
              <a:t>May </a:t>
            </a:r>
            <a:r>
              <a:rPr lang="en-US" sz="3600" dirty="0"/>
              <a:t>include call to action (CTA) </a:t>
            </a:r>
          </a:p>
        </p:txBody>
      </p:sp>
    </p:spTree>
    <p:extLst>
      <p:ext uri="{BB962C8B-B14F-4D97-AF65-F5344CB8AC3E}">
        <p14:creationId xmlns:p14="http://schemas.microsoft.com/office/powerpoint/2010/main" val="34532497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92D050"/>
          </a:solidFill>
        </p:spPr>
        <p:txBody>
          <a:bodyPr>
            <a:normAutofit/>
          </a:bodyPr>
          <a:lstStyle/>
          <a:p>
            <a:pPr algn="ctr"/>
            <a:r>
              <a:rPr lang="en-US" sz="6600" b="1" dirty="0">
                <a:effectLst>
                  <a:outerShdw blurRad="38100" dist="38100" dir="2700000" algn="tl">
                    <a:srgbClr val="000000">
                      <a:alpha val="43137"/>
                    </a:srgbClr>
                  </a:outerShdw>
                </a:effectLst>
              </a:rPr>
              <a:t>Persuasive Essay </a:t>
            </a:r>
          </a:p>
        </p:txBody>
      </p:sp>
      <p:sp>
        <p:nvSpPr>
          <p:cNvPr id="3" name="Content Placeholder 2"/>
          <p:cNvSpPr>
            <a:spLocks noGrp="1"/>
          </p:cNvSpPr>
          <p:nvPr>
            <p:ph idx="1"/>
          </p:nvPr>
        </p:nvSpPr>
        <p:spPr/>
        <p:txBody>
          <a:bodyPr>
            <a:normAutofit/>
          </a:bodyPr>
          <a:lstStyle/>
          <a:p>
            <a:pPr marL="0" indent="0" algn="just">
              <a:buNone/>
            </a:pPr>
            <a:r>
              <a:rPr lang="en-US" sz="3600" dirty="0" smtClean="0"/>
              <a:t>Similar </a:t>
            </a:r>
            <a:r>
              <a:rPr lang="en-US" sz="3600" dirty="0"/>
              <a:t>to an Argumentative </a:t>
            </a:r>
            <a:r>
              <a:rPr lang="en-US" sz="3600" dirty="0" smtClean="0"/>
              <a:t>Essay</a:t>
            </a:r>
          </a:p>
          <a:p>
            <a:pPr marL="0" indent="0" algn="just">
              <a:buNone/>
            </a:pPr>
            <a:r>
              <a:rPr lang="en-US" sz="3600" dirty="0" smtClean="0"/>
              <a:t>Used </a:t>
            </a:r>
            <a:r>
              <a:rPr lang="en-US" sz="3600" dirty="0"/>
              <a:t>to persuade the readers to agree / accept writer’s viewpoint </a:t>
            </a:r>
            <a:r>
              <a:rPr lang="en-US" sz="3600" dirty="0" smtClean="0"/>
              <a:t>Persuasive </a:t>
            </a:r>
            <a:r>
              <a:rPr lang="en-US" sz="3600" dirty="0"/>
              <a:t>essay is one-side unlike an argumentative essay which also includes opposing views and </a:t>
            </a:r>
            <a:r>
              <a:rPr lang="en-US" sz="3600" dirty="0" smtClean="0"/>
              <a:t>perspectives</a:t>
            </a:r>
          </a:p>
          <a:p>
            <a:pPr marL="0" indent="0" algn="just">
              <a:buNone/>
            </a:pPr>
            <a:r>
              <a:rPr lang="en-US" sz="3600" dirty="0" smtClean="0"/>
              <a:t>The </a:t>
            </a:r>
            <a:r>
              <a:rPr lang="en-US" sz="3600" dirty="0"/>
              <a:t>main goal of the writer is to convince the readers through a variety of persuasive techniques </a:t>
            </a:r>
          </a:p>
        </p:txBody>
      </p:sp>
    </p:spTree>
    <p:extLst>
      <p:ext uri="{BB962C8B-B14F-4D97-AF65-F5344CB8AC3E}">
        <p14:creationId xmlns:p14="http://schemas.microsoft.com/office/powerpoint/2010/main" val="341225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2551</TotalTime>
  <Words>2488</Words>
  <Application>Microsoft Office PowerPoint</Application>
  <PresentationFormat>Widescreen</PresentationFormat>
  <Paragraphs>207</Paragraphs>
  <Slides>45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Algerian</vt:lpstr>
      <vt:lpstr>Arial</vt:lpstr>
      <vt:lpstr>Calibri</vt:lpstr>
      <vt:lpstr>Calibri Light</vt:lpstr>
      <vt:lpstr>Office Theme</vt:lpstr>
      <vt:lpstr>PowerPoint Presentation</vt:lpstr>
      <vt:lpstr>Thesis statement</vt:lpstr>
      <vt:lpstr>WHAT IS AN ESSAY </vt:lpstr>
      <vt:lpstr>Characteristics of an Essay </vt:lpstr>
      <vt:lpstr>Cohesion ½ </vt:lpstr>
      <vt:lpstr>Cohesion 2/2  </vt:lpstr>
      <vt:lpstr>Coherence</vt:lpstr>
      <vt:lpstr>Citations</vt:lpstr>
      <vt:lpstr>Facts and statistics</vt:lpstr>
      <vt:lpstr>Significance of Essay</vt:lpstr>
      <vt:lpstr>Communication Skills </vt:lpstr>
      <vt:lpstr>Evaluating Knowledge</vt:lpstr>
      <vt:lpstr>Develops Critical Thinking</vt:lpstr>
      <vt:lpstr>Develops Research Skills </vt:lpstr>
      <vt:lpstr>Continuous Learning </vt:lpstr>
      <vt:lpstr>Types of Writing </vt:lpstr>
      <vt:lpstr>Structure of an Essay </vt:lpstr>
      <vt:lpstr>How to structure an essay </vt:lpstr>
      <vt:lpstr>Introduction </vt:lpstr>
      <vt:lpstr>Introduction</vt:lpstr>
      <vt:lpstr>Intro......</vt:lpstr>
      <vt:lpstr>Thesis Statement</vt:lpstr>
      <vt:lpstr>Example of a Thesis Statement</vt:lpstr>
      <vt:lpstr>Body Paragraph </vt:lpstr>
      <vt:lpstr>PowerPoint Presentation</vt:lpstr>
      <vt:lpstr>PowerPoint Presentation</vt:lpstr>
      <vt:lpstr>Conclusion </vt:lpstr>
      <vt:lpstr>How do you write an essay? </vt:lpstr>
      <vt:lpstr>Types of Essay </vt:lpstr>
      <vt:lpstr>Types of Essay </vt:lpstr>
      <vt:lpstr>Expository Essays </vt:lpstr>
      <vt:lpstr>Examples of Expository Essay  </vt:lpstr>
      <vt:lpstr>Definition essays </vt:lpstr>
      <vt:lpstr>Examples of Definition Essays </vt:lpstr>
      <vt:lpstr>Process Essays </vt:lpstr>
      <vt:lpstr>Example of Process Essay </vt:lpstr>
      <vt:lpstr>Description Essays </vt:lpstr>
      <vt:lpstr>Spatial Language</vt:lpstr>
      <vt:lpstr> Compare-and-contrast essays</vt:lpstr>
      <vt:lpstr>Narrative Essay </vt:lpstr>
      <vt:lpstr>Narrative Essay </vt:lpstr>
      <vt:lpstr>Critical Essay</vt:lpstr>
      <vt:lpstr>Cause-and-effect essays </vt:lpstr>
      <vt:lpstr>Argumentative Essay</vt:lpstr>
      <vt:lpstr>Persuasive Essay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Tab &amp; Tech</dc:creator>
  <cp:lastModifiedBy>Tab &amp; Tech</cp:lastModifiedBy>
  <cp:revision>46</cp:revision>
  <dcterms:created xsi:type="dcterms:W3CDTF">2025-03-23T20:00:26Z</dcterms:created>
  <dcterms:modified xsi:type="dcterms:W3CDTF">2025-09-13T04:33:15Z</dcterms:modified>
</cp:coreProperties>
</file>