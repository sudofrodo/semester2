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7" r:id="rId2"/>
    <p:sldId id="311" r:id="rId3"/>
    <p:sldId id="288" r:id="rId4"/>
    <p:sldId id="258" r:id="rId5"/>
    <p:sldId id="312" r:id="rId6"/>
    <p:sldId id="260" r:id="rId7"/>
    <p:sldId id="286" r:id="rId8"/>
    <p:sldId id="261" r:id="rId9"/>
    <p:sldId id="266" r:id="rId10"/>
    <p:sldId id="296" r:id="rId11"/>
    <p:sldId id="297" r:id="rId12"/>
    <p:sldId id="298" r:id="rId13"/>
    <p:sldId id="299" r:id="rId14"/>
    <p:sldId id="300" r:id="rId15"/>
    <p:sldId id="301" r:id="rId16"/>
    <p:sldId id="303" r:id="rId17"/>
    <p:sldId id="264" r:id="rId18"/>
    <p:sldId id="289" r:id="rId19"/>
    <p:sldId id="295" r:id="rId20"/>
    <p:sldId id="290" r:id="rId21"/>
    <p:sldId id="292" r:id="rId22"/>
    <p:sldId id="293" r:id="rId23"/>
    <p:sldId id="304" r:id="rId24"/>
    <p:sldId id="305" r:id="rId25"/>
    <p:sldId id="306" r:id="rId26"/>
    <p:sldId id="265" r:id="rId27"/>
    <p:sldId id="268" r:id="rId28"/>
    <p:sldId id="269" r:id="rId29"/>
    <p:sldId id="270" r:id="rId30"/>
    <p:sldId id="271" r:id="rId31"/>
    <p:sldId id="272" r:id="rId32"/>
    <p:sldId id="273" r:id="rId33"/>
    <p:sldId id="274" r:id="rId34"/>
    <p:sldId id="275" r:id="rId35"/>
    <p:sldId id="276" r:id="rId36"/>
    <p:sldId id="277" r:id="rId37"/>
    <p:sldId id="307" r:id="rId38"/>
    <p:sldId id="267" r:id="rId39"/>
    <p:sldId id="278" r:id="rId40"/>
    <p:sldId id="279" r:id="rId41"/>
    <p:sldId id="280" r:id="rId42"/>
    <p:sldId id="308" r:id="rId43"/>
    <p:sldId id="281" r:id="rId44"/>
    <p:sldId id="282" r:id="rId45"/>
    <p:sldId id="284" r:id="rId46"/>
    <p:sldId id="31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577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926" autoAdjust="0"/>
  </p:normalViewPr>
  <p:slideViewPr>
    <p:cSldViewPr snapToGrid="0">
      <p:cViewPr varScale="1">
        <p:scale>
          <a:sx n="62" d="100"/>
          <a:sy n="62" d="100"/>
        </p:scale>
        <p:origin x="103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C7E73A-1100-4898-8B31-D17A3CC3271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56189AC1-554C-4885-8583-DCC80327A71A}">
      <dgm:prSet/>
      <dgm:spPr>
        <a:solidFill>
          <a:schemeClr val="accent2">
            <a:lumMod val="60000"/>
            <a:lumOff val="40000"/>
          </a:schemeClr>
        </a:solidFill>
      </dgm:spPr>
      <dgm:t>
        <a:bodyPr/>
        <a:lstStyle/>
        <a:p>
          <a:r>
            <a:rPr lang="en-US" smtClean="0"/>
            <a:t>Encourages creativity</a:t>
          </a:r>
          <a:endParaRPr lang="en-US"/>
        </a:p>
      </dgm:t>
    </dgm:pt>
    <dgm:pt modelId="{2CF4E316-E8D5-4585-9F95-50E23522A2EA}" type="parTrans" cxnId="{1666A30D-ABF9-45E7-8B80-756BA2D05ACF}">
      <dgm:prSet/>
      <dgm:spPr/>
      <dgm:t>
        <a:bodyPr/>
        <a:lstStyle/>
        <a:p>
          <a:endParaRPr lang="en-US"/>
        </a:p>
      </dgm:t>
    </dgm:pt>
    <dgm:pt modelId="{3B725E88-B5B1-4476-A9B1-2B38C209A6FD}" type="sibTrans" cxnId="{1666A30D-ABF9-45E7-8B80-756BA2D05ACF}">
      <dgm:prSet/>
      <dgm:spPr/>
      <dgm:t>
        <a:bodyPr/>
        <a:lstStyle/>
        <a:p>
          <a:endParaRPr lang="en-US"/>
        </a:p>
      </dgm:t>
    </dgm:pt>
    <dgm:pt modelId="{7B0E9E63-68DB-49A5-963B-702C992907BA}">
      <dgm:prSet/>
      <dgm:spPr>
        <a:solidFill>
          <a:schemeClr val="tx1">
            <a:lumMod val="75000"/>
            <a:lumOff val="25000"/>
          </a:schemeClr>
        </a:solidFill>
      </dgm:spPr>
      <dgm:t>
        <a:bodyPr/>
        <a:lstStyle/>
        <a:p>
          <a:r>
            <a:rPr lang="en-US" dirty="0" smtClean="0"/>
            <a:t>Identify gaps in logic </a:t>
          </a:r>
          <a:endParaRPr lang="en-US" dirty="0"/>
        </a:p>
      </dgm:t>
    </dgm:pt>
    <dgm:pt modelId="{6136B24B-4550-4B31-8885-2E135D54CB0F}" type="parTrans" cxnId="{49069C52-9647-42B9-9B21-12ACB31967C7}">
      <dgm:prSet/>
      <dgm:spPr/>
      <dgm:t>
        <a:bodyPr/>
        <a:lstStyle/>
        <a:p>
          <a:endParaRPr lang="en-US"/>
        </a:p>
      </dgm:t>
    </dgm:pt>
    <dgm:pt modelId="{C44ED9A8-6052-43FF-8193-17618284D07E}" type="sibTrans" cxnId="{49069C52-9647-42B9-9B21-12ACB31967C7}">
      <dgm:prSet/>
      <dgm:spPr/>
      <dgm:t>
        <a:bodyPr/>
        <a:lstStyle/>
        <a:p>
          <a:endParaRPr lang="en-US"/>
        </a:p>
      </dgm:t>
    </dgm:pt>
    <dgm:pt modelId="{39C932BF-C1F5-4F60-8AD0-1FA8EB29361C}">
      <dgm:prSet/>
      <dgm:spPr>
        <a:solidFill>
          <a:schemeClr val="bg1">
            <a:lumMod val="75000"/>
          </a:schemeClr>
        </a:solidFill>
      </dgm:spPr>
      <dgm:t>
        <a:bodyPr/>
        <a:lstStyle/>
        <a:p>
          <a:r>
            <a:rPr lang="en-US" dirty="0" smtClean="0"/>
            <a:t>A foundation for revision</a:t>
          </a:r>
          <a:endParaRPr lang="en-US" dirty="0"/>
        </a:p>
      </dgm:t>
    </dgm:pt>
    <dgm:pt modelId="{803FA551-17C9-478B-B319-C5185888518B}" type="parTrans" cxnId="{7E2A6C92-2FE4-4BA7-8F7E-FCCD68A9C498}">
      <dgm:prSet/>
      <dgm:spPr/>
      <dgm:t>
        <a:bodyPr/>
        <a:lstStyle/>
        <a:p>
          <a:endParaRPr lang="en-US"/>
        </a:p>
      </dgm:t>
    </dgm:pt>
    <dgm:pt modelId="{DDCFB1F2-EB6D-459A-B0BA-6125BB52DBFD}" type="sibTrans" cxnId="{7E2A6C92-2FE4-4BA7-8F7E-FCCD68A9C498}">
      <dgm:prSet/>
      <dgm:spPr/>
      <dgm:t>
        <a:bodyPr/>
        <a:lstStyle/>
        <a:p>
          <a:endParaRPr lang="en-US"/>
        </a:p>
      </dgm:t>
    </dgm:pt>
    <dgm:pt modelId="{544E3689-1D19-4310-ADB1-000E2F42BD57}" type="pres">
      <dgm:prSet presAssocID="{FEC7E73A-1100-4898-8B31-D17A3CC32718}" presName="diagram" presStyleCnt="0">
        <dgm:presLayoutVars>
          <dgm:dir/>
          <dgm:resizeHandles val="exact"/>
        </dgm:presLayoutVars>
      </dgm:prSet>
      <dgm:spPr/>
      <dgm:t>
        <a:bodyPr/>
        <a:lstStyle/>
        <a:p>
          <a:endParaRPr lang="en-US"/>
        </a:p>
      </dgm:t>
    </dgm:pt>
    <dgm:pt modelId="{46CA0714-4C37-4572-92FB-2E37AB6EE558}" type="pres">
      <dgm:prSet presAssocID="{7B0E9E63-68DB-49A5-963B-702C992907BA}" presName="node" presStyleLbl="node1" presStyleIdx="0" presStyleCnt="3" custLinFactNeighborX="-43335" custLinFactNeighborY="0">
        <dgm:presLayoutVars>
          <dgm:bulletEnabled val="1"/>
        </dgm:presLayoutVars>
      </dgm:prSet>
      <dgm:spPr>
        <a:prstGeom prst="ellipse">
          <a:avLst/>
        </a:prstGeom>
      </dgm:spPr>
      <dgm:t>
        <a:bodyPr/>
        <a:lstStyle/>
        <a:p>
          <a:endParaRPr lang="en-US"/>
        </a:p>
      </dgm:t>
    </dgm:pt>
    <dgm:pt modelId="{0BEA175C-DD34-4F3C-9B47-9E80FDD6E90E}" type="pres">
      <dgm:prSet presAssocID="{C44ED9A8-6052-43FF-8193-17618284D07E}" presName="sibTrans" presStyleCnt="0"/>
      <dgm:spPr/>
    </dgm:pt>
    <dgm:pt modelId="{FCE9C0B7-59A1-4F5C-B7A9-B658639F9F78}" type="pres">
      <dgm:prSet presAssocID="{56189AC1-554C-4885-8583-DCC80327A71A}" presName="node" presStyleLbl="node1" presStyleIdx="1" presStyleCnt="3" custLinFactY="7164" custLinFactNeighborX="36169" custLinFactNeighborY="100000">
        <dgm:presLayoutVars>
          <dgm:bulletEnabled val="1"/>
        </dgm:presLayoutVars>
      </dgm:prSet>
      <dgm:spPr>
        <a:prstGeom prst="ellipse">
          <a:avLst/>
        </a:prstGeom>
      </dgm:spPr>
      <dgm:t>
        <a:bodyPr/>
        <a:lstStyle/>
        <a:p>
          <a:endParaRPr lang="en-US"/>
        </a:p>
      </dgm:t>
    </dgm:pt>
    <dgm:pt modelId="{8637A0EE-F4D3-45D8-86EB-F6AB0A8E7006}" type="pres">
      <dgm:prSet presAssocID="{3B725E88-B5B1-4476-A9B1-2B38C209A6FD}" presName="sibTrans" presStyleCnt="0"/>
      <dgm:spPr/>
    </dgm:pt>
    <dgm:pt modelId="{26E96FC2-6A36-49AE-94DF-52C265F1EA66}" type="pres">
      <dgm:prSet presAssocID="{39C932BF-C1F5-4F60-8AD0-1FA8EB29361C}" presName="node" presStyleLbl="node1" presStyleIdx="2" presStyleCnt="3" custLinFactNeighborX="-5374" custLinFactNeighborY="-66285">
        <dgm:presLayoutVars>
          <dgm:bulletEnabled val="1"/>
        </dgm:presLayoutVars>
      </dgm:prSet>
      <dgm:spPr>
        <a:prstGeom prst="ellipse">
          <a:avLst/>
        </a:prstGeom>
      </dgm:spPr>
      <dgm:t>
        <a:bodyPr/>
        <a:lstStyle/>
        <a:p>
          <a:endParaRPr lang="en-US"/>
        </a:p>
      </dgm:t>
    </dgm:pt>
  </dgm:ptLst>
  <dgm:cxnLst>
    <dgm:cxn modelId="{90FA1B92-0528-4CE1-8AEE-62E0D28E8612}" type="presOf" srcId="{FEC7E73A-1100-4898-8B31-D17A3CC32718}" destId="{544E3689-1D19-4310-ADB1-000E2F42BD57}" srcOrd="0" destOrd="0" presId="urn:microsoft.com/office/officeart/2005/8/layout/default"/>
    <dgm:cxn modelId="{71327632-156A-418C-8DA1-24B266E13F35}" type="presOf" srcId="{56189AC1-554C-4885-8583-DCC80327A71A}" destId="{FCE9C0B7-59A1-4F5C-B7A9-B658639F9F78}" srcOrd="0" destOrd="0" presId="urn:microsoft.com/office/officeart/2005/8/layout/default"/>
    <dgm:cxn modelId="{49069C52-9647-42B9-9B21-12ACB31967C7}" srcId="{FEC7E73A-1100-4898-8B31-D17A3CC32718}" destId="{7B0E9E63-68DB-49A5-963B-702C992907BA}" srcOrd="0" destOrd="0" parTransId="{6136B24B-4550-4B31-8885-2E135D54CB0F}" sibTransId="{C44ED9A8-6052-43FF-8193-17618284D07E}"/>
    <dgm:cxn modelId="{1666A30D-ABF9-45E7-8B80-756BA2D05ACF}" srcId="{FEC7E73A-1100-4898-8B31-D17A3CC32718}" destId="{56189AC1-554C-4885-8583-DCC80327A71A}" srcOrd="1" destOrd="0" parTransId="{2CF4E316-E8D5-4585-9F95-50E23522A2EA}" sibTransId="{3B725E88-B5B1-4476-A9B1-2B38C209A6FD}"/>
    <dgm:cxn modelId="{9B63E158-C231-41C3-A4D1-D90CD195C356}" type="presOf" srcId="{7B0E9E63-68DB-49A5-963B-702C992907BA}" destId="{46CA0714-4C37-4572-92FB-2E37AB6EE558}" srcOrd="0" destOrd="0" presId="urn:microsoft.com/office/officeart/2005/8/layout/default"/>
    <dgm:cxn modelId="{7E2A6C92-2FE4-4BA7-8F7E-FCCD68A9C498}" srcId="{FEC7E73A-1100-4898-8B31-D17A3CC32718}" destId="{39C932BF-C1F5-4F60-8AD0-1FA8EB29361C}" srcOrd="2" destOrd="0" parTransId="{803FA551-17C9-478B-B319-C5185888518B}" sibTransId="{DDCFB1F2-EB6D-459A-B0BA-6125BB52DBFD}"/>
    <dgm:cxn modelId="{26C1B1A5-1B4A-443E-8C01-F81A8516C704}" type="presOf" srcId="{39C932BF-C1F5-4F60-8AD0-1FA8EB29361C}" destId="{26E96FC2-6A36-49AE-94DF-52C265F1EA66}" srcOrd="0" destOrd="0" presId="urn:microsoft.com/office/officeart/2005/8/layout/default"/>
    <dgm:cxn modelId="{C44DF057-4B04-47C6-B5CC-AFF122920940}" type="presParOf" srcId="{544E3689-1D19-4310-ADB1-000E2F42BD57}" destId="{46CA0714-4C37-4572-92FB-2E37AB6EE558}" srcOrd="0" destOrd="0" presId="urn:microsoft.com/office/officeart/2005/8/layout/default"/>
    <dgm:cxn modelId="{8778EA19-3F10-48B8-9A38-7179F32967A4}" type="presParOf" srcId="{544E3689-1D19-4310-ADB1-000E2F42BD57}" destId="{0BEA175C-DD34-4F3C-9B47-9E80FDD6E90E}" srcOrd="1" destOrd="0" presId="urn:microsoft.com/office/officeart/2005/8/layout/default"/>
    <dgm:cxn modelId="{E8D11619-3EDF-462E-ACFA-E1997E51F3D6}" type="presParOf" srcId="{544E3689-1D19-4310-ADB1-000E2F42BD57}" destId="{FCE9C0B7-59A1-4F5C-B7A9-B658639F9F78}" srcOrd="2" destOrd="0" presId="urn:microsoft.com/office/officeart/2005/8/layout/default"/>
    <dgm:cxn modelId="{C7BB5B2D-25F8-4F5F-9E2B-637AF47DFBBC}" type="presParOf" srcId="{544E3689-1D19-4310-ADB1-000E2F42BD57}" destId="{8637A0EE-F4D3-45D8-86EB-F6AB0A8E7006}" srcOrd="3" destOrd="0" presId="urn:microsoft.com/office/officeart/2005/8/layout/default"/>
    <dgm:cxn modelId="{22B9E1D7-835F-42A6-B8C4-8D405144F0D3}" type="presParOf" srcId="{544E3689-1D19-4310-ADB1-000E2F42BD57}" destId="{26E96FC2-6A36-49AE-94DF-52C265F1EA66}"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525B92-91AF-498E-B676-E9102C4B04A5}" type="doc">
      <dgm:prSet loTypeId="urn:microsoft.com/office/officeart/2005/8/layout/vList6" loCatId="list" qsTypeId="urn:microsoft.com/office/officeart/2005/8/quickstyle/simple1" qsCatId="simple" csTypeId="urn:microsoft.com/office/officeart/2005/8/colors/colorful1" csCatId="colorful" phldr="1"/>
      <dgm:spPr/>
      <dgm:t>
        <a:bodyPr/>
        <a:lstStyle/>
        <a:p>
          <a:endParaRPr lang="en-US"/>
        </a:p>
      </dgm:t>
    </dgm:pt>
    <dgm:pt modelId="{5624F6DD-36A3-42D4-BDA8-0F860650CE64}">
      <dgm:prSet custT="1"/>
      <dgm:spPr/>
      <dgm:t>
        <a:bodyPr/>
        <a:lstStyle/>
        <a:p>
          <a:r>
            <a:rPr lang="en-US" altLang="en-US" sz="3200" b="1" smtClean="0">
              <a:latin typeface="Candara" pitchFamily="34" charset="0"/>
              <a:cs typeface="Arial" pitchFamily="34" charset="0"/>
            </a:rPr>
            <a:t>Chronology</a:t>
          </a:r>
          <a:endParaRPr lang="en-US" sz="3200"/>
        </a:p>
      </dgm:t>
    </dgm:pt>
    <dgm:pt modelId="{937E5C12-924F-47AB-A30B-119B11F04028}" type="parTrans" cxnId="{E657B825-A241-4E57-91BF-761F3ECFD3FE}">
      <dgm:prSet/>
      <dgm:spPr/>
      <dgm:t>
        <a:bodyPr/>
        <a:lstStyle/>
        <a:p>
          <a:endParaRPr lang="en-US"/>
        </a:p>
      </dgm:t>
    </dgm:pt>
    <dgm:pt modelId="{F1E30674-0F33-4313-8DE7-58471F2A8A1A}" type="sibTrans" cxnId="{E657B825-A241-4E57-91BF-761F3ECFD3FE}">
      <dgm:prSet/>
      <dgm:spPr/>
      <dgm:t>
        <a:bodyPr/>
        <a:lstStyle/>
        <a:p>
          <a:endParaRPr lang="en-US"/>
        </a:p>
      </dgm:t>
    </dgm:pt>
    <dgm:pt modelId="{DEFFE6C3-EBA5-48DC-8ED4-A9A03C2534D8}">
      <dgm:prSet custT="1"/>
      <dgm:spPr/>
      <dgm:t>
        <a:bodyPr/>
        <a:lstStyle/>
        <a:p>
          <a:r>
            <a:rPr lang="en-US" altLang="en-US" sz="3200" b="1" dirty="0" smtClean="0">
              <a:latin typeface="Candara" pitchFamily="34" charset="0"/>
              <a:cs typeface="Arial" pitchFamily="34" charset="0"/>
            </a:rPr>
            <a:t>Spatial</a:t>
          </a:r>
          <a:endParaRPr lang="en-US" sz="3200" dirty="0"/>
        </a:p>
      </dgm:t>
    </dgm:pt>
    <dgm:pt modelId="{2CB474CA-1FCD-4867-9637-E653C353C38B}" type="parTrans" cxnId="{D30E10E8-3862-48D9-9F96-C7468B209C05}">
      <dgm:prSet/>
      <dgm:spPr/>
      <dgm:t>
        <a:bodyPr/>
        <a:lstStyle/>
        <a:p>
          <a:endParaRPr lang="en-US"/>
        </a:p>
      </dgm:t>
    </dgm:pt>
    <dgm:pt modelId="{D9CDAEBA-9A37-4791-A28E-2F18BA4992F9}" type="sibTrans" cxnId="{D30E10E8-3862-48D9-9F96-C7468B209C05}">
      <dgm:prSet/>
      <dgm:spPr/>
      <dgm:t>
        <a:bodyPr/>
        <a:lstStyle/>
        <a:p>
          <a:endParaRPr lang="en-US"/>
        </a:p>
      </dgm:t>
    </dgm:pt>
    <dgm:pt modelId="{F191ABF9-DA97-456F-AADD-A005FB33DAFB}">
      <dgm:prSet custT="1"/>
      <dgm:spPr/>
      <dgm:t>
        <a:bodyPr/>
        <a:lstStyle/>
        <a:p>
          <a:r>
            <a:rPr lang="en-US" altLang="en-US" sz="3200" b="1" dirty="0" smtClean="0">
              <a:latin typeface="Candara" pitchFamily="34" charset="0"/>
              <a:cs typeface="Arial" pitchFamily="34" charset="0"/>
            </a:rPr>
            <a:t>Importance</a:t>
          </a:r>
          <a:endParaRPr lang="en-US" sz="3200" dirty="0"/>
        </a:p>
      </dgm:t>
    </dgm:pt>
    <dgm:pt modelId="{E87416D3-E2E7-4A3E-B99A-17CE16BBDAEC}" type="parTrans" cxnId="{90935A8F-4419-4327-9515-800F7F41670E}">
      <dgm:prSet/>
      <dgm:spPr/>
      <dgm:t>
        <a:bodyPr/>
        <a:lstStyle/>
        <a:p>
          <a:endParaRPr lang="en-US"/>
        </a:p>
      </dgm:t>
    </dgm:pt>
    <dgm:pt modelId="{98702C22-D6DE-4F2E-B8BF-0CAD423942A4}" type="sibTrans" cxnId="{90935A8F-4419-4327-9515-800F7F41670E}">
      <dgm:prSet/>
      <dgm:spPr/>
      <dgm:t>
        <a:bodyPr/>
        <a:lstStyle/>
        <a:p>
          <a:endParaRPr lang="en-US"/>
        </a:p>
      </dgm:t>
    </dgm:pt>
    <dgm:pt modelId="{485F5D23-DAA7-40C5-A609-01601AB16E60}">
      <dgm:prSet custT="1"/>
      <dgm:spPr/>
      <dgm:t>
        <a:bodyPr/>
        <a:lstStyle/>
        <a:p>
          <a:r>
            <a:rPr lang="en-US" altLang="en-US" sz="3200" b="1" smtClean="0">
              <a:latin typeface="Candara" pitchFamily="34" charset="0"/>
              <a:cs typeface="Arial" pitchFamily="34" charset="0"/>
            </a:rPr>
            <a:t>Problem/Solution</a:t>
          </a:r>
          <a:endParaRPr lang="en-US" sz="3200"/>
        </a:p>
      </dgm:t>
    </dgm:pt>
    <dgm:pt modelId="{97045B34-6072-4B68-BDA4-22C3E900B17B}" type="parTrans" cxnId="{4AB8DC12-552D-4175-AA4F-D011BC958A42}">
      <dgm:prSet/>
      <dgm:spPr/>
      <dgm:t>
        <a:bodyPr/>
        <a:lstStyle/>
        <a:p>
          <a:endParaRPr lang="en-US"/>
        </a:p>
      </dgm:t>
    </dgm:pt>
    <dgm:pt modelId="{646C022A-6B28-4CFF-90A7-29B6887FC726}" type="sibTrans" cxnId="{4AB8DC12-552D-4175-AA4F-D011BC958A42}">
      <dgm:prSet/>
      <dgm:spPr/>
      <dgm:t>
        <a:bodyPr/>
        <a:lstStyle/>
        <a:p>
          <a:endParaRPr lang="en-US"/>
        </a:p>
      </dgm:t>
    </dgm:pt>
    <dgm:pt modelId="{442FFCE8-FD0B-4771-A0B7-43C4E77A412E}">
      <dgm:prSet custT="1"/>
      <dgm:spPr/>
      <dgm:t>
        <a:bodyPr/>
        <a:lstStyle/>
        <a:p>
          <a:r>
            <a:rPr lang="en-US" altLang="en-US" sz="3200" b="1" smtClean="0">
              <a:latin typeface="Candara" pitchFamily="34" charset="0"/>
              <a:cs typeface="Arial" pitchFamily="34" charset="0"/>
            </a:rPr>
            <a:t>Comparison/Contrast</a:t>
          </a:r>
          <a:endParaRPr lang="en-US" sz="3200"/>
        </a:p>
      </dgm:t>
    </dgm:pt>
    <dgm:pt modelId="{F29E45AB-D64E-4E3C-A844-F48A2F80F018}" type="parTrans" cxnId="{99ECA885-854A-441C-9BF6-B22F9A143427}">
      <dgm:prSet/>
      <dgm:spPr/>
      <dgm:t>
        <a:bodyPr/>
        <a:lstStyle/>
        <a:p>
          <a:endParaRPr lang="en-US"/>
        </a:p>
      </dgm:t>
    </dgm:pt>
    <dgm:pt modelId="{25831CE6-00ED-416C-AF86-3B2A289381E5}" type="sibTrans" cxnId="{99ECA885-854A-441C-9BF6-B22F9A143427}">
      <dgm:prSet/>
      <dgm:spPr/>
      <dgm:t>
        <a:bodyPr/>
        <a:lstStyle/>
        <a:p>
          <a:endParaRPr lang="en-US"/>
        </a:p>
      </dgm:t>
    </dgm:pt>
    <dgm:pt modelId="{C199E050-728E-4218-A5B7-F7957037FEF4}" type="pres">
      <dgm:prSet presAssocID="{6B525B92-91AF-498E-B676-E9102C4B04A5}" presName="Name0" presStyleCnt="0">
        <dgm:presLayoutVars>
          <dgm:dir/>
          <dgm:animLvl val="lvl"/>
          <dgm:resizeHandles/>
        </dgm:presLayoutVars>
      </dgm:prSet>
      <dgm:spPr/>
      <dgm:t>
        <a:bodyPr/>
        <a:lstStyle/>
        <a:p>
          <a:endParaRPr lang="en-US"/>
        </a:p>
      </dgm:t>
    </dgm:pt>
    <dgm:pt modelId="{06101FA8-50E6-415C-BAB4-2BCFBE722D56}" type="pres">
      <dgm:prSet presAssocID="{F191ABF9-DA97-456F-AADD-A005FB33DAFB}" presName="linNode" presStyleCnt="0"/>
      <dgm:spPr/>
    </dgm:pt>
    <dgm:pt modelId="{3864F704-EB50-4D98-A022-0A7EED2A5E92}" type="pres">
      <dgm:prSet presAssocID="{F191ABF9-DA97-456F-AADD-A005FB33DAFB}" presName="parentShp" presStyleLbl="node1" presStyleIdx="0" presStyleCnt="5" custLinFactY="100000" custLinFactNeighborX="-2175" custLinFactNeighborY="121265">
        <dgm:presLayoutVars>
          <dgm:bulletEnabled val="1"/>
        </dgm:presLayoutVars>
      </dgm:prSet>
      <dgm:spPr/>
      <dgm:t>
        <a:bodyPr/>
        <a:lstStyle/>
        <a:p>
          <a:endParaRPr lang="en-US"/>
        </a:p>
      </dgm:t>
    </dgm:pt>
    <dgm:pt modelId="{36A5B2A9-D339-4CB7-BA82-2CE1C353DB6F}" type="pres">
      <dgm:prSet presAssocID="{F191ABF9-DA97-456F-AADD-A005FB33DAFB}" presName="childShp" presStyleLbl="bgAccFollowNode1" presStyleIdx="0" presStyleCnt="5" custLinFactY="100000" custLinFactNeighborX="3756" custLinFactNeighborY="112234">
        <dgm:presLayoutVars>
          <dgm:bulletEnabled val="1"/>
        </dgm:presLayoutVars>
      </dgm:prSet>
      <dgm:spPr/>
    </dgm:pt>
    <dgm:pt modelId="{7252CA8C-C781-4B1E-8B55-A20253F59495}" type="pres">
      <dgm:prSet presAssocID="{98702C22-D6DE-4F2E-B8BF-0CAD423942A4}" presName="spacing" presStyleCnt="0"/>
      <dgm:spPr/>
    </dgm:pt>
    <dgm:pt modelId="{F533DA94-A980-4154-A8F7-7ADACA29A794}" type="pres">
      <dgm:prSet presAssocID="{5624F6DD-36A3-42D4-BDA8-0F860650CE64}" presName="linNode" presStyleCnt="0"/>
      <dgm:spPr/>
    </dgm:pt>
    <dgm:pt modelId="{AEA1795E-2093-47A7-A302-BEC0C0B60D13}" type="pres">
      <dgm:prSet presAssocID="{5624F6DD-36A3-42D4-BDA8-0F860650CE64}" presName="parentShp" presStyleLbl="node1" presStyleIdx="1" presStyleCnt="5" custLinFactY="-10185" custLinFactNeighborX="395" custLinFactNeighborY="-100000">
        <dgm:presLayoutVars>
          <dgm:bulletEnabled val="1"/>
        </dgm:presLayoutVars>
      </dgm:prSet>
      <dgm:spPr/>
      <dgm:t>
        <a:bodyPr/>
        <a:lstStyle/>
        <a:p>
          <a:endParaRPr lang="en-US"/>
        </a:p>
      </dgm:t>
    </dgm:pt>
    <dgm:pt modelId="{A9A438E2-3588-4B9F-BA0E-E7210ABBDFFE}" type="pres">
      <dgm:prSet presAssocID="{5624F6DD-36A3-42D4-BDA8-0F860650CE64}" presName="childShp" presStyleLbl="bgAccFollowNode1" presStyleIdx="1" presStyleCnt="5">
        <dgm:presLayoutVars>
          <dgm:bulletEnabled val="1"/>
        </dgm:presLayoutVars>
      </dgm:prSet>
      <dgm:spPr/>
    </dgm:pt>
    <dgm:pt modelId="{8A54F4E7-EBF0-499E-8BE4-485073162268}" type="pres">
      <dgm:prSet presAssocID="{F1E30674-0F33-4313-8DE7-58471F2A8A1A}" presName="spacing" presStyleCnt="0"/>
      <dgm:spPr/>
    </dgm:pt>
    <dgm:pt modelId="{E1C44690-E418-4636-ABD5-E0E6F7E2BA01}" type="pres">
      <dgm:prSet presAssocID="{DEFFE6C3-EBA5-48DC-8ED4-A9A03C2534D8}" presName="linNode" presStyleCnt="0"/>
      <dgm:spPr/>
    </dgm:pt>
    <dgm:pt modelId="{BC0197B0-67F6-426C-AABD-CDB36853F02F}" type="pres">
      <dgm:prSet presAssocID="{DEFFE6C3-EBA5-48DC-8ED4-A9A03C2534D8}" presName="parentShp" presStyleLbl="node1" presStyleIdx="2" presStyleCnt="5" custLinFactY="-2778" custLinFactNeighborX="-594" custLinFactNeighborY="-100000">
        <dgm:presLayoutVars>
          <dgm:bulletEnabled val="1"/>
        </dgm:presLayoutVars>
      </dgm:prSet>
      <dgm:spPr/>
      <dgm:t>
        <a:bodyPr/>
        <a:lstStyle/>
        <a:p>
          <a:endParaRPr lang="en-US"/>
        </a:p>
      </dgm:t>
    </dgm:pt>
    <dgm:pt modelId="{D9E53B39-0560-4BFE-8048-D8CF37EA55D1}" type="pres">
      <dgm:prSet presAssocID="{DEFFE6C3-EBA5-48DC-8ED4-A9A03C2534D8}" presName="childShp" presStyleLbl="bgAccFollowNode1" presStyleIdx="2" presStyleCnt="5" custLinFactY="-100000" custLinFactNeighborX="890" custLinFactNeighborY="-120185">
        <dgm:presLayoutVars>
          <dgm:bulletEnabled val="1"/>
        </dgm:presLayoutVars>
      </dgm:prSet>
      <dgm:spPr/>
    </dgm:pt>
    <dgm:pt modelId="{506B17F3-77A8-4D88-8EBA-B37BC7A27AD3}" type="pres">
      <dgm:prSet presAssocID="{D9CDAEBA-9A37-4791-A28E-2F18BA4992F9}" presName="spacing" presStyleCnt="0"/>
      <dgm:spPr/>
    </dgm:pt>
    <dgm:pt modelId="{D5CA8E45-F015-4176-94F3-83A4668D26E4}" type="pres">
      <dgm:prSet presAssocID="{485F5D23-DAA7-40C5-A609-01601AB16E60}" presName="linNode" presStyleCnt="0"/>
      <dgm:spPr/>
    </dgm:pt>
    <dgm:pt modelId="{4F81F691-BB05-4142-BE34-23762FD04FF3}" type="pres">
      <dgm:prSet presAssocID="{485F5D23-DAA7-40C5-A609-01601AB16E60}" presName="parentShp" presStyleLbl="node1" presStyleIdx="3" presStyleCnt="5">
        <dgm:presLayoutVars>
          <dgm:bulletEnabled val="1"/>
        </dgm:presLayoutVars>
      </dgm:prSet>
      <dgm:spPr/>
      <dgm:t>
        <a:bodyPr/>
        <a:lstStyle/>
        <a:p>
          <a:endParaRPr lang="en-US"/>
        </a:p>
      </dgm:t>
    </dgm:pt>
    <dgm:pt modelId="{43052701-059E-480A-9DEF-F5DEAD5CAD77}" type="pres">
      <dgm:prSet presAssocID="{485F5D23-DAA7-40C5-A609-01601AB16E60}" presName="childShp" presStyleLbl="bgAccFollowNode1" presStyleIdx="3" presStyleCnt="5">
        <dgm:presLayoutVars>
          <dgm:bulletEnabled val="1"/>
        </dgm:presLayoutVars>
      </dgm:prSet>
      <dgm:spPr/>
    </dgm:pt>
    <dgm:pt modelId="{92A07909-84FF-46D4-8C07-53D6B3C33529}" type="pres">
      <dgm:prSet presAssocID="{646C022A-6B28-4CFF-90A7-29B6887FC726}" presName="spacing" presStyleCnt="0"/>
      <dgm:spPr/>
    </dgm:pt>
    <dgm:pt modelId="{E0F72D1E-C5A7-4B8E-BF2F-A7A27DE52296}" type="pres">
      <dgm:prSet presAssocID="{442FFCE8-FD0B-4771-A0B7-43C4E77A412E}" presName="linNode" presStyleCnt="0"/>
      <dgm:spPr/>
    </dgm:pt>
    <dgm:pt modelId="{B7FCDF33-809F-4DF2-8B49-217FE9562199}" type="pres">
      <dgm:prSet presAssocID="{442FFCE8-FD0B-4771-A0B7-43C4E77A412E}" presName="parentShp" presStyleLbl="node1" presStyleIdx="4" presStyleCnt="5">
        <dgm:presLayoutVars>
          <dgm:bulletEnabled val="1"/>
        </dgm:presLayoutVars>
      </dgm:prSet>
      <dgm:spPr/>
      <dgm:t>
        <a:bodyPr/>
        <a:lstStyle/>
        <a:p>
          <a:endParaRPr lang="en-US"/>
        </a:p>
      </dgm:t>
    </dgm:pt>
    <dgm:pt modelId="{E495AB57-53F3-4EE5-AC25-FF0419652A59}" type="pres">
      <dgm:prSet presAssocID="{442FFCE8-FD0B-4771-A0B7-43C4E77A412E}" presName="childShp" presStyleLbl="bgAccFollowNode1" presStyleIdx="4" presStyleCnt="5">
        <dgm:presLayoutVars>
          <dgm:bulletEnabled val="1"/>
        </dgm:presLayoutVars>
      </dgm:prSet>
      <dgm:spPr/>
    </dgm:pt>
  </dgm:ptLst>
  <dgm:cxnLst>
    <dgm:cxn modelId="{90935A8F-4419-4327-9515-800F7F41670E}" srcId="{6B525B92-91AF-498E-B676-E9102C4B04A5}" destId="{F191ABF9-DA97-456F-AADD-A005FB33DAFB}" srcOrd="0" destOrd="0" parTransId="{E87416D3-E2E7-4A3E-B99A-17CE16BBDAEC}" sibTransId="{98702C22-D6DE-4F2E-B8BF-0CAD423942A4}"/>
    <dgm:cxn modelId="{1CF2B100-5583-478B-8450-21F6C8342F8E}" type="presOf" srcId="{5624F6DD-36A3-42D4-BDA8-0F860650CE64}" destId="{AEA1795E-2093-47A7-A302-BEC0C0B60D13}" srcOrd="0" destOrd="0" presId="urn:microsoft.com/office/officeart/2005/8/layout/vList6"/>
    <dgm:cxn modelId="{9388025B-4196-44C3-AE31-689C1BA50BD2}" type="presOf" srcId="{DEFFE6C3-EBA5-48DC-8ED4-A9A03C2534D8}" destId="{BC0197B0-67F6-426C-AABD-CDB36853F02F}" srcOrd="0" destOrd="0" presId="urn:microsoft.com/office/officeart/2005/8/layout/vList6"/>
    <dgm:cxn modelId="{F8632C10-64CD-4BBD-9A75-6BB5BB6AB241}" type="presOf" srcId="{442FFCE8-FD0B-4771-A0B7-43C4E77A412E}" destId="{B7FCDF33-809F-4DF2-8B49-217FE9562199}" srcOrd="0" destOrd="0" presId="urn:microsoft.com/office/officeart/2005/8/layout/vList6"/>
    <dgm:cxn modelId="{4AB8DC12-552D-4175-AA4F-D011BC958A42}" srcId="{6B525B92-91AF-498E-B676-E9102C4B04A5}" destId="{485F5D23-DAA7-40C5-A609-01601AB16E60}" srcOrd="3" destOrd="0" parTransId="{97045B34-6072-4B68-BDA4-22C3E900B17B}" sibTransId="{646C022A-6B28-4CFF-90A7-29B6887FC726}"/>
    <dgm:cxn modelId="{EE4BD347-8DC4-43A7-B141-9E8EF48C8978}" type="presOf" srcId="{6B525B92-91AF-498E-B676-E9102C4B04A5}" destId="{C199E050-728E-4218-A5B7-F7957037FEF4}" srcOrd="0" destOrd="0" presId="urn:microsoft.com/office/officeart/2005/8/layout/vList6"/>
    <dgm:cxn modelId="{E657B825-A241-4E57-91BF-761F3ECFD3FE}" srcId="{6B525B92-91AF-498E-B676-E9102C4B04A5}" destId="{5624F6DD-36A3-42D4-BDA8-0F860650CE64}" srcOrd="1" destOrd="0" parTransId="{937E5C12-924F-47AB-A30B-119B11F04028}" sibTransId="{F1E30674-0F33-4313-8DE7-58471F2A8A1A}"/>
    <dgm:cxn modelId="{229C1D23-AD29-4750-9BF7-B3C6A554DA53}" type="presOf" srcId="{F191ABF9-DA97-456F-AADD-A005FB33DAFB}" destId="{3864F704-EB50-4D98-A022-0A7EED2A5E92}" srcOrd="0" destOrd="0" presId="urn:microsoft.com/office/officeart/2005/8/layout/vList6"/>
    <dgm:cxn modelId="{D30E10E8-3862-48D9-9F96-C7468B209C05}" srcId="{6B525B92-91AF-498E-B676-E9102C4B04A5}" destId="{DEFFE6C3-EBA5-48DC-8ED4-A9A03C2534D8}" srcOrd="2" destOrd="0" parTransId="{2CB474CA-1FCD-4867-9637-E653C353C38B}" sibTransId="{D9CDAEBA-9A37-4791-A28E-2F18BA4992F9}"/>
    <dgm:cxn modelId="{99ECA885-854A-441C-9BF6-B22F9A143427}" srcId="{6B525B92-91AF-498E-B676-E9102C4B04A5}" destId="{442FFCE8-FD0B-4771-A0B7-43C4E77A412E}" srcOrd="4" destOrd="0" parTransId="{F29E45AB-D64E-4E3C-A844-F48A2F80F018}" sibTransId="{25831CE6-00ED-416C-AF86-3B2A289381E5}"/>
    <dgm:cxn modelId="{2D2BEF8F-8621-4C7C-BB70-94A0C1E0B7B7}" type="presOf" srcId="{485F5D23-DAA7-40C5-A609-01601AB16E60}" destId="{4F81F691-BB05-4142-BE34-23762FD04FF3}" srcOrd="0" destOrd="0" presId="urn:microsoft.com/office/officeart/2005/8/layout/vList6"/>
    <dgm:cxn modelId="{B1A8D7AA-CEC7-4F4D-8071-9ED98ADD3BDC}" type="presParOf" srcId="{C199E050-728E-4218-A5B7-F7957037FEF4}" destId="{06101FA8-50E6-415C-BAB4-2BCFBE722D56}" srcOrd="0" destOrd="0" presId="urn:microsoft.com/office/officeart/2005/8/layout/vList6"/>
    <dgm:cxn modelId="{D52AF313-E46A-4B78-9B4B-690E07C44118}" type="presParOf" srcId="{06101FA8-50E6-415C-BAB4-2BCFBE722D56}" destId="{3864F704-EB50-4D98-A022-0A7EED2A5E92}" srcOrd="0" destOrd="0" presId="urn:microsoft.com/office/officeart/2005/8/layout/vList6"/>
    <dgm:cxn modelId="{C31B3530-075C-406C-99C7-01AE2EA91D9B}" type="presParOf" srcId="{06101FA8-50E6-415C-BAB4-2BCFBE722D56}" destId="{36A5B2A9-D339-4CB7-BA82-2CE1C353DB6F}" srcOrd="1" destOrd="0" presId="urn:microsoft.com/office/officeart/2005/8/layout/vList6"/>
    <dgm:cxn modelId="{9E7C3B2B-36E3-44F5-B22B-D1736790D3B1}" type="presParOf" srcId="{C199E050-728E-4218-A5B7-F7957037FEF4}" destId="{7252CA8C-C781-4B1E-8B55-A20253F59495}" srcOrd="1" destOrd="0" presId="urn:microsoft.com/office/officeart/2005/8/layout/vList6"/>
    <dgm:cxn modelId="{8EE6D919-F220-4E97-A272-FB73E7A75759}" type="presParOf" srcId="{C199E050-728E-4218-A5B7-F7957037FEF4}" destId="{F533DA94-A980-4154-A8F7-7ADACA29A794}" srcOrd="2" destOrd="0" presId="urn:microsoft.com/office/officeart/2005/8/layout/vList6"/>
    <dgm:cxn modelId="{DBE5DBEA-2172-4F7F-B239-382C5833B5E9}" type="presParOf" srcId="{F533DA94-A980-4154-A8F7-7ADACA29A794}" destId="{AEA1795E-2093-47A7-A302-BEC0C0B60D13}" srcOrd="0" destOrd="0" presId="urn:microsoft.com/office/officeart/2005/8/layout/vList6"/>
    <dgm:cxn modelId="{2A9D90DE-DF0C-4EFE-BC70-AC52AC5AEFC8}" type="presParOf" srcId="{F533DA94-A980-4154-A8F7-7ADACA29A794}" destId="{A9A438E2-3588-4B9F-BA0E-E7210ABBDFFE}" srcOrd="1" destOrd="0" presId="urn:microsoft.com/office/officeart/2005/8/layout/vList6"/>
    <dgm:cxn modelId="{B5ACE005-DAF3-412C-B64E-3F2D573DA109}" type="presParOf" srcId="{C199E050-728E-4218-A5B7-F7957037FEF4}" destId="{8A54F4E7-EBF0-499E-8BE4-485073162268}" srcOrd="3" destOrd="0" presId="urn:microsoft.com/office/officeart/2005/8/layout/vList6"/>
    <dgm:cxn modelId="{EE222D72-20FE-4980-A2B4-E773205A3A2E}" type="presParOf" srcId="{C199E050-728E-4218-A5B7-F7957037FEF4}" destId="{E1C44690-E418-4636-ABD5-E0E6F7E2BA01}" srcOrd="4" destOrd="0" presId="urn:microsoft.com/office/officeart/2005/8/layout/vList6"/>
    <dgm:cxn modelId="{8673D0A0-611C-4CC4-8E98-0F9143A33806}" type="presParOf" srcId="{E1C44690-E418-4636-ABD5-E0E6F7E2BA01}" destId="{BC0197B0-67F6-426C-AABD-CDB36853F02F}" srcOrd="0" destOrd="0" presId="urn:microsoft.com/office/officeart/2005/8/layout/vList6"/>
    <dgm:cxn modelId="{A59C852C-5547-48E7-80B2-0D41B66D158D}" type="presParOf" srcId="{E1C44690-E418-4636-ABD5-E0E6F7E2BA01}" destId="{D9E53B39-0560-4BFE-8048-D8CF37EA55D1}" srcOrd="1" destOrd="0" presId="urn:microsoft.com/office/officeart/2005/8/layout/vList6"/>
    <dgm:cxn modelId="{052ECDCD-50DA-4F50-988B-9A484908056E}" type="presParOf" srcId="{C199E050-728E-4218-A5B7-F7957037FEF4}" destId="{506B17F3-77A8-4D88-8EBA-B37BC7A27AD3}" srcOrd="5" destOrd="0" presId="urn:microsoft.com/office/officeart/2005/8/layout/vList6"/>
    <dgm:cxn modelId="{0C0C6209-5DA4-4F68-B535-9EE6CB5141A1}" type="presParOf" srcId="{C199E050-728E-4218-A5B7-F7957037FEF4}" destId="{D5CA8E45-F015-4176-94F3-83A4668D26E4}" srcOrd="6" destOrd="0" presId="urn:microsoft.com/office/officeart/2005/8/layout/vList6"/>
    <dgm:cxn modelId="{22D20AAA-56BF-4485-A721-4AEA03E7E5B9}" type="presParOf" srcId="{D5CA8E45-F015-4176-94F3-83A4668D26E4}" destId="{4F81F691-BB05-4142-BE34-23762FD04FF3}" srcOrd="0" destOrd="0" presId="urn:microsoft.com/office/officeart/2005/8/layout/vList6"/>
    <dgm:cxn modelId="{A1A325D9-B98D-40C8-8EDD-11FA391152D6}" type="presParOf" srcId="{D5CA8E45-F015-4176-94F3-83A4668D26E4}" destId="{43052701-059E-480A-9DEF-F5DEAD5CAD77}" srcOrd="1" destOrd="0" presId="urn:microsoft.com/office/officeart/2005/8/layout/vList6"/>
    <dgm:cxn modelId="{F7A490BD-2201-4B1C-8764-7AA25CF828AF}" type="presParOf" srcId="{C199E050-728E-4218-A5B7-F7957037FEF4}" destId="{92A07909-84FF-46D4-8C07-53D6B3C33529}" srcOrd="7" destOrd="0" presId="urn:microsoft.com/office/officeart/2005/8/layout/vList6"/>
    <dgm:cxn modelId="{994C9B6F-2E40-4BFA-89FA-F53728333812}" type="presParOf" srcId="{C199E050-728E-4218-A5B7-F7957037FEF4}" destId="{E0F72D1E-C5A7-4B8E-BF2F-A7A27DE52296}" srcOrd="8" destOrd="0" presId="urn:microsoft.com/office/officeart/2005/8/layout/vList6"/>
    <dgm:cxn modelId="{7C7720DB-AECD-4709-9673-B941136D9475}" type="presParOf" srcId="{E0F72D1E-C5A7-4B8E-BF2F-A7A27DE52296}" destId="{B7FCDF33-809F-4DF2-8B49-217FE9562199}" srcOrd="0" destOrd="0" presId="urn:microsoft.com/office/officeart/2005/8/layout/vList6"/>
    <dgm:cxn modelId="{689918CA-A7B5-4AFD-95B8-354E58FFCD84}" type="presParOf" srcId="{E0F72D1E-C5A7-4B8E-BF2F-A7A27DE52296}" destId="{E495AB57-53F3-4EE5-AC25-FF0419652A59}"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C9A1B3-FC23-4E74-8AF2-F4A88DD65CC8}" type="doc">
      <dgm:prSet loTypeId="urn:microsoft.com/office/officeart/2009/layout/CircleArrowProcess" loCatId="cycle" qsTypeId="urn:microsoft.com/office/officeart/2005/8/quickstyle/simple2" qsCatId="simple" csTypeId="urn:microsoft.com/office/officeart/2005/8/colors/colorful1" csCatId="colorful" phldr="1"/>
      <dgm:spPr/>
      <dgm:t>
        <a:bodyPr/>
        <a:lstStyle/>
        <a:p>
          <a:endParaRPr lang="en-US"/>
        </a:p>
      </dgm:t>
    </dgm:pt>
    <dgm:pt modelId="{C0DF0A34-617F-4C75-BB1D-31799A41A9E4}">
      <dgm:prSet phldrT="[Text]"/>
      <dgm:spPr/>
      <dgm:t>
        <a:bodyPr/>
        <a:lstStyle/>
        <a:p>
          <a:r>
            <a:rPr lang="en-US" dirty="0" smtClean="0"/>
            <a:t>Draft </a:t>
          </a:r>
          <a:endParaRPr lang="en-US" dirty="0"/>
        </a:p>
      </dgm:t>
    </dgm:pt>
    <dgm:pt modelId="{6C9B84EC-1A3A-41C0-8A37-270B7921E409}" type="parTrans" cxnId="{07A1FE5E-5CD6-4236-8C9F-BB4064293984}">
      <dgm:prSet/>
      <dgm:spPr/>
      <dgm:t>
        <a:bodyPr/>
        <a:lstStyle/>
        <a:p>
          <a:endParaRPr lang="en-US"/>
        </a:p>
      </dgm:t>
    </dgm:pt>
    <dgm:pt modelId="{19A8313D-CD4B-4F18-BD41-9C885BADA663}" type="sibTrans" cxnId="{07A1FE5E-5CD6-4236-8C9F-BB4064293984}">
      <dgm:prSet/>
      <dgm:spPr/>
      <dgm:t>
        <a:bodyPr/>
        <a:lstStyle/>
        <a:p>
          <a:endParaRPr lang="en-US"/>
        </a:p>
      </dgm:t>
    </dgm:pt>
    <dgm:pt modelId="{96E058BB-8F7F-4B45-B843-8DEE2C7BB1C5}">
      <dgm:prSet phldrT="[Text]"/>
      <dgm:spPr/>
      <dgm:t>
        <a:bodyPr/>
        <a:lstStyle/>
        <a:p>
          <a:r>
            <a:rPr lang="en-US" dirty="0" smtClean="0"/>
            <a:t>Rough </a:t>
          </a:r>
          <a:endParaRPr lang="en-US" dirty="0"/>
        </a:p>
      </dgm:t>
    </dgm:pt>
    <dgm:pt modelId="{DEF2802E-2518-4442-9C2C-C1C58A622212}" type="parTrans" cxnId="{24579084-863D-4540-80EF-09669FE90AB8}">
      <dgm:prSet/>
      <dgm:spPr/>
      <dgm:t>
        <a:bodyPr/>
        <a:lstStyle/>
        <a:p>
          <a:endParaRPr lang="en-US"/>
        </a:p>
      </dgm:t>
    </dgm:pt>
    <dgm:pt modelId="{6EBF460C-2B9B-4229-99B0-734816740825}" type="sibTrans" cxnId="{24579084-863D-4540-80EF-09669FE90AB8}">
      <dgm:prSet/>
      <dgm:spPr/>
      <dgm:t>
        <a:bodyPr/>
        <a:lstStyle/>
        <a:p>
          <a:endParaRPr lang="en-US"/>
        </a:p>
      </dgm:t>
    </dgm:pt>
    <dgm:pt modelId="{B989C989-B965-4783-90C0-410C0B350E81}">
      <dgm:prSet phldrT="[Text]"/>
      <dgm:spPr/>
      <dgm:t>
        <a:bodyPr/>
        <a:lstStyle/>
        <a:p>
          <a:r>
            <a:rPr lang="en-US" dirty="0" smtClean="0"/>
            <a:t>Final </a:t>
          </a:r>
          <a:endParaRPr lang="en-US" dirty="0"/>
        </a:p>
      </dgm:t>
    </dgm:pt>
    <dgm:pt modelId="{693581FB-174F-4C59-8F04-27C88AD1C342}" type="parTrans" cxnId="{11CA49BC-7F69-4AB9-B4F0-1C1E76E40A50}">
      <dgm:prSet/>
      <dgm:spPr/>
      <dgm:t>
        <a:bodyPr/>
        <a:lstStyle/>
        <a:p>
          <a:endParaRPr lang="en-US"/>
        </a:p>
      </dgm:t>
    </dgm:pt>
    <dgm:pt modelId="{95D758B8-11C4-42B0-9F65-A457714D5C12}" type="sibTrans" cxnId="{11CA49BC-7F69-4AB9-B4F0-1C1E76E40A50}">
      <dgm:prSet/>
      <dgm:spPr/>
      <dgm:t>
        <a:bodyPr/>
        <a:lstStyle/>
        <a:p>
          <a:endParaRPr lang="en-US"/>
        </a:p>
      </dgm:t>
    </dgm:pt>
    <dgm:pt modelId="{3BFC83FF-05BA-4942-B7DF-3C0FEAF08FA3}">
      <dgm:prSet phldrT="[Text]"/>
      <dgm:spPr/>
      <dgm:t>
        <a:bodyPr/>
        <a:lstStyle/>
        <a:p>
          <a:r>
            <a:rPr lang="en-US" dirty="0" smtClean="0"/>
            <a:t>Working </a:t>
          </a:r>
          <a:endParaRPr lang="en-US" dirty="0"/>
        </a:p>
      </dgm:t>
    </dgm:pt>
    <dgm:pt modelId="{4E8B9E92-1B7E-4760-BBB8-530E55EF8BCD}" type="parTrans" cxnId="{83BFEAD9-F009-42D4-BAF3-556BFCB2F8E5}">
      <dgm:prSet/>
      <dgm:spPr/>
      <dgm:t>
        <a:bodyPr/>
        <a:lstStyle/>
        <a:p>
          <a:endParaRPr lang="en-US"/>
        </a:p>
      </dgm:t>
    </dgm:pt>
    <dgm:pt modelId="{53A81CD8-5786-4EC2-8E3B-10BA4CD5FB8F}" type="sibTrans" cxnId="{83BFEAD9-F009-42D4-BAF3-556BFCB2F8E5}">
      <dgm:prSet/>
      <dgm:spPr/>
      <dgm:t>
        <a:bodyPr/>
        <a:lstStyle/>
        <a:p>
          <a:endParaRPr lang="en-US"/>
        </a:p>
      </dgm:t>
    </dgm:pt>
    <dgm:pt modelId="{D8779C3A-9D99-4723-AB6E-50B1032EA37E}" type="pres">
      <dgm:prSet presAssocID="{05C9A1B3-FC23-4E74-8AF2-F4A88DD65CC8}" presName="Name0" presStyleCnt="0">
        <dgm:presLayoutVars>
          <dgm:chMax val="7"/>
          <dgm:chPref val="7"/>
          <dgm:dir/>
          <dgm:animLvl val="lvl"/>
        </dgm:presLayoutVars>
      </dgm:prSet>
      <dgm:spPr/>
      <dgm:t>
        <a:bodyPr/>
        <a:lstStyle/>
        <a:p>
          <a:endParaRPr lang="en-US"/>
        </a:p>
      </dgm:t>
    </dgm:pt>
    <dgm:pt modelId="{CD8FFA55-F298-40A4-8AB0-547A95A4331E}" type="pres">
      <dgm:prSet presAssocID="{C0DF0A34-617F-4C75-BB1D-31799A41A9E4}" presName="Accent1" presStyleCnt="0"/>
      <dgm:spPr/>
    </dgm:pt>
    <dgm:pt modelId="{F1AD6545-10B3-4E80-B977-933384D26C03}" type="pres">
      <dgm:prSet presAssocID="{C0DF0A34-617F-4C75-BB1D-31799A41A9E4}" presName="Accent" presStyleLbl="node1" presStyleIdx="0" presStyleCnt="1"/>
      <dgm:spPr/>
    </dgm:pt>
    <dgm:pt modelId="{B2F50737-A595-4DEB-AF61-4DFED5E724A3}" type="pres">
      <dgm:prSet presAssocID="{C0DF0A34-617F-4C75-BB1D-31799A41A9E4}" presName="Child1" presStyleLbl="revTx" presStyleIdx="0" presStyleCnt="2">
        <dgm:presLayoutVars>
          <dgm:chMax val="0"/>
          <dgm:chPref val="0"/>
          <dgm:bulletEnabled val="1"/>
        </dgm:presLayoutVars>
      </dgm:prSet>
      <dgm:spPr/>
      <dgm:t>
        <a:bodyPr/>
        <a:lstStyle/>
        <a:p>
          <a:endParaRPr lang="en-US"/>
        </a:p>
      </dgm:t>
    </dgm:pt>
    <dgm:pt modelId="{A101B6B8-037D-40A5-80B1-9E258C2B0A86}" type="pres">
      <dgm:prSet presAssocID="{C0DF0A34-617F-4C75-BB1D-31799A41A9E4}" presName="Parent1" presStyleLbl="revTx" presStyleIdx="1" presStyleCnt="2">
        <dgm:presLayoutVars>
          <dgm:chMax val="1"/>
          <dgm:chPref val="1"/>
          <dgm:bulletEnabled val="1"/>
        </dgm:presLayoutVars>
      </dgm:prSet>
      <dgm:spPr/>
      <dgm:t>
        <a:bodyPr/>
        <a:lstStyle/>
        <a:p>
          <a:endParaRPr lang="en-US"/>
        </a:p>
      </dgm:t>
    </dgm:pt>
  </dgm:ptLst>
  <dgm:cxnLst>
    <dgm:cxn modelId="{07A1FE5E-5CD6-4236-8C9F-BB4064293984}" srcId="{05C9A1B3-FC23-4E74-8AF2-F4A88DD65CC8}" destId="{C0DF0A34-617F-4C75-BB1D-31799A41A9E4}" srcOrd="0" destOrd="0" parTransId="{6C9B84EC-1A3A-41C0-8A37-270B7921E409}" sibTransId="{19A8313D-CD4B-4F18-BD41-9C885BADA663}"/>
    <dgm:cxn modelId="{83BFEAD9-F009-42D4-BAF3-556BFCB2F8E5}" srcId="{C0DF0A34-617F-4C75-BB1D-31799A41A9E4}" destId="{3BFC83FF-05BA-4942-B7DF-3C0FEAF08FA3}" srcOrd="2" destOrd="0" parTransId="{4E8B9E92-1B7E-4760-BBB8-530E55EF8BCD}" sibTransId="{53A81CD8-5786-4EC2-8E3B-10BA4CD5FB8F}"/>
    <dgm:cxn modelId="{6056423F-61EE-4E92-9F6C-7C0E64A9074E}" type="presOf" srcId="{C0DF0A34-617F-4C75-BB1D-31799A41A9E4}" destId="{A101B6B8-037D-40A5-80B1-9E258C2B0A86}" srcOrd="0" destOrd="0" presId="urn:microsoft.com/office/officeart/2009/layout/CircleArrowProcess"/>
    <dgm:cxn modelId="{8E3D5DDF-C74E-4A15-AF1E-307E8DEF9C78}" type="presOf" srcId="{3BFC83FF-05BA-4942-B7DF-3C0FEAF08FA3}" destId="{B2F50737-A595-4DEB-AF61-4DFED5E724A3}" srcOrd="0" destOrd="2" presId="urn:microsoft.com/office/officeart/2009/layout/CircleArrowProcess"/>
    <dgm:cxn modelId="{02049CBE-B282-4F46-9AAE-A28370C13E0C}" type="presOf" srcId="{B989C989-B965-4783-90C0-410C0B350E81}" destId="{B2F50737-A595-4DEB-AF61-4DFED5E724A3}" srcOrd="0" destOrd="1" presId="urn:microsoft.com/office/officeart/2009/layout/CircleArrowProcess"/>
    <dgm:cxn modelId="{24579084-863D-4540-80EF-09669FE90AB8}" srcId="{C0DF0A34-617F-4C75-BB1D-31799A41A9E4}" destId="{96E058BB-8F7F-4B45-B843-8DEE2C7BB1C5}" srcOrd="0" destOrd="0" parTransId="{DEF2802E-2518-4442-9C2C-C1C58A622212}" sibTransId="{6EBF460C-2B9B-4229-99B0-734816740825}"/>
    <dgm:cxn modelId="{11CA49BC-7F69-4AB9-B4F0-1C1E76E40A50}" srcId="{C0DF0A34-617F-4C75-BB1D-31799A41A9E4}" destId="{B989C989-B965-4783-90C0-410C0B350E81}" srcOrd="1" destOrd="0" parTransId="{693581FB-174F-4C59-8F04-27C88AD1C342}" sibTransId="{95D758B8-11C4-42B0-9F65-A457714D5C12}"/>
    <dgm:cxn modelId="{4A01DD3B-F3AA-4BE8-9FE0-F65583A7C947}" type="presOf" srcId="{96E058BB-8F7F-4B45-B843-8DEE2C7BB1C5}" destId="{B2F50737-A595-4DEB-AF61-4DFED5E724A3}" srcOrd="0" destOrd="0" presId="urn:microsoft.com/office/officeart/2009/layout/CircleArrowProcess"/>
    <dgm:cxn modelId="{79C1AE21-7DB5-4E91-9E00-D14687CA3393}" type="presOf" srcId="{05C9A1B3-FC23-4E74-8AF2-F4A88DD65CC8}" destId="{D8779C3A-9D99-4723-AB6E-50B1032EA37E}" srcOrd="0" destOrd="0" presId="urn:microsoft.com/office/officeart/2009/layout/CircleArrowProcess"/>
    <dgm:cxn modelId="{8D8F55ED-C474-4979-A965-0CA37ED12D8D}" type="presParOf" srcId="{D8779C3A-9D99-4723-AB6E-50B1032EA37E}" destId="{CD8FFA55-F298-40A4-8AB0-547A95A4331E}" srcOrd="0" destOrd="0" presId="urn:microsoft.com/office/officeart/2009/layout/CircleArrowProcess"/>
    <dgm:cxn modelId="{1DA99BB4-74A2-45D0-9FC4-3C6FA8FA2FA6}" type="presParOf" srcId="{CD8FFA55-F298-40A4-8AB0-547A95A4331E}" destId="{F1AD6545-10B3-4E80-B977-933384D26C03}" srcOrd="0" destOrd="0" presId="urn:microsoft.com/office/officeart/2009/layout/CircleArrowProcess"/>
    <dgm:cxn modelId="{712DD643-F67C-4F7D-8B19-4BF68F25C713}" type="presParOf" srcId="{D8779C3A-9D99-4723-AB6E-50B1032EA37E}" destId="{B2F50737-A595-4DEB-AF61-4DFED5E724A3}" srcOrd="1" destOrd="0" presId="urn:microsoft.com/office/officeart/2009/layout/CircleArrowProcess"/>
    <dgm:cxn modelId="{BEF1CF78-0F02-4672-9530-9B444471AC58}" type="presParOf" srcId="{D8779C3A-9D99-4723-AB6E-50B1032EA37E}" destId="{A101B6B8-037D-40A5-80B1-9E258C2B0A86}" srcOrd="2"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CA0714-4C37-4572-92FB-2E37AB6EE558}">
      <dsp:nvSpPr>
        <dsp:cNvPr id="0" name=""/>
        <dsp:cNvSpPr/>
      </dsp:nvSpPr>
      <dsp:spPr>
        <a:xfrm>
          <a:off x="0" y="1216"/>
          <a:ext cx="3926260" cy="2355756"/>
        </a:xfrm>
        <a:prstGeom prst="ellipse">
          <a:avLst/>
        </a:prstGeom>
        <a:solidFill>
          <a:schemeClr val="tx1">
            <a:lumMod val="75000"/>
            <a:lumOff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n-US" sz="3700" kern="1200" dirty="0" smtClean="0"/>
            <a:t>Identify gaps in logic </a:t>
          </a:r>
          <a:endParaRPr lang="en-US" sz="3700" kern="1200" dirty="0"/>
        </a:p>
      </dsp:txBody>
      <dsp:txXfrm>
        <a:off x="574987" y="346208"/>
        <a:ext cx="2776286" cy="1665772"/>
      </dsp:txXfrm>
    </dsp:sp>
    <dsp:sp modelId="{FCE9C0B7-59A1-4F5C-B7A9-B658639F9F78}">
      <dsp:nvSpPr>
        <dsp:cNvPr id="0" name=""/>
        <dsp:cNvSpPr/>
      </dsp:nvSpPr>
      <dsp:spPr>
        <a:xfrm>
          <a:off x="7426358" y="2525739"/>
          <a:ext cx="3926260" cy="2355756"/>
        </a:xfrm>
        <a:prstGeom prst="ellipse">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n-US" sz="3700" kern="1200" smtClean="0"/>
            <a:t>Encourages creativity</a:t>
          </a:r>
          <a:endParaRPr lang="en-US" sz="3700" kern="1200"/>
        </a:p>
      </dsp:txBody>
      <dsp:txXfrm>
        <a:off x="8001345" y="2870731"/>
        <a:ext cx="2776286" cy="1665772"/>
      </dsp:txXfrm>
    </dsp:sp>
    <dsp:sp modelId="{26E96FC2-6A36-49AE-94DF-52C265F1EA66}">
      <dsp:nvSpPr>
        <dsp:cNvPr id="0" name=""/>
        <dsp:cNvSpPr/>
      </dsp:nvSpPr>
      <dsp:spPr>
        <a:xfrm>
          <a:off x="3635829" y="1188086"/>
          <a:ext cx="3926260" cy="2355756"/>
        </a:xfrm>
        <a:prstGeom prst="ellipse">
          <a:avLst/>
        </a:prstGeom>
        <a:solidFill>
          <a:schemeClr val="bg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n-US" sz="3700" kern="1200" dirty="0" smtClean="0"/>
            <a:t>A foundation for revision</a:t>
          </a:r>
          <a:endParaRPr lang="en-US" sz="3700" kern="1200" dirty="0"/>
        </a:p>
      </dsp:txBody>
      <dsp:txXfrm>
        <a:off x="4210816" y="1533078"/>
        <a:ext cx="2776286" cy="16657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A5B2A9-D339-4CB7-BA82-2CE1C353DB6F}">
      <dsp:nvSpPr>
        <dsp:cNvPr id="0" name=""/>
        <dsp:cNvSpPr/>
      </dsp:nvSpPr>
      <dsp:spPr>
        <a:xfrm>
          <a:off x="4743625" y="1985268"/>
          <a:ext cx="7115438" cy="934601"/>
        </a:xfrm>
        <a:prstGeom prst="rightArrow">
          <a:avLst>
            <a:gd name="adj1" fmla="val 75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64F704-EB50-4D98-A022-0A7EED2A5E92}">
      <dsp:nvSpPr>
        <dsp:cNvPr id="0" name=""/>
        <dsp:cNvSpPr/>
      </dsp:nvSpPr>
      <dsp:spPr>
        <a:xfrm>
          <a:off x="0" y="2069671"/>
          <a:ext cx="4743625" cy="93460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altLang="en-US" sz="3200" b="1" kern="1200" dirty="0" smtClean="0">
              <a:latin typeface="Candara" pitchFamily="34" charset="0"/>
              <a:cs typeface="Arial" pitchFamily="34" charset="0"/>
            </a:rPr>
            <a:t>Importance</a:t>
          </a:r>
          <a:endParaRPr lang="en-US" sz="3200" kern="1200" dirty="0"/>
        </a:p>
      </dsp:txBody>
      <dsp:txXfrm>
        <a:off x="45623" y="2115294"/>
        <a:ext cx="4652379" cy="843355"/>
      </dsp:txXfrm>
    </dsp:sp>
    <dsp:sp modelId="{A9A438E2-3588-4B9F-BA0E-E7210ABBDFFE}">
      <dsp:nvSpPr>
        <dsp:cNvPr id="0" name=""/>
        <dsp:cNvSpPr/>
      </dsp:nvSpPr>
      <dsp:spPr>
        <a:xfrm>
          <a:off x="4743625" y="1029787"/>
          <a:ext cx="7115438" cy="934601"/>
        </a:xfrm>
        <a:prstGeom prst="rightArrow">
          <a:avLst>
            <a:gd name="adj1" fmla="val 75000"/>
            <a:gd name="adj2" fmla="val 5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A1795E-2093-47A7-A302-BEC0C0B60D13}">
      <dsp:nvSpPr>
        <dsp:cNvPr id="0" name=""/>
        <dsp:cNvSpPr/>
      </dsp:nvSpPr>
      <dsp:spPr>
        <a:xfrm>
          <a:off x="28105" y="0"/>
          <a:ext cx="4743625" cy="934601"/>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altLang="en-US" sz="3200" b="1" kern="1200" smtClean="0">
              <a:latin typeface="Candara" pitchFamily="34" charset="0"/>
              <a:cs typeface="Arial" pitchFamily="34" charset="0"/>
            </a:rPr>
            <a:t>Chronology</a:t>
          </a:r>
          <a:endParaRPr lang="en-US" sz="3200" kern="1200"/>
        </a:p>
      </dsp:txBody>
      <dsp:txXfrm>
        <a:off x="73728" y="45623"/>
        <a:ext cx="4652379" cy="843355"/>
      </dsp:txXfrm>
    </dsp:sp>
    <dsp:sp modelId="{D9E53B39-0560-4BFE-8048-D8CF37EA55D1}">
      <dsp:nvSpPr>
        <dsp:cNvPr id="0" name=""/>
        <dsp:cNvSpPr/>
      </dsp:nvSpPr>
      <dsp:spPr>
        <a:xfrm>
          <a:off x="4743625" y="0"/>
          <a:ext cx="7115438" cy="934601"/>
        </a:xfrm>
        <a:prstGeom prst="rightArrow">
          <a:avLst>
            <a:gd name="adj1" fmla="val 75000"/>
            <a:gd name="adj2" fmla="val 5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0197B0-67F6-426C-AABD-CDB36853F02F}">
      <dsp:nvSpPr>
        <dsp:cNvPr id="0" name=""/>
        <dsp:cNvSpPr/>
      </dsp:nvSpPr>
      <dsp:spPr>
        <a:xfrm>
          <a:off x="0" y="1097284"/>
          <a:ext cx="4743625" cy="934601"/>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altLang="en-US" sz="3200" b="1" kern="1200" dirty="0" smtClean="0">
              <a:latin typeface="Candara" pitchFamily="34" charset="0"/>
              <a:cs typeface="Arial" pitchFamily="34" charset="0"/>
            </a:rPr>
            <a:t>Spatial</a:t>
          </a:r>
          <a:endParaRPr lang="en-US" sz="3200" kern="1200" dirty="0"/>
        </a:p>
      </dsp:txBody>
      <dsp:txXfrm>
        <a:off x="45623" y="1142907"/>
        <a:ext cx="4652379" cy="843355"/>
      </dsp:txXfrm>
    </dsp:sp>
    <dsp:sp modelId="{43052701-059E-480A-9DEF-F5DEAD5CAD77}">
      <dsp:nvSpPr>
        <dsp:cNvPr id="0" name=""/>
        <dsp:cNvSpPr/>
      </dsp:nvSpPr>
      <dsp:spPr>
        <a:xfrm>
          <a:off x="4743625" y="3085910"/>
          <a:ext cx="7115438" cy="934601"/>
        </a:xfrm>
        <a:prstGeom prst="rightArrow">
          <a:avLst>
            <a:gd name="adj1" fmla="val 75000"/>
            <a:gd name="adj2" fmla="val 50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F81F691-BB05-4142-BE34-23762FD04FF3}">
      <dsp:nvSpPr>
        <dsp:cNvPr id="0" name=""/>
        <dsp:cNvSpPr/>
      </dsp:nvSpPr>
      <dsp:spPr>
        <a:xfrm>
          <a:off x="0" y="3085910"/>
          <a:ext cx="4743625" cy="93460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altLang="en-US" sz="3200" b="1" kern="1200" smtClean="0">
              <a:latin typeface="Candara" pitchFamily="34" charset="0"/>
              <a:cs typeface="Arial" pitchFamily="34" charset="0"/>
            </a:rPr>
            <a:t>Problem/Solution</a:t>
          </a:r>
          <a:endParaRPr lang="en-US" sz="3200" kern="1200"/>
        </a:p>
      </dsp:txBody>
      <dsp:txXfrm>
        <a:off x="45623" y="3131533"/>
        <a:ext cx="4652379" cy="843355"/>
      </dsp:txXfrm>
    </dsp:sp>
    <dsp:sp modelId="{E495AB57-53F3-4EE5-AC25-FF0419652A59}">
      <dsp:nvSpPr>
        <dsp:cNvPr id="0" name=""/>
        <dsp:cNvSpPr/>
      </dsp:nvSpPr>
      <dsp:spPr>
        <a:xfrm>
          <a:off x="4743625" y="4113972"/>
          <a:ext cx="7115438" cy="934601"/>
        </a:xfrm>
        <a:prstGeom prst="rightArrow">
          <a:avLst>
            <a:gd name="adj1" fmla="val 75000"/>
            <a:gd name="adj2" fmla="val 50000"/>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FCDF33-809F-4DF2-8B49-217FE9562199}">
      <dsp:nvSpPr>
        <dsp:cNvPr id="0" name=""/>
        <dsp:cNvSpPr/>
      </dsp:nvSpPr>
      <dsp:spPr>
        <a:xfrm>
          <a:off x="0" y="4113972"/>
          <a:ext cx="4743625" cy="934601"/>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altLang="en-US" sz="3200" b="1" kern="1200" smtClean="0">
              <a:latin typeface="Candara" pitchFamily="34" charset="0"/>
              <a:cs typeface="Arial" pitchFamily="34" charset="0"/>
            </a:rPr>
            <a:t>Comparison/Contrast</a:t>
          </a:r>
          <a:endParaRPr lang="en-US" sz="3200" kern="1200"/>
        </a:p>
      </dsp:txBody>
      <dsp:txXfrm>
        <a:off x="45623" y="4159595"/>
        <a:ext cx="4652379" cy="8433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AD6545-10B3-4E80-B977-933384D26C03}">
      <dsp:nvSpPr>
        <dsp:cNvPr id="0" name=""/>
        <dsp:cNvSpPr/>
      </dsp:nvSpPr>
      <dsp:spPr>
        <a:xfrm>
          <a:off x="1270040" y="0"/>
          <a:ext cx="6031483" cy="6032826"/>
        </a:xfrm>
        <a:prstGeom prst="circularArrow">
          <a:avLst>
            <a:gd name="adj1" fmla="val 10980"/>
            <a:gd name="adj2" fmla="val 1142322"/>
            <a:gd name="adj3" fmla="val 9000000"/>
            <a:gd name="adj4" fmla="val 10800000"/>
            <a:gd name="adj5" fmla="val 125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B2F50737-A595-4DEB-AF61-4DFED5E724A3}">
      <dsp:nvSpPr>
        <dsp:cNvPr id="0" name=""/>
        <dsp:cNvSpPr/>
      </dsp:nvSpPr>
      <dsp:spPr>
        <a:xfrm>
          <a:off x="7302489" y="1798385"/>
          <a:ext cx="3619469" cy="2413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ctr" anchorCtr="0">
          <a:noAutofit/>
        </a:bodyPr>
        <a:lstStyle/>
        <a:p>
          <a:pPr marL="285750" lvl="1" indent="-285750" algn="l" defTabSz="2222500">
            <a:lnSpc>
              <a:spcPct val="90000"/>
            </a:lnSpc>
            <a:spcBef>
              <a:spcPct val="0"/>
            </a:spcBef>
            <a:spcAft>
              <a:spcPct val="15000"/>
            </a:spcAft>
            <a:buChar char="••"/>
          </a:pPr>
          <a:r>
            <a:rPr lang="en-US" sz="5000" kern="1200" dirty="0" smtClean="0"/>
            <a:t>Rough </a:t>
          </a:r>
          <a:endParaRPr lang="en-US" sz="5000" kern="1200" dirty="0"/>
        </a:p>
        <a:p>
          <a:pPr marL="285750" lvl="1" indent="-285750" algn="l" defTabSz="2222500">
            <a:lnSpc>
              <a:spcPct val="90000"/>
            </a:lnSpc>
            <a:spcBef>
              <a:spcPct val="0"/>
            </a:spcBef>
            <a:spcAft>
              <a:spcPct val="15000"/>
            </a:spcAft>
            <a:buChar char="••"/>
          </a:pPr>
          <a:r>
            <a:rPr lang="en-US" sz="5000" kern="1200" dirty="0" smtClean="0"/>
            <a:t>Final </a:t>
          </a:r>
          <a:endParaRPr lang="en-US" sz="5000" kern="1200" dirty="0"/>
        </a:p>
        <a:p>
          <a:pPr marL="285750" lvl="1" indent="-285750" algn="l" defTabSz="2222500">
            <a:lnSpc>
              <a:spcPct val="90000"/>
            </a:lnSpc>
            <a:spcBef>
              <a:spcPct val="0"/>
            </a:spcBef>
            <a:spcAft>
              <a:spcPct val="15000"/>
            </a:spcAft>
            <a:buChar char="••"/>
          </a:pPr>
          <a:r>
            <a:rPr lang="en-US" sz="5000" kern="1200" dirty="0" smtClean="0"/>
            <a:t>Working </a:t>
          </a:r>
          <a:endParaRPr lang="en-US" sz="5000" kern="1200" dirty="0"/>
        </a:p>
      </dsp:txBody>
      <dsp:txXfrm>
        <a:off x="7302489" y="1798385"/>
        <a:ext cx="3619469" cy="2413733"/>
      </dsp:txXfrm>
    </dsp:sp>
    <dsp:sp modelId="{A101B6B8-037D-40A5-80B1-9E258C2B0A86}">
      <dsp:nvSpPr>
        <dsp:cNvPr id="0" name=""/>
        <dsp:cNvSpPr/>
      </dsp:nvSpPr>
      <dsp:spPr>
        <a:xfrm>
          <a:off x="2602005" y="2183883"/>
          <a:ext cx="3365623" cy="1682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275" tIns="41275" rIns="41275" bIns="41275" numCol="1" spcCol="1270" anchor="ctr" anchorCtr="0">
          <a:noAutofit/>
        </a:bodyPr>
        <a:lstStyle/>
        <a:p>
          <a:pPr lvl="0" algn="ctr" defTabSz="2889250">
            <a:lnSpc>
              <a:spcPct val="90000"/>
            </a:lnSpc>
            <a:spcBef>
              <a:spcPct val="0"/>
            </a:spcBef>
            <a:spcAft>
              <a:spcPct val="35000"/>
            </a:spcAft>
          </a:pPr>
          <a:r>
            <a:rPr lang="en-US" sz="6500" kern="1200" dirty="0" smtClean="0"/>
            <a:t>Draft </a:t>
          </a:r>
          <a:endParaRPr lang="en-US" sz="6500" kern="1200" dirty="0"/>
        </a:p>
      </dsp:txBody>
      <dsp:txXfrm>
        <a:off x="2602005" y="2183883"/>
        <a:ext cx="3365623" cy="168255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5F8953-A0C1-487C-9761-F8C5D8E4DC10}" type="datetimeFigureOut">
              <a:rPr lang="en-US" smtClean="0"/>
              <a:t>9/26/2025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8C78DD-FDF0-467D-BC38-AA0AB3EEC7A4}" type="slidenum">
              <a:rPr lang="en-US" smtClean="0"/>
              <a:t>‹#›</a:t>
            </a:fld>
            <a:endParaRPr lang="en-US"/>
          </a:p>
        </p:txBody>
      </p:sp>
    </p:spTree>
    <p:extLst>
      <p:ext uri="{BB962C8B-B14F-4D97-AF65-F5344CB8AC3E}">
        <p14:creationId xmlns:p14="http://schemas.microsoft.com/office/powerpoint/2010/main" val="845958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474066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56E29EB-FE3F-4D54-B81D-4B7289560379}"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8C67C5-9439-4D9F-B8F7-195D602E046E}" type="slidenum">
              <a:rPr lang="en-US" smtClean="0"/>
              <a:t>‹#›</a:t>
            </a:fld>
            <a:endParaRPr lang="en-US"/>
          </a:p>
        </p:txBody>
      </p:sp>
    </p:spTree>
    <p:extLst>
      <p:ext uri="{BB962C8B-B14F-4D97-AF65-F5344CB8AC3E}">
        <p14:creationId xmlns:p14="http://schemas.microsoft.com/office/powerpoint/2010/main" val="3097758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6E29EB-FE3F-4D54-B81D-4B7289560379}"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8C67C5-9439-4D9F-B8F7-195D602E046E}" type="slidenum">
              <a:rPr lang="en-US" smtClean="0"/>
              <a:t>‹#›</a:t>
            </a:fld>
            <a:endParaRPr lang="en-US"/>
          </a:p>
        </p:txBody>
      </p:sp>
    </p:spTree>
    <p:extLst>
      <p:ext uri="{BB962C8B-B14F-4D97-AF65-F5344CB8AC3E}">
        <p14:creationId xmlns:p14="http://schemas.microsoft.com/office/powerpoint/2010/main" val="127188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56E29EB-FE3F-4D54-B81D-4B7289560379}"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8C67C5-9439-4D9F-B8F7-195D602E046E}" type="slidenum">
              <a:rPr lang="en-US" smtClean="0"/>
              <a:t>‹#›</a:t>
            </a:fld>
            <a:endParaRPr lang="en-US"/>
          </a:p>
        </p:txBody>
      </p:sp>
    </p:spTree>
    <p:extLst>
      <p:ext uri="{BB962C8B-B14F-4D97-AF65-F5344CB8AC3E}">
        <p14:creationId xmlns:p14="http://schemas.microsoft.com/office/powerpoint/2010/main" val="308811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56E29EB-FE3F-4D54-B81D-4B7289560379}"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8C67C5-9439-4D9F-B8F7-195D602E046E}" type="slidenum">
              <a:rPr lang="en-US" smtClean="0"/>
              <a:t>‹#›</a:t>
            </a:fld>
            <a:endParaRPr lang="en-US"/>
          </a:p>
        </p:txBody>
      </p:sp>
    </p:spTree>
    <p:extLst>
      <p:ext uri="{BB962C8B-B14F-4D97-AF65-F5344CB8AC3E}">
        <p14:creationId xmlns:p14="http://schemas.microsoft.com/office/powerpoint/2010/main" val="930827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56E29EB-FE3F-4D54-B81D-4B7289560379}" type="datetimeFigureOut">
              <a:rPr lang="en-US" smtClean="0"/>
              <a:t>9/26/2025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8C67C5-9439-4D9F-B8F7-195D602E046E}" type="slidenum">
              <a:rPr lang="en-US" smtClean="0"/>
              <a:t>‹#›</a:t>
            </a:fld>
            <a:endParaRPr lang="en-US"/>
          </a:p>
        </p:txBody>
      </p:sp>
    </p:spTree>
    <p:extLst>
      <p:ext uri="{BB962C8B-B14F-4D97-AF65-F5344CB8AC3E}">
        <p14:creationId xmlns:p14="http://schemas.microsoft.com/office/powerpoint/2010/main" val="2644867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56E29EB-FE3F-4D54-B81D-4B7289560379}" type="datetimeFigureOut">
              <a:rPr lang="en-US" smtClean="0"/>
              <a:t>9/26/2025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8C67C5-9439-4D9F-B8F7-195D602E046E}" type="slidenum">
              <a:rPr lang="en-US" smtClean="0"/>
              <a:t>‹#›</a:t>
            </a:fld>
            <a:endParaRPr lang="en-US"/>
          </a:p>
        </p:txBody>
      </p:sp>
    </p:spTree>
    <p:extLst>
      <p:ext uri="{BB962C8B-B14F-4D97-AF65-F5344CB8AC3E}">
        <p14:creationId xmlns:p14="http://schemas.microsoft.com/office/powerpoint/2010/main" val="2196810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6E29EB-FE3F-4D54-B81D-4B7289560379}" type="datetimeFigureOut">
              <a:rPr lang="en-US" smtClean="0"/>
              <a:t>9/26/2025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8C67C5-9439-4D9F-B8F7-195D602E046E}" type="slidenum">
              <a:rPr lang="en-US" smtClean="0"/>
              <a:t>‹#›</a:t>
            </a:fld>
            <a:endParaRPr lang="en-US"/>
          </a:p>
        </p:txBody>
      </p:sp>
    </p:spTree>
    <p:extLst>
      <p:ext uri="{BB962C8B-B14F-4D97-AF65-F5344CB8AC3E}">
        <p14:creationId xmlns:p14="http://schemas.microsoft.com/office/powerpoint/2010/main" val="1649774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56E29EB-FE3F-4D54-B81D-4B7289560379}"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8C67C5-9439-4D9F-B8F7-195D602E046E}" type="slidenum">
              <a:rPr lang="en-US" smtClean="0"/>
              <a:t>‹#›</a:t>
            </a:fld>
            <a:endParaRPr lang="en-US"/>
          </a:p>
        </p:txBody>
      </p:sp>
    </p:spTree>
    <p:extLst>
      <p:ext uri="{BB962C8B-B14F-4D97-AF65-F5344CB8AC3E}">
        <p14:creationId xmlns:p14="http://schemas.microsoft.com/office/powerpoint/2010/main" val="1584911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56E29EB-FE3F-4D54-B81D-4B7289560379}"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8C67C5-9439-4D9F-B8F7-195D602E046E}" type="slidenum">
              <a:rPr lang="en-US" smtClean="0"/>
              <a:t>‹#›</a:t>
            </a:fld>
            <a:endParaRPr lang="en-US"/>
          </a:p>
        </p:txBody>
      </p:sp>
    </p:spTree>
    <p:extLst>
      <p:ext uri="{BB962C8B-B14F-4D97-AF65-F5344CB8AC3E}">
        <p14:creationId xmlns:p14="http://schemas.microsoft.com/office/powerpoint/2010/main" val="211855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6E29EB-FE3F-4D54-B81D-4B7289560379}"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8C67C5-9439-4D9F-B8F7-195D602E046E}" type="slidenum">
              <a:rPr lang="en-US" smtClean="0"/>
              <a:t>‹#›</a:t>
            </a:fld>
            <a:endParaRPr lang="en-US"/>
          </a:p>
        </p:txBody>
      </p:sp>
    </p:spTree>
    <p:extLst>
      <p:ext uri="{BB962C8B-B14F-4D97-AF65-F5344CB8AC3E}">
        <p14:creationId xmlns:p14="http://schemas.microsoft.com/office/powerpoint/2010/main" val="3069472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6E29EB-FE3F-4D54-B81D-4B7289560379}"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8C67C5-9439-4D9F-B8F7-195D602E046E}" type="slidenum">
              <a:rPr lang="en-US" smtClean="0"/>
              <a:t>‹#›</a:t>
            </a:fld>
            <a:endParaRPr lang="en-US"/>
          </a:p>
        </p:txBody>
      </p:sp>
    </p:spTree>
    <p:extLst>
      <p:ext uri="{BB962C8B-B14F-4D97-AF65-F5344CB8AC3E}">
        <p14:creationId xmlns:p14="http://schemas.microsoft.com/office/powerpoint/2010/main" val="3321578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0000"/>
          </a:solidFill>
          <a:ln/>
        </p:spPr>
      </p:sp>
      <p:sp>
        <p:nvSpPr>
          <p:cNvPr id="3" name="Shape 1"/>
          <p:cNvSpPr/>
          <p:nvPr/>
        </p:nvSpPr>
        <p:spPr>
          <a:xfrm>
            <a:off x="0" y="0"/>
            <a:ext cx="12192000" cy="68580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816128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6E29EB-FE3F-4D54-B81D-4B7289560379}" type="datetimeFigureOut">
              <a:rPr lang="en-US" smtClean="0"/>
              <a:t>9/26/2025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C67C5-9439-4D9F-B8F7-195D602E046E}" type="slidenum">
              <a:rPr lang="en-US" smtClean="0"/>
              <a:t>‹#›</a:t>
            </a:fld>
            <a:endParaRPr lang="en-US"/>
          </a:p>
        </p:txBody>
      </p:sp>
    </p:spTree>
    <p:extLst>
      <p:ext uri="{BB962C8B-B14F-4D97-AF65-F5344CB8AC3E}">
        <p14:creationId xmlns:p14="http://schemas.microsoft.com/office/powerpoint/2010/main" val="191667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ltVert">
          <a:fgClr>
            <a:srgbClr val="7030A0"/>
          </a:fgClr>
          <a:bgClr>
            <a:schemeClr val="bg1"/>
          </a:bgClr>
        </a:pattFill>
        <a:effectLst/>
      </p:bgPr>
    </p:bg>
    <p:spTree>
      <p:nvGrpSpPr>
        <p:cNvPr id="1" name=""/>
        <p:cNvGrpSpPr/>
        <p:nvPr/>
      </p:nvGrpSpPr>
      <p:grpSpPr>
        <a:xfrm>
          <a:off x="0" y="0"/>
          <a:ext cx="0" cy="0"/>
          <a:chOff x="0" y="0"/>
          <a:chExt cx="0" cy="0"/>
        </a:xfrm>
      </p:grpSpPr>
      <p:grpSp>
        <p:nvGrpSpPr>
          <p:cNvPr id="6" name="Group 5"/>
          <p:cNvGrpSpPr/>
          <p:nvPr/>
        </p:nvGrpSpPr>
        <p:grpSpPr>
          <a:xfrm>
            <a:off x="5718628" y="1523998"/>
            <a:ext cx="4238171" cy="5159301"/>
            <a:chOff x="7493683" y="-1455352"/>
            <a:chExt cx="3247383" cy="8095110"/>
          </a:xfrm>
          <a:blipFill dpi="0" rotWithShape="1">
            <a:blip r:embed="rId2">
              <a:extLst>
                <a:ext uri="{28A0092B-C50C-407E-A947-70E740481C1C}">
                  <a14:useLocalDpi xmlns:a14="http://schemas.microsoft.com/office/drawing/2010/main" val="0"/>
                </a:ext>
              </a:extLst>
            </a:blip>
            <a:srcRect/>
            <a:stretch>
              <a:fillRect/>
            </a:stretch>
          </a:blipFill>
        </p:grpSpPr>
        <p:sp>
          <p:nvSpPr>
            <p:cNvPr id="3" name="Round Diagonal Corner Rectangle 2"/>
            <p:cNvSpPr/>
            <p:nvPr/>
          </p:nvSpPr>
          <p:spPr>
            <a:xfrm rot="7826973">
              <a:off x="6670172" y="1492157"/>
              <a:ext cx="5654060" cy="1327898"/>
            </a:xfrm>
            <a:prstGeom prst="round2DiagRect">
              <a:avLst>
                <a:gd name="adj1" fmla="val 34314"/>
                <a:gd name="adj2" fmla="val 26471"/>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 Diagonal Corner Rectangle 3"/>
            <p:cNvSpPr/>
            <p:nvPr/>
          </p:nvSpPr>
          <p:spPr>
            <a:xfrm rot="7826973">
              <a:off x="5330602" y="707729"/>
              <a:ext cx="5654060" cy="1327898"/>
            </a:xfrm>
            <a:prstGeom prst="round2DiagRect">
              <a:avLst>
                <a:gd name="adj1" fmla="val 34314"/>
                <a:gd name="adj2" fmla="val 26471"/>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 Diagonal Corner Rectangle 4"/>
            <p:cNvSpPr/>
            <p:nvPr/>
          </p:nvSpPr>
          <p:spPr>
            <a:xfrm rot="7826973">
              <a:off x="7250087" y="3148779"/>
              <a:ext cx="5654060" cy="1327898"/>
            </a:xfrm>
            <a:prstGeom prst="round2DiagRect">
              <a:avLst>
                <a:gd name="adj1" fmla="val 34314"/>
                <a:gd name="adj2" fmla="val 26471"/>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p:cNvSpPr txBox="1"/>
          <p:nvPr/>
        </p:nvSpPr>
        <p:spPr>
          <a:xfrm>
            <a:off x="309489" y="1069145"/>
            <a:ext cx="5739619" cy="1862048"/>
          </a:xfrm>
          <a:prstGeom prst="rect">
            <a:avLst/>
          </a:prstGeom>
          <a:noFill/>
        </p:spPr>
        <p:txBody>
          <a:bodyPr wrap="square" rtlCol="0">
            <a:spAutoFit/>
          </a:bodyPr>
          <a:lstStyle/>
          <a:p>
            <a:r>
              <a:rPr lang="en-US" sz="11500" dirty="0" smtClean="0">
                <a:latin typeface="Harlow Solid Italic" panose="04030604020F02020D02" pitchFamily="82" charset="0"/>
              </a:rPr>
              <a:t>Drafting</a:t>
            </a:r>
            <a:r>
              <a:rPr lang="en-US" sz="2000" dirty="0" smtClean="0">
                <a:latin typeface="Harlow Solid Italic" panose="04030604020F02020D02" pitchFamily="82" charset="0"/>
              </a:rPr>
              <a:t> </a:t>
            </a:r>
            <a:endParaRPr lang="en-US" sz="2000" dirty="0">
              <a:latin typeface="Harlow Solid Italic" panose="04030604020F02020D02" pitchFamily="82" charset="0"/>
            </a:endParaRPr>
          </a:p>
        </p:txBody>
      </p:sp>
      <p:sp>
        <p:nvSpPr>
          <p:cNvPr id="2" name="TextBox 1"/>
          <p:cNvSpPr txBox="1"/>
          <p:nvPr/>
        </p:nvSpPr>
        <p:spPr>
          <a:xfrm>
            <a:off x="459928" y="5405050"/>
            <a:ext cx="6653793" cy="1323439"/>
          </a:xfrm>
          <a:prstGeom prst="rect">
            <a:avLst/>
          </a:prstGeom>
          <a:solidFill>
            <a:srgbClr val="FFC000"/>
          </a:solidFill>
        </p:spPr>
        <p:txBody>
          <a:bodyPr wrap="square" rtlCol="0">
            <a:spAutoFit/>
          </a:bodyPr>
          <a:lstStyle/>
          <a:p>
            <a:r>
              <a:rPr lang="en-US" dirty="0" smtClean="0"/>
              <a:t> </a:t>
            </a:r>
            <a:r>
              <a:rPr lang="en-US" sz="4000" dirty="0"/>
              <a:t>A Comprehensive </a:t>
            </a:r>
            <a:r>
              <a:rPr lang="en-US" sz="4000" dirty="0" smtClean="0"/>
              <a:t>Guide</a:t>
            </a:r>
          </a:p>
          <a:p>
            <a:r>
              <a:rPr lang="en-US" sz="4000" dirty="0" smtClean="0"/>
              <a:t>Lecture 8</a:t>
            </a:r>
            <a:endParaRPr lang="en-US" dirty="0"/>
          </a:p>
        </p:txBody>
      </p:sp>
    </p:spTree>
    <p:extLst>
      <p:ext uri="{BB962C8B-B14F-4D97-AF65-F5344CB8AC3E}">
        <p14:creationId xmlns:p14="http://schemas.microsoft.com/office/powerpoint/2010/main" val="1290152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7791" y="295422"/>
            <a:ext cx="10592972" cy="1015663"/>
          </a:xfrm>
          <a:prstGeom prst="rect">
            <a:avLst/>
          </a:prstGeom>
          <a:solidFill>
            <a:srgbClr val="FFFF00"/>
          </a:solidFill>
        </p:spPr>
        <p:txBody>
          <a:bodyPr wrap="square" rtlCol="0">
            <a:spAutoFit/>
          </a:bodyPr>
          <a:lstStyle/>
          <a:p>
            <a:pPr algn="ctr"/>
            <a:r>
              <a:rPr lang="en-US" sz="6000" b="1" dirty="0" smtClean="0">
                <a:effectLst>
                  <a:outerShdw blurRad="38100" dist="38100" dir="2700000" algn="tl">
                    <a:srgbClr val="000000">
                      <a:alpha val="43137"/>
                    </a:srgbClr>
                  </a:outerShdw>
                </a:effectLst>
              </a:rPr>
              <a:t>Key points </a:t>
            </a:r>
            <a:endParaRPr lang="en-US" sz="6000" b="1" dirty="0">
              <a:effectLst>
                <a:outerShdw blurRad="38100" dist="38100" dir="2700000" algn="tl">
                  <a:srgbClr val="000000">
                    <a:alpha val="43137"/>
                  </a:srgbClr>
                </a:outerShdw>
              </a:effectLst>
            </a:endParaRPr>
          </a:p>
        </p:txBody>
      </p:sp>
      <p:sp>
        <p:nvSpPr>
          <p:cNvPr id="3" name="TextBox 2"/>
          <p:cNvSpPr txBox="1"/>
          <p:nvPr/>
        </p:nvSpPr>
        <p:spPr>
          <a:xfrm>
            <a:off x="281354" y="1448972"/>
            <a:ext cx="11451101" cy="5632311"/>
          </a:xfrm>
          <a:prstGeom prst="rect">
            <a:avLst/>
          </a:prstGeom>
          <a:noFill/>
        </p:spPr>
        <p:txBody>
          <a:bodyPr wrap="square" rtlCol="0">
            <a:spAutoFit/>
          </a:bodyPr>
          <a:lstStyle/>
          <a:p>
            <a:pPr marL="571500" indent="-571500">
              <a:buFont typeface="Arial" panose="020B0604020202020204" pitchFamily="34" charset="0"/>
              <a:buChar char="•"/>
            </a:pPr>
            <a:r>
              <a:rPr lang="en-US" sz="3600" smtClean="0"/>
              <a:t>What is </a:t>
            </a:r>
            <a:r>
              <a:rPr lang="en-US" sz="3600" dirty="0" smtClean="0"/>
              <a:t>drafting</a:t>
            </a:r>
            <a:endParaRPr lang="en-US" sz="3600" dirty="0"/>
          </a:p>
          <a:p>
            <a:pPr marL="571500" indent="-571500">
              <a:buFont typeface="Arial" panose="020B0604020202020204" pitchFamily="34" charset="0"/>
              <a:buChar char="•"/>
            </a:pPr>
            <a:r>
              <a:rPr lang="en-US" sz="3600" dirty="0" smtClean="0"/>
              <a:t>Importance of drafting </a:t>
            </a:r>
          </a:p>
          <a:p>
            <a:pPr marL="571500" indent="-571500">
              <a:buFont typeface="Arial" panose="020B0604020202020204" pitchFamily="34" charset="0"/>
              <a:buChar char="•"/>
            </a:pPr>
            <a:r>
              <a:rPr lang="en-US" sz="3600" dirty="0" smtClean="0"/>
              <a:t>Thesis statement </a:t>
            </a:r>
          </a:p>
          <a:p>
            <a:pPr marL="571500" indent="-571500">
              <a:buFont typeface="Arial" panose="020B0604020202020204" pitchFamily="34" charset="0"/>
              <a:buChar char="•"/>
            </a:pPr>
            <a:r>
              <a:rPr lang="en-US" sz="3600" dirty="0" smtClean="0"/>
              <a:t>Topic sentence</a:t>
            </a:r>
          </a:p>
          <a:p>
            <a:pPr marL="571500" indent="-571500">
              <a:buFont typeface="Arial" panose="020B0604020202020204" pitchFamily="34" charset="0"/>
              <a:buChar char="•"/>
            </a:pPr>
            <a:r>
              <a:rPr lang="en-US" sz="3600" dirty="0" smtClean="0"/>
              <a:t>Sequences of drafting </a:t>
            </a:r>
          </a:p>
          <a:p>
            <a:pPr marL="571500" indent="-571500">
              <a:buFont typeface="Arial" panose="020B0604020202020204" pitchFamily="34" charset="0"/>
              <a:buChar char="•"/>
            </a:pPr>
            <a:r>
              <a:rPr lang="en-US" sz="3600" dirty="0" smtClean="0"/>
              <a:t>Types of Draft</a:t>
            </a:r>
          </a:p>
          <a:p>
            <a:pPr marL="571500" indent="-571500">
              <a:buFont typeface="Arial" panose="020B0604020202020204" pitchFamily="34" charset="0"/>
              <a:buChar char="•"/>
            </a:pPr>
            <a:r>
              <a:rPr lang="en-US" sz="3600" dirty="0" smtClean="0"/>
              <a:t>Key elements of  Draft</a:t>
            </a:r>
          </a:p>
          <a:p>
            <a:pPr marL="571500" indent="-571500">
              <a:buFont typeface="Arial" panose="020B0604020202020204" pitchFamily="34" charset="0"/>
              <a:buChar char="•"/>
            </a:pPr>
            <a:r>
              <a:rPr lang="en-US" sz="3600" dirty="0" smtClean="0"/>
              <a:t>Digital tools and techniques for drafting </a:t>
            </a:r>
          </a:p>
          <a:p>
            <a:pPr marL="571500" indent="-571500">
              <a:buFont typeface="Arial" panose="020B0604020202020204" pitchFamily="34" charset="0"/>
              <a:buChar char="•"/>
            </a:pPr>
            <a:r>
              <a:rPr lang="en-US" sz="3600" dirty="0" smtClean="0"/>
              <a:t>Long vs Shorts  Draft  </a:t>
            </a:r>
          </a:p>
          <a:p>
            <a:r>
              <a:rPr lang="en-US" dirty="0" smtClean="0"/>
              <a:t> </a:t>
            </a:r>
          </a:p>
          <a:p>
            <a:endParaRPr lang="en-US" dirty="0"/>
          </a:p>
        </p:txBody>
      </p:sp>
    </p:spTree>
    <p:extLst>
      <p:ext uri="{BB962C8B-B14F-4D97-AF65-F5344CB8AC3E}">
        <p14:creationId xmlns:p14="http://schemas.microsoft.com/office/powerpoint/2010/main" val="4089407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0"/>
            <a:ext cx="4572000" cy="6858000"/>
          </a:xfrm>
          <a:prstGeom prst="rect">
            <a:avLst/>
          </a:prstGeom>
        </p:spPr>
      </p:pic>
      <p:sp>
        <p:nvSpPr>
          <p:cNvPr id="4" name="Text 0"/>
          <p:cNvSpPr/>
          <p:nvPr/>
        </p:nvSpPr>
        <p:spPr>
          <a:xfrm>
            <a:off x="661492" y="512014"/>
            <a:ext cx="6297018" cy="1771948"/>
          </a:xfrm>
          <a:prstGeom prst="rect">
            <a:avLst/>
          </a:prstGeom>
          <a:noFill/>
          <a:ln/>
        </p:spPr>
        <p:txBody>
          <a:bodyPr wrap="square" lIns="0" tIns="0" rIns="0" bIns="0" rtlCol="0" anchor="t"/>
          <a:lstStyle/>
          <a:p>
            <a:pPr>
              <a:lnSpc>
                <a:spcPts val="4625"/>
              </a:lnSpc>
            </a:pPr>
            <a:r>
              <a:rPr lang="en-US" sz="3708" dirty="0">
                <a:solidFill>
                  <a:srgbClr val="FEFEFE"/>
                </a:solidFill>
                <a:latin typeface="Instrument Sans Medium" pitchFamily="34" charset="0"/>
                <a:ea typeface="Instrument Sans Medium" pitchFamily="34" charset="-122"/>
                <a:cs typeface="Instrument Sans Medium" pitchFamily="34" charset="-120"/>
              </a:rPr>
              <a:t>Unlocking Your Writing Potential: The Power of Drafting</a:t>
            </a:r>
            <a:endParaRPr lang="en-US" sz="3708" dirty="0"/>
          </a:p>
        </p:txBody>
      </p:sp>
      <p:sp>
        <p:nvSpPr>
          <p:cNvPr id="5" name="Text 1"/>
          <p:cNvSpPr/>
          <p:nvPr/>
        </p:nvSpPr>
        <p:spPr>
          <a:xfrm>
            <a:off x="788101" y="2532185"/>
            <a:ext cx="6297018" cy="3235568"/>
          </a:xfrm>
          <a:prstGeom prst="rect">
            <a:avLst/>
          </a:prstGeom>
          <a:noFill/>
          <a:ln/>
        </p:spPr>
        <p:txBody>
          <a:bodyPr wrap="square" lIns="0" tIns="0" rIns="0" bIns="0" rtlCol="0" anchor="t"/>
          <a:lstStyle/>
          <a:p>
            <a:pPr marL="457200" indent="-457200">
              <a:lnSpc>
                <a:spcPts val="2375"/>
              </a:lnSpc>
              <a:buFont typeface="Arial" panose="020B0604020202020204" pitchFamily="34" charset="0"/>
              <a:buChar char="•"/>
            </a:pPr>
            <a:r>
              <a:rPr lang="en-US" sz="3200" dirty="0">
                <a:solidFill>
                  <a:srgbClr val="BFBFBF"/>
                </a:solidFill>
                <a:latin typeface="Open Sans" pitchFamily="34" charset="0"/>
                <a:ea typeface="Open Sans" pitchFamily="34" charset="-122"/>
                <a:cs typeface="Open Sans" pitchFamily="34" charset="-120"/>
              </a:rPr>
              <a:t>Drafting is essential in the writing process</a:t>
            </a:r>
            <a:r>
              <a:rPr lang="en-US" sz="3200" dirty="0" smtClean="0">
                <a:solidFill>
                  <a:srgbClr val="BFBFBF"/>
                </a:solidFill>
                <a:latin typeface="Open Sans" pitchFamily="34" charset="0"/>
                <a:ea typeface="Open Sans" pitchFamily="34" charset="-122"/>
                <a:cs typeface="Open Sans" pitchFamily="34" charset="-120"/>
              </a:rPr>
              <a:t>.</a:t>
            </a:r>
          </a:p>
          <a:p>
            <a:pPr>
              <a:lnSpc>
                <a:spcPts val="2375"/>
              </a:lnSpc>
            </a:pPr>
            <a:endParaRPr lang="en-US" sz="3200" dirty="0" smtClean="0">
              <a:solidFill>
                <a:srgbClr val="BFBFBF"/>
              </a:solidFill>
              <a:latin typeface="Open Sans" pitchFamily="34" charset="0"/>
              <a:ea typeface="Open Sans" pitchFamily="34" charset="-122"/>
              <a:cs typeface="Open Sans" pitchFamily="34" charset="-120"/>
            </a:endParaRPr>
          </a:p>
          <a:p>
            <a:pPr marL="457200" indent="-457200">
              <a:lnSpc>
                <a:spcPts val="2375"/>
              </a:lnSpc>
              <a:buFont typeface="Arial" panose="020B0604020202020204" pitchFamily="34" charset="0"/>
              <a:buChar char="•"/>
            </a:pPr>
            <a:r>
              <a:rPr lang="en-US" sz="3200" dirty="0" smtClean="0">
                <a:solidFill>
                  <a:srgbClr val="BFBFBF"/>
                </a:solidFill>
                <a:latin typeface="Open Sans" pitchFamily="34" charset="0"/>
                <a:ea typeface="Open Sans" pitchFamily="34" charset="-122"/>
                <a:cs typeface="Open Sans" pitchFamily="34" charset="-120"/>
              </a:rPr>
              <a:t> </a:t>
            </a:r>
            <a:r>
              <a:rPr lang="en-US" sz="3200" dirty="0">
                <a:solidFill>
                  <a:srgbClr val="BFBFBF"/>
                </a:solidFill>
                <a:latin typeface="Open Sans" pitchFamily="34" charset="0"/>
                <a:ea typeface="Open Sans" pitchFamily="34" charset="-122"/>
                <a:cs typeface="Open Sans" pitchFamily="34" charset="-120"/>
              </a:rPr>
              <a:t>It helps generate ideas and refine arguments</a:t>
            </a:r>
            <a:r>
              <a:rPr lang="en-US" sz="3200" dirty="0" smtClean="0">
                <a:solidFill>
                  <a:srgbClr val="BFBFBF"/>
                </a:solidFill>
                <a:latin typeface="Open Sans" pitchFamily="34" charset="0"/>
                <a:ea typeface="Open Sans" pitchFamily="34" charset="-122"/>
                <a:cs typeface="Open Sans" pitchFamily="34" charset="-120"/>
              </a:rPr>
              <a:t>.</a:t>
            </a:r>
          </a:p>
          <a:p>
            <a:pPr>
              <a:lnSpc>
                <a:spcPts val="2375"/>
              </a:lnSpc>
            </a:pPr>
            <a:endParaRPr lang="en-US" sz="3200" dirty="0" smtClean="0">
              <a:solidFill>
                <a:srgbClr val="BFBFBF"/>
              </a:solidFill>
              <a:latin typeface="Open Sans" pitchFamily="34" charset="0"/>
              <a:ea typeface="Open Sans" pitchFamily="34" charset="-122"/>
              <a:cs typeface="Open Sans" pitchFamily="34" charset="-120"/>
            </a:endParaRPr>
          </a:p>
          <a:p>
            <a:pPr marL="457200" indent="-457200">
              <a:lnSpc>
                <a:spcPts val="2375"/>
              </a:lnSpc>
              <a:buFont typeface="Arial" panose="020B0604020202020204" pitchFamily="34" charset="0"/>
              <a:buChar char="•"/>
            </a:pPr>
            <a:r>
              <a:rPr lang="en-US" sz="3200" dirty="0" smtClean="0">
                <a:solidFill>
                  <a:srgbClr val="BFBFBF"/>
                </a:solidFill>
                <a:latin typeface="Open Sans" pitchFamily="34" charset="0"/>
                <a:ea typeface="Open Sans" pitchFamily="34" charset="-122"/>
                <a:cs typeface="Open Sans" pitchFamily="34" charset="-120"/>
              </a:rPr>
              <a:t> </a:t>
            </a:r>
            <a:r>
              <a:rPr lang="en-US" sz="3200" dirty="0">
                <a:solidFill>
                  <a:srgbClr val="BFBFBF"/>
                </a:solidFill>
                <a:latin typeface="Open Sans" pitchFamily="34" charset="0"/>
                <a:ea typeface="Open Sans" pitchFamily="34" charset="-122"/>
                <a:cs typeface="Open Sans" pitchFamily="34" charset="-120"/>
              </a:rPr>
              <a:t>Drafting is not just writing but thinking on paper. </a:t>
            </a:r>
            <a:endParaRPr lang="en-US" sz="3200" dirty="0"/>
          </a:p>
        </p:txBody>
      </p:sp>
    </p:spTree>
    <p:extLst>
      <p:ext uri="{BB962C8B-B14F-4D97-AF65-F5344CB8AC3E}">
        <p14:creationId xmlns:p14="http://schemas.microsoft.com/office/powerpoint/2010/main" val="253412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8629" y="145143"/>
            <a:ext cx="11117943" cy="1015663"/>
          </a:xfrm>
          <a:prstGeom prst="rect">
            <a:avLst/>
          </a:prstGeom>
          <a:noFill/>
        </p:spPr>
        <p:txBody>
          <a:bodyPr wrap="square" rtlCol="0">
            <a:spAutoFit/>
          </a:bodyPr>
          <a:lstStyle/>
          <a:p>
            <a:pPr algn="ctr"/>
            <a:r>
              <a:rPr lang="en-US" sz="6000" b="1" dirty="0" smtClean="0">
                <a:effectLst>
                  <a:outerShdw blurRad="38100" dist="38100" dir="2700000" algn="tl">
                    <a:srgbClr val="000000">
                      <a:alpha val="43137"/>
                    </a:srgbClr>
                  </a:outerShdw>
                </a:effectLst>
              </a:rPr>
              <a:t>Introduction</a:t>
            </a:r>
            <a:r>
              <a:rPr lang="en-US" dirty="0" smtClean="0"/>
              <a:t> </a:t>
            </a:r>
            <a:endParaRPr lang="en-US" dirty="0"/>
          </a:p>
        </p:txBody>
      </p:sp>
      <p:sp>
        <p:nvSpPr>
          <p:cNvPr id="4" name="TextBox 3"/>
          <p:cNvSpPr txBox="1"/>
          <p:nvPr/>
        </p:nvSpPr>
        <p:spPr>
          <a:xfrm>
            <a:off x="98475" y="1352550"/>
            <a:ext cx="11943470" cy="5816977"/>
          </a:xfrm>
          <a:prstGeom prst="rect">
            <a:avLst/>
          </a:prstGeom>
          <a:noFill/>
        </p:spPr>
        <p:txBody>
          <a:bodyPr wrap="square" rtlCol="0">
            <a:spAutoFit/>
          </a:bodyPr>
          <a:lstStyle/>
          <a:p>
            <a:pPr marL="285750" indent="-285750">
              <a:buFont typeface="Arial" panose="020B0604020202020204" pitchFamily="34" charset="0"/>
              <a:buChar char="•"/>
            </a:pPr>
            <a:r>
              <a:rPr lang="en-US" sz="3200" dirty="0" smtClean="0"/>
              <a:t>The drafting stage is where you really begin writing.</a:t>
            </a:r>
          </a:p>
          <a:p>
            <a:pPr marL="285750" indent="-285750">
              <a:buFont typeface="Arial" panose="020B0604020202020204" pitchFamily="34" charset="0"/>
              <a:buChar char="•"/>
            </a:pPr>
            <a:r>
              <a:rPr lang="en-US" sz="3200" dirty="0" smtClean="0"/>
              <a:t>The most important thing here is to get words onto paper. </a:t>
            </a:r>
          </a:p>
          <a:p>
            <a:pPr marL="285750" indent="-285750">
              <a:buFont typeface="Arial" panose="020B0604020202020204" pitchFamily="34" charset="0"/>
              <a:buChar char="•"/>
            </a:pPr>
            <a:r>
              <a:rPr lang="en-US" sz="3200" dirty="0" smtClean="0"/>
              <a:t>Don’t worry about grammar, spelling, punctuation or the best wording</a:t>
            </a:r>
            <a:r>
              <a:rPr lang="en-US" sz="3600" dirty="0" smtClean="0"/>
              <a:t>. </a:t>
            </a:r>
            <a:endParaRPr lang="en-US" sz="3600" dirty="0"/>
          </a:p>
          <a:p>
            <a:pPr marL="285750" indent="-285750">
              <a:buFont typeface="Arial" panose="020B0604020202020204" pitchFamily="34" charset="0"/>
              <a:buChar char="•"/>
            </a:pPr>
            <a:r>
              <a:rPr lang="en-GB" altLang="en-US" sz="3200" dirty="0" smtClean="0">
                <a:solidFill>
                  <a:schemeClr val="tx1">
                    <a:lumMod val="75000"/>
                    <a:lumOff val="25000"/>
                  </a:schemeClr>
                </a:solidFill>
                <a:cs typeface="Arial" pitchFamily="34" charset="0"/>
              </a:rPr>
              <a:t>Draft </a:t>
            </a:r>
            <a:r>
              <a:rPr lang="en-GB" altLang="en-US" sz="3200" dirty="0">
                <a:solidFill>
                  <a:schemeClr val="tx1">
                    <a:lumMod val="75000"/>
                    <a:lumOff val="25000"/>
                  </a:schemeClr>
                </a:solidFill>
                <a:cs typeface="Arial" pitchFamily="34" charset="0"/>
              </a:rPr>
              <a:t>is a piece of writing which will probably be changed and improved: </a:t>
            </a:r>
            <a:r>
              <a:rPr lang="en-GB" altLang="en-US" sz="3200" dirty="0">
                <a:solidFill>
                  <a:srgbClr val="FF0000"/>
                </a:solidFill>
                <a:cs typeface="Arial" pitchFamily="34" charset="0"/>
              </a:rPr>
              <a:t>not the final </a:t>
            </a:r>
            <a:r>
              <a:rPr lang="en-GB" altLang="en-US" sz="3200" dirty="0" smtClean="0">
                <a:solidFill>
                  <a:srgbClr val="FF0000"/>
                </a:solidFill>
                <a:cs typeface="Arial" pitchFamily="34" charset="0"/>
              </a:rPr>
              <a:t>copy!</a:t>
            </a:r>
          </a:p>
          <a:p>
            <a:pPr marL="285750" indent="-285750">
              <a:buFont typeface="Arial" panose="020B0604020202020204" pitchFamily="34" charset="0"/>
              <a:buChar char="•"/>
            </a:pPr>
            <a:r>
              <a:rPr lang="en-GB" altLang="en-US" sz="3200" dirty="0" smtClean="0">
                <a:solidFill>
                  <a:schemeClr val="tx1">
                    <a:lumMod val="75000"/>
                    <a:lumOff val="25000"/>
                  </a:schemeClr>
                </a:solidFill>
                <a:cs typeface="Arial" pitchFamily="34" charset="0"/>
              </a:rPr>
              <a:t>The </a:t>
            </a:r>
            <a:r>
              <a:rPr lang="en-GB" altLang="en-US" sz="3200" dirty="0">
                <a:solidFill>
                  <a:schemeClr val="tx1">
                    <a:lumMod val="75000"/>
                    <a:lumOff val="25000"/>
                  </a:schemeClr>
                </a:solidFill>
                <a:cs typeface="Arial" pitchFamily="34" charset="0"/>
              </a:rPr>
              <a:t>dictionary definition says, “</a:t>
            </a:r>
            <a:r>
              <a:rPr lang="en-GB" altLang="en-US" sz="3200" i="1" dirty="0">
                <a:solidFill>
                  <a:srgbClr val="FF0000"/>
                </a:solidFill>
                <a:cs typeface="Arial" pitchFamily="34" charset="0"/>
              </a:rPr>
              <a:t>a draft is preliminary piece of writing</a:t>
            </a:r>
            <a:r>
              <a:rPr lang="en-GB" altLang="en-US" sz="3200" dirty="0" smtClean="0">
                <a:solidFill>
                  <a:schemeClr val="tx1">
                    <a:lumMod val="75000"/>
                    <a:lumOff val="25000"/>
                  </a:schemeClr>
                </a:solidFill>
                <a:cs typeface="Arial" pitchFamily="34" charset="0"/>
              </a:rPr>
              <a:t>”.</a:t>
            </a:r>
          </a:p>
          <a:p>
            <a:pPr marL="285750" indent="-285750">
              <a:buFont typeface="Arial" panose="020B0604020202020204" pitchFamily="34" charset="0"/>
              <a:buChar char="•"/>
            </a:pPr>
            <a:r>
              <a:rPr lang="en-GB" altLang="en-US" sz="3200" dirty="0" smtClean="0">
                <a:solidFill>
                  <a:schemeClr val="tx1">
                    <a:lumMod val="75000"/>
                    <a:lumOff val="25000"/>
                  </a:schemeClr>
                </a:solidFill>
                <a:cs typeface="Arial" pitchFamily="34" charset="0"/>
              </a:rPr>
              <a:t>Writing </a:t>
            </a:r>
            <a:r>
              <a:rPr lang="en-GB" altLang="en-US" sz="3200" dirty="0">
                <a:solidFill>
                  <a:srgbClr val="FF0000"/>
                </a:solidFill>
                <a:cs typeface="Arial" pitchFamily="34" charset="0"/>
              </a:rPr>
              <a:t>more than one draft </a:t>
            </a:r>
            <a:r>
              <a:rPr lang="en-GB" altLang="en-US" sz="3200" dirty="0">
                <a:solidFill>
                  <a:schemeClr val="tx1">
                    <a:lumMod val="75000"/>
                    <a:lumOff val="25000"/>
                  </a:schemeClr>
                </a:solidFill>
                <a:cs typeface="Arial" pitchFamily="34" charset="0"/>
              </a:rPr>
              <a:t>allows you to develop your ideas and to find the best way to present your ideas to your reader.</a:t>
            </a:r>
            <a:endParaRPr lang="en-US" sz="3200" dirty="0">
              <a:solidFill>
                <a:schemeClr val="tx1">
                  <a:lumMod val="75000"/>
                  <a:lumOff val="25000"/>
                </a:schemeClr>
              </a:solidFill>
              <a:cs typeface="Arial" pitchFamily="34" charset="0"/>
            </a:endParaRPr>
          </a:p>
          <a:p>
            <a:pPr marL="285750" indent="-285750">
              <a:buFont typeface="Arial" panose="020B0604020202020204" pitchFamily="34" charset="0"/>
              <a:buChar char="•"/>
            </a:pPr>
            <a:endParaRPr lang="en-US" sz="3600" dirty="0"/>
          </a:p>
        </p:txBody>
      </p:sp>
    </p:spTree>
    <p:extLst>
      <p:ext uri="{BB962C8B-B14F-4D97-AF65-F5344CB8AC3E}">
        <p14:creationId xmlns:p14="http://schemas.microsoft.com/office/powerpoint/2010/main" val="3268339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smtClean="0">
                <a:effectLst>
                  <a:outerShdw blurRad="38100" dist="38100" dir="2700000" algn="tl">
                    <a:srgbClr val="000000">
                      <a:alpha val="43137"/>
                    </a:srgbClr>
                  </a:outerShdw>
                </a:effectLst>
              </a:rPr>
              <a:t>Rough Draft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0" y="1903643"/>
            <a:ext cx="6710766" cy="4820714"/>
          </a:xfrm>
        </p:spPr>
        <p:txBody>
          <a:bodyPr>
            <a:noAutofit/>
          </a:bodyPr>
          <a:lstStyle/>
          <a:p>
            <a:pPr marL="0" indent="0">
              <a:buNone/>
            </a:pPr>
            <a:r>
              <a:rPr lang="en-US" sz="3200" dirty="0"/>
              <a:t>A rough draft is the first version of your piece written with complete sentences and paragraphs. It doesn’t have to be polished—this is where you get your thoughts down without worrying too much about wording or mechanics. The goal is to create a complete version of your piece that you can improve and refine later.</a:t>
            </a:r>
          </a:p>
        </p:txBody>
      </p:sp>
      <p:pic>
        <p:nvPicPr>
          <p:cNvPr id="3074" name="Picture 2" descr="Colorful elements while writing on a page"/>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1903644"/>
            <a:ext cx="5827542" cy="4820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512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 </a:t>
            </a:r>
            <a:r>
              <a:rPr lang="en-US" sz="6700" b="1" dirty="0">
                <a:effectLst>
                  <a:outerShdw blurRad="38100" dist="38100" dir="2700000" algn="tl">
                    <a:srgbClr val="000000">
                      <a:alpha val="43137"/>
                    </a:srgbClr>
                  </a:outerShdw>
                </a:effectLst>
              </a:rPr>
              <a:t>Introduction to Drafting</a:t>
            </a:r>
            <a:r>
              <a:rPr lang="en-US" b="1" dirty="0"/>
              <a:t/>
            </a:r>
            <a:br>
              <a:rPr lang="en-US" b="1" dirty="0"/>
            </a:br>
            <a:endParaRPr lang="en-US" dirty="0"/>
          </a:p>
        </p:txBody>
      </p:sp>
      <p:sp>
        <p:nvSpPr>
          <p:cNvPr id="3" name="Content Placeholder 2"/>
          <p:cNvSpPr>
            <a:spLocks noGrp="1"/>
          </p:cNvSpPr>
          <p:nvPr>
            <p:ph idx="1"/>
          </p:nvPr>
        </p:nvSpPr>
        <p:spPr>
          <a:xfrm>
            <a:off x="0" y="1181686"/>
            <a:ext cx="12056012" cy="5500468"/>
          </a:xfrm>
        </p:spPr>
        <p:txBody>
          <a:bodyPr>
            <a:normAutofit/>
          </a:bodyPr>
          <a:lstStyle/>
          <a:p>
            <a:pPr algn="just"/>
            <a:r>
              <a:rPr lang="en-US" sz="3200" dirty="0" smtClean="0"/>
              <a:t>The </a:t>
            </a:r>
            <a:r>
              <a:rPr lang="en-US" sz="3200" dirty="0"/>
              <a:t>process of creating a preliminary version of a written work</a:t>
            </a:r>
            <a:r>
              <a:rPr lang="en-US" sz="3200" dirty="0" smtClean="0"/>
              <a:t>.</a:t>
            </a:r>
          </a:p>
          <a:p>
            <a:pPr algn="just"/>
            <a:r>
              <a:rPr lang="en-US" sz="3200" dirty="0"/>
              <a:t>Write sentences and paragraphs even if they are not perfect.</a:t>
            </a:r>
          </a:p>
          <a:p>
            <a:pPr algn="just"/>
            <a:r>
              <a:rPr lang="en-US" sz="3200" dirty="0"/>
              <a:t>Create a thesis statement with your main </a:t>
            </a:r>
            <a:r>
              <a:rPr lang="en-US" sz="3200" dirty="0" smtClean="0"/>
              <a:t>idea. </a:t>
            </a:r>
          </a:p>
          <a:p>
            <a:pPr algn="just"/>
            <a:r>
              <a:rPr lang="en-US" sz="3200" dirty="0">
                <a:solidFill>
                  <a:srgbClr val="FF0000"/>
                </a:solidFill>
              </a:rPr>
              <a:t>A thesis statement </a:t>
            </a:r>
            <a:r>
              <a:rPr lang="en-US" sz="3200" dirty="0"/>
              <a:t>is a sentence that sums up the central point of your paper or essay</a:t>
            </a:r>
            <a:r>
              <a:rPr lang="en-US" sz="3200" dirty="0" smtClean="0"/>
              <a:t>. </a:t>
            </a:r>
          </a:p>
          <a:p>
            <a:pPr algn="just"/>
            <a:r>
              <a:rPr lang="en-US" sz="3200" dirty="0" smtClean="0"/>
              <a:t>Example </a:t>
            </a:r>
          </a:p>
          <a:p>
            <a:pPr marL="0" indent="0" algn="just">
              <a:buNone/>
            </a:pPr>
            <a:r>
              <a:rPr lang="en-US" sz="3200" dirty="0">
                <a:solidFill>
                  <a:srgbClr val="C00000"/>
                </a:solidFill>
              </a:rPr>
              <a:t>Climate change poses an existential threat to the global economy, and the transition to a low-carbon economy, while challenging, presents significant opportunities for innovation and sustainable growth.</a:t>
            </a:r>
            <a:endParaRPr lang="en-US" sz="3600" dirty="0" smtClean="0">
              <a:solidFill>
                <a:srgbClr val="C00000"/>
              </a:solidFill>
            </a:endParaRPr>
          </a:p>
          <a:p>
            <a:pPr algn="just"/>
            <a:endParaRPr lang="en-US" sz="3200" dirty="0"/>
          </a:p>
          <a:p>
            <a:pPr algn="just"/>
            <a:endParaRPr lang="en-US" sz="3200" dirty="0" smtClean="0"/>
          </a:p>
          <a:p>
            <a:endParaRPr lang="en-US" dirty="0"/>
          </a:p>
          <a:p>
            <a:endParaRPr lang="en-US" dirty="0"/>
          </a:p>
        </p:txBody>
      </p:sp>
    </p:spTree>
    <p:extLst>
      <p:ext uri="{BB962C8B-B14F-4D97-AF65-F5344CB8AC3E}">
        <p14:creationId xmlns:p14="http://schemas.microsoft.com/office/powerpoint/2010/main" val="109025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0043"/>
            <a:ext cx="10515600" cy="872832"/>
          </a:xfrm>
        </p:spPr>
        <p:txBody>
          <a:bodyPr>
            <a:noAutofit/>
          </a:bodyPr>
          <a:lstStyle/>
          <a:p>
            <a:pPr algn="ctr"/>
            <a:r>
              <a:rPr lang="en-US" sz="6000" b="1" dirty="0">
                <a:effectLst>
                  <a:outerShdw blurRad="38100" dist="38100" dir="2700000" algn="tl">
                    <a:srgbClr val="000000">
                      <a:alpha val="43137"/>
                    </a:srgbClr>
                  </a:outerShdw>
                </a:effectLst>
              </a:rPr>
              <a:t>Importance</a:t>
            </a:r>
          </a:p>
        </p:txBody>
      </p:sp>
      <p:sp>
        <p:nvSpPr>
          <p:cNvPr id="3" name="Content Placeholder 2"/>
          <p:cNvSpPr>
            <a:spLocks noGrp="1"/>
          </p:cNvSpPr>
          <p:nvPr>
            <p:ph idx="1"/>
          </p:nvPr>
        </p:nvSpPr>
        <p:spPr>
          <a:xfrm>
            <a:off x="98474" y="1336430"/>
            <a:ext cx="12093526" cy="5521569"/>
          </a:xfrm>
        </p:spPr>
        <p:txBody>
          <a:bodyPr/>
          <a:lstStyle/>
          <a:p>
            <a:r>
              <a:rPr lang="en-US" dirty="0" smtClean="0"/>
              <a:t>Drafting </a:t>
            </a:r>
            <a:r>
              <a:rPr lang="en-US" dirty="0"/>
              <a:t>helps organize ideas, explore concepts, and establish structure</a:t>
            </a:r>
            <a:r>
              <a:rPr lang="en-US" dirty="0" smtClean="0"/>
              <a:t>.</a:t>
            </a:r>
          </a:p>
          <a:p>
            <a:endParaRPr lang="en-US" dirty="0" smtClean="0"/>
          </a:p>
          <a:p>
            <a:endParaRPr lang="en-US" dirty="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74" y="3516923"/>
            <a:ext cx="12093525" cy="3341076"/>
          </a:xfrm>
          <a:prstGeom prst="rect">
            <a:avLst/>
          </a:prstGeom>
        </p:spPr>
      </p:pic>
    </p:spTree>
    <p:extLst>
      <p:ext uri="{BB962C8B-B14F-4D97-AF65-F5344CB8AC3E}">
        <p14:creationId xmlns:p14="http://schemas.microsoft.com/office/powerpoint/2010/main" val="29827188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26050"/>
          </a:xfrm>
        </p:spPr>
        <p:txBody>
          <a:bodyPr>
            <a:normAutofit fontScale="90000"/>
          </a:bodyPr>
          <a:lstStyle/>
          <a:p>
            <a:pPr algn="ctr"/>
            <a:r>
              <a:rPr lang="en-US" sz="6000" b="1" dirty="0">
                <a:effectLst>
                  <a:outerShdw blurRad="38100" dist="38100" dir="2700000" algn="tl">
                    <a:srgbClr val="000000">
                      <a:alpha val="43137"/>
                    </a:srgbClr>
                  </a:outerShdw>
                </a:effectLst>
              </a:rPr>
              <a:t>Why Drafting Matters</a:t>
            </a:r>
            <a:r>
              <a:rPr lang="en-US" b="1" dirty="0"/>
              <a:t/>
            </a:r>
            <a:br>
              <a:rPr lang="en-US" b="1" dirty="0"/>
            </a:br>
            <a:endParaRPr lang="en-US" dirty="0"/>
          </a:p>
        </p:txBody>
      </p:sp>
      <p:graphicFrame>
        <p:nvGraphicFramePr>
          <p:cNvPr id="4" name="Diagram 3"/>
          <p:cNvGraphicFramePr/>
          <p:nvPr>
            <p:extLst>
              <p:ext uri="{D42A27DB-BD31-4B8C-83A1-F6EECF244321}">
                <p14:modId xmlns:p14="http://schemas.microsoft.com/office/powerpoint/2010/main" val="2636481693"/>
              </p:ext>
            </p:extLst>
          </p:nvPr>
        </p:nvGraphicFramePr>
        <p:xfrm>
          <a:off x="281354" y="1280160"/>
          <a:ext cx="11619914" cy="51065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78314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invX="1"/>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66727"/>
          </a:xfrm>
        </p:spPr>
        <p:txBody>
          <a:bodyPr>
            <a:normAutofit fontScale="90000"/>
          </a:bodyPr>
          <a:lstStyle/>
          <a:p>
            <a:pPr algn="ctr"/>
            <a:r>
              <a:rPr lang="en-US" sz="6000" b="1" dirty="0">
                <a:effectLst>
                  <a:outerShdw blurRad="38100" dist="38100" dir="2700000" algn="tl">
                    <a:srgbClr val="000000">
                      <a:alpha val="43137"/>
                    </a:srgbClr>
                  </a:outerShdw>
                </a:effectLst>
              </a:rPr>
              <a:t>Steps to Start Drafting</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600" dirty="0"/>
              <a:t>Review your prewriting notes.</a:t>
            </a:r>
          </a:p>
          <a:p>
            <a:r>
              <a:rPr lang="en-US" sz="3600" dirty="0"/>
              <a:t>Create an outline.</a:t>
            </a:r>
          </a:p>
          <a:p>
            <a:r>
              <a:rPr lang="en-US" sz="3600" dirty="0"/>
              <a:t>Begin writing without overthinking.</a:t>
            </a:r>
          </a:p>
          <a:p>
            <a:endParaRPr lang="en-US" dirty="0"/>
          </a:p>
        </p:txBody>
      </p:sp>
    </p:spTree>
    <p:extLst>
      <p:ext uri="{BB962C8B-B14F-4D97-AF65-F5344CB8AC3E}">
        <p14:creationId xmlns:p14="http://schemas.microsoft.com/office/powerpoint/2010/main" val="36623614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10457"/>
          </a:xfrm>
        </p:spPr>
        <p:txBody>
          <a:bodyPr>
            <a:normAutofit/>
          </a:bodyPr>
          <a:lstStyle/>
          <a:p>
            <a:r>
              <a:rPr lang="en-US" sz="5400" b="1" dirty="0" smtClean="0">
                <a:effectLst>
                  <a:outerShdw blurRad="38100" dist="38100" dir="2700000" algn="tl">
                    <a:srgbClr val="000000">
                      <a:alpha val="43137"/>
                    </a:srgbClr>
                  </a:outerShdw>
                </a:effectLst>
              </a:rPr>
              <a:t>Some sequences  to organize a Draft </a:t>
            </a:r>
            <a:endParaRPr lang="en-US" sz="54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29508959"/>
              </p:ext>
            </p:extLst>
          </p:nvPr>
        </p:nvGraphicFramePr>
        <p:xfrm>
          <a:off x="154745" y="1575583"/>
          <a:ext cx="11859064" cy="5050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8714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3262"/>
            <a:ext cx="10515600" cy="1140118"/>
          </a:xfrm>
        </p:spPr>
        <p:txBody>
          <a:bodyPr>
            <a:normAutofit fontScale="90000"/>
          </a:bodyPr>
          <a:lstStyle/>
          <a:p>
            <a:pPr algn="ctr"/>
            <a:r>
              <a:rPr lang="en-US" altLang="en-US" sz="6700" b="1" dirty="0">
                <a:solidFill>
                  <a:schemeClr val="tx1">
                    <a:lumMod val="75000"/>
                    <a:lumOff val="25000"/>
                  </a:schemeClr>
                </a:solidFill>
                <a:effectLst>
                  <a:outerShdw blurRad="38100" dist="38100" dir="2700000" algn="tl">
                    <a:srgbClr val="000000">
                      <a:alpha val="43137"/>
                    </a:srgbClr>
                  </a:outerShdw>
                </a:effectLst>
                <a:latin typeface="Candara" pitchFamily="34" charset="0"/>
                <a:cs typeface="Arial" pitchFamily="34" charset="0"/>
              </a:rPr>
              <a:t>Chronological Writing </a:t>
            </a:r>
            <a:r>
              <a:rPr lang="en-US" altLang="en-US" b="1" dirty="0">
                <a:solidFill>
                  <a:schemeClr val="tx1">
                    <a:lumMod val="75000"/>
                    <a:lumOff val="25000"/>
                  </a:schemeClr>
                </a:solidFill>
                <a:latin typeface="Candara" pitchFamily="34" charset="0"/>
                <a:cs typeface="Arial" pitchFamily="34" charset="0"/>
              </a:rPr>
              <a:t/>
            </a:r>
            <a:br>
              <a:rPr lang="en-US" altLang="en-US" b="1" dirty="0">
                <a:solidFill>
                  <a:schemeClr val="tx1">
                    <a:lumMod val="75000"/>
                    <a:lumOff val="25000"/>
                  </a:schemeClr>
                </a:solidFill>
                <a:latin typeface="Candara" pitchFamily="34" charset="0"/>
                <a:cs typeface="Arial" pitchFamily="34" charset="0"/>
              </a:rPr>
            </a:br>
            <a:endParaRPr lang="en-US" dirty="0"/>
          </a:p>
        </p:txBody>
      </p:sp>
      <p:sp>
        <p:nvSpPr>
          <p:cNvPr id="3" name="Content Placeholder 2"/>
          <p:cNvSpPr>
            <a:spLocks noGrp="1"/>
          </p:cNvSpPr>
          <p:nvPr>
            <p:ph idx="1"/>
          </p:nvPr>
        </p:nvSpPr>
        <p:spPr>
          <a:xfrm>
            <a:off x="309489" y="1069145"/>
            <a:ext cx="11591779" cy="5472332"/>
          </a:xfrm>
        </p:spPr>
        <p:txBody>
          <a:bodyPr>
            <a:noAutofit/>
          </a:bodyPr>
          <a:lstStyle/>
          <a:p>
            <a:r>
              <a:rPr lang="en-US" altLang="en-US" sz="3600" dirty="0">
                <a:solidFill>
                  <a:schemeClr val="tx1">
                    <a:lumMod val="75000"/>
                    <a:lumOff val="25000"/>
                  </a:schemeClr>
                </a:solidFill>
                <a:cs typeface="Arial" pitchFamily="34" charset="0"/>
              </a:rPr>
              <a:t>Method of organization to present events and actions as they occurred in time, e.g., Narrative Essays</a:t>
            </a:r>
            <a:r>
              <a:rPr lang="en-US" altLang="en-US" sz="3600" dirty="0" smtClean="0">
                <a:solidFill>
                  <a:schemeClr val="tx1">
                    <a:lumMod val="75000"/>
                    <a:lumOff val="25000"/>
                  </a:schemeClr>
                </a:solidFill>
                <a:cs typeface="Arial" pitchFamily="34" charset="0"/>
              </a:rPr>
              <a:t>.</a:t>
            </a:r>
          </a:p>
          <a:p>
            <a:pPr marL="0" indent="0">
              <a:buNone/>
            </a:pPr>
            <a:endParaRPr lang="en-US" sz="3200" dirty="0" smtClean="0">
              <a:solidFill>
                <a:schemeClr val="tx1">
                  <a:lumMod val="75000"/>
                  <a:lumOff val="25000"/>
                </a:schemeClr>
              </a:solidFill>
              <a:cs typeface="Arial" pitchFamily="34" charset="0"/>
            </a:endParaRPr>
          </a:p>
          <a:p>
            <a:pPr marL="0" indent="0" algn="just">
              <a:buNone/>
            </a:pPr>
            <a:r>
              <a:rPr lang="en-US" sz="3200" dirty="0" smtClean="0">
                <a:solidFill>
                  <a:srgbClr val="FF0000"/>
                </a:solidFill>
              </a:rPr>
              <a:t>"</a:t>
            </a:r>
            <a:r>
              <a:rPr lang="en-US" sz="3200" dirty="0">
                <a:solidFill>
                  <a:srgbClr val="FF0000"/>
                </a:solidFill>
              </a:rPr>
              <a:t>I woke up early, feeling excited for my first day of college. After getting dressed, I grabbed my backpack and left for campus. My first class was at 8 AM, and I made sure to arrive early. The professor introduced the course, and we spent the rest of the hour discussing the syllabus. By lunchtime, I had already met a few classmates, making the transition much easier. As the day ended, I felt relieved and eager to continue my journey."</a:t>
            </a:r>
          </a:p>
        </p:txBody>
      </p:sp>
    </p:spTree>
    <p:extLst>
      <p:ext uri="{BB962C8B-B14F-4D97-AF65-F5344CB8AC3E}">
        <p14:creationId xmlns:p14="http://schemas.microsoft.com/office/powerpoint/2010/main" val="3609128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69780"/>
          </a:xfrm>
        </p:spPr>
        <p:txBody>
          <a:bodyPr>
            <a:normAutofit fontScale="90000"/>
          </a:bodyPr>
          <a:lstStyle/>
          <a:p>
            <a:pPr algn="ctr"/>
            <a:r>
              <a:rPr lang="en-US" altLang="en-US" sz="6000" b="1" dirty="0">
                <a:solidFill>
                  <a:schemeClr val="tx1">
                    <a:lumMod val="75000"/>
                    <a:lumOff val="25000"/>
                  </a:schemeClr>
                </a:solidFill>
                <a:effectLst>
                  <a:outerShdw blurRad="38100" dist="38100" dir="2700000" algn="tl">
                    <a:srgbClr val="000000">
                      <a:alpha val="43137"/>
                    </a:srgbClr>
                  </a:outerShdw>
                </a:effectLst>
                <a:latin typeface="Candara" pitchFamily="34" charset="0"/>
                <a:cs typeface="Arial" pitchFamily="34" charset="0"/>
              </a:rPr>
              <a:t>Spatial Writing </a:t>
            </a:r>
            <a:r>
              <a:rPr lang="en-US" altLang="en-US" b="1" dirty="0">
                <a:solidFill>
                  <a:schemeClr val="tx1">
                    <a:lumMod val="75000"/>
                    <a:lumOff val="25000"/>
                  </a:schemeClr>
                </a:solidFill>
                <a:latin typeface="Candara" pitchFamily="34" charset="0"/>
                <a:cs typeface="Arial" pitchFamily="34" charset="0"/>
              </a:rPr>
              <a:t/>
            </a:r>
            <a:br>
              <a:rPr lang="en-US" altLang="en-US" b="1" dirty="0">
                <a:solidFill>
                  <a:schemeClr val="tx1">
                    <a:lumMod val="75000"/>
                    <a:lumOff val="25000"/>
                  </a:schemeClr>
                </a:solidFill>
                <a:latin typeface="Candara" pitchFamily="34" charset="0"/>
                <a:cs typeface="Arial" pitchFamily="34" charset="0"/>
              </a:rPr>
            </a:br>
            <a:endParaRPr lang="en-US" dirty="0"/>
          </a:p>
        </p:txBody>
      </p:sp>
      <p:sp>
        <p:nvSpPr>
          <p:cNvPr id="3" name="Content Placeholder 2"/>
          <p:cNvSpPr>
            <a:spLocks noGrp="1"/>
          </p:cNvSpPr>
          <p:nvPr>
            <p:ph idx="1"/>
          </p:nvPr>
        </p:nvSpPr>
        <p:spPr>
          <a:xfrm>
            <a:off x="196949" y="1434906"/>
            <a:ext cx="11802794" cy="5134706"/>
          </a:xfrm>
        </p:spPr>
        <p:txBody>
          <a:bodyPr>
            <a:normAutofit/>
          </a:bodyPr>
          <a:lstStyle/>
          <a:p>
            <a:pPr algn="just"/>
            <a:r>
              <a:rPr lang="en-US" sz="3600" dirty="0"/>
              <a:t>Spatial writing describes objects, places, or scenes based on their location and arrangement in space. It often moves from left to right, top to bottom, or near to </a:t>
            </a:r>
            <a:r>
              <a:rPr lang="en-US" sz="3600" dirty="0" smtClean="0"/>
              <a:t>far. e.g. </a:t>
            </a:r>
          </a:p>
          <a:p>
            <a:pPr marL="0" indent="0" algn="just">
              <a:buNone/>
            </a:pPr>
            <a:endParaRPr lang="en-US" sz="3600" dirty="0" smtClean="0"/>
          </a:p>
          <a:p>
            <a:pPr marL="0" indent="0" algn="just">
              <a:buNone/>
            </a:pPr>
            <a:r>
              <a:rPr lang="en-US" sz="3200" dirty="0">
                <a:solidFill>
                  <a:srgbClr val="FF0000"/>
                </a:solidFill>
              </a:rPr>
              <a:t>"As I entered the cozy living room, the first thing I noticed was the large, plush sofa against the far wall, bathed in the soft glow of a nearby lamp. To the left of the sofa, a wooden coffee table sat adorned with a stack of books and a steaming cup of tea</a:t>
            </a:r>
            <a:r>
              <a:rPr lang="en-US" sz="3200" dirty="0" smtClean="0">
                <a:solidFill>
                  <a:srgbClr val="FF0000"/>
                </a:solidFill>
              </a:rPr>
              <a:t>.....”</a:t>
            </a:r>
            <a:endParaRPr lang="en-US" sz="3200" dirty="0">
              <a:solidFill>
                <a:srgbClr val="FF0000"/>
              </a:solidFill>
            </a:endParaRPr>
          </a:p>
        </p:txBody>
      </p:sp>
    </p:spTree>
    <p:extLst>
      <p:ext uri="{BB962C8B-B14F-4D97-AF65-F5344CB8AC3E}">
        <p14:creationId xmlns:p14="http://schemas.microsoft.com/office/powerpoint/2010/main" val="2523481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643" y="393261"/>
            <a:ext cx="10515600" cy="1325563"/>
          </a:xfrm>
        </p:spPr>
        <p:txBody>
          <a:bodyPr>
            <a:normAutofit fontScale="90000"/>
          </a:bodyPr>
          <a:lstStyle/>
          <a:p>
            <a:pPr algn="ctr"/>
            <a:r>
              <a:rPr lang="en-US" altLang="en-US" sz="6000" b="1" dirty="0">
                <a:solidFill>
                  <a:schemeClr val="tx1">
                    <a:lumMod val="75000"/>
                    <a:lumOff val="25000"/>
                  </a:schemeClr>
                </a:solidFill>
                <a:effectLst>
                  <a:outerShdw blurRad="38100" dist="38100" dir="2700000" algn="tl">
                    <a:srgbClr val="000000">
                      <a:alpha val="43137"/>
                    </a:srgbClr>
                  </a:outerShdw>
                </a:effectLst>
                <a:latin typeface="Candara" pitchFamily="34" charset="0"/>
                <a:cs typeface="Arial" pitchFamily="34" charset="0"/>
              </a:rPr>
              <a:t>Writing for Importance</a:t>
            </a:r>
            <a:r>
              <a:rPr lang="en-US" altLang="en-US" b="1" dirty="0">
                <a:solidFill>
                  <a:schemeClr val="tx1">
                    <a:lumMod val="75000"/>
                    <a:lumOff val="25000"/>
                  </a:schemeClr>
                </a:solidFill>
                <a:latin typeface="Candara" pitchFamily="34" charset="0"/>
                <a:cs typeface="Arial" pitchFamily="34" charset="0"/>
              </a:rPr>
              <a:t/>
            </a:r>
            <a:br>
              <a:rPr lang="en-US" altLang="en-US" b="1" dirty="0">
                <a:solidFill>
                  <a:schemeClr val="tx1">
                    <a:lumMod val="75000"/>
                    <a:lumOff val="25000"/>
                  </a:schemeClr>
                </a:solidFill>
                <a:latin typeface="Candara" pitchFamily="34" charset="0"/>
                <a:cs typeface="Arial" pitchFamily="34" charset="0"/>
              </a:rPr>
            </a:br>
            <a:endParaRPr lang="en-US" dirty="0"/>
          </a:p>
        </p:txBody>
      </p:sp>
      <p:sp>
        <p:nvSpPr>
          <p:cNvPr id="3" name="Content Placeholder 2"/>
          <p:cNvSpPr>
            <a:spLocks noGrp="1"/>
          </p:cNvSpPr>
          <p:nvPr>
            <p:ph idx="1"/>
          </p:nvPr>
        </p:nvSpPr>
        <p:spPr>
          <a:xfrm>
            <a:off x="838200" y="1463040"/>
            <a:ext cx="10515600" cy="4713923"/>
          </a:xfrm>
        </p:spPr>
        <p:txBody>
          <a:bodyPr/>
          <a:lstStyle/>
          <a:p>
            <a:r>
              <a:rPr lang="en-US" altLang="en-US" sz="3200" dirty="0">
                <a:solidFill>
                  <a:schemeClr val="tx1">
                    <a:lumMod val="75000"/>
                    <a:lumOff val="25000"/>
                  </a:schemeClr>
                </a:solidFill>
                <a:cs typeface="Arial" pitchFamily="34" charset="0"/>
              </a:rPr>
              <a:t>To highlight the significance of a subject matter.</a:t>
            </a:r>
          </a:p>
          <a:p>
            <a:pPr marL="0" indent="0" algn="just">
              <a:buNone/>
            </a:pPr>
            <a:r>
              <a:rPr lang="en-US" sz="3200" dirty="0">
                <a:solidFill>
                  <a:srgbClr val="FF0000"/>
                </a:solidFill>
              </a:rPr>
              <a:t>"The most crucial reason to adopt renewable energy is its impact on reducing climate change. Fossil fuels release carbon dioxide, which traps heat and leads to global warming. Additionally, renewable energy sources like solar and wind are more sustainable, ensuring long-term energy security. Finally, investing in green energy creates jobs, boosting economic growth while protecting the environment. Given these benefits, transitioning to renewables is essential for a sustainable future."</a:t>
            </a:r>
          </a:p>
        </p:txBody>
      </p:sp>
    </p:spTree>
    <p:extLst>
      <p:ext uri="{BB962C8B-B14F-4D97-AF65-F5344CB8AC3E}">
        <p14:creationId xmlns:p14="http://schemas.microsoft.com/office/powerpoint/2010/main" val="1390677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altLang="en-US" sz="6000" b="1" dirty="0">
                <a:solidFill>
                  <a:schemeClr val="tx1">
                    <a:lumMod val="75000"/>
                    <a:lumOff val="25000"/>
                  </a:schemeClr>
                </a:solidFill>
                <a:effectLst>
                  <a:outerShdw blurRad="38100" dist="38100" dir="2700000" algn="tl">
                    <a:srgbClr val="000000">
                      <a:alpha val="43137"/>
                    </a:srgbClr>
                  </a:outerShdw>
                </a:effectLst>
                <a:latin typeface="Candara" pitchFamily="34" charset="0"/>
                <a:cs typeface="Arial" pitchFamily="34" charset="0"/>
              </a:rPr>
              <a:t>Writing for Problem/Solution</a:t>
            </a:r>
            <a:r>
              <a:rPr lang="en-US" altLang="en-US" b="1" dirty="0">
                <a:solidFill>
                  <a:schemeClr val="tx1">
                    <a:lumMod val="75000"/>
                    <a:lumOff val="25000"/>
                  </a:schemeClr>
                </a:solidFill>
                <a:latin typeface="Candara" pitchFamily="34" charset="0"/>
                <a:cs typeface="Arial" pitchFamily="34" charset="0"/>
              </a:rPr>
              <a:t/>
            </a:r>
            <a:br>
              <a:rPr lang="en-US" altLang="en-US" b="1" dirty="0">
                <a:solidFill>
                  <a:schemeClr val="tx1">
                    <a:lumMod val="75000"/>
                    <a:lumOff val="25000"/>
                  </a:schemeClr>
                </a:solidFill>
                <a:latin typeface="Candara" pitchFamily="34" charset="0"/>
                <a:cs typeface="Arial" pitchFamily="34" charset="0"/>
              </a:rPr>
            </a:br>
            <a:endParaRPr lang="en-US" dirty="0"/>
          </a:p>
        </p:txBody>
      </p:sp>
      <p:sp>
        <p:nvSpPr>
          <p:cNvPr id="3" name="Content Placeholder 2"/>
          <p:cNvSpPr>
            <a:spLocks noGrp="1"/>
          </p:cNvSpPr>
          <p:nvPr>
            <p:ph idx="1"/>
          </p:nvPr>
        </p:nvSpPr>
        <p:spPr>
          <a:xfrm>
            <a:off x="140677" y="1392702"/>
            <a:ext cx="11788725" cy="5247249"/>
          </a:xfrm>
        </p:spPr>
        <p:txBody>
          <a:bodyPr/>
          <a:lstStyle/>
          <a:p>
            <a:r>
              <a:rPr lang="en-US" sz="3600" dirty="0"/>
              <a:t>Problem-solution writing presents an issue, explains its significance, and then offers potential </a:t>
            </a:r>
            <a:r>
              <a:rPr lang="en-US" sz="3600" dirty="0" smtClean="0"/>
              <a:t>solutions.</a:t>
            </a:r>
          </a:p>
          <a:p>
            <a:pPr marL="0" indent="0" algn="just">
              <a:buNone/>
            </a:pPr>
            <a:r>
              <a:rPr lang="en-US" sz="3200" b="1" dirty="0">
                <a:solidFill>
                  <a:srgbClr val="FF0000"/>
                </a:solidFill>
              </a:rPr>
              <a:t>Problem:</a:t>
            </a:r>
            <a:r>
              <a:rPr lang="en-US" sz="3200" dirty="0">
                <a:solidFill>
                  <a:srgbClr val="FF0000"/>
                </a:solidFill>
              </a:rPr>
              <a:t> Many students struggle to access quality education due to financial constraints and geographical barriers. This educational gap limits opportunities for personal and professional </a:t>
            </a:r>
            <a:r>
              <a:rPr lang="en-US" sz="3200" dirty="0" smtClean="0">
                <a:solidFill>
                  <a:srgbClr val="FF0000"/>
                </a:solidFill>
              </a:rPr>
              <a:t>growth.</a:t>
            </a:r>
          </a:p>
          <a:p>
            <a:pPr marL="0" indent="0" algn="just">
              <a:buNone/>
            </a:pPr>
            <a:r>
              <a:rPr lang="en-US" sz="3200" b="1" dirty="0" smtClean="0">
                <a:solidFill>
                  <a:srgbClr val="00B050"/>
                </a:solidFill>
              </a:rPr>
              <a:t>Solution</a:t>
            </a:r>
            <a:r>
              <a:rPr lang="en-US" sz="3200" b="1" dirty="0">
                <a:solidFill>
                  <a:srgbClr val="00B050"/>
                </a:solidFill>
              </a:rPr>
              <a:t>:</a:t>
            </a:r>
            <a:r>
              <a:rPr lang="en-US" sz="3200" dirty="0">
                <a:solidFill>
                  <a:srgbClr val="00B050"/>
                </a:solidFill>
              </a:rPr>
              <a:t> </a:t>
            </a:r>
            <a:r>
              <a:rPr lang="en-US" sz="3200" i="1" dirty="0">
                <a:solidFill>
                  <a:srgbClr val="00B050"/>
                </a:solidFill>
              </a:rPr>
              <a:t>One solution is expanding online learning platforms, making quality education more accessible to students worldwide. Schools and governments can also provide low-cost or free internet access to underprivileged communities. Additionally, scholarship programs can support students who lack financial resources.</a:t>
            </a:r>
            <a:endParaRPr lang="en-US" sz="3200" dirty="0">
              <a:solidFill>
                <a:srgbClr val="00B050"/>
              </a:solidFill>
            </a:endParaRPr>
          </a:p>
          <a:p>
            <a:pPr marL="0" indent="0">
              <a:buNone/>
            </a:pPr>
            <a:endParaRPr lang="en-US" dirty="0"/>
          </a:p>
        </p:txBody>
      </p:sp>
    </p:spTree>
    <p:extLst>
      <p:ext uri="{BB962C8B-B14F-4D97-AF65-F5344CB8AC3E}">
        <p14:creationId xmlns:p14="http://schemas.microsoft.com/office/powerpoint/2010/main" val="1760948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54186"/>
          </a:xfrm>
        </p:spPr>
        <p:txBody>
          <a:bodyPr>
            <a:normAutofit fontScale="90000"/>
          </a:bodyPr>
          <a:lstStyle/>
          <a:p>
            <a:pPr algn="ctr"/>
            <a:r>
              <a:rPr lang="en-US" altLang="en-US" sz="6000" b="1" dirty="0">
                <a:solidFill>
                  <a:schemeClr val="tx1">
                    <a:lumMod val="75000"/>
                    <a:lumOff val="25000"/>
                  </a:schemeClr>
                </a:solidFill>
                <a:effectLst>
                  <a:outerShdw blurRad="38100" dist="38100" dir="2700000" algn="tl">
                    <a:srgbClr val="000000">
                      <a:alpha val="43137"/>
                    </a:srgbClr>
                  </a:outerShdw>
                </a:effectLst>
                <a:latin typeface="Candara" pitchFamily="34" charset="0"/>
                <a:cs typeface="Arial" pitchFamily="34" charset="0"/>
              </a:rPr>
              <a:t>Writing for Comparison/Contrast</a:t>
            </a:r>
            <a:r>
              <a:rPr lang="en-US" altLang="en-US" b="1" dirty="0">
                <a:solidFill>
                  <a:schemeClr val="tx1">
                    <a:lumMod val="75000"/>
                    <a:lumOff val="25000"/>
                  </a:schemeClr>
                </a:solidFill>
                <a:latin typeface="Candara" pitchFamily="34" charset="0"/>
                <a:cs typeface="Arial" pitchFamily="34" charset="0"/>
              </a:rPr>
              <a:t/>
            </a:r>
            <a:br>
              <a:rPr lang="en-US" altLang="en-US" b="1" dirty="0">
                <a:solidFill>
                  <a:schemeClr val="tx1">
                    <a:lumMod val="75000"/>
                    <a:lumOff val="25000"/>
                  </a:schemeClr>
                </a:solidFill>
                <a:latin typeface="Candara" pitchFamily="34" charset="0"/>
                <a:cs typeface="Arial" pitchFamily="34" charset="0"/>
              </a:rPr>
            </a:br>
            <a:endParaRPr lang="en-US" dirty="0"/>
          </a:p>
        </p:txBody>
      </p:sp>
      <p:sp>
        <p:nvSpPr>
          <p:cNvPr id="3" name="Content Placeholder 2"/>
          <p:cNvSpPr>
            <a:spLocks noGrp="1"/>
          </p:cNvSpPr>
          <p:nvPr>
            <p:ph idx="1"/>
          </p:nvPr>
        </p:nvSpPr>
        <p:spPr>
          <a:xfrm>
            <a:off x="168811" y="998806"/>
            <a:ext cx="11760591" cy="5683348"/>
          </a:xfrm>
        </p:spPr>
        <p:txBody>
          <a:bodyPr>
            <a:normAutofit fontScale="70000" lnSpcReduction="20000"/>
          </a:bodyPr>
          <a:lstStyle/>
          <a:p>
            <a:r>
              <a:rPr lang="en-US" altLang="en-US" sz="4600" dirty="0">
                <a:solidFill>
                  <a:schemeClr val="tx1">
                    <a:lumMod val="75000"/>
                    <a:lumOff val="25000"/>
                  </a:schemeClr>
                </a:solidFill>
                <a:cs typeface="Arial" pitchFamily="34" charset="0"/>
              </a:rPr>
              <a:t>To provide a comparative analysis</a:t>
            </a:r>
            <a:r>
              <a:rPr lang="en-US" altLang="en-US" sz="4600" dirty="0" smtClean="0">
                <a:solidFill>
                  <a:schemeClr val="tx1">
                    <a:lumMod val="75000"/>
                    <a:lumOff val="25000"/>
                  </a:schemeClr>
                </a:solidFill>
                <a:cs typeface="Arial" pitchFamily="34" charset="0"/>
              </a:rPr>
              <a:t>.</a:t>
            </a:r>
          </a:p>
          <a:p>
            <a:pPr marL="0" indent="0">
              <a:buNone/>
            </a:pPr>
            <a:r>
              <a:rPr lang="en-US" sz="4100" b="1" dirty="0">
                <a:solidFill>
                  <a:srgbClr val="FF0000"/>
                </a:solidFill>
              </a:rPr>
              <a:t>Public Schools</a:t>
            </a:r>
            <a:r>
              <a:rPr lang="en-US" sz="4100" dirty="0">
                <a:solidFill>
                  <a:srgbClr val="FF0000"/>
                </a:solidFill>
              </a:rPr>
              <a:t/>
            </a:r>
            <a:br>
              <a:rPr lang="en-US" sz="4100" dirty="0">
                <a:solidFill>
                  <a:srgbClr val="FF0000"/>
                </a:solidFill>
              </a:rPr>
            </a:br>
            <a:r>
              <a:rPr lang="en-US" sz="4100" dirty="0">
                <a:solidFill>
                  <a:srgbClr val="FF0000"/>
                </a:solidFill>
              </a:rPr>
              <a:t>"Public schools are government-funded and open to all students, making them more accessible. They offer diverse student populations, exposing children to different cultures and backgrounds. However, they often have larger class sizes, which can make it challenging for teachers to provide individual attention."</a:t>
            </a:r>
          </a:p>
          <a:p>
            <a:pPr marL="0" indent="0">
              <a:buNone/>
            </a:pPr>
            <a:r>
              <a:rPr lang="en-US" sz="4100" b="1" dirty="0"/>
              <a:t>Private Schools</a:t>
            </a:r>
            <a:r>
              <a:rPr lang="en-US" sz="4100" dirty="0"/>
              <a:t/>
            </a:r>
            <a:br>
              <a:rPr lang="en-US" sz="4100" dirty="0"/>
            </a:br>
            <a:r>
              <a:rPr lang="en-US" sz="4100" dirty="0"/>
              <a:t>"Private schools, on the other hand, charge tuition and often have smaller class sizes, allowing for a more personalized education. They may offer specialized curriculums or religious education. However, the cost can be a barrier for many families, and admission is selective."</a:t>
            </a:r>
          </a:p>
          <a:p>
            <a:pPr marL="0" indent="0">
              <a:buNone/>
            </a:pPr>
            <a:r>
              <a:rPr lang="en-US" sz="4100" b="1" dirty="0" smtClean="0"/>
              <a:t>Conclusion</a:t>
            </a:r>
          </a:p>
          <a:p>
            <a:pPr marL="0" indent="0" algn="just">
              <a:buNone/>
            </a:pPr>
            <a:r>
              <a:rPr lang="en-US" sz="4600" dirty="0" smtClean="0">
                <a:solidFill>
                  <a:srgbClr val="FF0000"/>
                </a:solidFill>
              </a:rPr>
              <a:t>Both </a:t>
            </a:r>
            <a:r>
              <a:rPr lang="en-US" sz="4600" dirty="0">
                <a:solidFill>
                  <a:srgbClr val="FF0000"/>
                </a:solidFill>
              </a:rPr>
              <a:t>public and private schools offer quality education, but the choice depends on financial factors, class size preferences, and specific academic needs.</a:t>
            </a:r>
          </a:p>
          <a:p>
            <a:pPr marL="0" indent="0">
              <a:buNone/>
            </a:pPr>
            <a:endParaRPr lang="en-US" altLang="en-US" sz="3600" dirty="0">
              <a:solidFill>
                <a:schemeClr val="tx1">
                  <a:lumMod val="75000"/>
                  <a:lumOff val="25000"/>
                </a:schemeClr>
              </a:solidFill>
              <a:cs typeface="Arial" pitchFamily="34" charset="0"/>
            </a:endParaRPr>
          </a:p>
          <a:p>
            <a:pPr marL="0" indent="0">
              <a:buNone/>
            </a:pPr>
            <a:endParaRPr lang="en-US" dirty="0"/>
          </a:p>
        </p:txBody>
      </p:sp>
    </p:spTree>
    <p:extLst>
      <p:ext uri="{BB962C8B-B14F-4D97-AF65-F5344CB8AC3E}">
        <p14:creationId xmlns:p14="http://schemas.microsoft.com/office/powerpoint/2010/main" val="4150306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6942" y="351692"/>
            <a:ext cx="10156873" cy="1323439"/>
          </a:xfrm>
          <a:prstGeom prst="rect">
            <a:avLst/>
          </a:prstGeom>
          <a:noFill/>
        </p:spPr>
        <p:txBody>
          <a:bodyPr wrap="square" rtlCol="0">
            <a:spAutoFit/>
          </a:bodyPr>
          <a:lstStyle/>
          <a:p>
            <a:r>
              <a:rPr lang="en-US" sz="8000" b="1" dirty="0" smtClean="0">
                <a:effectLst>
                  <a:outerShdw blurRad="38100" dist="38100" dir="2700000" algn="tl">
                    <a:srgbClr val="000000">
                      <a:alpha val="43137"/>
                    </a:srgbClr>
                  </a:outerShdw>
                </a:effectLst>
              </a:rPr>
              <a:t>Pre-writing vs Drafting </a:t>
            </a:r>
            <a:endParaRPr lang="en-US" sz="8000" b="1" dirty="0">
              <a:effectLst>
                <a:outerShdw blurRad="38100" dist="38100" dir="2700000" algn="tl">
                  <a:srgbClr val="000000">
                    <a:alpha val="43137"/>
                  </a:srgbClr>
                </a:outerShdw>
              </a:effectLst>
            </a:endParaRPr>
          </a:p>
        </p:txBody>
      </p:sp>
      <p:grpSp>
        <p:nvGrpSpPr>
          <p:cNvPr id="3" name="Group 2"/>
          <p:cNvGrpSpPr/>
          <p:nvPr/>
        </p:nvGrpSpPr>
        <p:grpSpPr>
          <a:xfrm>
            <a:off x="0" y="1675131"/>
            <a:ext cx="5071091" cy="3866056"/>
            <a:chOff x="1641" y="376"/>
            <a:chExt cx="3464719" cy="3464718"/>
          </a:xfrm>
          <a:solidFill>
            <a:srgbClr val="C00000"/>
          </a:solidFill>
        </p:grpSpPr>
        <p:sp>
          <p:nvSpPr>
            <p:cNvPr id="4" name="Up Arrow 3"/>
            <p:cNvSpPr/>
            <p:nvPr/>
          </p:nvSpPr>
          <p:spPr>
            <a:xfrm rot="16200000">
              <a:off x="1641" y="376"/>
              <a:ext cx="3464718" cy="3464718"/>
            </a:xfrm>
            <a:prstGeom prst="upArrow">
              <a:avLst>
                <a:gd name="adj1" fmla="val 50000"/>
                <a:gd name="adj2" fmla="val 35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5" name="Up Arrow 4"/>
            <p:cNvSpPr txBox="1"/>
            <p:nvPr/>
          </p:nvSpPr>
          <p:spPr>
            <a:xfrm rot="21600000">
              <a:off x="607968" y="866554"/>
              <a:ext cx="2858392" cy="173235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US" sz="3600" kern="1200" dirty="0" smtClean="0"/>
                <a:t>Brainstorming, researching, and outlining</a:t>
              </a:r>
              <a:endParaRPr lang="en-US" sz="3600" kern="1200" dirty="0"/>
            </a:p>
          </p:txBody>
        </p:sp>
      </p:grpSp>
      <p:grpSp>
        <p:nvGrpSpPr>
          <p:cNvPr id="6" name="Group 5"/>
          <p:cNvGrpSpPr/>
          <p:nvPr/>
        </p:nvGrpSpPr>
        <p:grpSpPr>
          <a:xfrm rot="5400000">
            <a:off x="7240437" y="992896"/>
            <a:ext cx="3866052" cy="5230525"/>
            <a:chOff x="2331640" y="376"/>
            <a:chExt cx="3464718" cy="3464718"/>
          </a:xfrm>
        </p:grpSpPr>
        <p:sp>
          <p:nvSpPr>
            <p:cNvPr id="7" name="Up Arrow 6"/>
            <p:cNvSpPr/>
            <p:nvPr/>
          </p:nvSpPr>
          <p:spPr>
            <a:xfrm>
              <a:off x="2331640" y="376"/>
              <a:ext cx="3464718" cy="3464718"/>
            </a:xfrm>
            <a:prstGeom prst="upArrow">
              <a:avLst>
                <a:gd name="adj1" fmla="val 50000"/>
                <a:gd name="adj2" fmla="val 35000"/>
              </a:avLst>
            </a:prstGeom>
            <a:solidFill>
              <a:srgbClr val="FF000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Up Arrow 4"/>
            <p:cNvSpPr txBox="1"/>
            <p:nvPr/>
          </p:nvSpPr>
          <p:spPr>
            <a:xfrm>
              <a:off x="3197820" y="606702"/>
              <a:ext cx="1732359" cy="2858392"/>
            </a:xfrm>
            <a:prstGeom prst="rect">
              <a:avLst/>
            </a:prstGeom>
            <a:solidFill>
              <a:srgbClr val="FF0000"/>
            </a:solidFill>
          </p:spPr>
          <p:style>
            <a:lnRef idx="0">
              <a:scrgbClr r="0" g="0" b="0"/>
            </a:lnRef>
            <a:fillRef idx="0">
              <a:scrgbClr r="0" g="0" b="0"/>
            </a:fillRef>
            <a:effectRef idx="0">
              <a:scrgbClr r="0" g="0" b="0"/>
            </a:effectRef>
            <a:fontRef idx="minor">
              <a:schemeClr val="lt1"/>
            </a:fontRef>
          </p:style>
          <p:txBody>
            <a:bodyPr spcFirstLastPara="0" vert="vert270" wrap="square" lIns="177800" tIns="177800" rIns="177800" bIns="177800" numCol="1" spcCol="1270" anchor="ctr" anchorCtr="0">
              <a:noAutofit/>
            </a:bodyPr>
            <a:lstStyle/>
            <a:p>
              <a:pPr lvl="0" algn="ctr" defTabSz="1111250">
                <a:lnSpc>
                  <a:spcPct val="90000"/>
                </a:lnSpc>
                <a:spcBef>
                  <a:spcPct val="0"/>
                </a:spcBef>
                <a:spcAft>
                  <a:spcPct val="35000"/>
                </a:spcAft>
              </a:pPr>
              <a:r>
                <a:rPr lang="en-US" sz="3200" kern="1200" dirty="0" smtClean="0"/>
                <a:t>Turning ideas into a structured written form</a:t>
              </a:r>
              <a:endParaRPr lang="en-US" sz="3200" kern="1200" dirty="0"/>
            </a:p>
          </p:txBody>
        </p:sp>
      </p:grpSp>
    </p:spTree>
    <p:extLst>
      <p:ext uri="{BB962C8B-B14F-4D97-AF65-F5344CB8AC3E}">
        <p14:creationId xmlns:p14="http://schemas.microsoft.com/office/powerpoint/2010/main" val="139639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658" y="56884"/>
            <a:ext cx="10515600" cy="1325563"/>
          </a:xfrm>
        </p:spPr>
        <p:txBody>
          <a:bodyPr>
            <a:normAutofit fontScale="90000"/>
          </a:bodyPr>
          <a:lstStyle/>
          <a:p>
            <a:pPr algn="ctr"/>
            <a:r>
              <a:rPr lang="en-US" sz="6700" b="1" dirty="0">
                <a:effectLst>
                  <a:outerShdw blurRad="38100" dist="38100" dir="2700000" algn="tl">
                    <a:srgbClr val="000000">
                      <a:alpha val="43137"/>
                    </a:srgbClr>
                  </a:outerShdw>
                </a:effectLst>
              </a:rPr>
              <a:t>Types of Drafts</a:t>
            </a:r>
            <a:r>
              <a:rPr lang="en-US" b="1" dirty="0"/>
              <a:t/>
            </a:r>
            <a:br>
              <a:rPr lang="en-US" b="1" dirty="0"/>
            </a:br>
            <a:endParaRPr lang="en-US" dirty="0"/>
          </a:p>
        </p:txBody>
      </p:sp>
      <p:graphicFrame>
        <p:nvGraphicFramePr>
          <p:cNvPr id="4" name="Diagram 3"/>
          <p:cNvGraphicFramePr/>
          <p:nvPr>
            <p:extLst>
              <p:ext uri="{D42A27DB-BD31-4B8C-83A1-F6EECF244321}">
                <p14:modId xmlns:p14="http://schemas.microsoft.com/office/powerpoint/2010/main" val="1197975822"/>
              </p:ext>
            </p:extLst>
          </p:nvPr>
        </p:nvGraphicFramePr>
        <p:xfrm>
          <a:off x="0" y="719666"/>
          <a:ext cx="12192000" cy="60328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87196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 y="1350498"/>
            <a:ext cx="11226018" cy="2308324"/>
          </a:xfrm>
          <a:prstGeom prst="rect">
            <a:avLst/>
          </a:prstGeom>
          <a:noFill/>
        </p:spPr>
        <p:txBody>
          <a:bodyPr wrap="square" rtlCol="0">
            <a:spAutoFit/>
          </a:bodyPr>
          <a:lstStyle/>
          <a:p>
            <a:pPr marL="571500" indent="-571500" algn="just">
              <a:buFont typeface="Arial" panose="020B0604020202020204" pitchFamily="34" charset="0"/>
              <a:buChar char="•"/>
            </a:pPr>
            <a:r>
              <a:rPr lang="en-US" sz="3600" dirty="0" smtClean="0"/>
              <a:t>It is a </a:t>
            </a:r>
            <a:r>
              <a:rPr lang="en-US" sz="3600" dirty="0"/>
              <a:t>piece of text, </a:t>
            </a:r>
            <a:r>
              <a:rPr lang="en-US" sz="3600" b="1" dirty="0">
                <a:solidFill>
                  <a:srgbClr val="002060"/>
                </a:solidFill>
                <a:effectLst>
                  <a:outerShdw blurRad="38100" dist="38100" dir="2700000" algn="tl">
                    <a:srgbClr val="000000">
                      <a:alpha val="43137"/>
                    </a:srgbClr>
                  </a:outerShdw>
                </a:effectLst>
              </a:rPr>
              <a:t>a formal suggestion, or a drawing in its original state</a:t>
            </a:r>
            <a:r>
              <a:rPr lang="en-US" sz="3600" dirty="0"/>
              <a:t>, often </a:t>
            </a:r>
            <a:r>
              <a:rPr lang="en-US" sz="3600" dirty="0" smtClean="0"/>
              <a:t>but </a:t>
            </a:r>
            <a:r>
              <a:rPr lang="en-US" sz="3600" dirty="0">
                <a:solidFill>
                  <a:srgbClr val="C00000"/>
                </a:solidFill>
              </a:rPr>
              <a:t>not </a:t>
            </a:r>
            <a:r>
              <a:rPr lang="en-US" sz="3600" dirty="0" smtClean="0">
                <a:solidFill>
                  <a:srgbClr val="C00000"/>
                </a:solidFill>
              </a:rPr>
              <a:t>the developed form. </a:t>
            </a:r>
            <a:r>
              <a:rPr lang="en-US" sz="3600" b="1" dirty="0">
                <a:solidFill>
                  <a:srgbClr val="C00000"/>
                </a:solidFill>
                <a:effectLst>
                  <a:outerShdw blurRad="38100" dist="38100" dir="2700000" algn="tl">
                    <a:srgbClr val="000000">
                      <a:alpha val="43137"/>
                    </a:srgbClr>
                  </a:outerShdw>
                </a:effectLst>
              </a:rPr>
              <a:t>containing the main ideas and </a:t>
            </a:r>
            <a:r>
              <a:rPr lang="en-US" sz="3600" b="1" dirty="0" smtClean="0">
                <a:solidFill>
                  <a:srgbClr val="C00000"/>
                </a:solidFill>
                <a:effectLst>
                  <a:outerShdw blurRad="38100" dist="38100" dir="2700000" algn="tl">
                    <a:srgbClr val="000000">
                      <a:alpha val="43137"/>
                    </a:srgbClr>
                  </a:outerShdw>
                </a:effectLst>
              </a:rPr>
              <a:t>intentions.</a:t>
            </a:r>
          </a:p>
          <a:p>
            <a:pPr algn="just"/>
            <a:endParaRPr lang="en-US" sz="3600" dirty="0">
              <a:solidFill>
                <a:srgbClr val="C00000"/>
              </a:solidFill>
            </a:endParaRPr>
          </a:p>
        </p:txBody>
      </p:sp>
      <p:sp>
        <p:nvSpPr>
          <p:cNvPr id="3" name="TextBox 2"/>
          <p:cNvSpPr txBox="1"/>
          <p:nvPr/>
        </p:nvSpPr>
        <p:spPr>
          <a:xfrm>
            <a:off x="1378633" y="154744"/>
            <a:ext cx="9622301" cy="1015663"/>
          </a:xfrm>
          <a:prstGeom prst="rect">
            <a:avLst/>
          </a:prstGeom>
          <a:noFill/>
        </p:spPr>
        <p:txBody>
          <a:bodyPr wrap="square" rtlCol="0">
            <a:spAutoFit/>
          </a:bodyPr>
          <a:lstStyle/>
          <a:p>
            <a:pPr algn="ctr"/>
            <a:r>
              <a:rPr lang="en-US" sz="6000" b="1" dirty="0">
                <a:effectLst>
                  <a:outerShdw blurRad="38100" dist="38100" dir="2700000" algn="tl">
                    <a:srgbClr val="000000">
                      <a:alpha val="43137"/>
                    </a:srgbClr>
                  </a:outerShdw>
                </a:effectLst>
              </a:rPr>
              <a:t>Rough Draft</a:t>
            </a:r>
          </a:p>
        </p:txBody>
      </p:sp>
      <p:pic>
        <p:nvPicPr>
          <p:cNvPr id="4" name="Image 0" descr="preencoded.png"/>
          <p:cNvPicPr>
            <a:picLocks noChangeAspect="1"/>
          </p:cNvPicPr>
          <p:nvPr/>
        </p:nvPicPr>
        <p:blipFill>
          <a:blip r:embed="rId2"/>
          <a:stretch>
            <a:fillRect/>
          </a:stretch>
        </p:blipFill>
        <p:spPr>
          <a:xfrm>
            <a:off x="0" y="3376247"/>
            <a:ext cx="12182620" cy="3481754"/>
          </a:xfrm>
          <a:prstGeom prst="rect">
            <a:avLst/>
          </a:prstGeom>
        </p:spPr>
      </p:pic>
    </p:spTree>
    <p:extLst>
      <p:ext uri="{BB962C8B-B14F-4D97-AF65-F5344CB8AC3E}">
        <p14:creationId xmlns:p14="http://schemas.microsoft.com/office/powerpoint/2010/main" val="21247123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68253"/>
          </a:xfrm>
        </p:spPr>
        <p:txBody>
          <a:bodyPr>
            <a:normAutofit fontScale="90000"/>
          </a:bodyPr>
          <a:lstStyle/>
          <a:p>
            <a:pPr algn="ctr"/>
            <a:r>
              <a:rPr lang="en-US" altLang="en-US" sz="6000" b="1" dirty="0">
                <a:solidFill>
                  <a:schemeClr val="tx1">
                    <a:lumMod val="75000"/>
                    <a:lumOff val="25000"/>
                  </a:schemeClr>
                </a:solidFill>
                <a:effectLst>
                  <a:outerShdw blurRad="38100" dist="38100" dir="2700000" algn="tl">
                    <a:srgbClr val="000000">
                      <a:alpha val="43137"/>
                    </a:srgbClr>
                  </a:outerShdw>
                </a:effectLst>
                <a:latin typeface="Candara" pitchFamily="34" charset="0"/>
                <a:cs typeface="Arial" pitchFamily="34" charset="0"/>
              </a:rPr>
              <a:t>Rough Draft</a:t>
            </a:r>
            <a:r>
              <a:rPr lang="en-US" altLang="en-US" b="1" dirty="0">
                <a:solidFill>
                  <a:schemeClr val="tx1">
                    <a:lumMod val="75000"/>
                    <a:lumOff val="25000"/>
                  </a:schemeClr>
                </a:solidFill>
                <a:latin typeface="Candara" pitchFamily="34" charset="0"/>
                <a:cs typeface="Arial" pitchFamily="34" charset="0"/>
              </a:rPr>
              <a:t/>
            </a:r>
            <a:br>
              <a:rPr lang="en-US" altLang="en-US" b="1" dirty="0">
                <a:solidFill>
                  <a:schemeClr val="tx1">
                    <a:lumMod val="75000"/>
                    <a:lumOff val="25000"/>
                  </a:schemeClr>
                </a:solidFill>
                <a:latin typeface="Candara" pitchFamily="34" charset="0"/>
                <a:cs typeface="Arial" pitchFamily="34" charset="0"/>
              </a:rPr>
            </a:br>
            <a:endParaRPr lang="en-US" dirty="0"/>
          </a:p>
        </p:txBody>
      </p:sp>
      <p:sp>
        <p:nvSpPr>
          <p:cNvPr id="3" name="Content Placeholder 2"/>
          <p:cNvSpPr>
            <a:spLocks noGrp="1"/>
          </p:cNvSpPr>
          <p:nvPr>
            <p:ph idx="1"/>
          </p:nvPr>
        </p:nvSpPr>
        <p:spPr>
          <a:xfrm>
            <a:off x="98474" y="1533378"/>
            <a:ext cx="11774658" cy="5205047"/>
          </a:xfrm>
        </p:spPr>
        <p:txBody>
          <a:bodyPr>
            <a:normAutofit lnSpcReduction="10000"/>
          </a:bodyPr>
          <a:lstStyle/>
          <a:p>
            <a:pPr marL="457200" lvl="1" indent="0" algn="just">
              <a:lnSpc>
                <a:spcPct val="150000"/>
              </a:lnSpc>
              <a:spcBef>
                <a:spcPts val="600"/>
              </a:spcBef>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3200" dirty="0" smtClean="0">
                <a:solidFill>
                  <a:schemeClr val="tx1">
                    <a:lumMod val="75000"/>
                    <a:lumOff val="25000"/>
                  </a:schemeClr>
                </a:solidFill>
                <a:cs typeface="Arial" pitchFamily="34" charset="0"/>
              </a:rPr>
              <a:t>You </a:t>
            </a:r>
            <a:r>
              <a:rPr lang="en-GB" altLang="en-US" sz="3200" dirty="0">
                <a:solidFill>
                  <a:schemeClr val="tx1">
                    <a:lumMod val="75000"/>
                    <a:lumOff val="25000"/>
                  </a:schemeClr>
                </a:solidFill>
                <a:cs typeface="Arial" pitchFamily="34" charset="0"/>
              </a:rPr>
              <a:t>write a rough draft by letting the ideas flow freely and then craft a structure for your thoughts.</a:t>
            </a:r>
          </a:p>
          <a:p>
            <a:pPr marL="1257300" lvl="2" indent="-342900" algn="just">
              <a:lnSpc>
                <a:spcPct val="150000"/>
              </a:lnSpc>
              <a:spcBef>
                <a:spcPts val="600"/>
              </a:spcBef>
              <a:buFont typeface="Courier New" panose="02070309020205020404" pitchFamily="49" charset="0"/>
              <a:buChar char="o"/>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3200" dirty="0">
                <a:solidFill>
                  <a:srgbClr val="FF0000"/>
                </a:solidFill>
                <a:cs typeface="Arial" pitchFamily="34" charset="0"/>
              </a:rPr>
              <a:t>Follow a specific structure.</a:t>
            </a:r>
          </a:p>
          <a:p>
            <a:pPr marL="1257300" lvl="2" indent="-342900" algn="just">
              <a:lnSpc>
                <a:spcPct val="150000"/>
              </a:lnSpc>
              <a:spcBef>
                <a:spcPts val="600"/>
              </a:spcBef>
              <a:buFont typeface="Courier New" panose="02070309020205020404" pitchFamily="49" charset="0"/>
              <a:buChar char="o"/>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3200" dirty="0">
                <a:solidFill>
                  <a:srgbClr val="FF0000"/>
                </a:solidFill>
                <a:cs typeface="Arial" pitchFamily="34" charset="0"/>
              </a:rPr>
              <a:t>Alternatively, restructure your ideas to follow a certain order.</a:t>
            </a:r>
          </a:p>
          <a:p>
            <a:pPr marL="1257300" lvl="2" indent="-342900" algn="just">
              <a:lnSpc>
                <a:spcPct val="150000"/>
              </a:lnSpc>
              <a:spcBef>
                <a:spcPts val="600"/>
              </a:spcBef>
              <a:buFont typeface="Courier New" panose="02070309020205020404" pitchFamily="49" charset="0"/>
              <a:buChar char="o"/>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3200" dirty="0">
                <a:solidFill>
                  <a:srgbClr val="FF0000"/>
                </a:solidFill>
                <a:cs typeface="Arial" pitchFamily="34" charset="0"/>
              </a:rPr>
              <a:t>A strong sense of organization that supports your main idea.</a:t>
            </a:r>
          </a:p>
          <a:p>
            <a:pPr marL="1257300" lvl="2" indent="-342900" algn="just">
              <a:lnSpc>
                <a:spcPct val="150000"/>
              </a:lnSpc>
              <a:spcBef>
                <a:spcPts val="600"/>
              </a:spcBef>
              <a:buFont typeface="Courier New" panose="02070309020205020404" pitchFamily="49" charset="0"/>
              <a:buChar char="o"/>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3200" dirty="0">
                <a:solidFill>
                  <a:srgbClr val="FF0000"/>
                </a:solidFill>
                <a:cs typeface="Arial" pitchFamily="34" charset="0"/>
              </a:rPr>
              <a:t> You are clear about the reason to choose a specific structure for your ideas.</a:t>
            </a:r>
          </a:p>
          <a:p>
            <a:endParaRPr lang="en-US" dirty="0"/>
          </a:p>
        </p:txBody>
      </p:sp>
    </p:spTree>
    <p:extLst>
      <p:ext uri="{BB962C8B-B14F-4D97-AF65-F5344CB8AC3E}">
        <p14:creationId xmlns:p14="http://schemas.microsoft.com/office/powerpoint/2010/main" val="2477307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218" y="-1"/>
            <a:ext cx="11718387" cy="6639951"/>
          </a:xfrm>
          <a:prstGeom prst="rect">
            <a:avLst/>
          </a:prstGeom>
        </p:spPr>
      </p:pic>
    </p:spTree>
    <p:extLst>
      <p:ext uri="{BB962C8B-B14F-4D97-AF65-F5344CB8AC3E}">
        <p14:creationId xmlns:p14="http://schemas.microsoft.com/office/powerpoint/2010/main" val="1076665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Working Draft</a:t>
            </a:r>
          </a:p>
        </p:txBody>
      </p:sp>
      <p:sp>
        <p:nvSpPr>
          <p:cNvPr id="3" name="Content Placeholder 2"/>
          <p:cNvSpPr>
            <a:spLocks noGrp="1"/>
          </p:cNvSpPr>
          <p:nvPr>
            <p:ph idx="1"/>
          </p:nvPr>
        </p:nvSpPr>
        <p:spPr/>
        <p:txBody>
          <a:bodyPr>
            <a:normAutofit/>
          </a:bodyPr>
          <a:lstStyle/>
          <a:p>
            <a:r>
              <a:rPr lang="en-US" sz="3200" dirty="0"/>
              <a:t>A "working draft" is a preliminary version of a document, </a:t>
            </a:r>
            <a:r>
              <a:rPr lang="en-US" sz="3200" dirty="0">
                <a:solidFill>
                  <a:schemeClr val="accent2"/>
                </a:solidFill>
              </a:rPr>
              <a:t>like a first draft or rough draft</a:t>
            </a:r>
            <a:r>
              <a:rPr lang="en-US" sz="3200" dirty="0"/>
              <a:t>, that is still in progress and subject to revisions and improvements. </a:t>
            </a:r>
            <a:endParaRPr lang="en-US" sz="3200" dirty="0" smtClean="0"/>
          </a:p>
          <a:p>
            <a:r>
              <a:rPr lang="en-US" sz="3200" dirty="0" smtClean="0"/>
              <a:t>It's </a:t>
            </a:r>
            <a:r>
              <a:rPr lang="en-US" sz="3200" dirty="0"/>
              <a:t>a stage where ideas are </a:t>
            </a:r>
            <a:r>
              <a:rPr lang="en-US" sz="3200" dirty="0">
                <a:solidFill>
                  <a:srgbClr val="FF0000"/>
                </a:solidFill>
              </a:rPr>
              <a:t>fleshed out and the structure and content </a:t>
            </a:r>
            <a:r>
              <a:rPr lang="en-US" sz="3200" dirty="0"/>
              <a:t>are explored before the final product is </a:t>
            </a:r>
            <a:r>
              <a:rPr lang="en-US" sz="3200" dirty="0" smtClean="0"/>
              <a:t>created.</a:t>
            </a:r>
            <a:endParaRPr lang="en-US" sz="3200" dirty="0"/>
          </a:p>
        </p:txBody>
      </p:sp>
    </p:spTree>
    <p:extLst>
      <p:ext uri="{BB962C8B-B14F-4D97-AF65-F5344CB8AC3E}">
        <p14:creationId xmlns:p14="http://schemas.microsoft.com/office/powerpoint/2010/main" val="560720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12191999" cy="8496886"/>
          </a:xfrm>
        </p:spPr>
      </p:pic>
    </p:spTree>
    <p:extLst>
      <p:ext uri="{BB962C8B-B14F-4D97-AF65-F5344CB8AC3E}">
        <p14:creationId xmlns:p14="http://schemas.microsoft.com/office/powerpoint/2010/main" val="34420512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Final Draft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690688"/>
            <a:ext cx="10515600" cy="4486275"/>
          </a:xfrm>
        </p:spPr>
        <p:txBody>
          <a:bodyPr>
            <a:normAutofit/>
          </a:bodyPr>
          <a:lstStyle/>
          <a:p>
            <a:pPr algn="just"/>
            <a:r>
              <a:rPr lang="en-US" sz="3200" dirty="0"/>
              <a:t>A </a:t>
            </a:r>
            <a:r>
              <a:rPr lang="en-US" sz="3200" b="1" dirty="0">
                <a:solidFill>
                  <a:srgbClr val="FF0000"/>
                </a:solidFill>
              </a:rPr>
              <a:t>final draft</a:t>
            </a:r>
            <a:r>
              <a:rPr lang="en-US" sz="3200" dirty="0">
                <a:solidFill>
                  <a:srgbClr val="FF0000"/>
                </a:solidFill>
              </a:rPr>
              <a:t> </a:t>
            </a:r>
            <a:r>
              <a:rPr lang="en-US" sz="3200" dirty="0"/>
              <a:t>is the polished version of a piece of writing that has undergone revisions, proofreading, and editing. </a:t>
            </a:r>
            <a:endParaRPr lang="en-US" sz="3200" dirty="0" smtClean="0"/>
          </a:p>
          <a:p>
            <a:pPr algn="just"/>
            <a:r>
              <a:rPr lang="en-US" sz="3200" dirty="0" smtClean="0"/>
              <a:t>It </a:t>
            </a:r>
            <a:r>
              <a:rPr lang="en-US" sz="3200" dirty="0"/>
              <a:t>is the completed version that is ready for submission or </a:t>
            </a:r>
            <a:r>
              <a:rPr lang="en-US" sz="3200" dirty="0" smtClean="0"/>
              <a:t>publication.</a:t>
            </a:r>
          </a:p>
          <a:p>
            <a:pPr algn="just"/>
            <a:r>
              <a:rPr lang="en-US" sz="3200" dirty="0" smtClean="0"/>
              <a:t>The </a:t>
            </a:r>
            <a:r>
              <a:rPr lang="en-US" sz="3200" dirty="0"/>
              <a:t>final draft should be </a:t>
            </a:r>
            <a:r>
              <a:rPr lang="en-US" sz="3200" b="1" dirty="0">
                <a:solidFill>
                  <a:srgbClr val="FF0000"/>
                </a:solidFill>
              </a:rPr>
              <a:t>well-organized, free of grammar and spelling errors, and clearly convey the intended message</a:t>
            </a:r>
            <a:r>
              <a:rPr lang="en-US" sz="3200" dirty="0">
                <a:solidFill>
                  <a:srgbClr val="FF0000"/>
                </a:solidFill>
              </a:rPr>
              <a:t>.</a:t>
            </a:r>
          </a:p>
        </p:txBody>
      </p:sp>
    </p:spTree>
    <p:extLst>
      <p:ext uri="{BB962C8B-B14F-4D97-AF65-F5344CB8AC3E}">
        <p14:creationId xmlns:p14="http://schemas.microsoft.com/office/powerpoint/2010/main" val="1896057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9441"/>
          </a:xfrm>
        </p:spPr>
        <p:txBody>
          <a:bodyPr>
            <a:normAutofit/>
          </a:bodyPr>
          <a:lstStyle/>
          <a:p>
            <a:pPr algn="ctr"/>
            <a:r>
              <a:rPr lang="en-US" sz="6000" b="1" dirty="0" smtClean="0">
                <a:effectLst>
                  <a:outerShdw blurRad="38100" dist="38100" dir="2700000" algn="tl">
                    <a:srgbClr val="000000">
                      <a:alpha val="43137"/>
                    </a:srgbClr>
                  </a:outerShdw>
                </a:effectLst>
              </a:rPr>
              <a:t>Examples of Final Draft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64566"/>
            <a:ext cx="10515600" cy="4812397"/>
          </a:xfrm>
        </p:spPr>
        <p:txBody>
          <a:bodyPr/>
          <a:lstStyle/>
          <a:p>
            <a:pPr marL="0" indent="0">
              <a:buNone/>
            </a:pPr>
            <a:r>
              <a:rPr lang="en-US" sz="3200" b="1" dirty="0"/>
              <a:t>First Draft:</a:t>
            </a:r>
            <a:r>
              <a:rPr lang="en-US" sz="3200" dirty="0"/>
              <a:t/>
            </a:r>
            <a:br>
              <a:rPr lang="en-US" sz="3200" dirty="0"/>
            </a:br>
            <a:r>
              <a:rPr lang="en-US" sz="3200" dirty="0"/>
              <a:t>"Yesterday, I </a:t>
            </a:r>
            <a:r>
              <a:rPr lang="en-US" sz="3200" dirty="0">
                <a:solidFill>
                  <a:srgbClr val="FF0000"/>
                </a:solidFill>
              </a:rPr>
              <a:t>go</a:t>
            </a:r>
            <a:r>
              <a:rPr lang="en-US" sz="3200" dirty="0"/>
              <a:t> to the park and </a:t>
            </a:r>
            <a:r>
              <a:rPr lang="en-US" sz="3200" dirty="0">
                <a:solidFill>
                  <a:srgbClr val="FF0000"/>
                </a:solidFill>
              </a:rPr>
              <a:t>see</a:t>
            </a:r>
            <a:r>
              <a:rPr lang="en-US" sz="3200" dirty="0"/>
              <a:t> </a:t>
            </a:r>
            <a:r>
              <a:rPr lang="en-US" sz="3200" u="sng" dirty="0"/>
              <a:t>a dog. It was very cute, </a:t>
            </a:r>
            <a:r>
              <a:rPr lang="en-US" sz="3200" dirty="0"/>
              <a:t>and I pet it. </a:t>
            </a:r>
            <a:r>
              <a:rPr lang="en-US" sz="3200" dirty="0">
                <a:solidFill>
                  <a:srgbClr val="FF0000"/>
                </a:solidFill>
              </a:rPr>
              <a:t>Then I play soccer with my friends."</a:t>
            </a:r>
          </a:p>
          <a:p>
            <a:pPr marL="0" indent="0">
              <a:buNone/>
            </a:pPr>
            <a:r>
              <a:rPr lang="en-US" sz="3200" b="1" dirty="0"/>
              <a:t>Final Draft:</a:t>
            </a:r>
            <a:r>
              <a:rPr lang="en-US" sz="3200" dirty="0"/>
              <a:t/>
            </a:r>
            <a:br>
              <a:rPr lang="en-US" sz="3200" dirty="0"/>
            </a:br>
            <a:r>
              <a:rPr lang="en-US" sz="3200" dirty="0"/>
              <a:t>"Yesterday, I went to the park and saw a cute dog. I petted it before joining my friends for a game of soccer."</a:t>
            </a:r>
          </a:p>
          <a:p>
            <a:pPr marL="0" indent="0">
              <a:buNone/>
            </a:pPr>
            <a:endParaRPr lang="en-US" dirty="0"/>
          </a:p>
        </p:txBody>
      </p:sp>
    </p:spTree>
    <p:extLst>
      <p:ext uri="{BB962C8B-B14F-4D97-AF65-F5344CB8AC3E}">
        <p14:creationId xmlns:p14="http://schemas.microsoft.com/office/powerpoint/2010/main" val="1491339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effectLst>
                  <a:outerShdw blurRad="38100" dist="38100" dir="2700000" algn="tl">
                    <a:srgbClr val="000000">
                      <a:alpha val="43137"/>
                    </a:srgbClr>
                  </a:outerShdw>
                </a:effectLst>
              </a:rPr>
              <a:t>Examples </a:t>
            </a:r>
            <a:r>
              <a:rPr lang="en-US" sz="6000" b="1" dirty="0" smtClean="0">
                <a:effectLst>
                  <a:outerShdw blurRad="38100" dist="38100" dir="2700000" algn="tl">
                    <a:srgbClr val="000000">
                      <a:alpha val="43137"/>
                    </a:srgbClr>
                  </a:outerShdw>
                </a:effectLst>
              </a:rPr>
              <a:t>of Final Draft </a:t>
            </a:r>
            <a:endParaRPr lang="en-US" sz="6000" dirty="0"/>
          </a:p>
        </p:txBody>
      </p:sp>
      <p:sp>
        <p:nvSpPr>
          <p:cNvPr id="3" name="Content Placeholder 2"/>
          <p:cNvSpPr>
            <a:spLocks noGrp="1"/>
          </p:cNvSpPr>
          <p:nvPr>
            <p:ph idx="1"/>
          </p:nvPr>
        </p:nvSpPr>
        <p:spPr/>
        <p:txBody>
          <a:bodyPr/>
          <a:lstStyle/>
          <a:p>
            <a:pPr marL="0" indent="0">
              <a:buNone/>
            </a:pPr>
            <a:r>
              <a:rPr lang="en-US" sz="3200" b="1" dirty="0"/>
              <a:t>First Draft:</a:t>
            </a:r>
            <a:r>
              <a:rPr lang="en-US" sz="3200" dirty="0"/>
              <a:t/>
            </a:r>
            <a:br>
              <a:rPr lang="en-US" sz="3200" dirty="0"/>
            </a:br>
            <a:r>
              <a:rPr lang="en-US" sz="3200" i="1" dirty="0"/>
              <a:t>"School uniforms should be required because they help students focus. They also make everyone feel the same. People won’t worry about clothes, and it stops bullying."</a:t>
            </a:r>
            <a:endParaRPr lang="en-US" sz="3200" dirty="0"/>
          </a:p>
          <a:p>
            <a:pPr marL="0" indent="0">
              <a:buNone/>
            </a:pPr>
            <a:r>
              <a:rPr lang="en-US" sz="3200" b="1" dirty="0"/>
              <a:t>Final Draft:</a:t>
            </a:r>
            <a:r>
              <a:rPr lang="en-US" sz="3200" dirty="0"/>
              <a:t/>
            </a:r>
            <a:br>
              <a:rPr lang="en-US" sz="3200" dirty="0"/>
            </a:br>
            <a:r>
              <a:rPr lang="en-US" sz="3200" i="1" dirty="0">
                <a:solidFill>
                  <a:srgbClr val="FF0000"/>
                </a:solidFill>
              </a:rPr>
              <a:t>"Requiring school uniforms can improve students' focus by eliminating distractions related to clothing choices. Additionally, uniforms promote equality, reducing social pressure and bullying based on attire."</a:t>
            </a:r>
            <a:endParaRPr lang="en-US" sz="3200" dirty="0">
              <a:solidFill>
                <a:srgbClr val="FF0000"/>
              </a:solidFill>
            </a:endParaRPr>
          </a:p>
          <a:p>
            <a:endParaRPr lang="en-US" dirty="0"/>
          </a:p>
        </p:txBody>
      </p:sp>
    </p:spTree>
    <p:extLst>
      <p:ext uri="{BB962C8B-B14F-4D97-AF65-F5344CB8AC3E}">
        <p14:creationId xmlns:p14="http://schemas.microsoft.com/office/powerpoint/2010/main" val="3953800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dirty="0">
                <a:effectLst>
                  <a:outerShdw blurRad="38100" dist="38100" dir="2700000" algn="tl">
                    <a:srgbClr val="000000">
                      <a:alpha val="43137"/>
                    </a:srgbClr>
                  </a:outerShdw>
                </a:effectLst>
                <a:latin typeface="+mn-lt"/>
              </a:rPr>
              <a:t>Key Elements of a Draft</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4400" dirty="0"/>
              <a:t>Structure: Introduction, body, conclusion.</a:t>
            </a:r>
          </a:p>
          <a:p>
            <a:r>
              <a:rPr lang="en-US" sz="4400" dirty="0"/>
              <a:t>Content: Main ideas, supporting details, evidence.</a:t>
            </a:r>
          </a:p>
          <a:p>
            <a:r>
              <a:rPr lang="en-US" sz="4400" dirty="0"/>
              <a:t>Flow: Logical progression of ideas</a:t>
            </a:r>
            <a:r>
              <a:rPr lang="en-US" sz="4000" dirty="0"/>
              <a:t>.</a:t>
            </a:r>
          </a:p>
          <a:p>
            <a:endParaRPr lang="en-US" dirty="0"/>
          </a:p>
        </p:txBody>
      </p:sp>
    </p:spTree>
    <p:extLst>
      <p:ext uri="{BB962C8B-B14F-4D97-AF65-F5344CB8AC3E}">
        <p14:creationId xmlns:p14="http://schemas.microsoft.com/office/powerpoint/2010/main" val="24713068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Writing the Introduction</a:t>
            </a:r>
            <a:br>
              <a:rPr lang="en-US" b="1" dirty="0"/>
            </a:br>
            <a:endParaRPr lang="en-US" dirty="0"/>
          </a:p>
        </p:txBody>
      </p:sp>
      <p:sp>
        <p:nvSpPr>
          <p:cNvPr id="3" name="Content Placeholder 2"/>
          <p:cNvSpPr>
            <a:spLocks noGrp="1"/>
          </p:cNvSpPr>
          <p:nvPr>
            <p:ph idx="1"/>
          </p:nvPr>
        </p:nvSpPr>
        <p:spPr/>
        <p:txBody>
          <a:bodyPr/>
          <a:lstStyle/>
          <a:p>
            <a:r>
              <a:rPr lang="en-US" sz="4000" dirty="0"/>
              <a:t>Purpose: Hook the reader and present the main idea.</a:t>
            </a:r>
          </a:p>
          <a:p>
            <a:r>
              <a:rPr lang="en-US" sz="4000" dirty="0"/>
              <a:t>Techniques: Use a quote, question, or anecdote.</a:t>
            </a:r>
          </a:p>
          <a:p>
            <a:endParaRPr lang="en-US" dirty="0"/>
          </a:p>
        </p:txBody>
      </p:sp>
    </p:spTree>
    <p:extLst>
      <p:ext uri="{BB962C8B-B14F-4D97-AF65-F5344CB8AC3E}">
        <p14:creationId xmlns:p14="http://schemas.microsoft.com/office/powerpoint/2010/main" val="2189280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Developing the Body</a:t>
            </a:r>
            <a:br>
              <a:rPr lang="en-US" b="1" dirty="0"/>
            </a:br>
            <a:endParaRPr lang="en-US" dirty="0"/>
          </a:p>
        </p:txBody>
      </p:sp>
      <p:sp>
        <p:nvSpPr>
          <p:cNvPr id="3" name="Content Placeholder 2"/>
          <p:cNvSpPr>
            <a:spLocks noGrp="1"/>
          </p:cNvSpPr>
          <p:nvPr>
            <p:ph idx="1"/>
          </p:nvPr>
        </p:nvSpPr>
        <p:spPr/>
        <p:txBody>
          <a:bodyPr/>
          <a:lstStyle/>
          <a:p>
            <a:r>
              <a:rPr lang="en-US" sz="3600" dirty="0"/>
              <a:t>Organize paragraphs by main ideas.</a:t>
            </a:r>
          </a:p>
          <a:p>
            <a:r>
              <a:rPr lang="en-US" sz="3600" dirty="0"/>
              <a:t>Use evidence (examples, data, quotes) to support arguments.</a:t>
            </a:r>
          </a:p>
          <a:p>
            <a:r>
              <a:rPr lang="en-US" sz="3600" dirty="0"/>
              <a:t>Ensure smooth transitions between paragraphs.</a:t>
            </a:r>
          </a:p>
          <a:p>
            <a:endParaRPr lang="en-US" dirty="0"/>
          </a:p>
        </p:txBody>
      </p:sp>
    </p:spTree>
    <p:extLst>
      <p:ext uri="{BB962C8B-B14F-4D97-AF65-F5344CB8AC3E}">
        <p14:creationId xmlns:p14="http://schemas.microsoft.com/office/powerpoint/2010/main" val="3626808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dirty="0">
                <a:effectLst>
                  <a:outerShdw blurRad="38100" dist="38100" dir="2700000" algn="tl">
                    <a:srgbClr val="000000">
                      <a:alpha val="43137"/>
                    </a:srgbClr>
                  </a:outerShdw>
                </a:effectLst>
              </a:rPr>
              <a:t>Crafting the Conclusion</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200" dirty="0"/>
              <a:t>Summarize key points.</a:t>
            </a:r>
          </a:p>
          <a:p>
            <a:r>
              <a:rPr lang="en-US" sz="3200" dirty="0"/>
              <a:t>Restate the main idea.</a:t>
            </a:r>
          </a:p>
          <a:p>
            <a:r>
              <a:rPr lang="en-US" sz="3200" dirty="0"/>
              <a:t>End with a call to action or thought-provoking statement</a:t>
            </a:r>
            <a:r>
              <a:rPr lang="en-US" dirty="0"/>
              <a:t>.</a:t>
            </a:r>
          </a:p>
          <a:p>
            <a:endParaRPr lang="en-US" dirty="0"/>
          </a:p>
        </p:txBody>
      </p:sp>
    </p:spTree>
    <p:extLst>
      <p:ext uri="{BB962C8B-B14F-4D97-AF65-F5344CB8AC3E}">
        <p14:creationId xmlns:p14="http://schemas.microsoft.com/office/powerpoint/2010/main" val="7486433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700" b="1" dirty="0">
                <a:effectLst>
                  <a:outerShdw blurRad="38100" dist="38100" dir="2700000" algn="tl">
                    <a:srgbClr val="000000">
                      <a:alpha val="43137"/>
                    </a:srgbClr>
                  </a:outerShdw>
                </a:effectLst>
              </a:rPr>
              <a:t>Writing Freely</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200" dirty="0"/>
              <a:t>Don’t worry about grammar or style.</a:t>
            </a:r>
          </a:p>
          <a:p>
            <a:r>
              <a:rPr lang="en-US" sz="3200" dirty="0"/>
              <a:t>Focus on getting ideas down.</a:t>
            </a:r>
          </a:p>
          <a:p>
            <a:r>
              <a:rPr lang="en-US" sz="3200" dirty="0"/>
              <a:t>Perfection comes later during revision.</a:t>
            </a:r>
          </a:p>
          <a:p>
            <a:endParaRPr lang="en-US" dirty="0"/>
          </a:p>
        </p:txBody>
      </p:sp>
    </p:spTree>
    <p:extLst>
      <p:ext uri="{BB962C8B-B14F-4D97-AF65-F5344CB8AC3E}">
        <p14:creationId xmlns:p14="http://schemas.microsoft.com/office/powerpoint/2010/main" val="934469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700" b="1" dirty="0">
                <a:effectLst>
                  <a:outerShdw blurRad="38100" dist="38100" dir="2700000" algn="tl">
                    <a:srgbClr val="000000">
                      <a:alpha val="43137"/>
                    </a:srgbClr>
                  </a:outerShdw>
                </a:effectLst>
              </a:rPr>
              <a:t>Using Outlines</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600" dirty="0">
                <a:solidFill>
                  <a:srgbClr val="FF0000"/>
                </a:solidFill>
              </a:rPr>
              <a:t>Benefits: Provides structure and direction.</a:t>
            </a:r>
          </a:p>
          <a:p>
            <a:r>
              <a:rPr lang="en-US" sz="3600" dirty="0">
                <a:solidFill>
                  <a:srgbClr val="FF0000"/>
                </a:solidFill>
              </a:rPr>
              <a:t>Example:</a:t>
            </a:r>
          </a:p>
          <a:p>
            <a:pPr lvl="1"/>
            <a:r>
              <a:rPr lang="en-US" sz="3200" dirty="0">
                <a:solidFill>
                  <a:srgbClr val="FF0000"/>
                </a:solidFill>
              </a:rPr>
              <a:t>I. Introduction</a:t>
            </a:r>
          </a:p>
          <a:p>
            <a:pPr lvl="1"/>
            <a:r>
              <a:rPr lang="en-US" sz="3200" dirty="0">
                <a:solidFill>
                  <a:srgbClr val="FF0000"/>
                </a:solidFill>
              </a:rPr>
              <a:t>II. Main Point 1</a:t>
            </a:r>
          </a:p>
          <a:p>
            <a:pPr lvl="1"/>
            <a:r>
              <a:rPr lang="en-US" sz="3200" dirty="0">
                <a:solidFill>
                  <a:srgbClr val="FF0000"/>
                </a:solidFill>
              </a:rPr>
              <a:t>III. Main Point 2</a:t>
            </a:r>
          </a:p>
          <a:p>
            <a:pPr lvl="1"/>
            <a:r>
              <a:rPr lang="en-US" sz="3200" dirty="0">
                <a:solidFill>
                  <a:srgbClr val="FF0000"/>
                </a:solidFill>
              </a:rPr>
              <a:t>IV. Conclusion</a:t>
            </a:r>
          </a:p>
          <a:p>
            <a:pPr marL="0" indent="0">
              <a:buNone/>
            </a:pPr>
            <a:endParaRPr lang="en-US" dirty="0"/>
          </a:p>
        </p:txBody>
      </p:sp>
    </p:spTree>
    <p:extLst>
      <p:ext uri="{BB962C8B-B14F-4D97-AF65-F5344CB8AC3E}">
        <p14:creationId xmlns:p14="http://schemas.microsoft.com/office/powerpoint/2010/main" val="3004808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b="1" dirty="0">
                <a:effectLst>
                  <a:outerShdw blurRad="38100" dist="38100" dir="2700000" algn="tl">
                    <a:srgbClr val="000000">
                      <a:alpha val="43137"/>
                    </a:srgbClr>
                  </a:outerShdw>
                </a:effectLst>
              </a:rPr>
              <a:t>Incorporating Evidence</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200" dirty="0"/>
              <a:t>Types: Statistics, quotes, examples, anecdotes.</a:t>
            </a:r>
          </a:p>
          <a:p>
            <a:r>
              <a:rPr lang="en-US" sz="3200" dirty="0"/>
              <a:t>Importance: Adds credibility and depth to your writing.</a:t>
            </a:r>
          </a:p>
          <a:p>
            <a:endParaRPr lang="en-US" dirty="0"/>
          </a:p>
        </p:txBody>
      </p:sp>
    </p:spTree>
    <p:extLst>
      <p:ext uri="{BB962C8B-B14F-4D97-AF65-F5344CB8AC3E}">
        <p14:creationId xmlns:p14="http://schemas.microsoft.com/office/powerpoint/2010/main" val="3771995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700" b="1" dirty="0">
                <a:effectLst>
                  <a:outerShdw blurRad="38100" dist="38100" dir="2700000" algn="tl">
                    <a:srgbClr val="000000">
                      <a:alpha val="43137"/>
                    </a:srgbClr>
                  </a:outerShdw>
                </a:effectLst>
              </a:rPr>
              <a:t>Maintaining Focus</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200" dirty="0"/>
              <a:t>Stick to the main idea.</a:t>
            </a:r>
          </a:p>
          <a:p>
            <a:r>
              <a:rPr lang="en-US" sz="3200" dirty="0"/>
              <a:t>Avoid tangents or irrelevant details.</a:t>
            </a:r>
          </a:p>
          <a:p>
            <a:r>
              <a:rPr lang="en-US" sz="3200" dirty="0"/>
              <a:t>Use your outline as a guide.</a:t>
            </a:r>
          </a:p>
          <a:p>
            <a:endParaRPr lang="en-US" dirty="0"/>
          </a:p>
        </p:txBody>
      </p:sp>
    </p:spTree>
    <p:extLst>
      <p:ext uri="{BB962C8B-B14F-4D97-AF65-F5344CB8AC3E}">
        <p14:creationId xmlns:p14="http://schemas.microsoft.com/office/powerpoint/2010/main" val="39863089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000" b="1" dirty="0">
                <a:effectLst>
                  <a:outerShdw blurRad="38100" dist="38100" dir="2700000" algn="tl">
                    <a:srgbClr val="000000">
                      <a:alpha val="43137"/>
                    </a:srgbClr>
                  </a:outerShdw>
                </a:effectLst>
              </a:rPr>
              <a:t>Writing for Your Audience</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200" dirty="0"/>
              <a:t>Consider who will read your work.</a:t>
            </a:r>
          </a:p>
          <a:p>
            <a:r>
              <a:rPr lang="en-US" sz="3200" dirty="0"/>
              <a:t>Adjust tone, language, and content accordingly.</a:t>
            </a:r>
          </a:p>
          <a:p>
            <a:pPr marL="0" indent="0">
              <a:buNone/>
            </a:pP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96959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Writing for Different Genres</a:t>
            </a:r>
            <a:br>
              <a:rPr lang="en-US" b="1" dirty="0"/>
            </a:br>
            <a:endParaRPr lang="en-US" dirty="0"/>
          </a:p>
        </p:txBody>
      </p:sp>
      <p:sp>
        <p:nvSpPr>
          <p:cNvPr id="3" name="Content Placeholder 2"/>
          <p:cNvSpPr>
            <a:spLocks noGrp="1"/>
          </p:cNvSpPr>
          <p:nvPr>
            <p:ph idx="1"/>
          </p:nvPr>
        </p:nvSpPr>
        <p:spPr/>
        <p:txBody>
          <a:bodyPr/>
          <a:lstStyle/>
          <a:p>
            <a:r>
              <a:rPr lang="en-US" dirty="0"/>
              <a:t>Academic: Formal tone, evidence-based.</a:t>
            </a:r>
          </a:p>
          <a:p>
            <a:r>
              <a:rPr lang="en-US" dirty="0"/>
              <a:t>Creative: Expressive, imaginative.</a:t>
            </a:r>
          </a:p>
          <a:p>
            <a:r>
              <a:rPr lang="en-US" dirty="0"/>
              <a:t>Professional: Clear, concise, goal-oriented.</a:t>
            </a:r>
          </a:p>
          <a:p>
            <a:endParaRPr lang="en-US" dirty="0"/>
          </a:p>
        </p:txBody>
      </p:sp>
    </p:spTree>
    <p:extLst>
      <p:ext uri="{BB962C8B-B14F-4D97-AF65-F5344CB8AC3E}">
        <p14:creationId xmlns:p14="http://schemas.microsoft.com/office/powerpoint/2010/main" val="1150153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5300" b="1" dirty="0">
                <a:effectLst>
                  <a:outerShdw blurRad="38100" dist="38100" dir="2700000" algn="tl">
                    <a:srgbClr val="000000">
                      <a:alpha val="43137"/>
                    </a:srgbClr>
                  </a:outerShdw>
                </a:effectLst>
              </a:rPr>
              <a:t>Common Drafting Challenges</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600" dirty="0"/>
              <a:t>Writer’s block.</a:t>
            </a:r>
          </a:p>
          <a:p>
            <a:r>
              <a:rPr lang="en-US" sz="3600" dirty="0"/>
              <a:t>Overthinking.</a:t>
            </a:r>
          </a:p>
          <a:p>
            <a:r>
              <a:rPr lang="en-US" sz="3600" dirty="0"/>
              <a:t>Lack of clarity or direction.</a:t>
            </a:r>
          </a:p>
          <a:p>
            <a:endParaRPr lang="en-US" dirty="0"/>
          </a:p>
        </p:txBody>
      </p:sp>
    </p:spTree>
    <p:extLst>
      <p:ext uri="{BB962C8B-B14F-4D97-AF65-F5344CB8AC3E}">
        <p14:creationId xmlns:p14="http://schemas.microsoft.com/office/powerpoint/2010/main" val="12631006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smtClean="0">
                <a:effectLst>
                  <a:outerShdw blurRad="38100" dist="38100" dir="2700000" algn="tl">
                    <a:srgbClr val="000000">
                      <a:alpha val="43137"/>
                    </a:srgbClr>
                  </a:outerShdw>
                </a:effectLst>
              </a:rPr>
              <a:t>What is </a:t>
            </a:r>
            <a:r>
              <a:rPr lang="en-US" sz="5400" b="1" dirty="0">
                <a:effectLst>
                  <a:outerShdw blurRad="38100" dist="38100" dir="2700000" algn="tl">
                    <a:srgbClr val="000000">
                      <a:alpha val="43137"/>
                    </a:srgbClr>
                  </a:outerShdw>
                </a:effectLst>
              </a:rPr>
              <a:t>Writer's block </a:t>
            </a:r>
          </a:p>
        </p:txBody>
      </p:sp>
      <p:sp>
        <p:nvSpPr>
          <p:cNvPr id="3" name="Content Placeholder 2"/>
          <p:cNvSpPr>
            <a:spLocks noGrp="1"/>
          </p:cNvSpPr>
          <p:nvPr>
            <p:ph idx="1"/>
          </p:nvPr>
        </p:nvSpPr>
        <p:spPr/>
        <p:txBody>
          <a:bodyPr>
            <a:normAutofit/>
          </a:bodyPr>
          <a:lstStyle/>
          <a:p>
            <a:pPr algn="just"/>
            <a:r>
              <a:rPr lang="en-US" sz="4000" b="1" dirty="0"/>
              <a:t>Writer's block</a:t>
            </a:r>
            <a:r>
              <a:rPr lang="en-US" sz="4000" dirty="0"/>
              <a:t> is a condition where a </a:t>
            </a:r>
            <a:r>
              <a:rPr lang="en-US" sz="4000" dirty="0">
                <a:solidFill>
                  <a:srgbClr val="0070C0"/>
                </a:solidFill>
              </a:rPr>
              <a:t>writer struggles to start or continue writing </a:t>
            </a:r>
            <a:r>
              <a:rPr lang="en-US" sz="4000" dirty="0"/>
              <a:t>due to a </a:t>
            </a:r>
            <a:r>
              <a:rPr lang="en-US" sz="4000" dirty="0">
                <a:solidFill>
                  <a:srgbClr val="FF0000"/>
                </a:solidFill>
              </a:rPr>
              <a:t>lack of ideas, </a:t>
            </a:r>
            <a:r>
              <a:rPr lang="en-US" sz="4000" dirty="0">
                <a:solidFill>
                  <a:srgbClr val="FFC000"/>
                </a:solidFill>
              </a:rPr>
              <a:t>motivation</a:t>
            </a:r>
            <a:r>
              <a:rPr lang="en-US" sz="4000" dirty="0">
                <a:solidFill>
                  <a:srgbClr val="FF0000"/>
                </a:solidFill>
              </a:rPr>
              <a:t>, or </a:t>
            </a:r>
            <a:r>
              <a:rPr lang="en-US" sz="4000" dirty="0">
                <a:solidFill>
                  <a:schemeClr val="accent5">
                    <a:lumMod val="75000"/>
                  </a:schemeClr>
                </a:solidFill>
              </a:rPr>
              <a:t>confidence</a:t>
            </a:r>
            <a:r>
              <a:rPr lang="en-US" sz="4000" dirty="0">
                <a:solidFill>
                  <a:srgbClr val="FF0000"/>
                </a:solidFill>
              </a:rPr>
              <a:t>. </a:t>
            </a:r>
            <a:endParaRPr lang="en-US" sz="4000" dirty="0" smtClean="0">
              <a:solidFill>
                <a:srgbClr val="FF0000"/>
              </a:solidFill>
            </a:endParaRPr>
          </a:p>
          <a:p>
            <a:pPr algn="just"/>
            <a:r>
              <a:rPr lang="en-US" sz="4000" dirty="0" smtClean="0"/>
              <a:t>It </a:t>
            </a:r>
            <a:r>
              <a:rPr lang="en-US" sz="4000" dirty="0"/>
              <a:t>can happen to anyone, from students to professional authors, and may last for </a:t>
            </a:r>
            <a:r>
              <a:rPr lang="en-US" sz="4000" dirty="0">
                <a:solidFill>
                  <a:srgbClr val="FF0000"/>
                </a:solidFill>
              </a:rPr>
              <a:t>a short time or an extended period</a:t>
            </a:r>
            <a:r>
              <a:rPr lang="en-US" sz="4000" dirty="0"/>
              <a:t>.</a:t>
            </a:r>
          </a:p>
        </p:txBody>
      </p:sp>
    </p:spTree>
    <p:extLst>
      <p:ext uri="{BB962C8B-B14F-4D97-AF65-F5344CB8AC3E}">
        <p14:creationId xmlns:p14="http://schemas.microsoft.com/office/powerpoint/2010/main" val="2151181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5300" b="1" dirty="0">
                <a:effectLst>
                  <a:outerShdw blurRad="38100" dist="38100" dir="2700000" algn="tl">
                    <a:srgbClr val="000000">
                      <a:alpha val="43137"/>
                    </a:srgbClr>
                  </a:outerShdw>
                </a:effectLst>
              </a:rPr>
              <a:t>Overcoming Writer’s Block</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600" dirty="0"/>
              <a:t>Write freely without self-editing.</a:t>
            </a:r>
          </a:p>
          <a:p>
            <a:r>
              <a:rPr lang="en-US" sz="3600" dirty="0"/>
              <a:t>Use prompts or questions to spark ideas.</a:t>
            </a:r>
          </a:p>
          <a:p>
            <a:r>
              <a:rPr lang="en-US" sz="3600" dirty="0"/>
              <a:t>Take breaks to refresh your mind.</a:t>
            </a:r>
          </a:p>
          <a:p>
            <a:endParaRPr lang="en-US" dirty="0"/>
          </a:p>
        </p:txBody>
      </p:sp>
    </p:spTree>
    <p:extLst>
      <p:ext uri="{BB962C8B-B14F-4D97-AF65-F5344CB8AC3E}">
        <p14:creationId xmlns:p14="http://schemas.microsoft.com/office/powerpoint/2010/main" val="34541347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700" b="1" dirty="0">
                <a:effectLst>
                  <a:outerShdw blurRad="38100" dist="38100" dir="2700000" algn="tl">
                    <a:srgbClr val="000000">
                      <a:alpha val="43137"/>
                    </a:srgbClr>
                  </a:outerShdw>
                </a:effectLst>
              </a:rPr>
              <a:t>Tools for Drafting</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600" dirty="0"/>
              <a:t>Word processors (e.g., Microsoft Word, Google Docs).</a:t>
            </a:r>
          </a:p>
          <a:p>
            <a:r>
              <a:rPr lang="en-US" sz="3600" dirty="0"/>
              <a:t>Note-taking apps (e.g., Evernote, Notion).</a:t>
            </a:r>
          </a:p>
          <a:p>
            <a:r>
              <a:rPr lang="en-US" sz="3600" dirty="0"/>
              <a:t>Mind-mapping tools (e.g., </a:t>
            </a:r>
            <a:r>
              <a:rPr lang="en-US" sz="3600" dirty="0" err="1"/>
              <a:t>MindMeister</a:t>
            </a:r>
            <a:r>
              <a:rPr lang="en-US" sz="3600" dirty="0"/>
              <a:t>).</a:t>
            </a:r>
          </a:p>
          <a:p>
            <a:endParaRPr lang="en-US" dirty="0"/>
          </a:p>
        </p:txBody>
      </p:sp>
    </p:spTree>
    <p:extLst>
      <p:ext uri="{BB962C8B-B14F-4D97-AF65-F5344CB8AC3E}">
        <p14:creationId xmlns:p14="http://schemas.microsoft.com/office/powerpoint/2010/main" val="22997282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000" b="1" dirty="0">
                <a:effectLst>
                  <a:outerShdw blurRad="38100" dist="38100" dir="2700000" algn="tl">
                    <a:srgbClr val="000000">
                      <a:alpha val="43137"/>
                    </a:srgbClr>
                  </a:outerShdw>
                </a:effectLst>
              </a:rPr>
              <a:t>Collaborative Drafting</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200" dirty="0"/>
              <a:t>Benefits: Feedback, diverse perspectives.</a:t>
            </a:r>
          </a:p>
          <a:p>
            <a:r>
              <a:rPr lang="en-US" sz="3200" dirty="0"/>
              <a:t>Tools: Google Docs, shared folders.</a:t>
            </a:r>
          </a:p>
          <a:p>
            <a:endParaRPr lang="en-US" dirty="0"/>
          </a:p>
        </p:txBody>
      </p:sp>
    </p:spTree>
    <p:extLst>
      <p:ext uri="{BB962C8B-B14F-4D97-AF65-F5344CB8AC3E}">
        <p14:creationId xmlns:p14="http://schemas.microsoft.com/office/powerpoint/2010/main" val="28874528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effectLst>
                  <a:outerShdw blurRad="38100" dist="38100" dir="2700000" algn="tl">
                    <a:srgbClr val="000000">
                      <a:alpha val="43137"/>
                    </a:srgbClr>
                  </a:outerShdw>
                </a:effectLst>
              </a:rPr>
              <a:t>Time Management in Drafting</a:t>
            </a:r>
          </a:p>
        </p:txBody>
      </p:sp>
      <p:sp>
        <p:nvSpPr>
          <p:cNvPr id="3" name="Content Placeholder 2"/>
          <p:cNvSpPr>
            <a:spLocks noGrp="1"/>
          </p:cNvSpPr>
          <p:nvPr>
            <p:ph idx="1"/>
          </p:nvPr>
        </p:nvSpPr>
        <p:spPr/>
        <p:txBody>
          <a:bodyPr/>
          <a:lstStyle/>
          <a:p>
            <a:r>
              <a:rPr lang="en-US" sz="3200" dirty="0"/>
              <a:t>Set deadlines for each section.</a:t>
            </a:r>
          </a:p>
          <a:p>
            <a:r>
              <a:rPr lang="en-US" sz="3200" dirty="0"/>
              <a:t>Use timers or productivity techniques (e.g., Pomodoro).</a:t>
            </a:r>
          </a:p>
          <a:p>
            <a:endParaRPr lang="en-US" dirty="0"/>
          </a:p>
        </p:txBody>
      </p:sp>
    </p:spTree>
    <p:extLst>
      <p:ext uri="{BB962C8B-B14F-4D97-AF65-F5344CB8AC3E}">
        <p14:creationId xmlns:p14="http://schemas.microsoft.com/office/powerpoint/2010/main" val="622285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a:effectLst>
                  <a:outerShdw blurRad="38100" dist="38100" dir="2700000" algn="tl">
                    <a:srgbClr val="000000">
                      <a:alpha val="43137"/>
                    </a:srgbClr>
                  </a:outerShdw>
                </a:effectLst>
              </a:rPr>
              <a:t>Pomodoro Technique</a:t>
            </a:r>
          </a:p>
        </p:txBody>
      </p:sp>
      <p:sp>
        <p:nvSpPr>
          <p:cNvPr id="3" name="Content Placeholder 2"/>
          <p:cNvSpPr>
            <a:spLocks noGrp="1"/>
          </p:cNvSpPr>
          <p:nvPr>
            <p:ph idx="1"/>
          </p:nvPr>
        </p:nvSpPr>
        <p:spPr/>
        <p:txBody>
          <a:bodyPr>
            <a:normAutofit/>
          </a:bodyPr>
          <a:lstStyle/>
          <a:p>
            <a:pPr algn="just"/>
            <a:r>
              <a:rPr lang="en-US" sz="3200" dirty="0"/>
              <a:t>The Pomodoro Technique is a time management method that uses a timer to break work into </a:t>
            </a:r>
            <a:endParaRPr lang="en-US" sz="3200" dirty="0" smtClean="0"/>
          </a:p>
          <a:p>
            <a:pPr algn="just"/>
            <a:r>
              <a:rPr lang="en-US" sz="3200" dirty="0" smtClean="0"/>
              <a:t>focused </a:t>
            </a:r>
            <a:r>
              <a:rPr lang="en-US" sz="3200" dirty="0"/>
              <a:t>intervals (traditionally 25 minutes, called a "</a:t>
            </a:r>
            <a:r>
              <a:rPr lang="en-US" sz="3200" dirty="0" err="1"/>
              <a:t>pomodoro</a:t>
            </a:r>
            <a:r>
              <a:rPr lang="en-US" sz="3200" dirty="0"/>
              <a:t>") separated by short breaks, </a:t>
            </a:r>
            <a:endParaRPr lang="en-US" sz="3200" dirty="0" smtClean="0"/>
          </a:p>
          <a:p>
            <a:pPr algn="just"/>
            <a:r>
              <a:rPr lang="en-US" sz="3200" dirty="0" smtClean="0"/>
              <a:t>promoting </a:t>
            </a:r>
            <a:r>
              <a:rPr lang="en-US" sz="3200" dirty="0"/>
              <a:t>focused work and rest periods to improve productivity and avoid </a:t>
            </a:r>
            <a:r>
              <a:rPr lang="en-US" sz="3200" dirty="0" smtClean="0"/>
              <a:t>burnout. </a:t>
            </a:r>
            <a:endParaRPr lang="en-US" sz="3200" dirty="0"/>
          </a:p>
        </p:txBody>
      </p:sp>
    </p:spTree>
    <p:extLst>
      <p:ext uri="{BB962C8B-B14F-4D97-AF65-F5344CB8AC3E}">
        <p14:creationId xmlns:p14="http://schemas.microsoft.com/office/powerpoint/2010/main" val="22376439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Drafting Long-Form Content</a:t>
            </a:r>
            <a:br>
              <a:rPr lang="en-US" b="1" dirty="0"/>
            </a:br>
            <a:endParaRPr lang="en-US" dirty="0"/>
          </a:p>
        </p:txBody>
      </p:sp>
      <p:sp>
        <p:nvSpPr>
          <p:cNvPr id="3" name="Content Placeholder 2"/>
          <p:cNvSpPr>
            <a:spLocks noGrp="1"/>
          </p:cNvSpPr>
          <p:nvPr>
            <p:ph idx="1"/>
          </p:nvPr>
        </p:nvSpPr>
        <p:spPr/>
        <p:txBody>
          <a:bodyPr/>
          <a:lstStyle/>
          <a:p>
            <a:r>
              <a:rPr lang="en-US" dirty="0"/>
              <a:t>Break into sections or chapters.</a:t>
            </a:r>
          </a:p>
          <a:p>
            <a:r>
              <a:rPr lang="en-US" dirty="0"/>
              <a:t>Focus on one section at a time.</a:t>
            </a:r>
          </a:p>
          <a:p>
            <a:endParaRPr lang="en-US" dirty="0"/>
          </a:p>
        </p:txBody>
      </p:sp>
    </p:spTree>
    <p:extLst>
      <p:ext uri="{BB962C8B-B14F-4D97-AF65-F5344CB8AC3E}">
        <p14:creationId xmlns:p14="http://schemas.microsoft.com/office/powerpoint/2010/main" val="27979434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Drafting Short-Form Content</a:t>
            </a:r>
            <a:br>
              <a:rPr lang="en-US" b="1" dirty="0"/>
            </a:br>
            <a:endParaRPr lang="en-US" dirty="0"/>
          </a:p>
        </p:txBody>
      </p:sp>
      <p:sp>
        <p:nvSpPr>
          <p:cNvPr id="3" name="Content Placeholder 2"/>
          <p:cNvSpPr>
            <a:spLocks noGrp="1"/>
          </p:cNvSpPr>
          <p:nvPr>
            <p:ph idx="1"/>
          </p:nvPr>
        </p:nvSpPr>
        <p:spPr/>
        <p:txBody>
          <a:bodyPr/>
          <a:lstStyle/>
          <a:p>
            <a:r>
              <a:rPr lang="en-US" sz="3200" dirty="0"/>
              <a:t>Be concise and to the point.</a:t>
            </a:r>
          </a:p>
          <a:p>
            <a:r>
              <a:rPr lang="en-US" sz="3200" dirty="0"/>
              <a:t>Focus on clarity and impact.</a:t>
            </a:r>
          </a:p>
          <a:p>
            <a:endParaRPr lang="en-US" dirty="0"/>
          </a:p>
        </p:txBody>
      </p:sp>
    </p:spTree>
    <p:extLst>
      <p:ext uri="{BB962C8B-B14F-4D97-AF65-F5344CB8AC3E}">
        <p14:creationId xmlns:p14="http://schemas.microsoft.com/office/powerpoint/2010/main" val="38748381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dirty="0">
                <a:effectLst>
                  <a:outerShdw blurRad="38100" dist="38100" dir="2700000" algn="tl">
                    <a:srgbClr val="000000">
                      <a:alpha val="43137"/>
                    </a:srgbClr>
                  </a:outerShdw>
                </a:effectLst>
              </a:rPr>
              <a:t>Common Mistakes in Drafting</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200" dirty="0"/>
              <a:t>Over-editing too soon.</a:t>
            </a:r>
          </a:p>
          <a:p>
            <a:r>
              <a:rPr lang="en-US" sz="3200" dirty="0"/>
              <a:t>Lack of structure.</a:t>
            </a:r>
          </a:p>
          <a:p>
            <a:r>
              <a:rPr lang="en-US" sz="3200" dirty="0"/>
              <a:t>Ignoring the audience.</a:t>
            </a:r>
          </a:p>
          <a:p>
            <a:endParaRPr lang="en-US" dirty="0"/>
          </a:p>
        </p:txBody>
      </p:sp>
    </p:spTree>
    <p:extLst>
      <p:ext uri="{BB962C8B-B14F-4D97-AF65-F5344CB8AC3E}">
        <p14:creationId xmlns:p14="http://schemas.microsoft.com/office/powerpoint/2010/main" val="10996699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Conclusion</a:t>
            </a:r>
            <a:endParaRPr lang="en-US" sz="60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sz="3600" dirty="0"/>
              <a:t>Drafting is a crucial step in the writing process</a:t>
            </a:r>
            <a:r>
              <a:rPr lang="en-US" sz="3600" dirty="0" smtClean="0"/>
              <a:t>.</a:t>
            </a:r>
          </a:p>
          <a:p>
            <a:r>
              <a:rPr lang="en-US" sz="3600" dirty="0"/>
              <a:t>Focus on content and structure first</a:t>
            </a:r>
            <a:r>
              <a:rPr lang="en-US" sz="3600" dirty="0" smtClean="0"/>
              <a:t>.</a:t>
            </a:r>
          </a:p>
          <a:p>
            <a:r>
              <a:rPr lang="en-US" sz="3600" dirty="0"/>
              <a:t>Revise and refine later</a:t>
            </a:r>
            <a:r>
              <a:rPr lang="en-US" sz="3600" dirty="0" smtClean="0"/>
              <a:t>.</a:t>
            </a:r>
          </a:p>
          <a:p>
            <a:r>
              <a:rPr lang="en-US" sz="3600" dirty="0"/>
              <a:t>Call to action: "Start drafting today and watch your writing improve!“</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2307414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682DAD2-60D5-400D-A87A-C486434A6F4D}">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489</TotalTime>
  <Words>1867</Words>
  <Application>Microsoft Office PowerPoint</Application>
  <PresentationFormat>Widescreen</PresentationFormat>
  <Paragraphs>188</Paragraphs>
  <Slides>46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Arial</vt:lpstr>
      <vt:lpstr>Calibri</vt:lpstr>
      <vt:lpstr>Calibri Light</vt:lpstr>
      <vt:lpstr>Candara</vt:lpstr>
      <vt:lpstr>Courier New</vt:lpstr>
      <vt:lpstr>Harlow Solid Italic</vt:lpstr>
      <vt:lpstr>Instrument Sans Medium</vt:lpstr>
      <vt:lpstr>Open Sans</vt:lpstr>
      <vt:lpstr>Office Theme</vt:lpstr>
      <vt:lpstr>PowerPoint Presentation</vt:lpstr>
      <vt:lpstr>PowerPoint Presentation</vt:lpstr>
      <vt:lpstr>PowerPoint Presentation</vt:lpstr>
      <vt:lpstr>PowerPoint Presentation</vt:lpstr>
      <vt:lpstr>Rough Draft </vt:lpstr>
      <vt:lpstr> Introduction to Drafting </vt:lpstr>
      <vt:lpstr>Importance</vt:lpstr>
      <vt:lpstr>Why Drafting Matters </vt:lpstr>
      <vt:lpstr>Steps to Start Drafting </vt:lpstr>
      <vt:lpstr>Some sequences  to organize a Draft </vt:lpstr>
      <vt:lpstr>Chronological Writing  </vt:lpstr>
      <vt:lpstr>Spatial Writing  </vt:lpstr>
      <vt:lpstr>Writing for Importance </vt:lpstr>
      <vt:lpstr>Writing for Problem/Solution </vt:lpstr>
      <vt:lpstr>Writing for Comparison/Contrast </vt:lpstr>
      <vt:lpstr>PowerPoint Presentation</vt:lpstr>
      <vt:lpstr>Types of Drafts </vt:lpstr>
      <vt:lpstr>PowerPoint Presentation</vt:lpstr>
      <vt:lpstr>Rough Draft </vt:lpstr>
      <vt:lpstr>PowerPoint Presentation</vt:lpstr>
      <vt:lpstr>Working Draft</vt:lpstr>
      <vt:lpstr>PowerPoint Presentation</vt:lpstr>
      <vt:lpstr>Final Draft </vt:lpstr>
      <vt:lpstr>Examples of Final Draft </vt:lpstr>
      <vt:lpstr>Examples of Final Draft </vt:lpstr>
      <vt:lpstr>Key Elements of a Draft </vt:lpstr>
      <vt:lpstr> Writing the Introduction </vt:lpstr>
      <vt:lpstr>Developing the Body </vt:lpstr>
      <vt:lpstr>Crafting the Conclusion </vt:lpstr>
      <vt:lpstr>Writing Freely </vt:lpstr>
      <vt:lpstr>Using Outlines </vt:lpstr>
      <vt:lpstr>Incorporating Evidence </vt:lpstr>
      <vt:lpstr>Maintaining Focus </vt:lpstr>
      <vt:lpstr>Writing for Your Audience </vt:lpstr>
      <vt:lpstr>Writing for Different Genres </vt:lpstr>
      <vt:lpstr>Common Drafting Challenges </vt:lpstr>
      <vt:lpstr>What is Writer's block </vt:lpstr>
      <vt:lpstr>Overcoming Writer’s Block </vt:lpstr>
      <vt:lpstr>Tools for Drafting </vt:lpstr>
      <vt:lpstr>Collaborative Drafting </vt:lpstr>
      <vt:lpstr>Time Management in Drafting</vt:lpstr>
      <vt:lpstr>Pomodoro Technique</vt:lpstr>
      <vt:lpstr>Drafting Long-Form Content </vt:lpstr>
      <vt:lpstr>Drafting Short-Form Content </vt:lpstr>
      <vt:lpstr>Common Mistakes in Drafting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Tab &amp; Tech</dc:creator>
  <cp:lastModifiedBy>Tab &amp; Tech</cp:lastModifiedBy>
  <cp:revision>32</cp:revision>
  <dcterms:created xsi:type="dcterms:W3CDTF">2025-03-09T11:53:44Z</dcterms:created>
  <dcterms:modified xsi:type="dcterms:W3CDTF">2025-09-26T05:39:24Z</dcterms:modified>
</cp:coreProperties>
</file>