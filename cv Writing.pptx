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6" r:id="rId3"/>
    <p:sldId id="265" r:id="rId4"/>
    <p:sldId id="259" r:id="rId5"/>
    <p:sldId id="260" r:id="rId6"/>
    <p:sldId id="261" r:id="rId7"/>
    <p:sldId id="262" r:id="rId8"/>
    <p:sldId id="263" r:id="rId9"/>
    <p:sldId id="264" r:id="rId10"/>
    <p:sldId id="266" r:id="rId11"/>
    <p:sldId id="269" r:id="rId12"/>
    <p:sldId id="267" r:id="rId13"/>
    <p:sldId id="268" r:id="rId14"/>
    <p:sldId id="270" r:id="rId15"/>
    <p:sldId id="271" r:id="rId16"/>
    <p:sldId id="272"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11556B8-BC3D-430C-B165-14830DF7C853}"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C1B37CA-5EF5-42DA-A059-B2341639F1B2}">
      <dgm:prSet phldrT="[Text]"/>
      <dgm:spPr/>
      <dgm:t>
        <a:bodyPr/>
        <a:lstStyle/>
        <a:p>
          <a:r>
            <a:rPr lang="en-US" dirty="0" smtClean="0"/>
            <a:t>The Chronological Résumé</a:t>
          </a:r>
          <a:endParaRPr lang="en-US" dirty="0"/>
        </a:p>
      </dgm:t>
    </dgm:pt>
    <dgm:pt modelId="{FB4F84FF-D3AA-4677-9DE2-E0BBD78D006A}" type="parTrans" cxnId="{48D5508A-0773-48AE-8884-254E11A2E335}">
      <dgm:prSet/>
      <dgm:spPr/>
      <dgm:t>
        <a:bodyPr/>
        <a:lstStyle/>
        <a:p>
          <a:endParaRPr lang="en-US"/>
        </a:p>
      </dgm:t>
    </dgm:pt>
    <dgm:pt modelId="{72FBEA79-2B79-4A5A-A204-11B9A193FFED}" type="sibTrans" cxnId="{48D5508A-0773-48AE-8884-254E11A2E335}">
      <dgm:prSet/>
      <dgm:spPr/>
      <dgm:t>
        <a:bodyPr/>
        <a:lstStyle/>
        <a:p>
          <a:endParaRPr lang="en-US"/>
        </a:p>
      </dgm:t>
    </dgm:pt>
    <dgm:pt modelId="{797CBB81-934B-42FE-959E-C97D43210062}">
      <dgm:prSet/>
      <dgm:spPr/>
      <dgm:t>
        <a:bodyPr/>
        <a:lstStyle/>
        <a:p>
          <a:r>
            <a:rPr lang="en-US" dirty="0" smtClean="0"/>
            <a:t>The Functional Résumé</a:t>
          </a:r>
          <a:endParaRPr lang="en-US" dirty="0"/>
        </a:p>
      </dgm:t>
    </dgm:pt>
    <dgm:pt modelId="{D99C4495-C426-4229-B97F-545067CF7381}" type="parTrans" cxnId="{35F34CD7-DDD6-49BD-AEF1-1CE668ABC578}">
      <dgm:prSet/>
      <dgm:spPr/>
      <dgm:t>
        <a:bodyPr/>
        <a:lstStyle/>
        <a:p>
          <a:endParaRPr lang="en-US"/>
        </a:p>
      </dgm:t>
    </dgm:pt>
    <dgm:pt modelId="{99D08EE9-B70A-4152-B8DD-077A7B3AF4A9}" type="sibTrans" cxnId="{35F34CD7-DDD6-49BD-AEF1-1CE668ABC578}">
      <dgm:prSet/>
      <dgm:spPr/>
      <dgm:t>
        <a:bodyPr/>
        <a:lstStyle/>
        <a:p>
          <a:endParaRPr lang="en-US"/>
        </a:p>
      </dgm:t>
    </dgm:pt>
    <dgm:pt modelId="{660D9727-1225-4BC2-A6E6-4C4924154727}">
      <dgm:prSet/>
      <dgm:spPr/>
      <dgm:t>
        <a:bodyPr/>
        <a:lstStyle/>
        <a:p>
          <a:r>
            <a:rPr lang="en-US" dirty="0" smtClean="0"/>
            <a:t>The Combination Résumé</a:t>
          </a:r>
          <a:endParaRPr lang="en-US" dirty="0"/>
        </a:p>
      </dgm:t>
    </dgm:pt>
    <dgm:pt modelId="{138B96A1-C102-4176-8A6C-9045F4CDEA54}" type="parTrans" cxnId="{27708D75-C341-4FDF-A0CD-8015051D08F5}">
      <dgm:prSet/>
      <dgm:spPr/>
      <dgm:t>
        <a:bodyPr/>
        <a:lstStyle/>
        <a:p>
          <a:endParaRPr lang="en-US"/>
        </a:p>
      </dgm:t>
    </dgm:pt>
    <dgm:pt modelId="{2DE6F50E-0011-499A-A56D-3DE645168A3D}" type="sibTrans" cxnId="{27708D75-C341-4FDF-A0CD-8015051D08F5}">
      <dgm:prSet/>
      <dgm:spPr/>
      <dgm:t>
        <a:bodyPr/>
        <a:lstStyle/>
        <a:p>
          <a:endParaRPr lang="en-US"/>
        </a:p>
      </dgm:t>
    </dgm:pt>
    <dgm:pt modelId="{DDCC9B16-5A50-4856-8706-1A7AC2897924}" type="pres">
      <dgm:prSet presAssocID="{611556B8-BC3D-430C-B165-14830DF7C853}" presName="linear" presStyleCnt="0">
        <dgm:presLayoutVars>
          <dgm:animLvl val="lvl"/>
          <dgm:resizeHandles val="exact"/>
        </dgm:presLayoutVars>
      </dgm:prSet>
      <dgm:spPr/>
      <dgm:t>
        <a:bodyPr/>
        <a:lstStyle/>
        <a:p>
          <a:endParaRPr lang="en-US"/>
        </a:p>
      </dgm:t>
    </dgm:pt>
    <dgm:pt modelId="{4B21CB4D-1920-485B-A9D3-B7FBE6642109}" type="pres">
      <dgm:prSet presAssocID="{4C1B37CA-5EF5-42DA-A059-B2341639F1B2}" presName="parentText" presStyleLbl="node1" presStyleIdx="0" presStyleCnt="3">
        <dgm:presLayoutVars>
          <dgm:chMax val="0"/>
          <dgm:bulletEnabled val="1"/>
        </dgm:presLayoutVars>
      </dgm:prSet>
      <dgm:spPr/>
      <dgm:t>
        <a:bodyPr/>
        <a:lstStyle/>
        <a:p>
          <a:endParaRPr lang="en-US"/>
        </a:p>
      </dgm:t>
    </dgm:pt>
    <dgm:pt modelId="{8FFC7A58-ABB9-4214-9C15-2E2DDFADDB91}" type="pres">
      <dgm:prSet presAssocID="{72FBEA79-2B79-4A5A-A204-11B9A193FFED}" presName="spacer" presStyleCnt="0"/>
      <dgm:spPr/>
    </dgm:pt>
    <dgm:pt modelId="{2E9F2538-3A69-48D8-AB6F-B95C0E5E0C96}" type="pres">
      <dgm:prSet presAssocID="{660D9727-1225-4BC2-A6E6-4C4924154727}" presName="parentText" presStyleLbl="node1" presStyleIdx="1" presStyleCnt="3" custLinFactY="183456" custLinFactNeighborX="5461" custLinFactNeighborY="200000">
        <dgm:presLayoutVars>
          <dgm:chMax val="0"/>
          <dgm:bulletEnabled val="1"/>
        </dgm:presLayoutVars>
      </dgm:prSet>
      <dgm:spPr/>
      <dgm:t>
        <a:bodyPr/>
        <a:lstStyle/>
        <a:p>
          <a:endParaRPr lang="en-US"/>
        </a:p>
      </dgm:t>
    </dgm:pt>
    <dgm:pt modelId="{FEEC1135-43C9-4703-9DEF-4CB0CBF9AFCB}" type="pres">
      <dgm:prSet presAssocID="{2DE6F50E-0011-499A-A56D-3DE645168A3D}" presName="spacer" presStyleCnt="0"/>
      <dgm:spPr/>
    </dgm:pt>
    <dgm:pt modelId="{F4B98403-3121-47E1-8356-55E4CE6C1F20}" type="pres">
      <dgm:prSet presAssocID="{797CBB81-934B-42FE-959E-C97D43210062}" presName="parentText" presStyleLbl="node1" presStyleIdx="2" presStyleCnt="3" custLinFactY="-96543" custLinFactNeighborX="-794" custLinFactNeighborY="-100000">
        <dgm:presLayoutVars>
          <dgm:chMax val="0"/>
          <dgm:bulletEnabled val="1"/>
        </dgm:presLayoutVars>
      </dgm:prSet>
      <dgm:spPr/>
      <dgm:t>
        <a:bodyPr/>
        <a:lstStyle/>
        <a:p>
          <a:endParaRPr lang="en-US"/>
        </a:p>
      </dgm:t>
    </dgm:pt>
  </dgm:ptLst>
  <dgm:cxnLst>
    <dgm:cxn modelId="{9B397A4C-9B0E-4929-8EE4-2962E06C2B2A}" type="presOf" srcId="{797CBB81-934B-42FE-959E-C97D43210062}" destId="{F4B98403-3121-47E1-8356-55E4CE6C1F20}" srcOrd="0" destOrd="0" presId="urn:microsoft.com/office/officeart/2005/8/layout/vList2"/>
    <dgm:cxn modelId="{94AFC5CD-69FB-4A5A-A9C8-BD628F27EFFA}" type="presOf" srcId="{660D9727-1225-4BC2-A6E6-4C4924154727}" destId="{2E9F2538-3A69-48D8-AB6F-B95C0E5E0C96}" srcOrd="0" destOrd="0" presId="urn:microsoft.com/office/officeart/2005/8/layout/vList2"/>
    <dgm:cxn modelId="{35F34CD7-DDD6-49BD-AEF1-1CE668ABC578}" srcId="{611556B8-BC3D-430C-B165-14830DF7C853}" destId="{797CBB81-934B-42FE-959E-C97D43210062}" srcOrd="2" destOrd="0" parTransId="{D99C4495-C426-4229-B97F-545067CF7381}" sibTransId="{99D08EE9-B70A-4152-B8DD-077A7B3AF4A9}"/>
    <dgm:cxn modelId="{490AEDA6-F942-418F-AE13-B53551022C92}" type="presOf" srcId="{611556B8-BC3D-430C-B165-14830DF7C853}" destId="{DDCC9B16-5A50-4856-8706-1A7AC2897924}" srcOrd="0" destOrd="0" presId="urn:microsoft.com/office/officeart/2005/8/layout/vList2"/>
    <dgm:cxn modelId="{48D5508A-0773-48AE-8884-254E11A2E335}" srcId="{611556B8-BC3D-430C-B165-14830DF7C853}" destId="{4C1B37CA-5EF5-42DA-A059-B2341639F1B2}" srcOrd="0" destOrd="0" parTransId="{FB4F84FF-D3AA-4677-9DE2-E0BBD78D006A}" sibTransId="{72FBEA79-2B79-4A5A-A204-11B9A193FFED}"/>
    <dgm:cxn modelId="{A71ECB8E-A5AB-4665-827A-E02E69976EF6}" type="presOf" srcId="{4C1B37CA-5EF5-42DA-A059-B2341639F1B2}" destId="{4B21CB4D-1920-485B-A9D3-B7FBE6642109}" srcOrd="0" destOrd="0" presId="urn:microsoft.com/office/officeart/2005/8/layout/vList2"/>
    <dgm:cxn modelId="{27708D75-C341-4FDF-A0CD-8015051D08F5}" srcId="{611556B8-BC3D-430C-B165-14830DF7C853}" destId="{660D9727-1225-4BC2-A6E6-4C4924154727}" srcOrd="1" destOrd="0" parTransId="{138B96A1-C102-4176-8A6C-9045F4CDEA54}" sibTransId="{2DE6F50E-0011-499A-A56D-3DE645168A3D}"/>
    <dgm:cxn modelId="{44E00941-ABDB-4DF1-83F6-C29D7D2BD41B}" type="presParOf" srcId="{DDCC9B16-5A50-4856-8706-1A7AC2897924}" destId="{4B21CB4D-1920-485B-A9D3-B7FBE6642109}" srcOrd="0" destOrd="0" presId="urn:microsoft.com/office/officeart/2005/8/layout/vList2"/>
    <dgm:cxn modelId="{87820F30-BC3C-47B4-9D46-B64EBC9A8E8A}" type="presParOf" srcId="{DDCC9B16-5A50-4856-8706-1A7AC2897924}" destId="{8FFC7A58-ABB9-4214-9C15-2E2DDFADDB91}" srcOrd="1" destOrd="0" presId="urn:microsoft.com/office/officeart/2005/8/layout/vList2"/>
    <dgm:cxn modelId="{BADD651B-A250-40C3-B550-F33CBDED76D4}" type="presParOf" srcId="{DDCC9B16-5A50-4856-8706-1A7AC2897924}" destId="{2E9F2538-3A69-48D8-AB6F-B95C0E5E0C96}" srcOrd="2" destOrd="0" presId="urn:microsoft.com/office/officeart/2005/8/layout/vList2"/>
    <dgm:cxn modelId="{6DEF6D83-4039-4F9F-9AA8-052975BBAAC3}" type="presParOf" srcId="{DDCC9B16-5A50-4856-8706-1A7AC2897924}" destId="{FEEC1135-43C9-4703-9DEF-4CB0CBF9AFCB}" srcOrd="3" destOrd="0" presId="urn:microsoft.com/office/officeart/2005/8/layout/vList2"/>
    <dgm:cxn modelId="{B7094334-4BA6-46FD-B58D-A007FC1AEE20}" type="presParOf" srcId="{DDCC9B16-5A50-4856-8706-1A7AC2897924}" destId="{F4B98403-3121-47E1-8356-55E4CE6C1F20}"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E8BEF32-D80C-41DF-BB0F-E12B4CD2340C}"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0DEA12DE-A7D5-4A62-A2AF-EF268B332F34}">
      <dgm:prSet/>
      <dgm:spPr/>
      <dgm:t>
        <a:bodyPr/>
        <a:lstStyle/>
        <a:p>
          <a:r>
            <a:rPr lang="en-US" dirty="0" smtClean="0"/>
            <a:t>Summary of qualifications</a:t>
          </a:r>
          <a:endParaRPr lang="en-US" dirty="0"/>
        </a:p>
      </dgm:t>
    </dgm:pt>
    <dgm:pt modelId="{48DAB79D-9D09-4881-B2E0-98BF651DB30A}" type="parTrans" cxnId="{9226B55D-A381-4D6E-9B2D-30B104AB8DF0}">
      <dgm:prSet/>
      <dgm:spPr/>
      <dgm:t>
        <a:bodyPr/>
        <a:lstStyle/>
        <a:p>
          <a:endParaRPr lang="en-US"/>
        </a:p>
      </dgm:t>
    </dgm:pt>
    <dgm:pt modelId="{1E6D631E-C696-47C4-B299-91E010CC36BA}" type="sibTrans" cxnId="{9226B55D-A381-4D6E-9B2D-30B104AB8DF0}">
      <dgm:prSet/>
      <dgm:spPr/>
      <dgm:t>
        <a:bodyPr/>
        <a:lstStyle/>
        <a:p>
          <a:endParaRPr lang="en-US"/>
        </a:p>
      </dgm:t>
    </dgm:pt>
    <dgm:pt modelId="{DEF1CB9D-863B-4EBE-8311-ED5928CEB231}">
      <dgm:prSet/>
      <dgm:spPr/>
      <dgm:t>
        <a:bodyPr/>
        <a:lstStyle/>
        <a:p>
          <a:r>
            <a:rPr lang="en-US" dirty="0" smtClean="0"/>
            <a:t>Education</a:t>
          </a:r>
          <a:endParaRPr lang="en-US" dirty="0"/>
        </a:p>
      </dgm:t>
    </dgm:pt>
    <dgm:pt modelId="{649C106D-3479-421D-A6E3-997B599F73C7}" type="parTrans" cxnId="{1CC7B7BA-A4D3-4742-9B64-B57090F3875F}">
      <dgm:prSet/>
      <dgm:spPr/>
      <dgm:t>
        <a:bodyPr/>
        <a:lstStyle/>
        <a:p>
          <a:endParaRPr lang="en-US"/>
        </a:p>
      </dgm:t>
    </dgm:pt>
    <dgm:pt modelId="{8B54C6DD-CD0F-4604-B18D-7EF8AAB1B910}" type="sibTrans" cxnId="{1CC7B7BA-A4D3-4742-9B64-B57090F3875F}">
      <dgm:prSet/>
      <dgm:spPr/>
      <dgm:t>
        <a:bodyPr/>
        <a:lstStyle/>
        <a:p>
          <a:endParaRPr lang="en-US"/>
        </a:p>
      </dgm:t>
    </dgm:pt>
    <dgm:pt modelId="{CB1F89D6-CC76-4C4F-B6E2-5A4867EF60F0}">
      <dgm:prSet/>
      <dgm:spPr/>
      <dgm:t>
        <a:bodyPr/>
        <a:lstStyle/>
        <a:p>
          <a:r>
            <a:rPr lang="en-US" smtClean="0"/>
            <a:t>skills, awards and activities</a:t>
          </a:r>
          <a:endParaRPr lang="en-US"/>
        </a:p>
      </dgm:t>
    </dgm:pt>
    <dgm:pt modelId="{56AF9D4E-BEC3-48FA-B801-2E510A0AF02F}" type="parTrans" cxnId="{BF4C1F88-70AB-4208-AF59-2BA9349CC9CD}">
      <dgm:prSet/>
      <dgm:spPr/>
      <dgm:t>
        <a:bodyPr/>
        <a:lstStyle/>
        <a:p>
          <a:endParaRPr lang="en-US"/>
        </a:p>
      </dgm:t>
    </dgm:pt>
    <dgm:pt modelId="{25BC9212-6CE9-4A2F-BA5B-313E21900D13}" type="sibTrans" cxnId="{BF4C1F88-70AB-4208-AF59-2BA9349CC9CD}">
      <dgm:prSet/>
      <dgm:spPr/>
      <dgm:t>
        <a:bodyPr/>
        <a:lstStyle/>
        <a:p>
          <a:endParaRPr lang="en-US"/>
        </a:p>
      </dgm:t>
    </dgm:pt>
    <dgm:pt modelId="{1E7AD98E-5816-4466-BB33-29961098EB00}">
      <dgm:prSet/>
      <dgm:spPr/>
      <dgm:t>
        <a:bodyPr/>
        <a:lstStyle/>
        <a:p>
          <a:r>
            <a:rPr lang="en-US" dirty="0" smtClean="0"/>
            <a:t>Personal information</a:t>
          </a:r>
          <a:endParaRPr lang="en-US" dirty="0"/>
        </a:p>
      </dgm:t>
    </dgm:pt>
    <dgm:pt modelId="{6A484759-EB08-4B78-AAD2-4AC95930CB4E}" type="parTrans" cxnId="{6F037289-E892-42E9-AE6A-427D72316ED9}">
      <dgm:prSet/>
      <dgm:spPr/>
      <dgm:t>
        <a:bodyPr/>
        <a:lstStyle/>
        <a:p>
          <a:endParaRPr lang="en-US"/>
        </a:p>
      </dgm:t>
    </dgm:pt>
    <dgm:pt modelId="{E2D8AE21-655D-4F74-8BFB-EFD3D95D78E3}" type="sibTrans" cxnId="{6F037289-E892-42E9-AE6A-427D72316ED9}">
      <dgm:prSet/>
      <dgm:spPr/>
      <dgm:t>
        <a:bodyPr/>
        <a:lstStyle/>
        <a:p>
          <a:endParaRPr lang="en-US"/>
        </a:p>
      </dgm:t>
    </dgm:pt>
    <dgm:pt modelId="{2AC42607-C38F-437B-AE9D-BE311E70B86A}">
      <dgm:prSet/>
      <dgm:spPr/>
      <dgm:t>
        <a:bodyPr/>
        <a:lstStyle/>
        <a:p>
          <a:r>
            <a:rPr lang="en-US" dirty="0" smtClean="0"/>
            <a:t>References</a:t>
          </a:r>
          <a:endParaRPr lang="en-US" dirty="0"/>
        </a:p>
      </dgm:t>
    </dgm:pt>
    <dgm:pt modelId="{725D8DE6-14D3-43E5-B3B9-053AC72FFBA4}" type="parTrans" cxnId="{21C6BE81-2C70-4411-800D-EF186ED7BBFE}">
      <dgm:prSet/>
      <dgm:spPr/>
      <dgm:t>
        <a:bodyPr/>
        <a:lstStyle/>
        <a:p>
          <a:endParaRPr lang="en-US"/>
        </a:p>
      </dgm:t>
    </dgm:pt>
    <dgm:pt modelId="{91A9A149-387C-4DD2-B18C-83F033BDA687}" type="sibTrans" cxnId="{21C6BE81-2C70-4411-800D-EF186ED7BBFE}">
      <dgm:prSet/>
      <dgm:spPr/>
      <dgm:t>
        <a:bodyPr/>
        <a:lstStyle/>
        <a:p>
          <a:endParaRPr lang="en-US"/>
        </a:p>
      </dgm:t>
    </dgm:pt>
    <dgm:pt modelId="{5CBD68AD-A3D4-45FA-A20C-3E6F02FD6B60}">
      <dgm:prSet/>
      <dgm:spPr/>
      <dgm:t>
        <a:bodyPr/>
        <a:lstStyle/>
        <a:p>
          <a:r>
            <a:rPr lang="en-US" smtClean="0"/>
            <a:t>career objective</a:t>
          </a:r>
          <a:endParaRPr lang="en-US"/>
        </a:p>
      </dgm:t>
    </dgm:pt>
    <dgm:pt modelId="{C38A6F01-255C-40A7-A9B2-EE1A283C5094}" type="sibTrans" cxnId="{0E7BD104-65BB-4724-8C49-9A73039EB21F}">
      <dgm:prSet/>
      <dgm:spPr/>
      <dgm:t>
        <a:bodyPr/>
        <a:lstStyle/>
        <a:p>
          <a:endParaRPr lang="en-US"/>
        </a:p>
      </dgm:t>
    </dgm:pt>
    <dgm:pt modelId="{0059D63A-4ECD-4635-95F2-553D70421A2D}" type="parTrans" cxnId="{0E7BD104-65BB-4724-8C49-9A73039EB21F}">
      <dgm:prSet/>
      <dgm:spPr/>
      <dgm:t>
        <a:bodyPr/>
        <a:lstStyle/>
        <a:p>
          <a:endParaRPr lang="en-US"/>
        </a:p>
      </dgm:t>
    </dgm:pt>
    <dgm:pt modelId="{6CD06118-DC50-4530-8A6C-5B9CF6EE6231}" type="pres">
      <dgm:prSet presAssocID="{AE8BEF32-D80C-41DF-BB0F-E12B4CD2340C}" presName="diagram" presStyleCnt="0">
        <dgm:presLayoutVars>
          <dgm:dir/>
          <dgm:resizeHandles val="exact"/>
        </dgm:presLayoutVars>
      </dgm:prSet>
      <dgm:spPr/>
    </dgm:pt>
    <dgm:pt modelId="{CCBA8E85-7E74-4520-B21F-1B904FFCA2C6}" type="pres">
      <dgm:prSet presAssocID="{5CBD68AD-A3D4-45FA-A20C-3E6F02FD6B60}" presName="node" presStyleLbl="node1" presStyleIdx="0" presStyleCnt="6">
        <dgm:presLayoutVars>
          <dgm:bulletEnabled val="1"/>
        </dgm:presLayoutVars>
      </dgm:prSet>
      <dgm:spPr/>
      <dgm:t>
        <a:bodyPr/>
        <a:lstStyle/>
        <a:p>
          <a:endParaRPr lang="en-US"/>
        </a:p>
      </dgm:t>
    </dgm:pt>
    <dgm:pt modelId="{4A1B5BCB-63DC-4A27-9A64-CF30520CE31C}" type="pres">
      <dgm:prSet presAssocID="{C38A6F01-255C-40A7-A9B2-EE1A283C5094}" presName="sibTrans" presStyleCnt="0"/>
      <dgm:spPr/>
    </dgm:pt>
    <dgm:pt modelId="{6EF0FBE4-0911-413D-A87C-245E8A9EC7D7}" type="pres">
      <dgm:prSet presAssocID="{DEF1CB9D-863B-4EBE-8311-ED5928CEB231}" presName="node" presStyleLbl="node1" presStyleIdx="1" presStyleCnt="6">
        <dgm:presLayoutVars>
          <dgm:bulletEnabled val="1"/>
        </dgm:presLayoutVars>
      </dgm:prSet>
      <dgm:spPr/>
      <dgm:t>
        <a:bodyPr/>
        <a:lstStyle/>
        <a:p>
          <a:endParaRPr lang="en-US"/>
        </a:p>
      </dgm:t>
    </dgm:pt>
    <dgm:pt modelId="{6E045B20-4094-4CB0-81C3-C2DE4C655719}" type="pres">
      <dgm:prSet presAssocID="{8B54C6DD-CD0F-4604-B18D-7EF8AAB1B910}" presName="sibTrans" presStyleCnt="0"/>
      <dgm:spPr/>
    </dgm:pt>
    <dgm:pt modelId="{6D53037A-F0BC-463B-984C-9C6F8BC569C1}" type="pres">
      <dgm:prSet presAssocID="{0DEA12DE-A7D5-4A62-A2AF-EF268B332F34}" presName="node" presStyleLbl="node1" presStyleIdx="2" presStyleCnt="6" custLinFactY="21031" custLinFactNeighborX="-304" custLinFactNeighborY="100000">
        <dgm:presLayoutVars>
          <dgm:bulletEnabled val="1"/>
        </dgm:presLayoutVars>
      </dgm:prSet>
      <dgm:spPr/>
      <dgm:t>
        <a:bodyPr/>
        <a:lstStyle/>
        <a:p>
          <a:endParaRPr lang="en-US"/>
        </a:p>
      </dgm:t>
    </dgm:pt>
    <dgm:pt modelId="{36341946-DE7D-411C-A8D0-73F10D05DB46}" type="pres">
      <dgm:prSet presAssocID="{1E6D631E-C696-47C4-B299-91E010CC36BA}" presName="sibTrans" presStyleCnt="0"/>
      <dgm:spPr/>
    </dgm:pt>
    <dgm:pt modelId="{CE3CA6C2-7933-427E-A091-17975A7C3C56}" type="pres">
      <dgm:prSet presAssocID="{1E7AD98E-5816-4466-BB33-29961098EB00}" presName="node" presStyleLbl="node1" presStyleIdx="3" presStyleCnt="6">
        <dgm:presLayoutVars>
          <dgm:bulletEnabled val="1"/>
        </dgm:presLayoutVars>
      </dgm:prSet>
      <dgm:spPr/>
      <dgm:t>
        <a:bodyPr/>
        <a:lstStyle/>
        <a:p>
          <a:endParaRPr lang="en-US"/>
        </a:p>
      </dgm:t>
    </dgm:pt>
    <dgm:pt modelId="{D41A7508-BF28-4277-80E5-D979A48DC9CB}" type="pres">
      <dgm:prSet presAssocID="{E2D8AE21-655D-4F74-8BFB-EFD3D95D78E3}" presName="sibTrans" presStyleCnt="0"/>
      <dgm:spPr/>
    </dgm:pt>
    <dgm:pt modelId="{632B592B-EF86-4038-848A-BD2A3B45689B}" type="pres">
      <dgm:prSet presAssocID="{CB1F89D6-CC76-4C4F-B6E2-5A4867EF60F0}" presName="node" presStyleLbl="node1" presStyleIdx="4" presStyleCnt="6" custLinFactX="100000" custLinFactY="-14031" custLinFactNeighborX="117926" custLinFactNeighborY="-100000">
        <dgm:presLayoutVars>
          <dgm:bulletEnabled val="1"/>
        </dgm:presLayoutVars>
      </dgm:prSet>
      <dgm:spPr/>
    </dgm:pt>
    <dgm:pt modelId="{9C0F28F9-CCDF-4DB4-BF67-02FB92A4E823}" type="pres">
      <dgm:prSet presAssocID="{25BC9212-6CE9-4A2F-BA5B-313E21900D13}" presName="sibTrans" presStyleCnt="0"/>
      <dgm:spPr/>
    </dgm:pt>
    <dgm:pt modelId="{1BC3B873-D35E-49F7-A39A-6D1959B82503}" type="pres">
      <dgm:prSet presAssocID="{2AC42607-C38F-437B-AE9D-BE311E70B86A}" presName="node" presStyleLbl="node1" presStyleIdx="5" presStyleCnt="6" custLinFactX="-8368" custLinFactNeighborX="-100000" custLinFactNeighborY="1431">
        <dgm:presLayoutVars>
          <dgm:bulletEnabled val="1"/>
        </dgm:presLayoutVars>
      </dgm:prSet>
      <dgm:spPr/>
      <dgm:t>
        <a:bodyPr/>
        <a:lstStyle/>
        <a:p>
          <a:endParaRPr lang="en-US"/>
        </a:p>
      </dgm:t>
    </dgm:pt>
  </dgm:ptLst>
  <dgm:cxnLst>
    <dgm:cxn modelId="{E545C32C-CE87-407C-822C-7071EEF16B9F}" type="presOf" srcId="{DEF1CB9D-863B-4EBE-8311-ED5928CEB231}" destId="{6EF0FBE4-0911-413D-A87C-245E8A9EC7D7}" srcOrd="0" destOrd="0" presId="urn:microsoft.com/office/officeart/2005/8/layout/default"/>
    <dgm:cxn modelId="{21C6BE81-2C70-4411-800D-EF186ED7BBFE}" srcId="{AE8BEF32-D80C-41DF-BB0F-E12B4CD2340C}" destId="{2AC42607-C38F-437B-AE9D-BE311E70B86A}" srcOrd="5" destOrd="0" parTransId="{725D8DE6-14D3-43E5-B3B9-053AC72FFBA4}" sibTransId="{91A9A149-387C-4DD2-B18C-83F033BDA687}"/>
    <dgm:cxn modelId="{1CC7B7BA-A4D3-4742-9B64-B57090F3875F}" srcId="{AE8BEF32-D80C-41DF-BB0F-E12B4CD2340C}" destId="{DEF1CB9D-863B-4EBE-8311-ED5928CEB231}" srcOrd="1" destOrd="0" parTransId="{649C106D-3479-421D-A6E3-997B599F73C7}" sibTransId="{8B54C6DD-CD0F-4604-B18D-7EF8AAB1B910}"/>
    <dgm:cxn modelId="{6F037289-E892-42E9-AE6A-427D72316ED9}" srcId="{AE8BEF32-D80C-41DF-BB0F-E12B4CD2340C}" destId="{1E7AD98E-5816-4466-BB33-29961098EB00}" srcOrd="3" destOrd="0" parTransId="{6A484759-EB08-4B78-AAD2-4AC95930CB4E}" sibTransId="{E2D8AE21-655D-4F74-8BFB-EFD3D95D78E3}"/>
    <dgm:cxn modelId="{BF4C1F88-70AB-4208-AF59-2BA9349CC9CD}" srcId="{AE8BEF32-D80C-41DF-BB0F-E12B4CD2340C}" destId="{CB1F89D6-CC76-4C4F-B6E2-5A4867EF60F0}" srcOrd="4" destOrd="0" parTransId="{56AF9D4E-BEC3-48FA-B801-2E510A0AF02F}" sibTransId="{25BC9212-6CE9-4A2F-BA5B-313E21900D13}"/>
    <dgm:cxn modelId="{F1B2F82B-3FF4-4B04-A172-A09C26E80774}" type="presOf" srcId="{2AC42607-C38F-437B-AE9D-BE311E70B86A}" destId="{1BC3B873-D35E-49F7-A39A-6D1959B82503}" srcOrd="0" destOrd="0" presId="urn:microsoft.com/office/officeart/2005/8/layout/default"/>
    <dgm:cxn modelId="{9226B55D-A381-4D6E-9B2D-30B104AB8DF0}" srcId="{AE8BEF32-D80C-41DF-BB0F-E12B4CD2340C}" destId="{0DEA12DE-A7D5-4A62-A2AF-EF268B332F34}" srcOrd="2" destOrd="0" parTransId="{48DAB79D-9D09-4881-B2E0-98BF651DB30A}" sibTransId="{1E6D631E-C696-47C4-B299-91E010CC36BA}"/>
    <dgm:cxn modelId="{5098CEF7-4B6A-445E-95F7-E5B70C1DC48A}" type="presOf" srcId="{0DEA12DE-A7D5-4A62-A2AF-EF268B332F34}" destId="{6D53037A-F0BC-463B-984C-9C6F8BC569C1}" srcOrd="0" destOrd="0" presId="urn:microsoft.com/office/officeart/2005/8/layout/default"/>
    <dgm:cxn modelId="{5AD7CA0C-3E2A-400B-B113-908927D885C0}" type="presOf" srcId="{1E7AD98E-5816-4466-BB33-29961098EB00}" destId="{CE3CA6C2-7933-427E-A091-17975A7C3C56}" srcOrd="0" destOrd="0" presId="urn:microsoft.com/office/officeart/2005/8/layout/default"/>
    <dgm:cxn modelId="{05262C89-A2D4-4AA3-907F-63215CD70CA4}" type="presOf" srcId="{5CBD68AD-A3D4-45FA-A20C-3E6F02FD6B60}" destId="{CCBA8E85-7E74-4520-B21F-1B904FFCA2C6}" srcOrd="0" destOrd="0" presId="urn:microsoft.com/office/officeart/2005/8/layout/default"/>
    <dgm:cxn modelId="{C88F7685-B740-476C-B95C-2A56E20BABD1}" type="presOf" srcId="{CB1F89D6-CC76-4C4F-B6E2-5A4867EF60F0}" destId="{632B592B-EF86-4038-848A-BD2A3B45689B}" srcOrd="0" destOrd="0" presId="urn:microsoft.com/office/officeart/2005/8/layout/default"/>
    <dgm:cxn modelId="{0E7BD104-65BB-4724-8C49-9A73039EB21F}" srcId="{AE8BEF32-D80C-41DF-BB0F-E12B4CD2340C}" destId="{5CBD68AD-A3D4-45FA-A20C-3E6F02FD6B60}" srcOrd="0" destOrd="0" parTransId="{0059D63A-4ECD-4635-95F2-553D70421A2D}" sibTransId="{C38A6F01-255C-40A7-A9B2-EE1A283C5094}"/>
    <dgm:cxn modelId="{9EACB629-02D0-44E1-8110-D7A31563837E}" type="presOf" srcId="{AE8BEF32-D80C-41DF-BB0F-E12B4CD2340C}" destId="{6CD06118-DC50-4530-8A6C-5B9CF6EE6231}" srcOrd="0" destOrd="0" presId="urn:microsoft.com/office/officeart/2005/8/layout/default"/>
    <dgm:cxn modelId="{434368E3-DE25-4BCD-9D3F-F1409BDBCA5E}" type="presParOf" srcId="{6CD06118-DC50-4530-8A6C-5B9CF6EE6231}" destId="{CCBA8E85-7E74-4520-B21F-1B904FFCA2C6}" srcOrd="0" destOrd="0" presId="urn:microsoft.com/office/officeart/2005/8/layout/default"/>
    <dgm:cxn modelId="{9D69BF83-0467-453D-925E-E19FC70F748A}" type="presParOf" srcId="{6CD06118-DC50-4530-8A6C-5B9CF6EE6231}" destId="{4A1B5BCB-63DC-4A27-9A64-CF30520CE31C}" srcOrd="1" destOrd="0" presId="urn:microsoft.com/office/officeart/2005/8/layout/default"/>
    <dgm:cxn modelId="{69F868FD-0E38-49A9-91A3-9AB0F28EAF86}" type="presParOf" srcId="{6CD06118-DC50-4530-8A6C-5B9CF6EE6231}" destId="{6EF0FBE4-0911-413D-A87C-245E8A9EC7D7}" srcOrd="2" destOrd="0" presId="urn:microsoft.com/office/officeart/2005/8/layout/default"/>
    <dgm:cxn modelId="{AC4A8D50-229C-4FC7-8431-4C0CC0FD2DD5}" type="presParOf" srcId="{6CD06118-DC50-4530-8A6C-5B9CF6EE6231}" destId="{6E045B20-4094-4CB0-81C3-C2DE4C655719}" srcOrd="3" destOrd="0" presId="urn:microsoft.com/office/officeart/2005/8/layout/default"/>
    <dgm:cxn modelId="{0D174744-173F-4638-9C6B-4D2857BF0339}" type="presParOf" srcId="{6CD06118-DC50-4530-8A6C-5B9CF6EE6231}" destId="{6D53037A-F0BC-463B-984C-9C6F8BC569C1}" srcOrd="4" destOrd="0" presId="urn:microsoft.com/office/officeart/2005/8/layout/default"/>
    <dgm:cxn modelId="{C775B4F4-53F6-4ED6-8838-B7A78C2562AD}" type="presParOf" srcId="{6CD06118-DC50-4530-8A6C-5B9CF6EE6231}" destId="{36341946-DE7D-411C-A8D0-73F10D05DB46}" srcOrd="5" destOrd="0" presId="urn:microsoft.com/office/officeart/2005/8/layout/default"/>
    <dgm:cxn modelId="{39AA3FCE-78F2-4704-B5CF-96F852536492}" type="presParOf" srcId="{6CD06118-DC50-4530-8A6C-5B9CF6EE6231}" destId="{CE3CA6C2-7933-427E-A091-17975A7C3C56}" srcOrd="6" destOrd="0" presId="urn:microsoft.com/office/officeart/2005/8/layout/default"/>
    <dgm:cxn modelId="{FE0936ED-E751-40C8-B1DC-3A3C980626E5}" type="presParOf" srcId="{6CD06118-DC50-4530-8A6C-5B9CF6EE6231}" destId="{D41A7508-BF28-4277-80E5-D979A48DC9CB}" srcOrd="7" destOrd="0" presId="urn:microsoft.com/office/officeart/2005/8/layout/default"/>
    <dgm:cxn modelId="{58F45F1D-6B27-4DD5-A810-27470A860D39}" type="presParOf" srcId="{6CD06118-DC50-4530-8A6C-5B9CF6EE6231}" destId="{632B592B-EF86-4038-848A-BD2A3B45689B}" srcOrd="8" destOrd="0" presId="urn:microsoft.com/office/officeart/2005/8/layout/default"/>
    <dgm:cxn modelId="{FF8C8BB4-4C19-43FB-BE06-81ED8CE30773}" type="presParOf" srcId="{6CD06118-DC50-4530-8A6C-5B9CF6EE6231}" destId="{9C0F28F9-CCDF-4DB4-BF67-02FB92A4E823}" srcOrd="9" destOrd="0" presId="urn:microsoft.com/office/officeart/2005/8/layout/default"/>
    <dgm:cxn modelId="{2A670B55-CB0B-4407-882D-F1F177F1D5BC}" type="presParOf" srcId="{6CD06118-DC50-4530-8A6C-5B9CF6EE6231}" destId="{1BC3B873-D35E-49F7-A39A-6D1959B82503}"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21CB4D-1920-485B-A9D3-B7FBE6642109}">
      <dsp:nvSpPr>
        <dsp:cNvPr id="0" name=""/>
        <dsp:cNvSpPr/>
      </dsp:nvSpPr>
      <dsp:spPr>
        <a:xfrm>
          <a:off x="0" y="127768"/>
          <a:ext cx="11996737" cy="155902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l" defTabSz="2889250">
            <a:lnSpc>
              <a:spcPct val="90000"/>
            </a:lnSpc>
            <a:spcBef>
              <a:spcPct val="0"/>
            </a:spcBef>
            <a:spcAft>
              <a:spcPct val="35000"/>
            </a:spcAft>
          </a:pPr>
          <a:r>
            <a:rPr lang="en-US" sz="6500" kern="1200" dirty="0" smtClean="0"/>
            <a:t>The Chronological Résumé</a:t>
          </a:r>
          <a:endParaRPr lang="en-US" sz="6500" kern="1200" dirty="0"/>
        </a:p>
      </dsp:txBody>
      <dsp:txXfrm>
        <a:off x="76105" y="203873"/>
        <a:ext cx="11844527" cy="1406815"/>
      </dsp:txXfrm>
    </dsp:sp>
    <dsp:sp modelId="{2E9F2538-3A69-48D8-AB6F-B95C0E5E0C96}">
      <dsp:nvSpPr>
        <dsp:cNvPr id="0" name=""/>
        <dsp:cNvSpPr/>
      </dsp:nvSpPr>
      <dsp:spPr>
        <a:xfrm>
          <a:off x="0" y="3747987"/>
          <a:ext cx="11996737" cy="1559025"/>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l" defTabSz="2889250">
            <a:lnSpc>
              <a:spcPct val="90000"/>
            </a:lnSpc>
            <a:spcBef>
              <a:spcPct val="0"/>
            </a:spcBef>
            <a:spcAft>
              <a:spcPct val="35000"/>
            </a:spcAft>
          </a:pPr>
          <a:r>
            <a:rPr lang="en-US" sz="6500" kern="1200" dirty="0" smtClean="0"/>
            <a:t>The Combination Résumé</a:t>
          </a:r>
          <a:endParaRPr lang="en-US" sz="6500" kern="1200" dirty="0"/>
        </a:p>
      </dsp:txBody>
      <dsp:txXfrm>
        <a:off x="76105" y="3824092"/>
        <a:ext cx="11844527" cy="1406815"/>
      </dsp:txXfrm>
    </dsp:sp>
    <dsp:sp modelId="{F4B98403-3121-47E1-8356-55E4CE6C1F20}">
      <dsp:nvSpPr>
        <dsp:cNvPr id="0" name=""/>
        <dsp:cNvSpPr/>
      </dsp:nvSpPr>
      <dsp:spPr>
        <a:xfrm>
          <a:off x="0" y="1927888"/>
          <a:ext cx="11996737" cy="1559025"/>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l" defTabSz="2889250">
            <a:lnSpc>
              <a:spcPct val="90000"/>
            </a:lnSpc>
            <a:spcBef>
              <a:spcPct val="0"/>
            </a:spcBef>
            <a:spcAft>
              <a:spcPct val="35000"/>
            </a:spcAft>
          </a:pPr>
          <a:r>
            <a:rPr lang="en-US" sz="6500" kern="1200" dirty="0" smtClean="0"/>
            <a:t>The Functional Résumé</a:t>
          </a:r>
          <a:endParaRPr lang="en-US" sz="6500" kern="1200" dirty="0"/>
        </a:p>
      </dsp:txBody>
      <dsp:txXfrm>
        <a:off x="76105" y="2003993"/>
        <a:ext cx="11844527" cy="14068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BA8E85-7E74-4520-B21F-1B904FFCA2C6}">
      <dsp:nvSpPr>
        <dsp:cNvPr id="0" name=""/>
        <dsp:cNvSpPr/>
      </dsp:nvSpPr>
      <dsp:spPr>
        <a:xfrm>
          <a:off x="0" y="190326"/>
          <a:ext cx="3732113" cy="223926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lvl="0" algn="ctr" defTabSz="2133600">
            <a:lnSpc>
              <a:spcPct val="90000"/>
            </a:lnSpc>
            <a:spcBef>
              <a:spcPct val="0"/>
            </a:spcBef>
            <a:spcAft>
              <a:spcPct val="35000"/>
            </a:spcAft>
          </a:pPr>
          <a:r>
            <a:rPr lang="en-US" sz="4800" kern="1200" smtClean="0"/>
            <a:t>career objective</a:t>
          </a:r>
          <a:endParaRPr lang="en-US" sz="4800" kern="1200"/>
        </a:p>
      </dsp:txBody>
      <dsp:txXfrm>
        <a:off x="0" y="190326"/>
        <a:ext cx="3732113" cy="2239268"/>
      </dsp:txXfrm>
    </dsp:sp>
    <dsp:sp modelId="{6EF0FBE4-0911-413D-A87C-245E8A9EC7D7}">
      <dsp:nvSpPr>
        <dsp:cNvPr id="0" name=""/>
        <dsp:cNvSpPr/>
      </dsp:nvSpPr>
      <dsp:spPr>
        <a:xfrm>
          <a:off x="4105324" y="190326"/>
          <a:ext cx="3732113" cy="2239268"/>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lvl="0" algn="ctr" defTabSz="2133600">
            <a:lnSpc>
              <a:spcPct val="90000"/>
            </a:lnSpc>
            <a:spcBef>
              <a:spcPct val="0"/>
            </a:spcBef>
            <a:spcAft>
              <a:spcPct val="35000"/>
            </a:spcAft>
          </a:pPr>
          <a:r>
            <a:rPr lang="en-US" sz="4800" kern="1200" dirty="0" smtClean="0"/>
            <a:t>Education</a:t>
          </a:r>
          <a:endParaRPr lang="en-US" sz="4800" kern="1200" dirty="0"/>
        </a:p>
      </dsp:txBody>
      <dsp:txXfrm>
        <a:off x="4105324" y="190326"/>
        <a:ext cx="3732113" cy="2239268"/>
      </dsp:txXfrm>
    </dsp:sp>
    <dsp:sp modelId="{6D53037A-F0BC-463B-984C-9C6F8BC569C1}">
      <dsp:nvSpPr>
        <dsp:cNvPr id="0" name=""/>
        <dsp:cNvSpPr/>
      </dsp:nvSpPr>
      <dsp:spPr>
        <a:xfrm>
          <a:off x="8199303" y="2900534"/>
          <a:ext cx="3732113" cy="2239268"/>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lvl="0" algn="ctr" defTabSz="2133600">
            <a:lnSpc>
              <a:spcPct val="90000"/>
            </a:lnSpc>
            <a:spcBef>
              <a:spcPct val="0"/>
            </a:spcBef>
            <a:spcAft>
              <a:spcPct val="35000"/>
            </a:spcAft>
          </a:pPr>
          <a:r>
            <a:rPr lang="en-US" sz="4800" kern="1200" dirty="0" smtClean="0"/>
            <a:t>Summary of qualifications</a:t>
          </a:r>
          <a:endParaRPr lang="en-US" sz="4800" kern="1200" dirty="0"/>
        </a:p>
      </dsp:txBody>
      <dsp:txXfrm>
        <a:off x="8199303" y="2900534"/>
        <a:ext cx="3732113" cy="2239268"/>
      </dsp:txXfrm>
    </dsp:sp>
    <dsp:sp modelId="{CE3CA6C2-7933-427E-A091-17975A7C3C56}">
      <dsp:nvSpPr>
        <dsp:cNvPr id="0" name=""/>
        <dsp:cNvSpPr/>
      </dsp:nvSpPr>
      <dsp:spPr>
        <a:xfrm>
          <a:off x="0" y="2802805"/>
          <a:ext cx="3732113" cy="2239268"/>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lvl="0" algn="ctr" defTabSz="2133600">
            <a:lnSpc>
              <a:spcPct val="90000"/>
            </a:lnSpc>
            <a:spcBef>
              <a:spcPct val="0"/>
            </a:spcBef>
            <a:spcAft>
              <a:spcPct val="35000"/>
            </a:spcAft>
          </a:pPr>
          <a:r>
            <a:rPr lang="en-US" sz="4800" kern="1200" dirty="0" smtClean="0"/>
            <a:t>Personal information</a:t>
          </a:r>
          <a:endParaRPr lang="en-US" sz="4800" kern="1200" dirty="0"/>
        </a:p>
      </dsp:txBody>
      <dsp:txXfrm>
        <a:off x="0" y="2802805"/>
        <a:ext cx="3732113" cy="2239268"/>
      </dsp:txXfrm>
    </dsp:sp>
    <dsp:sp modelId="{632B592B-EF86-4038-848A-BD2A3B45689B}">
      <dsp:nvSpPr>
        <dsp:cNvPr id="0" name=""/>
        <dsp:cNvSpPr/>
      </dsp:nvSpPr>
      <dsp:spPr>
        <a:xfrm>
          <a:off x="8210649" y="249345"/>
          <a:ext cx="3732113" cy="2239268"/>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lvl="0" algn="ctr" defTabSz="2133600">
            <a:lnSpc>
              <a:spcPct val="90000"/>
            </a:lnSpc>
            <a:spcBef>
              <a:spcPct val="0"/>
            </a:spcBef>
            <a:spcAft>
              <a:spcPct val="35000"/>
            </a:spcAft>
          </a:pPr>
          <a:r>
            <a:rPr lang="en-US" sz="4800" kern="1200" smtClean="0"/>
            <a:t>skills, awards and activities</a:t>
          </a:r>
          <a:endParaRPr lang="en-US" sz="4800" kern="1200"/>
        </a:p>
      </dsp:txBody>
      <dsp:txXfrm>
        <a:off x="8210649" y="249345"/>
        <a:ext cx="3732113" cy="2239268"/>
      </dsp:txXfrm>
    </dsp:sp>
    <dsp:sp modelId="{1BC3B873-D35E-49F7-A39A-6D1959B82503}">
      <dsp:nvSpPr>
        <dsp:cNvPr id="0" name=""/>
        <dsp:cNvSpPr/>
      </dsp:nvSpPr>
      <dsp:spPr>
        <a:xfrm>
          <a:off x="4166232" y="2834849"/>
          <a:ext cx="3732113" cy="223926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lvl="0" algn="ctr" defTabSz="2133600">
            <a:lnSpc>
              <a:spcPct val="90000"/>
            </a:lnSpc>
            <a:spcBef>
              <a:spcPct val="0"/>
            </a:spcBef>
            <a:spcAft>
              <a:spcPct val="35000"/>
            </a:spcAft>
          </a:pPr>
          <a:r>
            <a:rPr lang="en-US" sz="4800" kern="1200" dirty="0" smtClean="0"/>
            <a:t>References</a:t>
          </a:r>
          <a:endParaRPr lang="en-US" sz="4800" kern="1200" dirty="0"/>
        </a:p>
      </dsp:txBody>
      <dsp:txXfrm>
        <a:off x="4166232" y="2834849"/>
        <a:ext cx="3732113" cy="223926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E926B65-91FC-4B0D-B55B-C025A1AC1F61}" type="datetimeFigureOut">
              <a:rPr lang="en-US" smtClean="0"/>
              <a:t>6/1/2025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1F194F-FFA9-4939-9916-6F121EC574ED}" type="slidenum">
              <a:rPr lang="en-US" smtClean="0"/>
              <a:t>‹#›</a:t>
            </a:fld>
            <a:endParaRPr lang="en-US"/>
          </a:p>
        </p:txBody>
      </p:sp>
    </p:spTree>
    <p:extLst>
      <p:ext uri="{BB962C8B-B14F-4D97-AF65-F5344CB8AC3E}">
        <p14:creationId xmlns:p14="http://schemas.microsoft.com/office/powerpoint/2010/main" val="422189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926B65-91FC-4B0D-B55B-C025A1AC1F61}" type="datetimeFigureOut">
              <a:rPr lang="en-US" smtClean="0"/>
              <a:t>6/1/2025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1F194F-FFA9-4939-9916-6F121EC574ED}" type="slidenum">
              <a:rPr lang="en-US" smtClean="0"/>
              <a:t>‹#›</a:t>
            </a:fld>
            <a:endParaRPr lang="en-US"/>
          </a:p>
        </p:txBody>
      </p:sp>
    </p:spTree>
    <p:extLst>
      <p:ext uri="{BB962C8B-B14F-4D97-AF65-F5344CB8AC3E}">
        <p14:creationId xmlns:p14="http://schemas.microsoft.com/office/powerpoint/2010/main" val="3234935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E926B65-91FC-4B0D-B55B-C025A1AC1F61}" type="datetimeFigureOut">
              <a:rPr lang="en-US" smtClean="0"/>
              <a:t>6/1/2025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1F194F-FFA9-4939-9916-6F121EC574ED}" type="slidenum">
              <a:rPr lang="en-US" smtClean="0"/>
              <a:t>‹#›</a:t>
            </a:fld>
            <a:endParaRPr lang="en-US"/>
          </a:p>
        </p:txBody>
      </p:sp>
    </p:spTree>
    <p:extLst>
      <p:ext uri="{BB962C8B-B14F-4D97-AF65-F5344CB8AC3E}">
        <p14:creationId xmlns:p14="http://schemas.microsoft.com/office/powerpoint/2010/main" val="2831778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E926B65-91FC-4B0D-B55B-C025A1AC1F61}" type="datetimeFigureOut">
              <a:rPr lang="en-US" smtClean="0"/>
              <a:t>6/1/2025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1F194F-FFA9-4939-9916-6F121EC574ED}" type="slidenum">
              <a:rPr lang="en-US" smtClean="0"/>
              <a:t>‹#›</a:t>
            </a:fld>
            <a:endParaRPr lang="en-US"/>
          </a:p>
        </p:txBody>
      </p:sp>
    </p:spTree>
    <p:extLst>
      <p:ext uri="{BB962C8B-B14F-4D97-AF65-F5344CB8AC3E}">
        <p14:creationId xmlns:p14="http://schemas.microsoft.com/office/powerpoint/2010/main" val="1674005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E926B65-91FC-4B0D-B55B-C025A1AC1F61}" type="datetimeFigureOut">
              <a:rPr lang="en-US" smtClean="0"/>
              <a:t>6/1/2025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C1F194F-FFA9-4939-9916-6F121EC574ED}" type="slidenum">
              <a:rPr lang="en-US" smtClean="0"/>
              <a:t>‹#›</a:t>
            </a:fld>
            <a:endParaRPr lang="en-US"/>
          </a:p>
        </p:txBody>
      </p:sp>
    </p:spTree>
    <p:extLst>
      <p:ext uri="{BB962C8B-B14F-4D97-AF65-F5344CB8AC3E}">
        <p14:creationId xmlns:p14="http://schemas.microsoft.com/office/powerpoint/2010/main" val="1534000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926B65-91FC-4B0D-B55B-C025A1AC1F61}" type="datetimeFigureOut">
              <a:rPr lang="en-US" smtClean="0"/>
              <a:t>6/1/2025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C1F194F-FFA9-4939-9916-6F121EC574ED}" type="slidenum">
              <a:rPr lang="en-US" smtClean="0"/>
              <a:t>‹#›</a:t>
            </a:fld>
            <a:endParaRPr lang="en-US"/>
          </a:p>
        </p:txBody>
      </p:sp>
    </p:spTree>
    <p:extLst>
      <p:ext uri="{BB962C8B-B14F-4D97-AF65-F5344CB8AC3E}">
        <p14:creationId xmlns:p14="http://schemas.microsoft.com/office/powerpoint/2010/main" val="3563711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926B65-91FC-4B0D-B55B-C025A1AC1F61}" type="datetimeFigureOut">
              <a:rPr lang="en-US" smtClean="0"/>
              <a:t>6/1/2025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C1F194F-FFA9-4939-9916-6F121EC574ED}" type="slidenum">
              <a:rPr lang="en-US" smtClean="0"/>
              <a:t>‹#›</a:t>
            </a:fld>
            <a:endParaRPr lang="en-US"/>
          </a:p>
        </p:txBody>
      </p:sp>
    </p:spTree>
    <p:extLst>
      <p:ext uri="{BB962C8B-B14F-4D97-AF65-F5344CB8AC3E}">
        <p14:creationId xmlns:p14="http://schemas.microsoft.com/office/powerpoint/2010/main" val="1464500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E926B65-91FC-4B0D-B55B-C025A1AC1F61}" type="datetimeFigureOut">
              <a:rPr lang="en-US" smtClean="0"/>
              <a:t>6/1/2025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1F194F-FFA9-4939-9916-6F121EC574ED}" type="slidenum">
              <a:rPr lang="en-US" smtClean="0"/>
              <a:t>‹#›</a:t>
            </a:fld>
            <a:endParaRPr lang="en-US"/>
          </a:p>
        </p:txBody>
      </p:sp>
    </p:spTree>
    <p:extLst>
      <p:ext uri="{BB962C8B-B14F-4D97-AF65-F5344CB8AC3E}">
        <p14:creationId xmlns:p14="http://schemas.microsoft.com/office/powerpoint/2010/main" val="2155294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E926B65-91FC-4B0D-B55B-C025A1AC1F61}" type="datetimeFigureOut">
              <a:rPr lang="en-US" smtClean="0"/>
              <a:t>6/1/2025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1F194F-FFA9-4939-9916-6F121EC574ED}" type="slidenum">
              <a:rPr lang="en-US" smtClean="0"/>
              <a:t>‹#›</a:t>
            </a:fld>
            <a:endParaRPr lang="en-US"/>
          </a:p>
        </p:txBody>
      </p:sp>
    </p:spTree>
    <p:extLst>
      <p:ext uri="{BB962C8B-B14F-4D97-AF65-F5344CB8AC3E}">
        <p14:creationId xmlns:p14="http://schemas.microsoft.com/office/powerpoint/2010/main" val="2990666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926B65-91FC-4B0D-B55B-C025A1AC1F61}" type="datetimeFigureOut">
              <a:rPr lang="en-US" smtClean="0"/>
              <a:t>6/1/2025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1F194F-FFA9-4939-9916-6F121EC574ED}" type="slidenum">
              <a:rPr lang="en-US" smtClean="0"/>
              <a:t>‹#›</a:t>
            </a:fld>
            <a:endParaRPr lang="en-US"/>
          </a:p>
        </p:txBody>
      </p:sp>
    </p:spTree>
    <p:extLst>
      <p:ext uri="{BB962C8B-B14F-4D97-AF65-F5344CB8AC3E}">
        <p14:creationId xmlns:p14="http://schemas.microsoft.com/office/powerpoint/2010/main" val="4094378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926B65-91FC-4B0D-B55B-C025A1AC1F61}" type="datetimeFigureOut">
              <a:rPr lang="en-US" smtClean="0"/>
              <a:t>6/1/2025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1F194F-FFA9-4939-9916-6F121EC574ED}" type="slidenum">
              <a:rPr lang="en-US" smtClean="0"/>
              <a:t>‹#›</a:t>
            </a:fld>
            <a:endParaRPr lang="en-US"/>
          </a:p>
        </p:txBody>
      </p:sp>
    </p:spTree>
    <p:extLst>
      <p:ext uri="{BB962C8B-B14F-4D97-AF65-F5344CB8AC3E}">
        <p14:creationId xmlns:p14="http://schemas.microsoft.com/office/powerpoint/2010/main" val="1066155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926B65-91FC-4B0D-B55B-C025A1AC1F61}" type="datetimeFigureOut">
              <a:rPr lang="en-US" smtClean="0"/>
              <a:t>6/1/2025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1F194F-FFA9-4939-9916-6F121EC574ED}" type="slidenum">
              <a:rPr lang="en-US" smtClean="0"/>
              <a:t>‹#›</a:t>
            </a:fld>
            <a:endParaRPr lang="en-US"/>
          </a:p>
        </p:txBody>
      </p:sp>
    </p:spTree>
    <p:extLst>
      <p:ext uri="{BB962C8B-B14F-4D97-AF65-F5344CB8AC3E}">
        <p14:creationId xmlns:p14="http://schemas.microsoft.com/office/powerpoint/2010/main" val="29418572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293033"/>
            <a:ext cx="12191999" cy="2646878"/>
          </a:xfrm>
          <a:prstGeom prst="rect">
            <a:avLst/>
          </a:prstGeom>
          <a:solidFill>
            <a:srgbClr val="FFFF00"/>
          </a:solidFill>
        </p:spPr>
        <p:txBody>
          <a:bodyPr wrap="square" rtlCol="0">
            <a:spAutoFit/>
          </a:bodyPr>
          <a:lstStyle/>
          <a:p>
            <a:r>
              <a:rPr lang="en-US" sz="16600" dirty="0" smtClean="0">
                <a:latin typeface="Algerian" panose="04020705040A02060702" pitchFamily="82" charset="0"/>
              </a:rPr>
              <a:t>CV </a:t>
            </a:r>
            <a:r>
              <a:rPr lang="en-US" sz="16600" smtClean="0">
                <a:latin typeface="Algerian" panose="04020705040A02060702" pitchFamily="82" charset="0"/>
              </a:rPr>
              <a:t>WRITING</a:t>
            </a:r>
            <a:r>
              <a:rPr lang="en-US" sz="6000" smtClean="0">
                <a:latin typeface="Algerian" panose="04020705040A02060702" pitchFamily="82" charset="0"/>
              </a:rPr>
              <a:t> 1</a:t>
            </a:r>
            <a:r>
              <a:rPr lang="en-US" sz="16600" smtClean="0">
                <a:latin typeface="Algerian" panose="04020705040A02060702" pitchFamily="82" charset="0"/>
              </a:rPr>
              <a:t> </a:t>
            </a:r>
            <a:endParaRPr lang="en-US" sz="16600" dirty="0">
              <a:latin typeface="Algerian" panose="04020705040A02060702" pitchFamily="82" charset="0"/>
            </a:endParaRPr>
          </a:p>
        </p:txBody>
      </p:sp>
      <p:sp>
        <p:nvSpPr>
          <p:cNvPr id="3" name="TextBox 2"/>
          <p:cNvSpPr txBox="1"/>
          <p:nvPr/>
        </p:nvSpPr>
        <p:spPr>
          <a:xfrm>
            <a:off x="0" y="0"/>
            <a:ext cx="12191999" cy="2293033"/>
          </a:xfrm>
          <a:prstGeom prst="rect">
            <a:avLst/>
          </a:prstGeom>
          <a:solidFill>
            <a:schemeClr val="accent2">
              <a:lumMod val="60000"/>
              <a:lumOff val="40000"/>
            </a:schemeClr>
          </a:solidFill>
        </p:spPr>
        <p:txBody>
          <a:bodyPr wrap="square" rtlCol="0">
            <a:spAutoFit/>
          </a:bodyPr>
          <a:lstStyle/>
          <a:p>
            <a:endParaRPr lang="en-US" dirty="0"/>
          </a:p>
        </p:txBody>
      </p:sp>
      <p:sp>
        <p:nvSpPr>
          <p:cNvPr id="4" name="TextBox 3"/>
          <p:cNvSpPr txBox="1"/>
          <p:nvPr/>
        </p:nvSpPr>
        <p:spPr>
          <a:xfrm>
            <a:off x="0" y="4939911"/>
            <a:ext cx="12191999" cy="1918089"/>
          </a:xfrm>
          <a:prstGeom prst="rect">
            <a:avLst/>
          </a:prstGeom>
          <a:solidFill>
            <a:schemeClr val="accent3">
              <a:lumMod val="75000"/>
            </a:schemeClr>
          </a:solidFill>
        </p:spPr>
        <p:txBody>
          <a:bodyPr wrap="square" rtlCol="0">
            <a:spAutoFit/>
          </a:bodyPr>
          <a:lstStyle/>
          <a:p>
            <a:endParaRPr lang="en-US" dirty="0"/>
          </a:p>
        </p:txBody>
      </p:sp>
    </p:spTree>
    <p:extLst>
      <p:ext uri="{BB962C8B-B14F-4D97-AF65-F5344CB8AC3E}">
        <p14:creationId xmlns:p14="http://schemas.microsoft.com/office/powerpoint/2010/main" val="13859684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73037"/>
            <a:ext cx="12192000" cy="6800851"/>
          </a:xfrm>
        </p:spPr>
        <p:txBody>
          <a:bodyPr/>
          <a:lstStyle/>
          <a:p>
            <a:endParaRPr lang="en-US" dirty="0"/>
          </a:p>
        </p:txBody>
      </p:sp>
      <p:pic>
        <p:nvPicPr>
          <p:cNvPr id="1026" name="Picture 2" descr="CV Forma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74" y="-1"/>
            <a:ext cx="12290474"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38814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012" y="365125"/>
            <a:ext cx="11121788" cy="1325563"/>
          </a:xfrm>
        </p:spPr>
        <p:txBody>
          <a:bodyPr>
            <a:normAutofit/>
          </a:bodyPr>
          <a:lstStyle/>
          <a:p>
            <a:pPr algn="ctr"/>
            <a:r>
              <a:rPr lang="en-US" sz="6600" b="1" dirty="0" smtClean="0">
                <a:effectLst>
                  <a:outerShdw blurRad="38100" dist="38100" dir="2700000" algn="tl">
                    <a:srgbClr val="000000">
                      <a:alpha val="43137"/>
                    </a:srgbClr>
                  </a:outerShdw>
                </a:effectLst>
              </a:rPr>
              <a:t>Résumé vs  CV</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36477" y="1825624"/>
            <a:ext cx="11900847" cy="4930017"/>
          </a:xfrm>
        </p:spPr>
        <p:txBody>
          <a:bodyPr>
            <a:noAutofit/>
          </a:bodyPr>
          <a:lstStyle/>
          <a:p>
            <a:pPr algn="just"/>
            <a:r>
              <a:rPr lang="en-US" sz="3600" dirty="0" smtClean="0"/>
              <a:t>By the way, if employers ask to see your “CV,” they’re referring to your curriculum vitae, the term used instead of résumé in academic professions and in many countries outside the United States.</a:t>
            </a:r>
          </a:p>
          <a:p>
            <a:pPr algn="just"/>
            <a:r>
              <a:rPr lang="en-US" sz="3600" dirty="0" smtClean="0"/>
              <a:t> Résumés and CVs are essentially the same, although CVs can be much more detailed and include personal information that is not included in a résumé.</a:t>
            </a:r>
            <a:endParaRPr lang="en-US" sz="3600" dirty="0"/>
          </a:p>
        </p:txBody>
      </p:sp>
    </p:spTree>
    <p:extLst>
      <p:ext uri="{BB962C8B-B14F-4D97-AF65-F5344CB8AC3E}">
        <p14:creationId xmlns:p14="http://schemas.microsoft.com/office/powerpoint/2010/main" val="32490436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1353800" cy="1325563"/>
          </a:xfrm>
        </p:spPr>
        <p:txBody>
          <a:bodyPr>
            <a:normAutofit/>
          </a:bodyPr>
          <a:lstStyle/>
          <a:p>
            <a:pPr algn="ctr"/>
            <a:r>
              <a:rPr lang="en-US" sz="6600" b="1" dirty="0" smtClean="0">
                <a:solidFill>
                  <a:srgbClr val="FF0000"/>
                </a:solidFill>
                <a:effectLst>
                  <a:outerShdw blurRad="38100" dist="38100" dir="2700000" algn="tl">
                    <a:srgbClr val="000000">
                      <a:alpha val="43137"/>
                    </a:srgbClr>
                  </a:outerShdw>
                </a:effectLst>
              </a:rPr>
              <a:t>CV/Resume writing </a:t>
            </a:r>
            <a:endParaRPr lang="en-US" sz="6600" b="1"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26609" y="1030140"/>
            <a:ext cx="11915335" cy="5827860"/>
          </a:xfrm>
        </p:spPr>
        <p:txBody>
          <a:bodyPr>
            <a:noAutofit/>
          </a:bodyPr>
          <a:lstStyle/>
          <a:p>
            <a:pPr algn="just"/>
            <a:r>
              <a:rPr lang="en-US" sz="3600" dirty="0" smtClean="0"/>
              <a:t>CV/ Resume-- a structured </a:t>
            </a:r>
            <a:r>
              <a:rPr lang="en-US" sz="3600" b="1" dirty="0" smtClean="0">
                <a:solidFill>
                  <a:srgbClr val="FF0000"/>
                </a:solidFill>
                <a:effectLst>
                  <a:outerShdw blurRad="38100" dist="38100" dir="2700000" algn="tl">
                    <a:srgbClr val="000000">
                      <a:alpha val="43137"/>
                    </a:srgbClr>
                  </a:outerShdw>
                </a:effectLst>
              </a:rPr>
              <a:t>written summary of your education, employment background , and job qualification. </a:t>
            </a:r>
          </a:p>
          <a:p>
            <a:pPr algn="just"/>
            <a:r>
              <a:rPr lang="en-US" sz="3600" dirty="0" smtClean="0"/>
              <a:t>A wide range of opinions about resumes, regarding everything from appropriate length, content, design, distribution methods, and acceptable degrees of creativity to whether it even makes sense to write traditional resume in this age of online applications. </a:t>
            </a:r>
          </a:p>
          <a:p>
            <a:pPr algn="just"/>
            <a:r>
              <a:rPr lang="en-US" sz="3600" dirty="0" smtClean="0"/>
              <a:t>To forge your own successful path through this maze of information, get inside the heads of the people you are trying to reach—</a:t>
            </a:r>
            <a:r>
              <a:rPr lang="en-US" sz="3600" b="1" dirty="0" smtClean="0">
                <a:solidFill>
                  <a:srgbClr val="FF0000"/>
                </a:solidFill>
                <a:effectLst>
                  <a:outerShdw blurRad="38100" dist="38100" dir="2700000" algn="tl">
                    <a:srgbClr val="000000">
                      <a:alpha val="43137"/>
                    </a:srgbClr>
                  </a:outerShdw>
                </a:effectLst>
              </a:rPr>
              <a:t>try to think the way they think—and </a:t>
            </a:r>
            <a:r>
              <a:rPr lang="en-US" sz="3600" dirty="0" smtClean="0"/>
              <a:t>then apply the principles of </a:t>
            </a:r>
            <a:r>
              <a:rPr lang="en-US" sz="3600" dirty="0" smtClean="0">
                <a:solidFill>
                  <a:schemeClr val="accent2">
                    <a:lumMod val="60000"/>
                    <a:lumOff val="40000"/>
                  </a:schemeClr>
                </a:solidFill>
              </a:rPr>
              <a:t>effective communication</a:t>
            </a:r>
            <a:r>
              <a:rPr lang="en-US" sz="3600" dirty="0" smtClean="0"/>
              <a:t>. </a:t>
            </a:r>
            <a:endParaRPr lang="en-US" sz="3600" dirty="0"/>
          </a:p>
        </p:txBody>
      </p:sp>
    </p:spTree>
    <p:extLst>
      <p:ext uri="{BB962C8B-B14F-4D97-AF65-F5344CB8AC3E}">
        <p14:creationId xmlns:p14="http://schemas.microsoft.com/office/powerpoint/2010/main" val="26972350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dirty="0" smtClean="0"/>
              <a:t>3 stages of CV/ Resume </a:t>
            </a:r>
            <a:endParaRPr lang="en-US" dirty="0"/>
          </a:p>
        </p:txBody>
      </p:sp>
      <p:sp>
        <p:nvSpPr>
          <p:cNvPr id="6" name="Freeform 5"/>
          <p:cNvSpPr/>
          <p:nvPr/>
        </p:nvSpPr>
        <p:spPr>
          <a:xfrm>
            <a:off x="202122" y="2005589"/>
            <a:ext cx="4524734" cy="4524734"/>
          </a:xfrm>
          <a:custGeom>
            <a:avLst/>
            <a:gdLst>
              <a:gd name="connsiteX0" fmla="*/ 0 w 4524734"/>
              <a:gd name="connsiteY0" fmla="*/ 2262367 h 4524734"/>
              <a:gd name="connsiteX1" fmla="*/ 2262367 w 4524734"/>
              <a:gd name="connsiteY1" fmla="*/ 0 h 4524734"/>
              <a:gd name="connsiteX2" fmla="*/ 4524734 w 4524734"/>
              <a:gd name="connsiteY2" fmla="*/ 2262367 h 4524734"/>
              <a:gd name="connsiteX3" fmla="*/ 2262367 w 4524734"/>
              <a:gd name="connsiteY3" fmla="*/ 4524734 h 4524734"/>
              <a:gd name="connsiteX4" fmla="*/ 0 w 4524734"/>
              <a:gd name="connsiteY4" fmla="*/ 2262367 h 4524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24734" h="4524734">
                <a:moveTo>
                  <a:pt x="0" y="2262367"/>
                </a:moveTo>
                <a:cubicBezTo>
                  <a:pt x="0" y="1012896"/>
                  <a:pt x="1012896" y="0"/>
                  <a:pt x="2262367" y="0"/>
                </a:cubicBezTo>
                <a:cubicBezTo>
                  <a:pt x="3511838" y="0"/>
                  <a:pt x="4524734" y="1012896"/>
                  <a:pt x="4524734" y="2262367"/>
                </a:cubicBezTo>
                <a:cubicBezTo>
                  <a:pt x="4524734" y="3511838"/>
                  <a:pt x="3511838" y="4524734"/>
                  <a:pt x="2262367" y="4524734"/>
                </a:cubicBezTo>
                <a:cubicBezTo>
                  <a:pt x="1012896" y="4524734"/>
                  <a:pt x="0" y="3511838"/>
                  <a:pt x="0" y="2262367"/>
                </a:cubicBezTo>
                <a:close/>
              </a:path>
            </a:pathLst>
          </a:custGeom>
        </p:spPr>
        <p:style>
          <a:lnRef idx="2">
            <a:schemeClr val="lt1">
              <a:hueOff val="0"/>
              <a:satOff val="0"/>
              <a:lumOff val="0"/>
              <a:alphaOff val="0"/>
            </a:schemeClr>
          </a:lnRef>
          <a:fillRef idx="1">
            <a:schemeClr val="accent2">
              <a:alpha val="50000"/>
              <a:hueOff val="0"/>
              <a:satOff val="0"/>
              <a:lumOff val="0"/>
              <a:alphaOff val="0"/>
            </a:schemeClr>
          </a:fillRef>
          <a:effectRef idx="0">
            <a:schemeClr val="accent2">
              <a:alpha val="50000"/>
              <a:hueOff val="0"/>
              <a:satOff val="0"/>
              <a:lumOff val="0"/>
              <a:alphaOff val="0"/>
            </a:schemeClr>
          </a:effectRef>
          <a:fontRef idx="minor">
            <a:schemeClr val="tx1"/>
          </a:fontRef>
        </p:style>
        <p:txBody>
          <a:bodyPr spcFirstLastPara="0" vert="horz" wrap="square" lIns="911643" tIns="731212" rIns="911643" bIns="731212" numCol="1" spcCol="1270" anchor="ctr" anchorCtr="0">
            <a:noAutofit/>
          </a:bodyPr>
          <a:lstStyle/>
          <a:p>
            <a:pPr lvl="0" algn="ctr" defTabSz="2400300">
              <a:lnSpc>
                <a:spcPct val="90000"/>
              </a:lnSpc>
              <a:spcBef>
                <a:spcPct val="0"/>
              </a:spcBef>
              <a:spcAft>
                <a:spcPct val="35000"/>
              </a:spcAft>
            </a:pPr>
            <a:r>
              <a:rPr lang="en-US" sz="5400" kern="1200" dirty="0" smtClean="0"/>
              <a:t>Plan </a:t>
            </a:r>
            <a:endParaRPr lang="en-US" sz="5400" kern="1200" dirty="0"/>
          </a:p>
        </p:txBody>
      </p:sp>
      <p:sp>
        <p:nvSpPr>
          <p:cNvPr id="7" name="Freeform 6"/>
          <p:cNvSpPr/>
          <p:nvPr/>
        </p:nvSpPr>
        <p:spPr>
          <a:xfrm>
            <a:off x="3833637" y="2005589"/>
            <a:ext cx="4524734" cy="4524734"/>
          </a:xfrm>
          <a:custGeom>
            <a:avLst/>
            <a:gdLst>
              <a:gd name="connsiteX0" fmla="*/ 0 w 4524734"/>
              <a:gd name="connsiteY0" fmla="*/ 2262367 h 4524734"/>
              <a:gd name="connsiteX1" fmla="*/ 2262367 w 4524734"/>
              <a:gd name="connsiteY1" fmla="*/ 0 h 4524734"/>
              <a:gd name="connsiteX2" fmla="*/ 4524734 w 4524734"/>
              <a:gd name="connsiteY2" fmla="*/ 2262367 h 4524734"/>
              <a:gd name="connsiteX3" fmla="*/ 2262367 w 4524734"/>
              <a:gd name="connsiteY3" fmla="*/ 4524734 h 4524734"/>
              <a:gd name="connsiteX4" fmla="*/ 0 w 4524734"/>
              <a:gd name="connsiteY4" fmla="*/ 2262367 h 4524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24734" h="4524734">
                <a:moveTo>
                  <a:pt x="0" y="2262367"/>
                </a:moveTo>
                <a:cubicBezTo>
                  <a:pt x="0" y="1012896"/>
                  <a:pt x="1012896" y="0"/>
                  <a:pt x="2262367" y="0"/>
                </a:cubicBezTo>
                <a:cubicBezTo>
                  <a:pt x="3511838" y="0"/>
                  <a:pt x="4524734" y="1012896"/>
                  <a:pt x="4524734" y="2262367"/>
                </a:cubicBezTo>
                <a:cubicBezTo>
                  <a:pt x="4524734" y="3511838"/>
                  <a:pt x="3511838" y="4524734"/>
                  <a:pt x="2262367" y="4524734"/>
                </a:cubicBezTo>
                <a:cubicBezTo>
                  <a:pt x="1012896" y="4524734"/>
                  <a:pt x="0" y="3511838"/>
                  <a:pt x="0" y="2262367"/>
                </a:cubicBezTo>
                <a:close/>
              </a:path>
            </a:pathLst>
          </a:custGeom>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spcFirstLastPara="0" vert="horz" wrap="square" lIns="911643" tIns="731212" rIns="911643" bIns="731212" numCol="1" spcCol="1270" anchor="ctr" anchorCtr="0">
            <a:noAutofit/>
          </a:bodyPr>
          <a:lstStyle/>
          <a:p>
            <a:pPr lvl="0" algn="ctr" defTabSz="2400300">
              <a:lnSpc>
                <a:spcPct val="90000"/>
              </a:lnSpc>
              <a:spcBef>
                <a:spcPct val="0"/>
              </a:spcBef>
              <a:spcAft>
                <a:spcPct val="35000"/>
              </a:spcAft>
            </a:pPr>
            <a:r>
              <a:rPr lang="en-US" sz="5400" kern="1200" dirty="0" smtClean="0"/>
              <a:t>Write </a:t>
            </a:r>
            <a:endParaRPr lang="en-US" sz="5400" kern="1200" dirty="0"/>
          </a:p>
        </p:txBody>
      </p:sp>
      <p:sp>
        <p:nvSpPr>
          <p:cNvPr id="8" name="Freeform 7"/>
          <p:cNvSpPr/>
          <p:nvPr/>
        </p:nvSpPr>
        <p:spPr>
          <a:xfrm>
            <a:off x="7441697" y="2005589"/>
            <a:ext cx="4524734" cy="4524734"/>
          </a:xfrm>
          <a:custGeom>
            <a:avLst/>
            <a:gdLst>
              <a:gd name="connsiteX0" fmla="*/ 0 w 4524734"/>
              <a:gd name="connsiteY0" fmla="*/ 2262367 h 4524734"/>
              <a:gd name="connsiteX1" fmla="*/ 2262367 w 4524734"/>
              <a:gd name="connsiteY1" fmla="*/ 0 h 4524734"/>
              <a:gd name="connsiteX2" fmla="*/ 4524734 w 4524734"/>
              <a:gd name="connsiteY2" fmla="*/ 2262367 h 4524734"/>
              <a:gd name="connsiteX3" fmla="*/ 2262367 w 4524734"/>
              <a:gd name="connsiteY3" fmla="*/ 4524734 h 4524734"/>
              <a:gd name="connsiteX4" fmla="*/ 0 w 4524734"/>
              <a:gd name="connsiteY4" fmla="*/ 2262367 h 4524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24734" h="4524734">
                <a:moveTo>
                  <a:pt x="0" y="2262367"/>
                </a:moveTo>
                <a:cubicBezTo>
                  <a:pt x="0" y="1012896"/>
                  <a:pt x="1012896" y="0"/>
                  <a:pt x="2262367" y="0"/>
                </a:cubicBezTo>
                <a:cubicBezTo>
                  <a:pt x="3511838" y="0"/>
                  <a:pt x="4524734" y="1012896"/>
                  <a:pt x="4524734" y="2262367"/>
                </a:cubicBezTo>
                <a:cubicBezTo>
                  <a:pt x="4524734" y="3511838"/>
                  <a:pt x="3511838" y="4524734"/>
                  <a:pt x="2262367" y="4524734"/>
                </a:cubicBezTo>
                <a:cubicBezTo>
                  <a:pt x="1012896" y="4524734"/>
                  <a:pt x="0" y="3511838"/>
                  <a:pt x="0" y="2262367"/>
                </a:cubicBezTo>
                <a:close/>
              </a:path>
            </a:pathLst>
          </a:custGeom>
        </p:spPr>
        <p:style>
          <a:lnRef idx="2">
            <a:schemeClr val="lt1">
              <a:hueOff val="0"/>
              <a:satOff val="0"/>
              <a:lumOff val="0"/>
              <a:alphaOff val="0"/>
            </a:schemeClr>
          </a:lnRef>
          <a:fillRef idx="1">
            <a:schemeClr val="accent4">
              <a:alpha val="50000"/>
              <a:hueOff val="0"/>
              <a:satOff val="0"/>
              <a:lumOff val="0"/>
              <a:alphaOff val="0"/>
            </a:schemeClr>
          </a:fillRef>
          <a:effectRef idx="0">
            <a:schemeClr val="accent4">
              <a:alpha val="50000"/>
              <a:hueOff val="0"/>
              <a:satOff val="0"/>
              <a:lumOff val="0"/>
              <a:alphaOff val="0"/>
            </a:schemeClr>
          </a:effectRef>
          <a:fontRef idx="minor">
            <a:schemeClr val="tx1"/>
          </a:fontRef>
        </p:style>
        <p:txBody>
          <a:bodyPr spcFirstLastPara="0" vert="horz" wrap="square" lIns="911643" tIns="731212" rIns="911643" bIns="731212" numCol="1" spcCol="1270" anchor="ctr" anchorCtr="0">
            <a:noAutofit/>
          </a:bodyPr>
          <a:lstStyle/>
          <a:p>
            <a:pPr lvl="0" algn="ctr" defTabSz="2400300">
              <a:lnSpc>
                <a:spcPct val="90000"/>
              </a:lnSpc>
              <a:spcBef>
                <a:spcPct val="0"/>
              </a:spcBef>
              <a:spcAft>
                <a:spcPct val="35000"/>
              </a:spcAft>
            </a:pPr>
            <a:r>
              <a:rPr lang="en-US" sz="5400" kern="1200" dirty="0" smtClean="0"/>
              <a:t>Complete </a:t>
            </a:r>
            <a:endParaRPr lang="en-US" sz="5400" kern="1200" dirty="0"/>
          </a:p>
        </p:txBody>
      </p:sp>
    </p:spTree>
    <p:extLst>
      <p:ext uri="{BB962C8B-B14F-4D97-AF65-F5344CB8AC3E}">
        <p14:creationId xmlns:p14="http://schemas.microsoft.com/office/powerpoint/2010/main" val="27519282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5" presetClass="exit" presetSubtype="0" fill="hold" grpId="0" nodeType="clickEffect">
                                  <p:stCondLst>
                                    <p:cond delay="0"/>
                                  </p:stCondLst>
                                  <p:childTnLst>
                                    <p:animEffect transition="out" filter="fade">
                                      <p:cBhvr>
                                        <p:cTn id="12" dur="2000"/>
                                        <p:tgtEl>
                                          <p:spTgt spid="7"/>
                                        </p:tgtEl>
                                      </p:cBhvr>
                                    </p:animEffect>
                                    <p:anim calcmode="lin" valueType="num">
                                      <p:cBhvr>
                                        <p:cTn id="13" dur="2000"/>
                                        <p:tgtEl>
                                          <p:spTgt spid="7"/>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4" dur="2000"/>
                                        <p:tgtEl>
                                          <p:spTgt spid="7"/>
                                        </p:tgtEl>
                                        <p:attrNameLst>
                                          <p:attrName>ppt_h</p:attrName>
                                        </p:attrNameLst>
                                      </p:cBhvr>
                                      <p:tavLst>
                                        <p:tav tm="0">
                                          <p:val>
                                            <p:strVal val="ppt_h"/>
                                          </p:val>
                                        </p:tav>
                                        <p:tav tm="100000">
                                          <p:val>
                                            <p:strVal val="ppt_h"/>
                                          </p:val>
                                        </p:tav>
                                      </p:tavLst>
                                    </p:anim>
                                    <p:set>
                                      <p:cBhvr>
                                        <p:cTn id="15" dur="1" fill="hold">
                                          <p:stCondLst>
                                            <p:cond delay="1999"/>
                                          </p:stCondLst>
                                        </p:cTn>
                                        <p:tgtEl>
                                          <p:spTgt spid="7"/>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31" presetClass="exit" presetSubtype="0" fill="hold" grpId="0" nodeType="clickEffect">
                                  <p:stCondLst>
                                    <p:cond delay="0"/>
                                  </p:stCondLst>
                                  <p:childTnLst>
                                    <p:anim calcmode="lin" valueType="num">
                                      <p:cBhvr>
                                        <p:cTn id="19" dur="1000"/>
                                        <p:tgtEl>
                                          <p:spTgt spid="8"/>
                                        </p:tgtEl>
                                        <p:attrNameLst>
                                          <p:attrName>ppt_w</p:attrName>
                                        </p:attrNameLst>
                                      </p:cBhvr>
                                      <p:tavLst>
                                        <p:tav tm="0">
                                          <p:val>
                                            <p:strVal val="ppt_w"/>
                                          </p:val>
                                        </p:tav>
                                        <p:tav tm="100000">
                                          <p:val>
                                            <p:fltVal val="0"/>
                                          </p:val>
                                        </p:tav>
                                      </p:tavLst>
                                    </p:anim>
                                    <p:anim calcmode="lin" valueType="num">
                                      <p:cBhvr>
                                        <p:cTn id="20" dur="1000"/>
                                        <p:tgtEl>
                                          <p:spTgt spid="8"/>
                                        </p:tgtEl>
                                        <p:attrNameLst>
                                          <p:attrName>ppt_h</p:attrName>
                                        </p:attrNameLst>
                                      </p:cBhvr>
                                      <p:tavLst>
                                        <p:tav tm="0">
                                          <p:val>
                                            <p:strVal val="ppt_h"/>
                                          </p:val>
                                        </p:tav>
                                        <p:tav tm="100000">
                                          <p:val>
                                            <p:fltVal val="0"/>
                                          </p:val>
                                        </p:tav>
                                      </p:tavLst>
                                    </p:anim>
                                    <p:anim calcmode="lin" valueType="num">
                                      <p:cBhvr>
                                        <p:cTn id="21" dur="1000"/>
                                        <p:tgtEl>
                                          <p:spTgt spid="8"/>
                                        </p:tgtEl>
                                        <p:attrNameLst>
                                          <p:attrName>style.rotation</p:attrName>
                                        </p:attrNameLst>
                                      </p:cBhvr>
                                      <p:tavLst>
                                        <p:tav tm="0">
                                          <p:val>
                                            <p:fltVal val="0"/>
                                          </p:val>
                                        </p:tav>
                                        <p:tav tm="100000">
                                          <p:val>
                                            <p:fltVal val="90"/>
                                          </p:val>
                                        </p:tav>
                                      </p:tavLst>
                                    </p:anim>
                                    <p:animEffect transition="out" filter="fade">
                                      <p:cBhvr>
                                        <p:cTn id="22" dur="1000"/>
                                        <p:tgtEl>
                                          <p:spTgt spid="8"/>
                                        </p:tgtEl>
                                      </p:cBhvr>
                                    </p:animEffect>
                                    <p:set>
                                      <p:cBhvr>
                                        <p:cTn id="23" dur="1" fill="hold">
                                          <p:stCondLst>
                                            <p:cond delay="9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692" y="365125"/>
            <a:ext cx="11002108" cy="1325563"/>
          </a:xfrm>
        </p:spPr>
        <p:txBody>
          <a:bodyPr>
            <a:normAutofit/>
          </a:bodyPr>
          <a:lstStyle/>
          <a:p>
            <a:pPr algn="ctr"/>
            <a:r>
              <a:rPr lang="en-US" sz="6600" b="1" dirty="0" smtClean="0">
                <a:effectLst>
                  <a:outerShdw blurRad="38100" dist="38100" dir="2700000" algn="tl">
                    <a:srgbClr val="000000">
                      <a:alpha val="43137"/>
                    </a:srgbClr>
                  </a:outerShdw>
                </a:effectLst>
              </a:rPr>
              <a:t>Planning of Resume writing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351692" y="1825625"/>
            <a:ext cx="11002108" cy="4351338"/>
          </a:xfrm>
        </p:spPr>
        <p:txBody>
          <a:bodyPr>
            <a:normAutofit/>
          </a:bodyPr>
          <a:lstStyle/>
          <a:p>
            <a:r>
              <a:rPr lang="en-US" sz="4000" dirty="0" smtClean="0"/>
              <a:t>Analyze the situation (Purpose)</a:t>
            </a:r>
          </a:p>
          <a:p>
            <a:r>
              <a:rPr lang="en-US" sz="4000" dirty="0" smtClean="0"/>
              <a:t>Gather information (target industries/ universities)</a:t>
            </a:r>
            <a:endParaRPr lang="en-US" sz="4000" dirty="0"/>
          </a:p>
          <a:p>
            <a:r>
              <a:rPr lang="en-US" sz="4000" dirty="0" smtClean="0"/>
              <a:t>Choose Media and Channels </a:t>
            </a:r>
          </a:p>
          <a:p>
            <a:r>
              <a:rPr lang="en-US" sz="4000" dirty="0" smtClean="0"/>
              <a:t>Organize the information </a:t>
            </a:r>
            <a:endParaRPr lang="en-US" sz="4000" dirty="0"/>
          </a:p>
        </p:txBody>
      </p:sp>
    </p:spTree>
    <p:extLst>
      <p:ext uri="{BB962C8B-B14F-4D97-AF65-F5344CB8AC3E}">
        <p14:creationId xmlns:p14="http://schemas.microsoft.com/office/powerpoint/2010/main" val="22273423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1969086" cy="1325563"/>
          </a:xfrm>
        </p:spPr>
        <p:txBody>
          <a:bodyPr>
            <a:normAutofit/>
          </a:bodyPr>
          <a:lstStyle/>
          <a:p>
            <a:pPr algn="ctr"/>
            <a:r>
              <a:rPr lang="en-US" sz="6000" b="1" dirty="0" smtClean="0">
                <a:effectLst>
                  <a:outerShdw blurRad="38100" dist="38100" dir="2700000" algn="tl">
                    <a:srgbClr val="000000">
                      <a:alpha val="43137"/>
                    </a:srgbClr>
                  </a:outerShdw>
                </a:effectLst>
              </a:rPr>
              <a:t>Writing of Resume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325563"/>
            <a:ext cx="11969086" cy="4851400"/>
          </a:xfrm>
        </p:spPr>
        <p:txBody>
          <a:bodyPr>
            <a:normAutofit/>
          </a:bodyPr>
          <a:lstStyle/>
          <a:p>
            <a:pPr algn="just"/>
            <a:r>
              <a:rPr lang="en-US" sz="4000" dirty="0" smtClean="0"/>
              <a:t>Plan your wording carefully so that you catch a </a:t>
            </a:r>
            <a:r>
              <a:rPr lang="en-US" sz="4000" dirty="0" smtClean="0">
                <a:solidFill>
                  <a:srgbClr val="FF0000"/>
                </a:solidFill>
              </a:rPr>
              <a:t>recruiter’s eye within seconds</a:t>
            </a:r>
            <a:r>
              <a:rPr lang="en-US" sz="4000" dirty="0" smtClean="0"/>
              <a:t>; translate your education and experience into attributes that </a:t>
            </a:r>
            <a:r>
              <a:rPr lang="en-US" sz="4000" dirty="0" smtClean="0">
                <a:solidFill>
                  <a:srgbClr val="FF0000"/>
                </a:solidFill>
              </a:rPr>
              <a:t>target employers find valuable.</a:t>
            </a:r>
            <a:r>
              <a:rPr lang="en-US" sz="4000" dirty="0" smtClean="0"/>
              <a:t> </a:t>
            </a:r>
          </a:p>
          <a:p>
            <a:pPr algn="just"/>
            <a:r>
              <a:rPr lang="en-US" sz="4000" dirty="0" smtClean="0"/>
              <a:t>Write </a:t>
            </a:r>
            <a:r>
              <a:rPr lang="en-US" sz="4000" dirty="0" smtClean="0">
                <a:solidFill>
                  <a:srgbClr val="FF0000"/>
                </a:solidFill>
              </a:rPr>
              <a:t>clearly and succinctly, using active, powerful language </a:t>
            </a:r>
            <a:r>
              <a:rPr lang="en-US" sz="4000" dirty="0" smtClean="0"/>
              <a:t>that is appropriate to the industries and companies you are targeting; use a professional tone in all communications.   </a:t>
            </a:r>
            <a:endParaRPr lang="en-US" sz="4000" dirty="0"/>
          </a:p>
        </p:txBody>
      </p:sp>
    </p:spTree>
    <p:extLst>
      <p:ext uri="{BB962C8B-B14F-4D97-AF65-F5344CB8AC3E}">
        <p14:creationId xmlns:p14="http://schemas.microsoft.com/office/powerpoint/2010/main" val="39904857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343" y="0"/>
            <a:ext cx="11805313" cy="1325563"/>
          </a:xfrm>
        </p:spPr>
        <p:txBody>
          <a:bodyPr>
            <a:normAutofit/>
          </a:bodyPr>
          <a:lstStyle/>
          <a:p>
            <a:pPr algn="ctr"/>
            <a:r>
              <a:rPr lang="en-US" sz="6600" b="1" dirty="0" smtClean="0">
                <a:effectLst>
                  <a:outerShdw blurRad="38100" dist="38100" dir="2700000" algn="tl">
                    <a:srgbClr val="000000">
                      <a:alpha val="43137"/>
                    </a:srgbClr>
                  </a:outerShdw>
                </a:effectLst>
                <a:latin typeface="+mn-lt"/>
              </a:rPr>
              <a:t>Complete your Resume </a:t>
            </a:r>
            <a:endParaRPr lang="en-US" sz="6600" b="1" dirty="0">
              <a:effectLst>
                <a:outerShdw blurRad="38100" dist="38100" dir="2700000" algn="tl">
                  <a:srgbClr val="000000">
                    <a:alpha val="43137"/>
                  </a:srgbClr>
                </a:outerShdw>
              </a:effectLst>
              <a:latin typeface="+mn-lt"/>
            </a:endParaRPr>
          </a:p>
        </p:txBody>
      </p:sp>
      <p:sp>
        <p:nvSpPr>
          <p:cNvPr id="3" name="Content Placeholder 2"/>
          <p:cNvSpPr>
            <a:spLocks noGrp="1"/>
          </p:cNvSpPr>
          <p:nvPr>
            <p:ph idx="1"/>
          </p:nvPr>
        </p:nvSpPr>
        <p:spPr>
          <a:xfrm>
            <a:off x="193343" y="1228298"/>
            <a:ext cx="11805313" cy="5418161"/>
          </a:xfrm>
        </p:spPr>
        <p:txBody>
          <a:bodyPr>
            <a:normAutofit/>
          </a:bodyPr>
          <a:lstStyle/>
          <a:p>
            <a:r>
              <a:rPr lang="en-US" sz="4000" dirty="0" smtClean="0"/>
              <a:t>Revise the  message (Content)</a:t>
            </a:r>
          </a:p>
          <a:p>
            <a:r>
              <a:rPr lang="en-US" sz="4000" dirty="0" smtClean="0"/>
              <a:t>Produce the message (Layout, graphical and text elements) </a:t>
            </a:r>
          </a:p>
          <a:p>
            <a:r>
              <a:rPr lang="en-US" sz="4000" dirty="0" smtClean="0"/>
              <a:t>Proofread the message (Review for errors in layout, spelling)</a:t>
            </a:r>
          </a:p>
          <a:p>
            <a:r>
              <a:rPr lang="en-US" sz="4000" dirty="0" smtClean="0"/>
              <a:t>Distribute the message (Follow specific instruction of employer) </a:t>
            </a:r>
            <a:endParaRPr lang="en-US" sz="4000" dirty="0"/>
          </a:p>
        </p:txBody>
      </p:sp>
    </p:spTree>
    <p:extLst>
      <p:ext uri="{BB962C8B-B14F-4D97-AF65-F5344CB8AC3E}">
        <p14:creationId xmlns:p14="http://schemas.microsoft.com/office/powerpoint/2010/main" val="31902143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50973" cy="1325563"/>
          </a:xfrm>
        </p:spPr>
        <p:txBody>
          <a:bodyPr>
            <a:normAutofit/>
          </a:bodyPr>
          <a:lstStyle/>
          <a:p>
            <a:pPr algn="ctr"/>
            <a:r>
              <a:rPr lang="en-US" sz="6000" b="1" dirty="0" smtClean="0">
                <a:effectLst>
                  <a:outerShdw blurRad="38100" dist="38100" dir="2700000" algn="tl">
                    <a:srgbClr val="000000">
                      <a:alpha val="43137"/>
                    </a:srgbClr>
                  </a:outerShdw>
                </a:effectLst>
              </a:rPr>
              <a:t>Analyzing your purpose and audience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 y="1325564"/>
            <a:ext cx="12050973" cy="5532436"/>
          </a:xfrm>
        </p:spPr>
        <p:txBody>
          <a:bodyPr>
            <a:normAutofit/>
          </a:bodyPr>
          <a:lstStyle/>
          <a:p>
            <a:pPr algn="just"/>
            <a:r>
              <a:rPr lang="en-US" sz="4400" dirty="0"/>
              <a:t>T</a:t>
            </a:r>
            <a:r>
              <a:rPr lang="en-US" sz="4400" dirty="0" smtClean="0"/>
              <a:t>he purpose of a résumé is </a:t>
            </a:r>
            <a:r>
              <a:rPr lang="en-US" sz="4400" dirty="0" smtClean="0">
                <a:solidFill>
                  <a:srgbClr val="0070C0"/>
                </a:solidFill>
              </a:rPr>
              <a:t>not to get you a job </a:t>
            </a:r>
            <a:r>
              <a:rPr lang="en-US" sz="4400" dirty="0" smtClean="0"/>
              <a:t>but rather to </a:t>
            </a:r>
            <a:r>
              <a:rPr lang="en-US" sz="4400" dirty="0" smtClean="0">
                <a:solidFill>
                  <a:srgbClr val="FFC000"/>
                </a:solidFill>
                <a:effectLst>
                  <a:outerShdw blurRad="38100" dist="38100" dir="2700000" algn="tl">
                    <a:srgbClr val="000000">
                      <a:alpha val="43137"/>
                    </a:srgbClr>
                  </a:outerShdw>
                </a:effectLst>
              </a:rPr>
              <a:t>get you an interview</a:t>
            </a:r>
            <a:r>
              <a:rPr lang="en-US" sz="4400" dirty="0" smtClean="0"/>
              <a:t>. </a:t>
            </a:r>
          </a:p>
          <a:p>
            <a:pPr algn="just"/>
            <a:r>
              <a:rPr lang="en-US" sz="4400" dirty="0" smtClean="0"/>
              <a:t>As you conduct your research on various professions, industries, companies, and individual managers, you will have a better perspective on your </a:t>
            </a:r>
            <a:r>
              <a:rPr lang="en-US" sz="4400" dirty="0" smtClean="0">
                <a:solidFill>
                  <a:srgbClr val="FF0000"/>
                </a:solidFill>
                <a:effectLst>
                  <a:outerShdw blurRad="38100" dist="38100" dir="2700000" algn="tl">
                    <a:srgbClr val="000000">
                      <a:alpha val="43137"/>
                    </a:srgbClr>
                  </a:outerShdw>
                </a:effectLst>
              </a:rPr>
              <a:t>target readers and their information needs</a:t>
            </a:r>
            <a:r>
              <a:rPr lang="en-US" sz="4400" dirty="0" smtClean="0"/>
              <a:t>. Learn as much as you can about the individuals who may be reading your résumé.</a:t>
            </a:r>
            <a:endParaRPr lang="en-US" sz="4400" dirty="0"/>
          </a:p>
        </p:txBody>
      </p:sp>
    </p:spTree>
    <p:extLst>
      <p:ext uri="{BB962C8B-B14F-4D97-AF65-F5344CB8AC3E}">
        <p14:creationId xmlns:p14="http://schemas.microsoft.com/office/powerpoint/2010/main" val="6620194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37323" cy="1325563"/>
          </a:xfrm>
        </p:spPr>
        <p:txBody>
          <a:bodyPr>
            <a:normAutofit/>
          </a:bodyPr>
          <a:lstStyle/>
          <a:p>
            <a:pPr algn="ctr"/>
            <a:r>
              <a:rPr lang="en-US" sz="6000" b="1" dirty="0" smtClean="0">
                <a:effectLst>
                  <a:outerShdw blurRad="38100" dist="38100" dir="2700000" algn="tl">
                    <a:srgbClr val="000000">
                      <a:alpha val="43137"/>
                    </a:srgbClr>
                  </a:outerShdw>
                </a:effectLst>
              </a:rPr>
              <a:t>Gathering Pertinent information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18362" y="1325563"/>
            <a:ext cx="11818961" cy="5532437"/>
          </a:xfrm>
        </p:spPr>
        <p:txBody>
          <a:bodyPr>
            <a:normAutofit/>
          </a:bodyPr>
          <a:lstStyle/>
          <a:p>
            <a:pPr algn="just"/>
            <a:r>
              <a:rPr lang="en-US" sz="3600" dirty="0" smtClean="0"/>
              <a:t>Gather all the pertinent personal history you can think of, including all the </a:t>
            </a:r>
            <a:r>
              <a:rPr lang="en-US" sz="3600" b="1" dirty="0" smtClean="0">
                <a:solidFill>
                  <a:srgbClr val="FF0000"/>
                </a:solidFill>
                <a:effectLst>
                  <a:outerShdw blurRad="38100" dist="38100" dir="2700000" algn="tl">
                    <a:srgbClr val="000000">
                      <a:alpha val="43137"/>
                    </a:srgbClr>
                  </a:outerShdw>
                </a:effectLst>
              </a:rPr>
              <a:t>specific dates, duties, and accomplishments </a:t>
            </a:r>
            <a:r>
              <a:rPr lang="en-US" sz="3600" dirty="0" smtClean="0"/>
              <a:t>from any previous jobs you’ve held. </a:t>
            </a:r>
          </a:p>
          <a:p>
            <a:pPr algn="just"/>
            <a:r>
              <a:rPr lang="en-US" sz="3600" dirty="0" smtClean="0"/>
              <a:t>Compile all your educational accomplishments, including </a:t>
            </a:r>
            <a:r>
              <a:rPr lang="en-US" sz="3600" b="1" dirty="0" smtClean="0">
                <a:solidFill>
                  <a:srgbClr val="FF0000"/>
                </a:solidFill>
                <a:effectLst>
                  <a:outerShdw blurRad="38100" dist="38100" dir="2700000" algn="tl">
                    <a:srgbClr val="000000">
                      <a:alpha val="43137"/>
                    </a:srgbClr>
                  </a:outerShdw>
                </a:effectLst>
              </a:rPr>
              <a:t>formal degrees, training certificates, professional and technical certifications, academic awards, and scholarships.</a:t>
            </a:r>
          </a:p>
          <a:p>
            <a:pPr algn="just"/>
            <a:r>
              <a:rPr lang="en-US" sz="3600" dirty="0"/>
              <a:t>G</a:t>
            </a:r>
            <a:r>
              <a:rPr lang="en-US" sz="3600" dirty="0" smtClean="0"/>
              <a:t>ather information about school or </a:t>
            </a:r>
            <a:r>
              <a:rPr lang="en-US" sz="3600" dirty="0" smtClean="0">
                <a:solidFill>
                  <a:srgbClr val="FF0000"/>
                </a:solidFill>
                <a:effectLst>
                  <a:outerShdw blurRad="38100" dist="38100" dir="2700000" algn="tl">
                    <a:srgbClr val="000000">
                      <a:alpha val="43137"/>
                    </a:srgbClr>
                  </a:outerShdw>
                </a:effectLst>
              </a:rPr>
              <a:t>volunteer activities </a:t>
            </a:r>
            <a:r>
              <a:rPr lang="en-US" sz="3600" dirty="0" smtClean="0"/>
              <a:t>that might be relevant to your job search, including offices you have held in </a:t>
            </a:r>
            <a:r>
              <a:rPr lang="en-US" sz="3600" dirty="0" smtClean="0">
                <a:solidFill>
                  <a:srgbClr val="FF0000"/>
                </a:solidFill>
                <a:effectLst>
                  <a:outerShdw blurRad="38100" dist="38100" dir="2700000" algn="tl">
                    <a:srgbClr val="000000">
                      <a:alpha val="43137"/>
                    </a:srgbClr>
                  </a:outerShdw>
                </a:effectLst>
              </a:rPr>
              <a:t>any club or professional organization</a:t>
            </a:r>
            <a:r>
              <a:rPr lang="en-US" sz="3600" dirty="0" smtClean="0"/>
              <a:t>, presentations given, and </a:t>
            </a:r>
            <a:r>
              <a:rPr lang="en-US" sz="3600" b="1" dirty="0" smtClean="0">
                <a:solidFill>
                  <a:srgbClr val="FF0000"/>
                </a:solidFill>
                <a:effectLst>
                  <a:outerShdw blurRad="38100" dist="38100" dir="2700000" algn="tl">
                    <a:srgbClr val="000000">
                      <a:alpha val="43137"/>
                    </a:srgbClr>
                  </a:outerShdw>
                </a:effectLst>
              </a:rPr>
              <a:t>online or print publications</a:t>
            </a:r>
            <a:r>
              <a:rPr lang="en-US" sz="3600" dirty="0" smtClean="0"/>
              <a:t>. </a:t>
            </a:r>
            <a:endParaRPr lang="en-US" sz="3600" dirty="0"/>
          </a:p>
        </p:txBody>
      </p:sp>
    </p:spTree>
    <p:extLst>
      <p:ext uri="{BB962C8B-B14F-4D97-AF65-F5344CB8AC3E}">
        <p14:creationId xmlns:p14="http://schemas.microsoft.com/office/powerpoint/2010/main" val="40984062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59" y="104774"/>
            <a:ext cx="12078268" cy="1325563"/>
          </a:xfrm>
        </p:spPr>
        <p:txBody>
          <a:bodyPr>
            <a:normAutofit/>
          </a:bodyPr>
          <a:lstStyle/>
          <a:p>
            <a:pPr algn="ctr"/>
            <a:r>
              <a:rPr lang="en-US" sz="6000" b="1" dirty="0" smtClean="0">
                <a:effectLst>
                  <a:outerShdw blurRad="38100" dist="38100" dir="2700000" algn="tl">
                    <a:srgbClr val="000000">
                      <a:alpha val="43137"/>
                    </a:srgbClr>
                  </a:outerShdw>
                </a:effectLst>
              </a:rPr>
              <a:t>Fallacy and facts of resume </a:t>
            </a:r>
            <a:endParaRPr lang="en-US" sz="6000" b="1" dirty="0">
              <a:effectLst>
                <a:outerShdw blurRad="38100" dist="38100" dir="2700000" algn="tl">
                  <a:srgbClr val="000000">
                    <a:alpha val="43137"/>
                  </a:srgbClr>
                </a:outerShdw>
              </a:effectLst>
            </a:endParaRPr>
          </a:p>
        </p:txBody>
      </p:sp>
      <p:sp>
        <p:nvSpPr>
          <p:cNvPr id="3" name="Text Placeholder 2"/>
          <p:cNvSpPr>
            <a:spLocks noGrp="1"/>
          </p:cNvSpPr>
          <p:nvPr>
            <p:ph type="body" idx="1"/>
          </p:nvPr>
        </p:nvSpPr>
        <p:spPr>
          <a:xfrm>
            <a:off x="0" y="1681163"/>
            <a:ext cx="5997575" cy="823912"/>
          </a:xfrm>
          <a:solidFill>
            <a:srgbClr val="FF0000"/>
          </a:solidFill>
        </p:spPr>
        <p:txBody>
          <a:bodyPr>
            <a:normAutofit/>
          </a:bodyPr>
          <a:lstStyle/>
          <a:p>
            <a:pPr algn="ctr"/>
            <a:r>
              <a:rPr lang="en-US" sz="4800" dirty="0" smtClean="0"/>
              <a:t>Fallacies </a:t>
            </a:r>
            <a:endParaRPr lang="en-US" sz="4800" dirty="0"/>
          </a:p>
        </p:txBody>
      </p:sp>
      <p:sp>
        <p:nvSpPr>
          <p:cNvPr id="4" name="Content Placeholder 3"/>
          <p:cNvSpPr>
            <a:spLocks noGrp="1"/>
          </p:cNvSpPr>
          <p:nvPr>
            <p:ph sz="half" idx="2"/>
          </p:nvPr>
        </p:nvSpPr>
        <p:spPr>
          <a:xfrm>
            <a:off x="95534" y="2505075"/>
            <a:ext cx="5902041" cy="4250566"/>
          </a:xfrm>
        </p:spPr>
        <p:txBody>
          <a:bodyPr/>
          <a:lstStyle/>
          <a:p>
            <a:r>
              <a:rPr lang="en-US" dirty="0" smtClean="0"/>
              <a:t>The purpose of a résumé is to list all your skills and abilities. </a:t>
            </a:r>
          </a:p>
          <a:p>
            <a:pPr marL="0" indent="0">
              <a:buNone/>
            </a:pPr>
            <a:endParaRPr lang="en-US" dirty="0" smtClean="0"/>
          </a:p>
          <a:p>
            <a:r>
              <a:rPr lang="en-US" dirty="0" smtClean="0"/>
              <a:t>Your résumé will always be read carefully and thoroughly</a:t>
            </a:r>
            <a:endParaRPr lang="en-US" dirty="0"/>
          </a:p>
        </p:txBody>
      </p:sp>
      <p:sp>
        <p:nvSpPr>
          <p:cNvPr id="5" name="Text Placeholder 4"/>
          <p:cNvSpPr>
            <a:spLocks noGrp="1"/>
          </p:cNvSpPr>
          <p:nvPr>
            <p:ph type="body" sz="quarter" idx="3"/>
          </p:nvPr>
        </p:nvSpPr>
        <p:spPr>
          <a:xfrm>
            <a:off x="6172200" y="1681163"/>
            <a:ext cx="6019800" cy="823912"/>
          </a:xfrm>
          <a:solidFill>
            <a:schemeClr val="accent6">
              <a:lumMod val="20000"/>
              <a:lumOff val="80000"/>
            </a:schemeClr>
          </a:solidFill>
        </p:spPr>
        <p:txBody>
          <a:bodyPr>
            <a:normAutofit/>
          </a:bodyPr>
          <a:lstStyle/>
          <a:p>
            <a:pPr algn="ctr"/>
            <a:r>
              <a:rPr lang="en-US" sz="4800" dirty="0" smtClean="0"/>
              <a:t>Facts </a:t>
            </a:r>
            <a:endParaRPr lang="en-US" sz="4800" dirty="0"/>
          </a:p>
        </p:txBody>
      </p:sp>
      <p:sp>
        <p:nvSpPr>
          <p:cNvPr id="6" name="Content Placeholder 5"/>
          <p:cNvSpPr>
            <a:spLocks noGrp="1"/>
          </p:cNvSpPr>
          <p:nvPr>
            <p:ph sz="quarter" idx="4"/>
          </p:nvPr>
        </p:nvSpPr>
        <p:spPr>
          <a:xfrm>
            <a:off x="6172199" y="2505074"/>
            <a:ext cx="5906069" cy="4250567"/>
          </a:xfrm>
        </p:spPr>
        <p:txBody>
          <a:bodyPr>
            <a:normAutofit lnSpcReduction="10000"/>
          </a:bodyPr>
          <a:lstStyle/>
          <a:p>
            <a:r>
              <a:rPr lang="en-US" dirty="0" smtClean="0"/>
              <a:t>The purpose of a résumé is to kindle employer interest and generate an interview.</a:t>
            </a:r>
          </a:p>
          <a:p>
            <a:r>
              <a:rPr lang="en-US" dirty="0" smtClean="0"/>
              <a:t>In most cases, your résumé needs to </a:t>
            </a:r>
            <a:r>
              <a:rPr lang="en-US" dirty="0" smtClean="0">
                <a:solidFill>
                  <a:srgbClr val="FF0000"/>
                </a:solidFill>
              </a:rPr>
              <a:t>make a positive impression </a:t>
            </a:r>
            <a:r>
              <a:rPr lang="en-US" dirty="0" smtClean="0"/>
              <a:t>within a few seconds; only then will someone read it in detail. Moreover, it will likely be </a:t>
            </a:r>
            <a:r>
              <a:rPr lang="en-US" dirty="0" smtClean="0">
                <a:solidFill>
                  <a:srgbClr val="FF0000"/>
                </a:solidFill>
              </a:rPr>
              <a:t>screened by a computer </a:t>
            </a:r>
            <a:r>
              <a:rPr lang="en-US" dirty="0" smtClean="0"/>
              <a:t>looking for keywords first—and </a:t>
            </a:r>
            <a:r>
              <a:rPr lang="en-US" u="sng" dirty="0" smtClean="0">
                <a:solidFill>
                  <a:srgbClr val="FF0000"/>
                </a:solidFill>
              </a:rPr>
              <a:t>if it doesn’t contain the right keywords</a:t>
            </a:r>
            <a:r>
              <a:rPr lang="en-US" dirty="0" smtClean="0"/>
              <a:t>, a human being may never see it</a:t>
            </a:r>
            <a:endParaRPr lang="en-US" dirty="0"/>
          </a:p>
        </p:txBody>
      </p:sp>
    </p:spTree>
    <p:extLst>
      <p:ext uri="{BB962C8B-B14F-4D97-AF65-F5344CB8AC3E}">
        <p14:creationId xmlns:p14="http://schemas.microsoft.com/office/powerpoint/2010/main" val="27541621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600" b="1" dirty="0" smtClean="0">
                <a:effectLst>
                  <a:outerShdw blurRad="38100" dist="38100" dir="2700000" algn="tl">
                    <a:srgbClr val="000000">
                      <a:alpha val="43137"/>
                    </a:srgbClr>
                  </a:outerShdw>
                </a:effectLst>
              </a:rPr>
              <a:t>Types of </a:t>
            </a:r>
            <a:r>
              <a:rPr lang="en-US" sz="6600" b="1" dirty="0">
                <a:effectLst>
                  <a:outerShdw blurRad="38100" dist="38100" dir="2700000" algn="tl">
                    <a:srgbClr val="000000">
                      <a:alpha val="43137"/>
                    </a:srgbClr>
                  </a:outerShdw>
                </a:effectLst>
              </a:rPr>
              <a:t>R</a:t>
            </a:r>
            <a:r>
              <a:rPr lang="en-US" sz="6600" b="1" dirty="0" smtClean="0">
                <a:effectLst>
                  <a:outerShdw blurRad="38100" dist="38100" dir="2700000" algn="tl">
                    <a:srgbClr val="000000">
                      <a:alpha val="43137"/>
                    </a:srgbClr>
                  </a:outerShdw>
                </a:effectLst>
              </a:rPr>
              <a:t>ésumé</a:t>
            </a:r>
            <a:endParaRPr lang="en-US" sz="6600" b="1" dirty="0">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39341500"/>
              </p:ext>
            </p:extLst>
          </p:nvPr>
        </p:nvGraphicFramePr>
        <p:xfrm>
          <a:off x="95250" y="1325563"/>
          <a:ext cx="11996738" cy="53070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6759150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91916" cy="1325563"/>
          </a:xfrm>
        </p:spPr>
        <p:txBody>
          <a:bodyPr>
            <a:normAutofit/>
          </a:bodyPr>
          <a:lstStyle/>
          <a:p>
            <a:pPr algn="ctr"/>
            <a:r>
              <a:rPr lang="en-US" sz="6000" b="1" dirty="0" smtClean="0">
                <a:effectLst>
                  <a:outerShdw blurRad="38100" dist="38100" dir="2700000" algn="tl">
                    <a:srgbClr val="000000">
                      <a:alpha val="43137"/>
                    </a:srgbClr>
                  </a:outerShdw>
                </a:effectLst>
              </a:rPr>
              <a:t>Addressing areas of concern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18364" y="1132764"/>
            <a:ext cx="11873552" cy="5540991"/>
          </a:xfrm>
        </p:spPr>
        <p:txBody>
          <a:bodyPr/>
          <a:lstStyle/>
          <a:p>
            <a:r>
              <a:rPr lang="en-US" sz="3600" dirty="0" smtClean="0"/>
              <a:t>Frequent job changes </a:t>
            </a:r>
          </a:p>
          <a:p>
            <a:r>
              <a:rPr lang="en-US" sz="3600" dirty="0" smtClean="0"/>
              <a:t>Gaps in job history </a:t>
            </a:r>
          </a:p>
          <a:p>
            <a:r>
              <a:rPr lang="en-US" sz="3600" dirty="0" smtClean="0"/>
              <a:t>Inexperience </a:t>
            </a:r>
          </a:p>
          <a:p>
            <a:r>
              <a:rPr lang="en-US" sz="3600" dirty="0" smtClean="0"/>
              <a:t>Over qualification</a:t>
            </a:r>
          </a:p>
          <a:p>
            <a:r>
              <a:rPr lang="en-US" sz="3600" dirty="0" smtClean="0"/>
              <a:t>Long- term employment with one company </a:t>
            </a:r>
          </a:p>
          <a:p>
            <a:r>
              <a:rPr lang="en-US" sz="3600" dirty="0" smtClean="0"/>
              <a:t>Job termination for cause </a:t>
            </a:r>
          </a:p>
          <a:p>
            <a:r>
              <a:rPr lang="en-US" sz="3600" dirty="0" smtClean="0"/>
              <a:t>Criminal record </a:t>
            </a:r>
          </a:p>
          <a:p>
            <a:endParaRPr lang="en-US" dirty="0"/>
          </a:p>
        </p:txBody>
      </p:sp>
    </p:spTree>
    <p:extLst>
      <p:ext uri="{BB962C8B-B14F-4D97-AF65-F5344CB8AC3E}">
        <p14:creationId xmlns:p14="http://schemas.microsoft.com/office/powerpoint/2010/main" val="38585747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600" b="1" dirty="0" smtClean="0">
                <a:effectLst>
                  <a:outerShdw blurRad="38100" dist="38100" dir="2700000" algn="tl">
                    <a:srgbClr val="000000">
                      <a:alpha val="43137"/>
                    </a:srgbClr>
                  </a:outerShdw>
                </a:effectLst>
              </a:rPr>
              <a:t>Writing your cv/ resume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sz="4000" dirty="0" smtClean="0"/>
              <a:t>Keep honest in your cv/ resume </a:t>
            </a:r>
          </a:p>
          <a:p>
            <a:r>
              <a:rPr lang="en-US" sz="4000" dirty="0" smtClean="0"/>
              <a:t>Adopting your cv/ resume to your audience </a:t>
            </a:r>
            <a:endParaRPr lang="en-US" sz="4000" dirty="0"/>
          </a:p>
        </p:txBody>
      </p:sp>
    </p:spTree>
    <p:extLst>
      <p:ext uri="{BB962C8B-B14F-4D97-AF65-F5344CB8AC3E}">
        <p14:creationId xmlns:p14="http://schemas.microsoft.com/office/powerpoint/2010/main" val="13930133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14" y="133113"/>
            <a:ext cx="11941790" cy="1325563"/>
          </a:xfrm>
        </p:spPr>
        <p:txBody>
          <a:bodyPr>
            <a:normAutofit/>
          </a:bodyPr>
          <a:lstStyle/>
          <a:p>
            <a:pPr algn="ctr"/>
            <a:r>
              <a:rPr lang="en-US" sz="6000" b="1" dirty="0" smtClean="0">
                <a:effectLst>
                  <a:outerShdw blurRad="38100" dist="38100" dir="2700000" algn="tl">
                    <a:srgbClr val="000000">
                      <a:alpha val="43137"/>
                    </a:srgbClr>
                  </a:outerShdw>
                </a:effectLst>
              </a:rPr>
              <a:t>Compose your CV/ Resume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 y="1825624"/>
            <a:ext cx="12064621" cy="4916369"/>
          </a:xfrm>
        </p:spPr>
        <p:txBody>
          <a:bodyPr>
            <a:normAutofit/>
          </a:bodyPr>
          <a:lstStyle/>
          <a:p>
            <a:pPr algn="just"/>
            <a:r>
              <a:rPr lang="en-US" sz="4000" dirty="0" smtClean="0"/>
              <a:t>Write your CV/résumé using a simple and direct style. Use short, crisp phrases instead of whole sentences and focus on what your reader needs to know. </a:t>
            </a:r>
          </a:p>
          <a:p>
            <a:pPr algn="just"/>
            <a:r>
              <a:rPr lang="en-US" sz="4000" dirty="0" smtClean="0"/>
              <a:t>Avoid using the word I, which can sound both self-involved and repetitious by the time you outline all your skills and accomplishments. </a:t>
            </a:r>
            <a:endParaRPr lang="en-US" sz="4000" dirty="0"/>
          </a:p>
        </p:txBody>
      </p:sp>
    </p:spTree>
    <p:extLst>
      <p:ext uri="{BB962C8B-B14F-4D97-AF65-F5344CB8AC3E}">
        <p14:creationId xmlns:p14="http://schemas.microsoft.com/office/powerpoint/2010/main" val="17689247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49154974"/>
              </p:ext>
            </p:extLst>
          </p:nvPr>
        </p:nvGraphicFramePr>
        <p:xfrm>
          <a:off x="109184" y="122830"/>
          <a:ext cx="11244616" cy="6735170"/>
        </p:xfrm>
        <a:graphic>
          <a:graphicData uri="http://schemas.openxmlformats.org/drawingml/2006/table">
            <a:tbl>
              <a:tblPr firstRow="1" bandRow="1">
                <a:tableStyleId>{21E4AEA4-8DFA-4A89-87EB-49C32662AFE0}</a:tableStyleId>
              </a:tblPr>
              <a:tblGrid>
                <a:gridCol w="2811154">
                  <a:extLst>
                    <a:ext uri="{9D8B030D-6E8A-4147-A177-3AD203B41FA5}">
                      <a16:colId xmlns:a16="http://schemas.microsoft.com/office/drawing/2014/main" val="2379930832"/>
                    </a:ext>
                  </a:extLst>
                </a:gridCol>
                <a:gridCol w="2811154">
                  <a:extLst>
                    <a:ext uri="{9D8B030D-6E8A-4147-A177-3AD203B41FA5}">
                      <a16:colId xmlns:a16="http://schemas.microsoft.com/office/drawing/2014/main" val="2848999516"/>
                    </a:ext>
                  </a:extLst>
                </a:gridCol>
                <a:gridCol w="2811154">
                  <a:extLst>
                    <a:ext uri="{9D8B030D-6E8A-4147-A177-3AD203B41FA5}">
                      <a16:colId xmlns:a16="http://schemas.microsoft.com/office/drawing/2014/main" val="777783591"/>
                    </a:ext>
                  </a:extLst>
                </a:gridCol>
                <a:gridCol w="2811154">
                  <a:extLst>
                    <a:ext uri="{9D8B030D-6E8A-4147-A177-3AD203B41FA5}">
                      <a16:colId xmlns:a16="http://schemas.microsoft.com/office/drawing/2014/main" val="2470152347"/>
                    </a:ext>
                  </a:extLst>
                </a:gridCol>
              </a:tblGrid>
              <a:tr h="6735170">
                <a:tc>
                  <a:txBody>
                    <a:bodyPr/>
                    <a:lstStyle/>
                    <a:p>
                      <a:r>
                        <a:rPr lang="en-US" sz="3200" dirty="0" smtClean="0"/>
                        <a:t>accomplished coordinated </a:t>
                      </a:r>
                    </a:p>
                    <a:p>
                      <a:r>
                        <a:rPr lang="en-US" sz="3200" dirty="0" smtClean="0"/>
                        <a:t>Initiated</a:t>
                      </a:r>
                    </a:p>
                    <a:p>
                      <a:r>
                        <a:rPr lang="en-US" sz="3200" dirty="0" smtClean="0"/>
                        <a:t> participated </a:t>
                      </a:r>
                    </a:p>
                    <a:p>
                      <a:r>
                        <a:rPr lang="en-US" sz="3200" dirty="0" smtClean="0"/>
                        <a:t>set up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smtClean="0"/>
                        <a:t>achieved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smtClean="0"/>
                        <a:t>created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smtClean="0"/>
                        <a:t>Installed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smtClean="0"/>
                        <a:t> performed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smtClean="0"/>
                        <a:t>simplified</a:t>
                      </a:r>
                    </a:p>
                    <a:p>
                      <a:endParaRPr lang="en-US" sz="3200" dirty="0" smtClean="0"/>
                    </a:p>
                  </a:txBody>
                  <a:tcPr/>
                </a:tc>
                <a:tc>
                  <a:txBody>
                    <a:bodyPr/>
                    <a:lstStyle/>
                    <a:p>
                      <a:r>
                        <a:rPr lang="en-US" sz="3200" dirty="0" smtClean="0"/>
                        <a:t>administered demonstrated </a:t>
                      </a:r>
                    </a:p>
                    <a:p>
                      <a:r>
                        <a:rPr lang="en-US" sz="3200" dirty="0" smtClean="0"/>
                        <a:t>introduced </a:t>
                      </a:r>
                    </a:p>
                    <a:p>
                      <a:r>
                        <a:rPr lang="en-US" sz="3200" dirty="0" smtClean="0"/>
                        <a:t>planned </a:t>
                      </a:r>
                    </a:p>
                    <a:p>
                      <a:r>
                        <a:rPr lang="en-US" sz="3200" dirty="0" smtClean="0"/>
                        <a:t>Sparked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smtClean="0"/>
                        <a:t>approved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smtClean="0"/>
                        <a:t>Developed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smtClean="0"/>
                        <a:t> investigated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smtClean="0"/>
                        <a:t>Presented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smtClean="0"/>
                        <a:t> streamlined</a:t>
                      </a:r>
                    </a:p>
                    <a:p>
                      <a:endParaRPr lang="en-US" sz="3200" dirty="0" smtClean="0"/>
                    </a:p>
                  </a:txBody>
                  <a:tcPr/>
                </a:tc>
                <a:tc>
                  <a:txBody>
                    <a:bodyPr/>
                    <a:lstStyle/>
                    <a:p>
                      <a:r>
                        <a:rPr lang="en-US" sz="3200" dirty="0" smtClean="0"/>
                        <a:t>arranged </a:t>
                      </a:r>
                    </a:p>
                    <a:p>
                      <a:r>
                        <a:rPr lang="en-US" sz="3200" dirty="0" smtClean="0"/>
                        <a:t>Directed</a:t>
                      </a:r>
                    </a:p>
                    <a:p>
                      <a:r>
                        <a:rPr lang="en-US" sz="3200" dirty="0" smtClean="0"/>
                        <a:t> launched</a:t>
                      </a:r>
                    </a:p>
                    <a:p>
                      <a:r>
                        <a:rPr lang="en-US" sz="3200" dirty="0" smtClean="0"/>
                        <a:t> proposed </a:t>
                      </a:r>
                    </a:p>
                    <a:p>
                      <a:r>
                        <a:rPr lang="en-US" sz="3200" dirty="0" smtClean="0"/>
                        <a:t>strengthened</a:t>
                      </a:r>
                    </a:p>
                    <a:p>
                      <a:r>
                        <a:rPr lang="en-US" sz="3200" dirty="0" smtClean="0"/>
                        <a:t>assisted </a:t>
                      </a:r>
                    </a:p>
                    <a:p>
                      <a:r>
                        <a:rPr lang="en-US" sz="3200" dirty="0" smtClean="0"/>
                        <a:t>established </a:t>
                      </a:r>
                    </a:p>
                    <a:p>
                      <a:r>
                        <a:rPr lang="en-US" sz="3200" dirty="0" smtClean="0"/>
                        <a:t>maintained </a:t>
                      </a:r>
                    </a:p>
                    <a:p>
                      <a:r>
                        <a:rPr lang="en-US" sz="3200" dirty="0" smtClean="0"/>
                        <a:t>raised </a:t>
                      </a:r>
                    </a:p>
                    <a:p>
                      <a:r>
                        <a:rPr lang="en-US" sz="3200" dirty="0" smtClean="0"/>
                        <a:t>succeeded</a:t>
                      </a:r>
                    </a:p>
                  </a:txBody>
                  <a:tcPr/>
                </a:tc>
                <a:tc>
                  <a:txBody>
                    <a:bodyPr/>
                    <a:lstStyle/>
                    <a:p>
                      <a:r>
                        <a:rPr lang="en-US" sz="3200" dirty="0" smtClean="0"/>
                        <a:t>assumed </a:t>
                      </a:r>
                    </a:p>
                    <a:p>
                      <a:r>
                        <a:rPr lang="en-US" sz="3200" dirty="0" smtClean="0"/>
                        <a:t>explored </a:t>
                      </a:r>
                    </a:p>
                    <a:p>
                      <a:r>
                        <a:rPr lang="en-US" sz="3200" dirty="0" smtClean="0"/>
                        <a:t>managed </a:t>
                      </a:r>
                    </a:p>
                    <a:p>
                      <a:r>
                        <a:rPr lang="en-US" sz="3200" dirty="0" smtClean="0"/>
                        <a:t>recommended supervised</a:t>
                      </a:r>
                    </a:p>
                    <a:p>
                      <a:r>
                        <a:rPr lang="en-US" sz="3200" dirty="0" smtClean="0"/>
                        <a:t>budgeted </a:t>
                      </a:r>
                    </a:p>
                    <a:p>
                      <a:r>
                        <a:rPr lang="en-US" sz="3200" dirty="0" smtClean="0"/>
                        <a:t>forecasted </a:t>
                      </a:r>
                    </a:p>
                    <a:p>
                      <a:r>
                        <a:rPr lang="en-US" sz="3200" dirty="0" smtClean="0"/>
                        <a:t>motivated </a:t>
                      </a:r>
                    </a:p>
                    <a:p>
                      <a:r>
                        <a:rPr lang="en-US" sz="3200" dirty="0" smtClean="0"/>
                        <a:t>reduced </a:t>
                      </a:r>
                    </a:p>
                    <a:p>
                      <a:r>
                        <a:rPr lang="en-US" sz="3200" dirty="0" smtClean="0"/>
                        <a:t>systematized</a:t>
                      </a:r>
                    </a:p>
                  </a:txBody>
                  <a:tcPr/>
                </a:tc>
                <a:extLst>
                  <a:ext uri="{0D108BD9-81ED-4DB2-BD59-A6C34878D82A}">
                    <a16:rowId xmlns:a16="http://schemas.microsoft.com/office/drawing/2014/main" val="2960331331"/>
                  </a:ext>
                </a:extLst>
              </a:tr>
            </a:tbl>
          </a:graphicData>
        </a:graphic>
      </p:graphicFrame>
    </p:spTree>
    <p:extLst>
      <p:ext uri="{BB962C8B-B14F-4D97-AF65-F5344CB8AC3E}">
        <p14:creationId xmlns:p14="http://schemas.microsoft.com/office/powerpoint/2010/main" val="12973820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609" y="0"/>
            <a:ext cx="12065391" cy="1325563"/>
          </a:xfrm>
        </p:spPr>
        <p:txBody>
          <a:bodyPr>
            <a:noAutofit/>
          </a:bodyPr>
          <a:lstStyle/>
          <a:p>
            <a:pPr algn="ctr"/>
            <a:r>
              <a:rPr lang="en-US" sz="5400" b="1" dirty="0">
                <a:effectLst>
                  <a:outerShdw blurRad="38100" dist="38100" dir="2700000" algn="tl">
                    <a:srgbClr val="000000">
                      <a:alpha val="43137"/>
                    </a:srgbClr>
                  </a:outerShdw>
                </a:effectLst>
              </a:rPr>
              <a:t>Organizing Your Information Into Effective </a:t>
            </a:r>
            <a:br>
              <a:rPr lang="en-US" sz="5400" b="1" dirty="0">
                <a:effectLst>
                  <a:outerShdw blurRad="38100" dist="38100" dir="2700000" algn="tl">
                    <a:srgbClr val="000000">
                      <a:alpha val="43137"/>
                    </a:srgbClr>
                  </a:outerShdw>
                </a:effectLst>
              </a:rPr>
            </a:br>
            <a:r>
              <a:rPr lang="en-US" sz="5400" b="1" dirty="0">
                <a:effectLst>
                  <a:outerShdw blurRad="38100" dist="38100" dir="2700000" algn="tl">
                    <a:srgbClr val="000000">
                      <a:alpha val="43137"/>
                    </a:srgbClr>
                  </a:outerShdw>
                </a:effectLst>
              </a:rPr>
              <a:t>Résumé Categories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81888767"/>
              </p:ext>
            </p:extLst>
          </p:nvPr>
        </p:nvGraphicFramePr>
        <p:xfrm>
          <a:off x="127000" y="1449388"/>
          <a:ext cx="11942763" cy="5232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9992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 Heading</a:t>
            </a:r>
          </a:p>
        </p:txBody>
      </p:sp>
      <p:sp>
        <p:nvSpPr>
          <p:cNvPr id="3" name="Content Placeholder 2"/>
          <p:cNvSpPr>
            <a:spLocks noGrp="1"/>
          </p:cNvSpPr>
          <p:nvPr>
            <p:ph idx="1"/>
          </p:nvPr>
        </p:nvSpPr>
        <p:spPr/>
        <p:txBody>
          <a:bodyPr>
            <a:normAutofit fontScale="92500" lnSpcReduction="10000"/>
          </a:bodyPr>
          <a:lstStyle/>
          <a:p>
            <a:r>
              <a:rPr lang="en-US" dirty="0"/>
              <a:t> should start with a main </a:t>
            </a:r>
            <a:r>
              <a:rPr lang="en-US" dirty="0" smtClean="0"/>
              <a:t>heading </a:t>
            </a:r>
            <a:r>
              <a:rPr lang="en-US" dirty="0"/>
              <a:t>that is as uncluttered and simple as </a:t>
            </a:r>
            <a:r>
              <a:rPr lang="en-US" dirty="0" smtClean="0"/>
              <a:t>possible.</a:t>
            </a:r>
          </a:p>
          <a:p>
            <a:r>
              <a:rPr lang="en-US" dirty="0"/>
              <a:t>The first line of the main </a:t>
            </a:r>
          </a:p>
          <a:p>
            <a:r>
              <a:rPr lang="en-US" dirty="0"/>
              <a:t>heading should always be your name; add your middle initial for an even more </a:t>
            </a:r>
          </a:p>
          <a:p>
            <a:r>
              <a:rPr lang="en-US" dirty="0"/>
              <a:t>professional look. Format your name so that it stands out on the page. Below </a:t>
            </a:r>
          </a:p>
          <a:p>
            <a:r>
              <a:rPr lang="en-US" dirty="0"/>
              <a:t>your name, list your contact information, including your complete address, area </a:t>
            </a:r>
          </a:p>
          <a:p>
            <a:r>
              <a:rPr lang="en-US" dirty="0"/>
              <a:t>code and phone number, and e-mail address. Be sure to include a telephone </a:t>
            </a:r>
            <a:r>
              <a:rPr lang="en-US" dirty="0" err="1"/>
              <a:t>number</a:t>
            </a:r>
            <a:r>
              <a:rPr lang="en-US"/>
              <a:t> where you can receive messages. </a:t>
            </a:r>
            <a:endParaRPr lang="en-US" dirty="0"/>
          </a:p>
        </p:txBody>
      </p:sp>
    </p:spTree>
    <p:extLst>
      <p:ext uri="{BB962C8B-B14F-4D97-AF65-F5344CB8AC3E}">
        <p14:creationId xmlns:p14="http://schemas.microsoft.com/office/powerpoint/2010/main" val="15455227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TotalTime>
  <Words>854</Words>
  <Application>Microsoft Office PowerPoint</Application>
  <PresentationFormat>Widescreen</PresentationFormat>
  <Paragraphs>109</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Algerian</vt:lpstr>
      <vt:lpstr>Arial</vt:lpstr>
      <vt:lpstr>Calibri</vt:lpstr>
      <vt:lpstr>Calibri Light</vt:lpstr>
      <vt:lpstr>Office Theme</vt:lpstr>
      <vt:lpstr>PowerPoint Presentation</vt:lpstr>
      <vt:lpstr>PowerPoint Presentation</vt:lpstr>
      <vt:lpstr>Résumé vs  CV</vt:lpstr>
      <vt:lpstr>CV/Resume writing </vt:lpstr>
      <vt:lpstr> 3 stages of CV/ Resume </vt:lpstr>
      <vt:lpstr>Planning of Resume writing </vt:lpstr>
      <vt:lpstr>Writing of Resume </vt:lpstr>
      <vt:lpstr>Complete your Resume </vt:lpstr>
      <vt:lpstr>Analyzing your purpose and audience </vt:lpstr>
      <vt:lpstr>Gathering Pertinent information </vt:lpstr>
      <vt:lpstr>Fallacy and facts of resume </vt:lpstr>
      <vt:lpstr>Types of Résumé</vt:lpstr>
      <vt:lpstr>Addressing areas of concern </vt:lpstr>
      <vt:lpstr>Writing your cv/ resume </vt:lpstr>
      <vt:lpstr>Compose your CV/ Resume </vt:lpstr>
      <vt:lpstr>PowerPoint Presentation</vt:lpstr>
      <vt:lpstr>Organizing Your Information Into Effective  Résumé Categories</vt:lpstr>
      <vt:lpstr>Main Heading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Tab &amp; Tech</dc:creator>
  <cp:lastModifiedBy>Tab &amp; Tech</cp:lastModifiedBy>
  <cp:revision>15</cp:revision>
  <dcterms:created xsi:type="dcterms:W3CDTF">2025-05-29T04:09:21Z</dcterms:created>
  <dcterms:modified xsi:type="dcterms:W3CDTF">2025-06-01T00:51:17Z</dcterms:modified>
</cp:coreProperties>
</file>