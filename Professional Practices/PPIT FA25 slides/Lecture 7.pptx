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98" r:id="rId3"/>
    <p:sldId id="319" r:id="rId4"/>
    <p:sldId id="320" r:id="rId5"/>
    <p:sldId id="321" r:id="rId6"/>
    <p:sldId id="322" r:id="rId7"/>
    <p:sldId id="323" r:id="rId8"/>
    <p:sldId id="324" r:id="rId9"/>
    <p:sldId id="325" r:id="rId10"/>
    <p:sldId id="326" r:id="rId11"/>
    <p:sldId id="328" r:id="rId12"/>
    <p:sldId id="329" r:id="rId13"/>
    <p:sldId id="330" r:id="rId14"/>
    <p:sldId id="327" r:id="rId15"/>
    <p:sldId id="331" r:id="rId16"/>
    <p:sldId id="332" r:id="rId17"/>
    <p:sldId id="333" r:id="rId18"/>
    <p:sldId id="334" r:id="rId19"/>
    <p:sldId id="335" r:id="rId20"/>
    <p:sldId id="336" r:id="rId21"/>
    <p:sldId id="337" r:id="rId22"/>
    <p:sldId id="338" r:id="rId23"/>
    <p:sldId id="339" r:id="rId24"/>
    <p:sldId id="340" r:id="rId25"/>
    <p:sldId id="341" r:id="rId26"/>
    <p:sldId id="342" r:id="rId27"/>
    <p:sldId id="343" r:id="rId28"/>
    <p:sldId id="344" r:id="rId29"/>
    <p:sldId id="345" r:id="rId30"/>
    <p:sldId id="346" r:id="rId31"/>
    <p:sldId id="347" r:id="rId32"/>
    <p:sldId id="348" r:id="rId33"/>
    <p:sldId id="349" r:id="rId34"/>
    <p:sldId id="350" r:id="rId35"/>
    <p:sldId id="351" r:id="rId36"/>
    <p:sldId id="352" r:id="rId37"/>
    <p:sldId id="353" r:id="rId38"/>
    <p:sldId id="354" r:id="rId39"/>
    <p:sldId id="318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4660"/>
  </p:normalViewPr>
  <p:slideViewPr>
    <p:cSldViewPr snapToGrid="0">
      <p:cViewPr varScale="1">
        <p:scale>
          <a:sx n="63" d="100"/>
          <a:sy n="63" d="100"/>
        </p:scale>
        <p:origin x="8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C89DDC24-1FEE-4905-A4BB-4EDF390F8E64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C03D0C88-8BD2-49EF-8F30-00AA472DAC3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029015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DDC24-1FEE-4905-A4BB-4EDF390F8E64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D0C88-8BD2-49EF-8F30-00AA472DA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792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DDC24-1FEE-4905-A4BB-4EDF390F8E64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D0C88-8BD2-49EF-8F30-00AA472DAC3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3509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DDC24-1FEE-4905-A4BB-4EDF390F8E64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D0C88-8BD2-49EF-8F30-00AA472DA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073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DDC24-1FEE-4905-A4BB-4EDF390F8E64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D0C88-8BD2-49EF-8F30-00AA472DA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516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DDC24-1FEE-4905-A4BB-4EDF390F8E64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D0C88-8BD2-49EF-8F30-00AA472DA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078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DDC24-1FEE-4905-A4BB-4EDF390F8E64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D0C88-8BD2-49EF-8F30-00AA472DA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295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DDC24-1FEE-4905-A4BB-4EDF390F8E64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D0C88-8BD2-49EF-8F30-00AA472DA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522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DDC24-1FEE-4905-A4BB-4EDF390F8E64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D0C88-8BD2-49EF-8F30-00AA472DA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00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DDC24-1FEE-4905-A4BB-4EDF390F8E64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D0C88-8BD2-49EF-8F30-00AA472DA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137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DDC24-1FEE-4905-A4BB-4EDF390F8E64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D0C88-8BD2-49EF-8F30-00AA472DA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426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C89DDC24-1FEE-4905-A4BB-4EDF390F8E64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03D0C88-8BD2-49EF-8F30-00AA472DA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927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3A1C1-E1A9-A98F-18CB-E9EDC72BF5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668256" cy="4041648"/>
          </a:xfrm>
        </p:spPr>
        <p:txBody>
          <a:bodyPr/>
          <a:lstStyle/>
          <a:p>
            <a:r>
              <a:rPr lang="en-US" dirty="0"/>
              <a:t>CSC410 - Professional Practices in IT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BDF856-3239-C04C-F37F-C5B31B0C1A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400" dirty="0"/>
              <a:t>Instructor Name :  Sidra Nasir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5383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0D64A-21CE-44F3-C623-B533E9F71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5738B-C6E7-F94E-3D66-5CB720490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255520"/>
            <a:ext cx="8595360" cy="3924617"/>
          </a:xfrm>
        </p:spPr>
        <p:txBody>
          <a:bodyPr/>
          <a:lstStyle/>
          <a:p>
            <a:r>
              <a:rPr lang="en-US" sz="2400" dirty="0"/>
              <a:t>Intellectual Property Rights</a:t>
            </a:r>
          </a:p>
          <a:p>
            <a:r>
              <a:rPr lang="en-US" sz="2400" dirty="0"/>
              <a:t>Protecting intellectual property</a:t>
            </a:r>
          </a:p>
          <a:p>
            <a:r>
              <a:rPr lang="en-US" sz="2400" dirty="0"/>
              <a:t>Fair Use</a:t>
            </a:r>
          </a:p>
          <a:p>
            <a:endParaRPr lang="en-US" sz="24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085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33E1F-029E-4732-F438-448F6B99C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592" y="2225040"/>
            <a:ext cx="9692640" cy="1325562"/>
          </a:xfrm>
        </p:spPr>
        <p:txBody>
          <a:bodyPr/>
          <a:lstStyle/>
          <a:p>
            <a:pPr algn="ctr"/>
            <a:r>
              <a:rPr lang="en-US" dirty="0"/>
              <a:t>Chapter 4: </a:t>
            </a:r>
            <a:br>
              <a:rPr lang="en-US" dirty="0"/>
            </a:br>
            <a:r>
              <a:rPr lang="en-US" dirty="0"/>
              <a:t>Intellectual Property</a:t>
            </a:r>
          </a:p>
        </p:txBody>
      </p:sp>
    </p:spTree>
    <p:extLst>
      <p:ext uri="{BB962C8B-B14F-4D97-AF65-F5344CB8AC3E}">
        <p14:creationId xmlns:p14="http://schemas.microsoft.com/office/powerpoint/2010/main" val="2731396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8A7CB-2194-B9BC-132B-9BE5FBC9C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472" y="396240"/>
            <a:ext cx="9692640" cy="1325562"/>
          </a:xfrm>
        </p:spPr>
        <p:txBody>
          <a:bodyPr/>
          <a:lstStyle/>
          <a:p>
            <a:r>
              <a:rPr lang="en-US" dirty="0"/>
              <a:t>Information Technology Changing Intellectual Property Landscape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FD856-2A24-7202-A77A-3DF9C334E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143760"/>
            <a:ext cx="8595360" cy="4036377"/>
          </a:xfrm>
        </p:spPr>
        <p:txBody>
          <a:bodyPr>
            <a:normAutofit/>
          </a:bodyPr>
          <a:lstStyle/>
          <a:p>
            <a:r>
              <a:rPr lang="en-US" sz="2400" dirty="0"/>
              <a:t>Value of intellectual properties much greater than value of media </a:t>
            </a:r>
          </a:p>
          <a:p>
            <a:pPr marL="274320" lvl="1" indent="0">
              <a:buNone/>
            </a:pPr>
            <a:r>
              <a:rPr lang="en-US" sz="2400" dirty="0"/>
              <a:t>– Creating first copy is costly </a:t>
            </a:r>
          </a:p>
          <a:p>
            <a:pPr marL="274320" lvl="1" indent="0">
              <a:buNone/>
            </a:pPr>
            <a:r>
              <a:rPr lang="en-US" sz="2400" dirty="0"/>
              <a:t>– Duplicates cost almost nothing </a:t>
            </a:r>
          </a:p>
          <a:p>
            <a:r>
              <a:rPr lang="en-US" sz="2400" dirty="0"/>
              <a:t>Illegal copying pervasive </a:t>
            </a:r>
          </a:p>
          <a:p>
            <a:pPr marL="274320" lvl="1" indent="0">
              <a:buNone/>
            </a:pPr>
            <a:r>
              <a:rPr lang="en-US" sz="2400" dirty="0"/>
              <a:t>– Internet allows copies to spread quickly and widely </a:t>
            </a:r>
          </a:p>
          <a:p>
            <a:r>
              <a:rPr lang="en-US" sz="2400" dirty="0"/>
              <a:t> In light of advances in information technology, how should we treat intellectual property?</a:t>
            </a:r>
          </a:p>
        </p:txBody>
      </p:sp>
    </p:spTree>
    <p:extLst>
      <p:ext uri="{BB962C8B-B14F-4D97-AF65-F5344CB8AC3E}">
        <p14:creationId xmlns:p14="http://schemas.microsoft.com/office/powerpoint/2010/main" val="3255090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6D8B9-217E-4DA7-8F4A-BE380CEF2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905" y="4226560"/>
            <a:ext cx="9692640" cy="1742122"/>
          </a:xfrm>
        </p:spPr>
        <p:txBody>
          <a:bodyPr>
            <a:noAutofit/>
          </a:bodyPr>
          <a:lstStyle/>
          <a:p>
            <a:r>
              <a:rPr lang="en-US" sz="1400" dirty="0"/>
              <a:t>Reproduced by permission of </a:t>
            </a:r>
            <a:br>
              <a:rPr lang="en-US" sz="1400" dirty="0"/>
            </a:br>
            <a:r>
              <a:rPr lang="en-US" sz="1400" dirty="0"/>
              <a:t>Electronic Frontier Foundation via </a:t>
            </a:r>
            <a:br>
              <a:rPr lang="en-US" sz="1400" dirty="0"/>
            </a:br>
            <a:r>
              <a:rPr lang="en-US" sz="1400" dirty="0"/>
              <a:t>Creative Commons Attribution </a:t>
            </a:r>
            <a:br>
              <a:rPr lang="en-US" sz="1400" dirty="0"/>
            </a:br>
            <a:r>
              <a:rPr lang="en-US" sz="1400" dirty="0"/>
              <a:t>License 3.0. </a:t>
            </a:r>
            <a:r>
              <a:rPr lang="en-US" sz="1400" dirty="0">
                <a:solidFill>
                  <a:srgbClr val="0070C0"/>
                </a:solidFill>
              </a:rPr>
              <a:t>Go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0070C0"/>
                </a:solidFill>
              </a:rPr>
              <a:t>to www.eff.org/</a:t>
            </a:r>
            <a:br>
              <a:rPr lang="en-US" sz="1400" dirty="0">
                <a:solidFill>
                  <a:srgbClr val="0070C0"/>
                </a:solidFill>
              </a:rPr>
            </a:br>
            <a:r>
              <a:rPr lang="en-US" sz="1400" dirty="0">
                <a:solidFill>
                  <a:srgbClr val="0070C0"/>
                </a:solidFill>
              </a:rPr>
              <a:t>copyright </a:t>
            </a:r>
            <a:r>
              <a:rPr lang="en-US" sz="1400" dirty="0"/>
              <a:t>for redistribution </a:t>
            </a:r>
            <a:br>
              <a:rPr lang="en-US" sz="1400" dirty="0"/>
            </a:br>
            <a:r>
              <a:rPr lang="en-US" sz="1400" dirty="0"/>
              <a:t>information. To access the original </a:t>
            </a:r>
            <a:br>
              <a:rPr lang="en-US" sz="1400" dirty="0"/>
            </a:br>
            <a:r>
              <a:rPr lang="en-US" sz="1400" dirty="0"/>
              <a:t>work, go to w2.eff.org/IP/P2P/?</a:t>
            </a:r>
            <a:br>
              <a:rPr lang="en-US" sz="1400" dirty="0"/>
            </a:br>
            <a:r>
              <a:rPr lang="en-US" sz="1400" dirty="0"/>
              <a:t>f=music-to-our-ears.html </a:t>
            </a:r>
            <a:br>
              <a:rPr lang="en-US" sz="1200" dirty="0"/>
            </a:br>
            <a:endParaRPr lang="en-US" sz="1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165C40-08BE-0D79-EF88-E67D8370EF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03544" y="284480"/>
            <a:ext cx="5647473" cy="6289040"/>
          </a:xfrm>
        </p:spPr>
      </p:pic>
    </p:spTree>
    <p:extLst>
      <p:ext uri="{BB962C8B-B14F-4D97-AF65-F5344CB8AC3E}">
        <p14:creationId xmlns:p14="http://schemas.microsoft.com/office/powerpoint/2010/main" val="2737672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5A2AC-0CB1-2A94-6871-EAB6C8987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872" y="2529840"/>
            <a:ext cx="9692640" cy="1325562"/>
          </a:xfrm>
        </p:spPr>
        <p:txBody>
          <a:bodyPr/>
          <a:lstStyle/>
          <a:p>
            <a:pPr algn="ctr"/>
            <a:r>
              <a:rPr lang="en-US" dirty="0"/>
              <a:t> Intellectual Property Rights</a:t>
            </a:r>
          </a:p>
        </p:txBody>
      </p:sp>
    </p:spTree>
    <p:extLst>
      <p:ext uri="{BB962C8B-B14F-4D97-AF65-F5344CB8AC3E}">
        <p14:creationId xmlns:p14="http://schemas.microsoft.com/office/powerpoint/2010/main" val="532451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C26C3-74A7-A9F5-1A4E-CC4F1270F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Intellectual Property?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D3291-F474-6EE0-B6B1-716A7B68F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971040"/>
            <a:ext cx="8595360" cy="4209097"/>
          </a:xfrm>
        </p:spPr>
        <p:txBody>
          <a:bodyPr>
            <a:normAutofit/>
          </a:bodyPr>
          <a:lstStyle/>
          <a:p>
            <a:r>
              <a:rPr lang="en-US" sz="2400" dirty="0"/>
              <a:t>Intellectual property: any unique product of the human intellect that has commercial value </a:t>
            </a:r>
          </a:p>
          <a:p>
            <a:pPr marL="274320" lvl="1" indent="0">
              <a:buNone/>
            </a:pPr>
            <a:r>
              <a:rPr lang="en-US" sz="2400" dirty="0"/>
              <a:t>– Books, songs, movies </a:t>
            </a:r>
          </a:p>
          <a:p>
            <a:pPr marL="274320" lvl="1" indent="0">
              <a:buNone/>
            </a:pPr>
            <a:r>
              <a:rPr lang="en-US" sz="2400" dirty="0"/>
              <a:t>– Paintings, drawings </a:t>
            </a:r>
          </a:p>
          <a:p>
            <a:pPr marL="274320" lvl="1" indent="0">
              <a:buNone/>
            </a:pPr>
            <a:r>
              <a:rPr lang="en-US" sz="2400" dirty="0"/>
              <a:t>– Inventions, chemical formulas, computer programs </a:t>
            </a:r>
          </a:p>
          <a:p>
            <a:r>
              <a:rPr lang="en-US" sz="2400" dirty="0"/>
              <a:t>Intellectual property ≠ physical manifestation </a:t>
            </a:r>
          </a:p>
          <a:p>
            <a:r>
              <a:rPr lang="en-US" sz="2400" dirty="0"/>
              <a:t>Does right to own property extend to intellectual property?</a:t>
            </a:r>
          </a:p>
        </p:txBody>
      </p:sp>
    </p:spTree>
    <p:extLst>
      <p:ext uri="{BB962C8B-B14F-4D97-AF65-F5344CB8AC3E}">
        <p14:creationId xmlns:p14="http://schemas.microsoft.com/office/powerpoint/2010/main" val="1851890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D1E11-3C63-CACB-9D7C-154C433E6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432" y="396240"/>
            <a:ext cx="9692640" cy="1198880"/>
          </a:xfrm>
        </p:spPr>
        <p:txBody>
          <a:bodyPr/>
          <a:lstStyle/>
          <a:p>
            <a:r>
              <a:rPr lang="en-US" dirty="0"/>
              <a:t>Property Rights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FE2BC-E185-92E1-468E-2E1E88E58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Locke: The Second Treatise of Government </a:t>
            </a:r>
          </a:p>
          <a:p>
            <a:r>
              <a:rPr lang="en-US" sz="2400" dirty="0"/>
              <a:t>People have a right… </a:t>
            </a:r>
          </a:p>
          <a:p>
            <a:pPr marL="274320" lvl="1" indent="0">
              <a:buNone/>
            </a:pPr>
            <a:r>
              <a:rPr lang="en-US" sz="2400" dirty="0"/>
              <a:t>– to property in their own person </a:t>
            </a:r>
          </a:p>
          <a:p>
            <a:pPr marL="274320" lvl="1" indent="0">
              <a:buNone/>
            </a:pPr>
            <a:r>
              <a:rPr lang="en-US" sz="2400" dirty="0"/>
              <a:t>– to their own labor</a:t>
            </a:r>
          </a:p>
          <a:p>
            <a:pPr marL="274320" lvl="1" indent="0">
              <a:buNone/>
            </a:pPr>
            <a:r>
              <a:rPr lang="en-US" sz="2400" dirty="0"/>
              <a:t> – to things which they remove from Nature through their labor </a:t>
            </a:r>
          </a:p>
          <a:p>
            <a:pPr marL="0" indent="0">
              <a:buNone/>
            </a:pPr>
            <a:r>
              <a:rPr lang="en-US" sz="2400" dirty="0"/>
              <a:t>• As long as…</a:t>
            </a:r>
          </a:p>
          <a:p>
            <a:pPr marL="274320" lvl="1" indent="0">
              <a:buNone/>
            </a:pPr>
            <a:r>
              <a:rPr lang="en-US" sz="2400" dirty="0"/>
              <a:t> – nobody claims more property than they can use</a:t>
            </a:r>
          </a:p>
          <a:p>
            <a:pPr marL="274320" lvl="1" indent="0">
              <a:buNone/>
            </a:pPr>
            <a:r>
              <a:rPr lang="en-US" sz="2400" dirty="0"/>
              <a:t> – after someone removes something from common state, there is plenty left over </a:t>
            </a:r>
          </a:p>
        </p:txBody>
      </p:sp>
    </p:spTree>
    <p:extLst>
      <p:ext uri="{BB962C8B-B14F-4D97-AF65-F5344CB8AC3E}">
        <p14:creationId xmlns:p14="http://schemas.microsoft.com/office/powerpoint/2010/main" val="3420363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79B93-452C-D5F1-8CFA-E8F7AE61F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32" y="304800"/>
            <a:ext cx="9692640" cy="1325562"/>
          </a:xfrm>
        </p:spPr>
        <p:txBody>
          <a:bodyPr/>
          <a:lstStyle/>
          <a:p>
            <a:r>
              <a:rPr lang="en-US" dirty="0"/>
              <a:t>Locke’s Notion of Property Rights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CDB9B7-4152-88B9-61B4-FE52A18699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05556" y="1828800"/>
            <a:ext cx="4907738" cy="4351338"/>
          </a:xfrm>
        </p:spPr>
      </p:pic>
    </p:spTree>
    <p:extLst>
      <p:ext uri="{BB962C8B-B14F-4D97-AF65-F5344CB8AC3E}">
        <p14:creationId xmlns:p14="http://schemas.microsoft.com/office/powerpoint/2010/main" val="532873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0209F-7A04-6989-31BD-1BA949D90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112" y="345440"/>
            <a:ext cx="9692640" cy="1325562"/>
          </a:xfrm>
        </p:spPr>
        <p:txBody>
          <a:bodyPr/>
          <a:lstStyle/>
          <a:p>
            <a:r>
              <a:rPr lang="en-US" dirty="0"/>
              <a:t>Expanding the Argument to </a:t>
            </a:r>
            <a:br>
              <a:rPr lang="en-US" dirty="0"/>
            </a:br>
            <a:r>
              <a:rPr lang="en-US" dirty="0"/>
              <a:t>Intellectual Property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57BC2-773C-50E0-8002-04A9B9AFF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Writing a play akin to making a belt buckle </a:t>
            </a:r>
          </a:p>
          <a:p>
            <a:r>
              <a:rPr lang="en-US" sz="2400" dirty="0"/>
              <a:t>Belt buckle </a:t>
            </a:r>
          </a:p>
          <a:p>
            <a:pPr marL="548640" lvl="2" indent="0">
              <a:buNone/>
            </a:pPr>
            <a:r>
              <a:rPr lang="en-US" sz="2400" dirty="0"/>
              <a:t>– Mine ore </a:t>
            </a:r>
          </a:p>
          <a:p>
            <a:pPr marL="548640" lvl="2" indent="0">
              <a:buNone/>
            </a:pPr>
            <a:r>
              <a:rPr lang="en-US" sz="2400" dirty="0"/>
              <a:t>– Smelt it down </a:t>
            </a:r>
          </a:p>
          <a:p>
            <a:pPr marL="548640" lvl="2" indent="0">
              <a:buNone/>
            </a:pPr>
            <a:r>
              <a:rPr lang="en-US" sz="2400" dirty="0"/>
              <a:t>– Cast it </a:t>
            </a:r>
          </a:p>
          <a:p>
            <a:r>
              <a:rPr lang="en-US" sz="2400" dirty="0"/>
              <a:t>Writing a play </a:t>
            </a:r>
          </a:p>
          <a:p>
            <a:pPr marL="274320" lvl="1" indent="0">
              <a:buNone/>
            </a:pPr>
            <a:r>
              <a:rPr lang="en-US" sz="2400" dirty="0"/>
              <a:t>– “Mine” words from English language </a:t>
            </a:r>
          </a:p>
          <a:p>
            <a:pPr marL="274320" lvl="1" indent="0">
              <a:buNone/>
            </a:pPr>
            <a:r>
              <a:rPr lang="en-US" sz="2400" dirty="0"/>
              <a:t>– “Smelt” them into prose </a:t>
            </a:r>
          </a:p>
          <a:p>
            <a:pPr marL="274320" lvl="1" indent="0">
              <a:buNone/>
            </a:pPr>
            <a:r>
              <a:rPr lang="en-US" sz="2400" dirty="0"/>
              <a:t>– “Cast” them into a complete play</a:t>
            </a:r>
          </a:p>
        </p:txBody>
      </p:sp>
    </p:spTree>
    <p:extLst>
      <p:ext uri="{BB962C8B-B14F-4D97-AF65-F5344CB8AC3E}">
        <p14:creationId xmlns:p14="http://schemas.microsoft.com/office/powerpoint/2010/main" val="2948631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54FED-6A80-825D-753C-2ECF7F086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32" y="284480"/>
            <a:ext cx="9692640" cy="1325562"/>
          </a:xfrm>
        </p:spPr>
        <p:txBody>
          <a:bodyPr/>
          <a:lstStyle/>
          <a:p>
            <a:r>
              <a:rPr lang="en-US" dirty="0"/>
              <a:t>Analogy Is Imperfect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489E63-7887-B0AA-E46E-907D3C63E5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78175" y="2470944"/>
            <a:ext cx="4762500" cy="3067050"/>
          </a:xfrm>
        </p:spPr>
      </p:pic>
    </p:spTree>
    <p:extLst>
      <p:ext uri="{BB962C8B-B14F-4D97-AF65-F5344CB8AC3E}">
        <p14:creationId xmlns:p14="http://schemas.microsoft.com/office/powerpoint/2010/main" val="630094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8E9B1-8D0F-4F2C-E356-7A47D69D0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Analogy Is Imperfect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7B0FA-741A-F2BD-236E-BDF231581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032000"/>
            <a:ext cx="8595360" cy="4148137"/>
          </a:xfrm>
        </p:spPr>
        <p:txBody>
          <a:bodyPr>
            <a:normAutofit/>
          </a:bodyPr>
          <a:lstStyle/>
          <a:p>
            <a:r>
              <a:rPr lang="en-US" sz="2400" dirty="0"/>
              <a:t>If Ben Jonson and William Shakespeare simultaneously write down Hamlet, who owns it? </a:t>
            </a:r>
          </a:p>
          <a:p>
            <a:r>
              <a:rPr lang="en-US" sz="2400" dirty="0"/>
              <a:t> If Ben “steals” the play from Will, both have it </a:t>
            </a:r>
          </a:p>
          <a:p>
            <a:r>
              <a:rPr lang="en-US" sz="2400" dirty="0"/>
              <a:t>These paradoxes weaken the argument for a natural right to intellectual property</a:t>
            </a:r>
          </a:p>
        </p:txBody>
      </p:sp>
    </p:spTree>
    <p:extLst>
      <p:ext uri="{BB962C8B-B14F-4D97-AF65-F5344CB8AC3E}">
        <p14:creationId xmlns:p14="http://schemas.microsoft.com/office/powerpoint/2010/main" val="34411293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D2F91-AF95-98F2-914D-60EF82C7F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32" y="375920"/>
            <a:ext cx="9692640" cy="1325562"/>
          </a:xfrm>
        </p:spPr>
        <p:txBody>
          <a:bodyPr/>
          <a:lstStyle/>
          <a:p>
            <a:r>
              <a:rPr lang="en-US" dirty="0"/>
              <a:t>Benefits of Intellectual Property </a:t>
            </a:r>
            <a:br>
              <a:rPr lang="en-US" dirty="0"/>
            </a:br>
            <a:r>
              <a:rPr lang="en-US" dirty="0"/>
              <a:t>Protection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41859-1E23-543F-0A81-0571DBA48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194560"/>
            <a:ext cx="8595360" cy="4066857"/>
          </a:xfrm>
        </p:spPr>
        <p:txBody>
          <a:bodyPr>
            <a:normAutofit/>
          </a:bodyPr>
          <a:lstStyle/>
          <a:p>
            <a:r>
              <a:rPr lang="en-US" sz="2400" dirty="0"/>
              <a:t> Some people are altruistic; some are not </a:t>
            </a:r>
          </a:p>
          <a:p>
            <a:r>
              <a:rPr lang="en-US" sz="2400" dirty="0"/>
              <a:t>Allure of wealth can be an incentive for speculative work </a:t>
            </a:r>
          </a:p>
          <a:p>
            <a:r>
              <a:rPr lang="en-US" sz="2400" dirty="0"/>
              <a:t>Authors of U.S. Constitution recognized benefits to limited intellectual property protection</a:t>
            </a:r>
          </a:p>
        </p:txBody>
      </p:sp>
    </p:spTree>
    <p:extLst>
      <p:ext uri="{BB962C8B-B14F-4D97-AF65-F5344CB8AC3E}">
        <p14:creationId xmlns:p14="http://schemas.microsoft.com/office/powerpoint/2010/main" val="13732327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A212F-7FBC-E76E-4124-298F679D5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9152" y="345440"/>
            <a:ext cx="9692640" cy="1325562"/>
          </a:xfrm>
        </p:spPr>
        <p:txBody>
          <a:bodyPr/>
          <a:lstStyle/>
          <a:p>
            <a:r>
              <a:rPr lang="en-US" dirty="0"/>
              <a:t>Limits to Intellectual Property Protection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266D5-B894-AA26-3B67-912D1C3EF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011680"/>
            <a:ext cx="8595360" cy="4168457"/>
          </a:xfrm>
        </p:spPr>
        <p:txBody>
          <a:bodyPr>
            <a:normAutofit/>
          </a:bodyPr>
          <a:lstStyle/>
          <a:p>
            <a:r>
              <a:rPr lang="en-US" sz="2400" dirty="0"/>
              <a:t>Giving creators rights to their inventions stimulates creativity </a:t>
            </a:r>
          </a:p>
          <a:p>
            <a:r>
              <a:rPr lang="en-US" sz="2400" dirty="0"/>
              <a:t>Society benefits most when inventions in public domain </a:t>
            </a:r>
          </a:p>
          <a:p>
            <a:r>
              <a:rPr lang="en-US" sz="2400" dirty="0"/>
              <a:t>Congress has struck compromise by giving authors and inventors rights for a limited time</a:t>
            </a:r>
          </a:p>
        </p:txBody>
      </p:sp>
    </p:spTree>
    <p:extLst>
      <p:ext uri="{BB962C8B-B14F-4D97-AF65-F5344CB8AC3E}">
        <p14:creationId xmlns:p14="http://schemas.microsoft.com/office/powerpoint/2010/main" val="22103988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DE0CB-BF72-871A-0D8D-F45328229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Prices Fall When Works Become </a:t>
            </a:r>
            <a:br>
              <a:rPr lang="en-US" dirty="0"/>
            </a:br>
            <a:r>
              <a:rPr lang="en-US" dirty="0"/>
              <a:t>Public Domain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B718AA-C574-3FB2-D0BB-C7E6278EB8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1120" y="1828800"/>
            <a:ext cx="8331199" cy="4460240"/>
          </a:xfrm>
        </p:spPr>
      </p:pic>
    </p:spTree>
    <p:extLst>
      <p:ext uri="{BB962C8B-B14F-4D97-AF65-F5344CB8AC3E}">
        <p14:creationId xmlns:p14="http://schemas.microsoft.com/office/powerpoint/2010/main" val="38943310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B51C4-9C41-A59B-5FCC-9B02B1BE4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672" y="2357120"/>
            <a:ext cx="9692640" cy="1325562"/>
          </a:xfrm>
        </p:spPr>
        <p:txBody>
          <a:bodyPr/>
          <a:lstStyle/>
          <a:p>
            <a:r>
              <a:rPr lang="en-US" dirty="0"/>
              <a:t>Protecting Intellectual Property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7440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FFECF-6057-62CD-8396-274198BDC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152" y="284480"/>
            <a:ext cx="9692640" cy="1325562"/>
          </a:xfrm>
        </p:spPr>
        <p:txBody>
          <a:bodyPr/>
          <a:lstStyle/>
          <a:p>
            <a:r>
              <a:rPr lang="en-US" dirty="0"/>
              <a:t>Trade Secret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7CFDF-A901-C107-7303-864E870E8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103120"/>
            <a:ext cx="8595360" cy="4077017"/>
          </a:xfrm>
        </p:spPr>
        <p:txBody>
          <a:bodyPr/>
          <a:lstStyle/>
          <a:p>
            <a:r>
              <a:rPr lang="en-US" sz="2400" dirty="0"/>
              <a:t>Confidential piece of intellectual property that gives company a competitive advantage </a:t>
            </a:r>
          </a:p>
          <a:p>
            <a:r>
              <a:rPr lang="en-US" sz="2400" dirty="0"/>
              <a:t>Never expires </a:t>
            </a:r>
          </a:p>
          <a:p>
            <a:r>
              <a:rPr lang="en-US" sz="2400" dirty="0"/>
              <a:t>Not appropriate for all intellectual properties </a:t>
            </a:r>
          </a:p>
          <a:p>
            <a:r>
              <a:rPr lang="en-US" sz="2400" dirty="0"/>
              <a:t>Reverse engineering allowed </a:t>
            </a:r>
          </a:p>
          <a:p>
            <a:r>
              <a:rPr lang="en-US" sz="2400" dirty="0"/>
              <a:t>May be compromised when employees leave firm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0581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AEFD9-A2F7-E0E7-26D6-BB5E64533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952" y="304800"/>
            <a:ext cx="9692640" cy="1056640"/>
          </a:xfrm>
        </p:spPr>
        <p:txBody>
          <a:bodyPr/>
          <a:lstStyle/>
          <a:p>
            <a:r>
              <a:rPr lang="en-US" dirty="0"/>
              <a:t>Trademark, Service Mark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BF385-C6C4-61E5-028C-E1BA96E33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737360"/>
            <a:ext cx="8595360" cy="4442777"/>
          </a:xfrm>
        </p:spPr>
        <p:txBody>
          <a:bodyPr>
            <a:noAutofit/>
          </a:bodyPr>
          <a:lstStyle/>
          <a:p>
            <a:r>
              <a:rPr lang="en-US" sz="2400" dirty="0"/>
              <a:t>Trademark: Identifies goods </a:t>
            </a:r>
          </a:p>
          <a:p>
            <a:r>
              <a:rPr lang="en-US" sz="2400" dirty="0"/>
              <a:t>Service mark: Identifies services </a:t>
            </a:r>
          </a:p>
          <a:p>
            <a:r>
              <a:rPr lang="en-US" sz="2400" dirty="0"/>
              <a:t>Company can establish a “brand name” </a:t>
            </a:r>
          </a:p>
          <a:p>
            <a:r>
              <a:rPr lang="en-US" sz="2400" dirty="0"/>
              <a:t>Does not expire </a:t>
            </a:r>
          </a:p>
          <a:p>
            <a:r>
              <a:rPr lang="en-US" sz="2400" dirty="0"/>
              <a:t>If brand name becomes common noun, trademark may be lost </a:t>
            </a:r>
          </a:p>
          <a:p>
            <a:r>
              <a:rPr lang="en-US" sz="2400" dirty="0"/>
              <a:t>Companies advertise to protect their trademarks </a:t>
            </a:r>
          </a:p>
          <a:p>
            <a:r>
              <a:rPr lang="en-US" sz="2400" dirty="0"/>
              <a:t>Companies also protect trademarks by contacting those who misuse them</a:t>
            </a:r>
          </a:p>
        </p:txBody>
      </p:sp>
    </p:spTree>
    <p:extLst>
      <p:ext uri="{BB962C8B-B14F-4D97-AF65-F5344CB8AC3E}">
        <p14:creationId xmlns:p14="http://schemas.microsoft.com/office/powerpoint/2010/main" val="4184262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1CB3F3-6806-1B88-80B5-DDA5F48163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5920" y="684371"/>
            <a:ext cx="7853680" cy="5489258"/>
          </a:xfrm>
        </p:spPr>
      </p:pic>
    </p:spTree>
    <p:extLst>
      <p:ext uri="{BB962C8B-B14F-4D97-AF65-F5344CB8AC3E}">
        <p14:creationId xmlns:p14="http://schemas.microsoft.com/office/powerpoint/2010/main" val="24013763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A5248-1BA7-1496-2B0D-F4A5CFBB8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32" y="386080"/>
            <a:ext cx="9692640" cy="1087120"/>
          </a:xfrm>
        </p:spPr>
        <p:txBody>
          <a:bodyPr/>
          <a:lstStyle/>
          <a:p>
            <a:r>
              <a:rPr lang="en-US" dirty="0"/>
              <a:t>Patent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07575-5663-565D-5C7B-50A1C8653B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133600"/>
            <a:ext cx="8595360" cy="4046537"/>
          </a:xfrm>
        </p:spPr>
        <p:txBody>
          <a:bodyPr>
            <a:normAutofit/>
          </a:bodyPr>
          <a:lstStyle/>
          <a:p>
            <a:r>
              <a:rPr lang="en-US" sz="2400" dirty="0"/>
              <a:t>A public document that provides detailed description of invention </a:t>
            </a:r>
          </a:p>
          <a:p>
            <a:r>
              <a:rPr lang="en-US" sz="2400" dirty="0"/>
              <a:t>Provides owner with exclusive right to the invention</a:t>
            </a:r>
          </a:p>
          <a:p>
            <a:r>
              <a:rPr lang="en-US" sz="2400" dirty="0"/>
              <a:t> Owner can prevent others from making, using, or selling invention for 20 years </a:t>
            </a:r>
          </a:p>
        </p:txBody>
      </p:sp>
    </p:spTree>
    <p:extLst>
      <p:ext uri="{BB962C8B-B14F-4D97-AF65-F5344CB8AC3E}">
        <p14:creationId xmlns:p14="http://schemas.microsoft.com/office/powerpoint/2010/main" val="21936805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7A9C4-144C-EE1B-6059-5F53645D8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832" y="274320"/>
            <a:ext cx="9692640" cy="1097280"/>
          </a:xfrm>
        </p:spPr>
        <p:txBody>
          <a:bodyPr/>
          <a:lstStyle/>
          <a:p>
            <a:r>
              <a:rPr lang="en-US" dirty="0"/>
              <a:t>Copyright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2CFD1-A79B-B3D7-E840-C372523B8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666240"/>
            <a:ext cx="8595360" cy="4513897"/>
          </a:xfrm>
        </p:spPr>
        <p:txBody>
          <a:bodyPr>
            <a:normAutofit/>
          </a:bodyPr>
          <a:lstStyle/>
          <a:p>
            <a:r>
              <a:rPr lang="en-US" sz="2400" dirty="0"/>
              <a:t>Provides owner of an original work five rights </a:t>
            </a:r>
          </a:p>
          <a:p>
            <a:pPr marL="274320" lvl="1" indent="0">
              <a:buNone/>
            </a:pPr>
            <a:r>
              <a:rPr lang="en-US" sz="2400" dirty="0"/>
              <a:t>– Reproduction</a:t>
            </a:r>
          </a:p>
          <a:p>
            <a:pPr marL="274320" lvl="1" indent="0">
              <a:buNone/>
            </a:pPr>
            <a:r>
              <a:rPr lang="en-US" sz="2400" dirty="0"/>
              <a:t>– Distribution</a:t>
            </a:r>
          </a:p>
          <a:p>
            <a:pPr marL="274320" lvl="1" indent="0">
              <a:buNone/>
            </a:pPr>
            <a:r>
              <a:rPr lang="en-US" sz="2400" dirty="0"/>
              <a:t>– Public display</a:t>
            </a:r>
          </a:p>
          <a:p>
            <a:pPr marL="274320" lvl="1" indent="0">
              <a:buNone/>
            </a:pPr>
            <a:r>
              <a:rPr lang="en-US" sz="2400" dirty="0"/>
              <a:t>– Public performance </a:t>
            </a:r>
          </a:p>
          <a:p>
            <a:pPr marL="274320" lvl="1" indent="0">
              <a:buNone/>
            </a:pPr>
            <a:r>
              <a:rPr lang="en-US" sz="2400" dirty="0"/>
              <a:t>– Production of derivative works</a:t>
            </a:r>
          </a:p>
          <a:p>
            <a:pPr marL="0" indent="0">
              <a:buNone/>
            </a:pPr>
            <a:r>
              <a:rPr lang="en-US" sz="2400" dirty="0"/>
              <a:t> • Copyright-related industries represent 6% of U.S. gross domestic product (&gt;$900 billion/yr) </a:t>
            </a:r>
          </a:p>
          <a:p>
            <a:pPr marL="0" indent="0">
              <a:buNone/>
            </a:pPr>
            <a:r>
              <a:rPr lang="en-US" sz="2400" dirty="0"/>
              <a:t>• Copyright protection has expanded greatly since 1790</a:t>
            </a:r>
          </a:p>
        </p:txBody>
      </p:sp>
    </p:spTree>
    <p:extLst>
      <p:ext uri="{BB962C8B-B14F-4D97-AF65-F5344CB8AC3E}">
        <p14:creationId xmlns:p14="http://schemas.microsoft.com/office/powerpoint/2010/main" val="13778478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CCC138-9C14-0A78-B0CB-11173AC8E8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5928" y="711200"/>
            <a:ext cx="4685792" cy="5621338"/>
          </a:xfrm>
        </p:spPr>
      </p:pic>
    </p:spTree>
    <p:extLst>
      <p:ext uri="{BB962C8B-B14F-4D97-AF65-F5344CB8AC3E}">
        <p14:creationId xmlns:p14="http://schemas.microsoft.com/office/powerpoint/2010/main" val="35316708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3E3BB-FD58-04C9-A7B6-DCD2BAEB9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832" y="325120"/>
            <a:ext cx="9692640" cy="1219200"/>
          </a:xfrm>
        </p:spPr>
        <p:txBody>
          <a:bodyPr/>
          <a:lstStyle/>
          <a:p>
            <a:r>
              <a:rPr lang="en-US" dirty="0"/>
              <a:t>Key Court Cases and Legislation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0CE39-D882-5A79-A74E-6EA0473AC9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Gershwin Publishing v. Columbia Artists</a:t>
            </a:r>
          </a:p>
          <a:p>
            <a:r>
              <a:rPr lang="en-US" sz="2400" dirty="0"/>
              <a:t>Basic Books v. Kinko’s Graphics </a:t>
            </a:r>
          </a:p>
          <a:p>
            <a:r>
              <a:rPr lang="en-US" sz="2400" dirty="0"/>
              <a:t>Davey Jones Locker </a:t>
            </a:r>
          </a:p>
          <a:p>
            <a:r>
              <a:rPr lang="en-US" sz="2400" dirty="0"/>
              <a:t>No Electronic Theft Act</a:t>
            </a:r>
          </a:p>
        </p:txBody>
      </p:sp>
    </p:spTree>
    <p:extLst>
      <p:ext uri="{BB962C8B-B14F-4D97-AF65-F5344CB8AC3E}">
        <p14:creationId xmlns:p14="http://schemas.microsoft.com/office/powerpoint/2010/main" val="8922097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DD39F-F76B-3AFD-D30C-32F148832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672" y="304800"/>
            <a:ext cx="9692640" cy="1325562"/>
          </a:xfrm>
        </p:spPr>
        <p:txBody>
          <a:bodyPr/>
          <a:lstStyle/>
          <a:p>
            <a:r>
              <a:rPr lang="en-US" dirty="0"/>
              <a:t>Copyright Creep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CA5CE3-7663-116B-EADE-B82DF425E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2063" y="1875500"/>
            <a:ext cx="8594725" cy="4257937"/>
          </a:xfrm>
        </p:spPr>
      </p:pic>
    </p:spTree>
    <p:extLst>
      <p:ext uri="{BB962C8B-B14F-4D97-AF65-F5344CB8AC3E}">
        <p14:creationId xmlns:p14="http://schemas.microsoft.com/office/powerpoint/2010/main" val="13623989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A5CCF-00CA-E337-318A-C037C4544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32" y="325120"/>
            <a:ext cx="9692640" cy="1325562"/>
          </a:xfrm>
        </p:spPr>
        <p:txBody>
          <a:bodyPr/>
          <a:lstStyle/>
          <a:p>
            <a:r>
              <a:rPr lang="en-US" dirty="0"/>
              <a:t>Copyright Creep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AA9F4-E0A0-AEB0-05B3-73DD707C4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Since 1790, protection for books extended from 28 years to 95 years or more </a:t>
            </a:r>
          </a:p>
          <a:p>
            <a:r>
              <a:rPr lang="en-US" sz="2400" dirty="0"/>
              <a:t> Some say latest extension done to prevent Disney characters from becoming public domain </a:t>
            </a:r>
          </a:p>
          <a:p>
            <a:r>
              <a:rPr lang="en-US" sz="2400" dirty="0"/>
              <a:t>Group of petitioners challenged the Copyright Term Extension Act of 1998, arguing Congress exceeded Constitutional power </a:t>
            </a:r>
          </a:p>
          <a:p>
            <a:r>
              <a:rPr lang="en-US" sz="2400" dirty="0"/>
              <a:t>U.S. Supreme Court ruling </a:t>
            </a:r>
          </a:p>
          <a:p>
            <a:pPr marL="274320" lvl="1" indent="0">
              <a:buNone/>
            </a:pPr>
            <a:r>
              <a:rPr lang="en-US" sz="2400" dirty="0"/>
              <a:t>– CTEA does not create perpetual copyrights </a:t>
            </a:r>
          </a:p>
          <a:p>
            <a:pPr marL="274320" lvl="1" indent="0">
              <a:buNone/>
            </a:pPr>
            <a:r>
              <a:rPr lang="en-US" sz="2400" dirty="0"/>
              <a:t>– CTEA is constitutional</a:t>
            </a:r>
          </a:p>
        </p:txBody>
      </p:sp>
    </p:spTree>
    <p:extLst>
      <p:ext uri="{BB962C8B-B14F-4D97-AF65-F5344CB8AC3E}">
        <p14:creationId xmlns:p14="http://schemas.microsoft.com/office/powerpoint/2010/main" val="24355585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C9931-0F90-E5CF-F54E-B5CCAF2F2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632" y="2661920"/>
            <a:ext cx="9692640" cy="1325562"/>
          </a:xfrm>
        </p:spPr>
        <p:txBody>
          <a:bodyPr/>
          <a:lstStyle/>
          <a:p>
            <a:pPr algn="ctr"/>
            <a:r>
              <a:rPr lang="en-US" dirty="0"/>
              <a:t>Fair Use</a:t>
            </a:r>
          </a:p>
        </p:txBody>
      </p:sp>
    </p:spTree>
    <p:extLst>
      <p:ext uri="{BB962C8B-B14F-4D97-AF65-F5344CB8AC3E}">
        <p14:creationId xmlns:p14="http://schemas.microsoft.com/office/powerpoint/2010/main" val="31787375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DDA88-8DED-F28B-579D-E8444CA86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Fair Use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595E0-13B2-B67F-6760-B6CFFFF3B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Sometimes legal to reproduce a copyrighted work without permission </a:t>
            </a:r>
          </a:p>
          <a:p>
            <a:r>
              <a:rPr lang="en-US" sz="2400" dirty="0"/>
              <a:t>Courts consider four factors</a:t>
            </a:r>
          </a:p>
          <a:p>
            <a:pPr marL="274320" lvl="1" indent="0">
              <a:buNone/>
            </a:pPr>
            <a:r>
              <a:rPr lang="en-US" sz="2400" dirty="0"/>
              <a:t>– Purpose and character of use </a:t>
            </a:r>
          </a:p>
          <a:p>
            <a:pPr marL="274320" lvl="1" indent="0">
              <a:buNone/>
            </a:pPr>
            <a:r>
              <a:rPr lang="en-US" sz="2400" dirty="0"/>
              <a:t>– Nature of work </a:t>
            </a:r>
          </a:p>
          <a:p>
            <a:pPr marL="274320" lvl="1" indent="0">
              <a:buNone/>
            </a:pPr>
            <a:r>
              <a:rPr lang="en-US" sz="2400" dirty="0"/>
              <a:t>– Amount of work being copied </a:t>
            </a:r>
          </a:p>
          <a:p>
            <a:pPr marL="274320" lvl="1" indent="0">
              <a:buNone/>
            </a:pPr>
            <a:r>
              <a:rPr lang="en-US" sz="2400" dirty="0"/>
              <a:t>– Affect on market for work</a:t>
            </a:r>
          </a:p>
        </p:txBody>
      </p:sp>
    </p:spTree>
    <p:extLst>
      <p:ext uri="{BB962C8B-B14F-4D97-AF65-F5344CB8AC3E}">
        <p14:creationId xmlns:p14="http://schemas.microsoft.com/office/powerpoint/2010/main" val="17640943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CF0F4-97C9-68F5-A95B-DDCDFCB42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32" y="365760"/>
            <a:ext cx="9692640" cy="1325562"/>
          </a:xfrm>
        </p:spPr>
        <p:txBody>
          <a:bodyPr/>
          <a:lstStyle/>
          <a:p>
            <a:r>
              <a:rPr lang="en-US" dirty="0"/>
              <a:t>Sony v. Universal City Studios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815E2-22C8-9E2D-3CE9-3F2388CC8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082800"/>
            <a:ext cx="8595360" cy="4097337"/>
          </a:xfrm>
        </p:spPr>
        <p:txBody>
          <a:bodyPr>
            <a:normAutofit/>
          </a:bodyPr>
          <a:lstStyle/>
          <a:p>
            <a:r>
              <a:rPr lang="en-US" sz="2400" dirty="0"/>
              <a:t>Sony introduced Betamax VCR (1975) </a:t>
            </a:r>
          </a:p>
          <a:p>
            <a:r>
              <a:rPr lang="en-US" sz="2400" dirty="0"/>
              <a:t>People started time shifting TV shows </a:t>
            </a:r>
          </a:p>
          <a:p>
            <a:r>
              <a:rPr lang="en-US" sz="2400" dirty="0"/>
              <a:t>Movie studios sued Sony for copyright infringements </a:t>
            </a:r>
          </a:p>
          <a:p>
            <a:r>
              <a:rPr lang="en-US" sz="2400" dirty="0"/>
              <a:t>U.S. Supreme Court ruled (5-4) that time shifting is fair use </a:t>
            </a:r>
          </a:p>
        </p:txBody>
      </p:sp>
    </p:spTree>
    <p:extLst>
      <p:ext uri="{BB962C8B-B14F-4D97-AF65-F5344CB8AC3E}">
        <p14:creationId xmlns:p14="http://schemas.microsoft.com/office/powerpoint/2010/main" val="28619832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CACFF-0EF1-F05C-6A30-AA29C298A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312" y="314960"/>
            <a:ext cx="9692640" cy="1325562"/>
          </a:xfrm>
        </p:spPr>
        <p:txBody>
          <a:bodyPr/>
          <a:lstStyle/>
          <a:p>
            <a:r>
              <a:rPr lang="en-US" dirty="0"/>
              <a:t>Time Shifting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2FABEE-5F78-7D91-D0BD-A1512598B1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5926" y="1828800"/>
            <a:ext cx="8166999" cy="4351338"/>
          </a:xfrm>
        </p:spPr>
      </p:pic>
    </p:spTree>
    <p:extLst>
      <p:ext uri="{BB962C8B-B14F-4D97-AF65-F5344CB8AC3E}">
        <p14:creationId xmlns:p14="http://schemas.microsoft.com/office/powerpoint/2010/main" val="9278830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E84B0-DF19-A27F-2929-57D7654E6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32" y="274320"/>
            <a:ext cx="9692640" cy="1325562"/>
          </a:xfrm>
        </p:spPr>
        <p:txBody>
          <a:bodyPr/>
          <a:lstStyle/>
          <a:p>
            <a:r>
              <a:rPr lang="en-US" dirty="0"/>
              <a:t>Digital Recording Technology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132AC-797B-BAEB-AFCA-91663B1F0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Copying from vinyl records to cassette tapes introduced hiss and distortions </a:t>
            </a:r>
          </a:p>
          <a:p>
            <a:r>
              <a:rPr lang="en-US" sz="2400" dirty="0"/>
              <a:t>Introduction of compact disc a boon for music industry </a:t>
            </a:r>
          </a:p>
          <a:p>
            <a:pPr marL="274320" lvl="1" indent="0">
              <a:buNone/>
            </a:pPr>
            <a:r>
              <a:rPr lang="en-US" sz="2400" dirty="0"/>
              <a:t>– Cheaper to produce than vinyl records </a:t>
            </a:r>
          </a:p>
          <a:p>
            <a:pPr marL="274320" lvl="1" indent="0">
              <a:buNone/>
            </a:pPr>
            <a:r>
              <a:rPr lang="en-US" sz="2400" dirty="0"/>
              <a:t>– Higher quality </a:t>
            </a:r>
          </a:p>
          <a:p>
            <a:pPr marL="274320" lvl="1" indent="0">
              <a:buNone/>
            </a:pPr>
            <a:r>
              <a:rPr lang="en-US" sz="2400" dirty="0"/>
              <a:t>– Higher price ⇒ higher profits </a:t>
            </a:r>
          </a:p>
          <a:p>
            <a:r>
              <a:rPr lang="en-US" sz="2400" dirty="0"/>
              <a:t>BUT it’s possible to make a perfect copy of a CD</a:t>
            </a:r>
          </a:p>
        </p:txBody>
      </p:sp>
    </p:spTree>
    <p:extLst>
      <p:ext uri="{BB962C8B-B14F-4D97-AF65-F5344CB8AC3E}">
        <p14:creationId xmlns:p14="http://schemas.microsoft.com/office/powerpoint/2010/main" val="4723857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B4996-8008-4028-9686-E4F246F79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32" y="335280"/>
            <a:ext cx="9692640" cy="1325562"/>
          </a:xfrm>
        </p:spPr>
        <p:txBody>
          <a:bodyPr/>
          <a:lstStyle/>
          <a:p>
            <a:r>
              <a:rPr lang="en-US" dirty="0"/>
              <a:t>Audio Home Recording Act of 1992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CA02D-D19D-759F-9C2C-6DE82657B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99920"/>
            <a:ext cx="8595360" cy="4280217"/>
          </a:xfrm>
        </p:spPr>
        <p:txBody>
          <a:bodyPr>
            <a:normAutofit/>
          </a:bodyPr>
          <a:lstStyle/>
          <a:p>
            <a:r>
              <a:rPr lang="en-US" sz="2400" dirty="0"/>
              <a:t>Protects rights of consumers to make copies of analog or digital recordings for personal, noncommercial use</a:t>
            </a:r>
          </a:p>
          <a:p>
            <a:pPr marL="548640" lvl="2" indent="0">
              <a:buNone/>
            </a:pPr>
            <a:r>
              <a:rPr lang="en-US" sz="2400" dirty="0"/>
              <a:t>– Backup copy </a:t>
            </a:r>
          </a:p>
          <a:p>
            <a:pPr marL="548640" lvl="2" indent="0">
              <a:buNone/>
            </a:pPr>
            <a:r>
              <a:rPr lang="en-US" sz="2400" dirty="0"/>
              <a:t>– Give to family member</a:t>
            </a:r>
          </a:p>
          <a:p>
            <a:pPr lvl="1"/>
            <a:r>
              <a:rPr lang="en-US" sz="2400" dirty="0"/>
              <a:t>Digital audio recorders must incorporate Serial Copyright Management System (SCMS), so consumers can’t make a copy of a copy</a:t>
            </a:r>
          </a:p>
        </p:txBody>
      </p:sp>
    </p:spTree>
    <p:extLst>
      <p:ext uri="{BB962C8B-B14F-4D97-AF65-F5344CB8AC3E}">
        <p14:creationId xmlns:p14="http://schemas.microsoft.com/office/powerpoint/2010/main" val="35686105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FC065-8E28-D17F-2F41-F609B7B5D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312" y="314960"/>
            <a:ext cx="9692640" cy="1066800"/>
          </a:xfrm>
        </p:spPr>
        <p:txBody>
          <a:bodyPr/>
          <a:lstStyle/>
          <a:p>
            <a:r>
              <a:rPr lang="en-US" dirty="0"/>
              <a:t>RIAA v. Diamond Multimedia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C6794-3A0B-62E5-28A3-FE8811799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MP3 compression allowed songs to be stored in 10% of the space, with little degradation </a:t>
            </a:r>
          </a:p>
          <a:p>
            <a:r>
              <a:rPr lang="en-US" sz="2400" dirty="0"/>
              <a:t>Diamond introduced Rio MP3 player (1998) </a:t>
            </a:r>
          </a:p>
          <a:p>
            <a:r>
              <a:rPr lang="en-US" sz="2400" dirty="0"/>
              <a:t> People started space shifting their music </a:t>
            </a:r>
          </a:p>
          <a:p>
            <a:r>
              <a:rPr lang="en-US" sz="2400" dirty="0"/>
              <a:t>RIAA started legal action against Diamond for violation of the Audio Home Recording Act </a:t>
            </a:r>
          </a:p>
          <a:p>
            <a:r>
              <a:rPr lang="en-US" sz="2400" dirty="0"/>
              <a:t>U.S. Court of Appeals, 9th Circuit, affirmed that space shifting is consistent with copyright law</a:t>
            </a:r>
          </a:p>
        </p:txBody>
      </p:sp>
    </p:spTree>
    <p:extLst>
      <p:ext uri="{BB962C8B-B14F-4D97-AF65-F5344CB8AC3E}">
        <p14:creationId xmlns:p14="http://schemas.microsoft.com/office/powerpoint/2010/main" val="11969976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BC02D-2316-6653-83C1-A6F1D7E0B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32" y="274320"/>
            <a:ext cx="9692640" cy="1239520"/>
          </a:xfrm>
        </p:spPr>
        <p:txBody>
          <a:bodyPr/>
          <a:lstStyle/>
          <a:p>
            <a:r>
              <a:rPr lang="en-US" dirty="0"/>
              <a:t>Space Shifting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F1E07C-26FF-CBA3-18D5-9E6DA3DE68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3207" y="1798320"/>
            <a:ext cx="7405716" cy="4351338"/>
          </a:xfrm>
        </p:spPr>
      </p:pic>
    </p:spTree>
    <p:extLst>
      <p:ext uri="{BB962C8B-B14F-4D97-AF65-F5344CB8AC3E}">
        <p14:creationId xmlns:p14="http://schemas.microsoft.com/office/powerpoint/2010/main" val="24738335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BF414-AA3E-8D97-019F-C6D73C18E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432" y="335280"/>
            <a:ext cx="9692640" cy="1300480"/>
          </a:xfrm>
        </p:spPr>
        <p:txBody>
          <a:bodyPr/>
          <a:lstStyle/>
          <a:p>
            <a:r>
              <a:rPr lang="en-US" dirty="0"/>
              <a:t>Kelly v. Arriba Soft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DD28B-90AE-9E26-FE25-6ECED55F1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930400"/>
            <a:ext cx="8595360" cy="4249737"/>
          </a:xfrm>
        </p:spPr>
        <p:txBody>
          <a:bodyPr>
            <a:normAutofit/>
          </a:bodyPr>
          <a:lstStyle/>
          <a:p>
            <a:r>
              <a:rPr lang="en-US" sz="2400" dirty="0"/>
              <a:t>Kelly: Photographer maintained Web site with copyrighted photos </a:t>
            </a:r>
          </a:p>
          <a:p>
            <a:r>
              <a:rPr lang="en-US" sz="2400" dirty="0"/>
              <a:t>Arriba Soft: Created search engine that returned thumbnail images </a:t>
            </a:r>
          </a:p>
          <a:p>
            <a:r>
              <a:rPr lang="en-US" sz="2400" dirty="0"/>
              <a:t>Kelly sued Arriba Soft for copyright infringement </a:t>
            </a:r>
          </a:p>
          <a:p>
            <a:r>
              <a:rPr lang="en-US" sz="2400" dirty="0"/>
              <a:t>U.S. Court of Appeals, 9th Circuit, affirmed that it was fair use</a:t>
            </a:r>
          </a:p>
        </p:txBody>
      </p:sp>
    </p:spTree>
    <p:extLst>
      <p:ext uri="{BB962C8B-B14F-4D97-AF65-F5344CB8AC3E}">
        <p14:creationId xmlns:p14="http://schemas.microsoft.com/office/powerpoint/2010/main" val="26415920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06C33-BB8B-5C41-7553-7F45F6E73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112" y="284480"/>
            <a:ext cx="9692640" cy="1325562"/>
          </a:xfrm>
        </p:spPr>
        <p:txBody>
          <a:bodyPr/>
          <a:lstStyle/>
          <a:p>
            <a:r>
              <a:rPr lang="en-US" dirty="0"/>
              <a:t>Google Books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FEA46-0BFC-200C-08DC-AE8747EE8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Google announced plan to scan millions of books held by several huge libraries, creating searchable database of all words </a:t>
            </a:r>
          </a:p>
          <a:p>
            <a:r>
              <a:rPr lang="en-US" sz="2400" dirty="0"/>
              <a:t>If public domain book, system returns PDF </a:t>
            </a:r>
          </a:p>
          <a:p>
            <a:r>
              <a:rPr lang="en-US" sz="2400" dirty="0"/>
              <a:t>If under copyright, user can see a few sentences; system provides links to libraries and online booksellers </a:t>
            </a:r>
          </a:p>
          <a:p>
            <a:r>
              <a:rPr lang="en-US" sz="2400" dirty="0"/>
              <a:t>Authors Guild and publishers sued Google for copyright infringement (copying books for commercial reasons) </a:t>
            </a:r>
          </a:p>
          <a:p>
            <a:r>
              <a:rPr lang="en-US" sz="2400" dirty="0"/>
              <a:t> Out-of-court settlement reached</a:t>
            </a:r>
          </a:p>
        </p:txBody>
      </p:sp>
    </p:spTree>
    <p:extLst>
      <p:ext uri="{BB962C8B-B14F-4D97-AF65-F5344CB8AC3E}">
        <p14:creationId xmlns:p14="http://schemas.microsoft.com/office/powerpoint/2010/main" val="25097567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DF739-EC3E-E4BD-D3C3-F89F0AC6C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712" y="233680"/>
            <a:ext cx="9692640" cy="1076960"/>
          </a:xfrm>
        </p:spPr>
        <p:txBody>
          <a:bodyPr/>
          <a:lstStyle/>
          <a:p>
            <a:r>
              <a:rPr lang="en-US" dirty="0"/>
              <a:t>Benefits of Proposed Settlement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BF5D2-685A-F684-9976-F4EB1A35F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727200"/>
            <a:ext cx="8595360" cy="4452937"/>
          </a:xfrm>
        </p:spPr>
        <p:txBody>
          <a:bodyPr>
            <a:noAutofit/>
          </a:bodyPr>
          <a:lstStyle/>
          <a:p>
            <a:r>
              <a:rPr lang="en-US" sz="2400" dirty="0"/>
              <a:t>Google would pay $125 million to resolve legal claims of authors and publishers and establish Book Rights Registry </a:t>
            </a:r>
          </a:p>
          <a:p>
            <a:r>
              <a:rPr lang="en-US" sz="2400" dirty="0"/>
              <a:t>Readers would have much easier access to out-of-print books at U.S. public libraries and university libraries </a:t>
            </a:r>
          </a:p>
          <a:p>
            <a:r>
              <a:rPr lang="en-US" sz="2400" dirty="0"/>
              <a:t>University libraries could purchase subscriptions giving their students access to collections of some of world’s greatest libraries </a:t>
            </a:r>
          </a:p>
          <a:p>
            <a:r>
              <a:rPr lang="en-US" sz="2400" dirty="0"/>
              <a:t>Authors and publishers would receive payments earned from online access of their books, plus share of advertising revenues</a:t>
            </a:r>
          </a:p>
        </p:txBody>
      </p:sp>
    </p:spTree>
    <p:extLst>
      <p:ext uri="{BB962C8B-B14F-4D97-AF65-F5344CB8AC3E}">
        <p14:creationId xmlns:p14="http://schemas.microsoft.com/office/powerpoint/2010/main" val="24112313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72682-A18F-6EDC-74A1-016CD663F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992" y="335280"/>
            <a:ext cx="9692640" cy="1056640"/>
          </a:xfrm>
        </p:spPr>
        <p:txBody>
          <a:bodyPr/>
          <a:lstStyle/>
          <a:p>
            <a:r>
              <a:rPr lang="en-US" dirty="0"/>
              <a:t>Criticisms of Proposed Settlement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38475-E435-67B6-0997-0357AEBF4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Google should have gone to court </a:t>
            </a:r>
          </a:p>
          <a:p>
            <a:pPr marL="274320" lvl="1" indent="0">
              <a:buNone/>
            </a:pPr>
            <a:r>
              <a:rPr lang="en-US" sz="2400" dirty="0"/>
              <a:t>– Google had a good case that its use was a fair use, based on precedent of Kelly v. Arriba Soft</a:t>
            </a:r>
          </a:p>
          <a:p>
            <a:pPr marL="274320" lvl="1" indent="0">
              <a:buNone/>
            </a:pPr>
            <a:r>
              <a:rPr lang="en-US" sz="2400" dirty="0"/>
              <a:t>– If Google had been found not guilty of copyright infringement, it could have given public access to books at lower rates </a:t>
            </a:r>
          </a:p>
          <a:p>
            <a:pPr marL="0" indent="0">
              <a:buNone/>
            </a:pPr>
            <a:r>
              <a:rPr lang="en-US" sz="2400" dirty="0"/>
              <a:t>• Agreement gives Google a virtual monopoly over orphaned works </a:t>
            </a:r>
          </a:p>
          <a:p>
            <a:pPr marL="0" indent="0">
              <a:buNone/>
            </a:pPr>
            <a:r>
              <a:rPr lang="en-US" sz="2400" dirty="0"/>
              <a:t>• Potential chilling effect of Google tracking the pages that people are viewing</a:t>
            </a:r>
          </a:p>
        </p:txBody>
      </p:sp>
    </p:spTree>
    <p:extLst>
      <p:ext uri="{BB962C8B-B14F-4D97-AF65-F5344CB8AC3E}">
        <p14:creationId xmlns:p14="http://schemas.microsoft.com/office/powerpoint/2010/main" val="42008361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EE464-5456-FDD1-94C1-5E13B4A0F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314960"/>
            <a:ext cx="9692640" cy="1325562"/>
          </a:xfrm>
        </p:spPr>
        <p:txBody>
          <a:bodyPr/>
          <a:lstStyle/>
          <a:p>
            <a:r>
              <a:rPr lang="en-US" dirty="0"/>
              <a:t>Court Rejects Proposed Settlement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32F62-84A9-5668-5FCA-8CF1139C5C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082800"/>
            <a:ext cx="8595360" cy="4097337"/>
          </a:xfrm>
        </p:spPr>
        <p:txBody>
          <a:bodyPr>
            <a:normAutofit/>
          </a:bodyPr>
          <a:lstStyle/>
          <a:p>
            <a:r>
              <a:rPr lang="en-US" sz="2400" dirty="0"/>
              <a:t>March 2011: U.S. District Court for Southern District of New York rejected proposed settlement </a:t>
            </a:r>
          </a:p>
          <a:p>
            <a:r>
              <a:rPr lang="en-US" sz="2400" dirty="0"/>
              <a:t>Judge ruled agreement would have:</a:t>
            </a:r>
          </a:p>
          <a:p>
            <a:pPr marL="274320" lvl="1" indent="0">
              <a:buNone/>
            </a:pPr>
            <a:r>
              <a:rPr lang="en-US" sz="2400" dirty="0"/>
              <a:t> – Given Google significant advantage over competitors</a:t>
            </a:r>
          </a:p>
          <a:p>
            <a:pPr marL="274320" lvl="1" indent="0">
              <a:buNone/>
            </a:pPr>
            <a:r>
              <a:rPr lang="en-US" sz="2400" dirty="0"/>
              <a:t> – Rewarded Google for “wholesale copying of copyrighted words without permission”</a:t>
            </a:r>
          </a:p>
          <a:p>
            <a:pPr marL="274320" lvl="1" indent="0">
              <a:buNone/>
            </a:pPr>
            <a:r>
              <a:rPr lang="en-US" sz="2400" dirty="0"/>
              <a:t> – Given Google liberal rights over orphaned works</a:t>
            </a:r>
          </a:p>
        </p:txBody>
      </p:sp>
    </p:spTree>
    <p:extLst>
      <p:ext uri="{BB962C8B-B14F-4D97-AF65-F5344CB8AC3E}">
        <p14:creationId xmlns:p14="http://schemas.microsoft.com/office/powerpoint/2010/main" val="18626417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8C0A6-6C3F-F0F7-10B0-506C3D219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7552" y="2672080"/>
            <a:ext cx="9692640" cy="1325562"/>
          </a:xfrm>
        </p:spPr>
        <p:txBody>
          <a:bodyPr/>
          <a:lstStyle/>
          <a:p>
            <a:pPr algn="ctr"/>
            <a:r>
              <a:rPr lang="en-US" dirty="0"/>
              <a:t>End of Lecture</a:t>
            </a:r>
          </a:p>
        </p:txBody>
      </p:sp>
    </p:spTree>
    <p:extLst>
      <p:ext uri="{BB962C8B-B14F-4D97-AF65-F5344CB8AC3E}">
        <p14:creationId xmlns:p14="http://schemas.microsoft.com/office/powerpoint/2010/main" val="1429924545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1757</TotalTime>
  <Words>1313</Words>
  <Application>Microsoft Office PowerPoint</Application>
  <PresentationFormat>Widescreen</PresentationFormat>
  <Paragraphs>161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Arial</vt:lpstr>
      <vt:lpstr>Century Schoolbook</vt:lpstr>
      <vt:lpstr>Wingdings 2</vt:lpstr>
      <vt:lpstr>View</vt:lpstr>
      <vt:lpstr>CSC410 - Professional Practices in IT</vt:lpstr>
      <vt:lpstr>Today Topics</vt:lpstr>
      <vt:lpstr>Chapter 4:  Intellectual Property</vt:lpstr>
      <vt:lpstr>Information Technology Changing Intellectual Property Landscape</vt:lpstr>
      <vt:lpstr>Reproduced by permission of  Electronic Frontier Foundation via  Creative Commons Attribution  License 3.0. Go to www.eff.org/ copyright for redistribution  information. To access the original  work, go to w2.eff.org/IP/P2P/? f=music-to-our-ears.html  </vt:lpstr>
      <vt:lpstr> Intellectual Property Rights</vt:lpstr>
      <vt:lpstr>What Is Intellectual Property?</vt:lpstr>
      <vt:lpstr>Property Rights</vt:lpstr>
      <vt:lpstr>Locke’s Notion of Property Rights</vt:lpstr>
      <vt:lpstr>Expanding the Argument to  Intellectual Property</vt:lpstr>
      <vt:lpstr>Analogy Is Imperfect</vt:lpstr>
      <vt:lpstr>Analogy Is Imperfect</vt:lpstr>
      <vt:lpstr>Benefits of Intellectual Property  Protection</vt:lpstr>
      <vt:lpstr>Limits to Intellectual Property Protection</vt:lpstr>
      <vt:lpstr>Prices Fall When Works Become  Public Domain</vt:lpstr>
      <vt:lpstr>Protecting Intellectual Property </vt:lpstr>
      <vt:lpstr>Trade Secret</vt:lpstr>
      <vt:lpstr>Trademark, Service Mark</vt:lpstr>
      <vt:lpstr>PowerPoint Presentation</vt:lpstr>
      <vt:lpstr>Patent </vt:lpstr>
      <vt:lpstr>Copyright</vt:lpstr>
      <vt:lpstr>PowerPoint Presentation</vt:lpstr>
      <vt:lpstr>Key Court Cases and Legislation</vt:lpstr>
      <vt:lpstr>Copyright Creep</vt:lpstr>
      <vt:lpstr>Copyright Creep</vt:lpstr>
      <vt:lpstr>Fair Use</vt:lpstr>
      <vt:lpstr>Fair Use Concept</vt:lpstr>
      <vt:lpstr>Sony v. Universal City Studios</vt:lpstr>
      <vt:lpstr>Time Shifting</vt:lpstr>
      <vt:lpstr>Digital Recording Technology</vt:lpstr>
      <vt:lpstr>Audio Home Recording Act of 1992</vt:lpstr>
      <vt:lpstr>RIAA v. Diamond Multimedia</vt:lpstr>
      <vt:lpstr>Space Shifting</vt:lpstr>
      <vt:lpstr>Kelly v. Arriba Soft</vt:lpstr>
      <vt:lpstr>Google Books</vt:lpstr>
      <vt:lpstr>Benefits of Proposed Settlement</vt:lpstr>
      <vt:lpstr>Criticisms of Proposed Settlement</vt:lpstr>
      <vt:lpstr>Court Rejects Proposed Settlement</vt:lpstr>
      <vt:lpstr>End of Lecture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DELL7490</dc:creator>
  <cp:lastModifiedBy>DELL7490</cp:lastModifiedBy>
  <cp:revision>128</cp:revision>
  <dcterms:created xsi:type="dcterms:W3CDTF">2024-09-16T10:53:45Z</dcterms:created>
  <dcterms:modified xsi:type="dcterms:W3CDTF">2024-09-27T04:36:29Z</dcterms:modified>
</cp:coreProperties>
</file>