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98" r:id="rId3"/>
    <p:sldId id="319" r:id="rId4"/>
    <p:sldId id="320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6" r:id="rId26"/>
    <p:sldId id="377" r:id="rId27"/>
    <p:sldId id="378" r:id="rId28"/>
    <p:sldId id="379" r:id="rId29"/>
    <p:sldId id="380" r:id="rId30"/>
    <p:sldId id="31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2901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50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7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9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2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2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A1C1-E1A9-A98F-18CB-E9EDC72B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668256" cy="4041648"/>
          </a:xfrm>
        </p:spPr>
        <p:txBody>
          <a:bodyPr/>
          <a:lstStyle/>
          <a:p>
            <a:r>
              <a:rPr lang="en-US" dirty="0"/>
              <a:t>CSC410 - Professional Practices in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DF856-3239-C04C-F37F-C5B31B0C1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Instructor Name :  Sidra Nasir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38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D64A-21CE-44F3-C623-B533E9F7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738B-C6E7-F94E-3D66-5CB720490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55520"/>
            <a:ext cx="8595360" cy="3924617"/>
          </a:xfrm>
        </p:spPr>
        <p:txBody>
          <a:bodyPr/>
          <a:lstStyle/>
          <a:p>
            <a:r>
              <a:rPr lang="en-US" sz="2400" dirty="0"/>
              <a:t>New Restrictions on Use</a:t>
            </a:r>
          </a:p>
          <a:p>
            <a:r>
              <a:rPr lang="en-US" sz="2400" dirty="0"/>
              <a:t>Peer-to-Peer Networks and </a:t>
            </a:r>
            <a:r>
              <a:rPr lang="en-US" sz="2400"/>
              <a:t>Cyberlockers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8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3E1F-029E-4732-F438-448F6B99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592" y="222504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New Restrictions on Use</a:t>
            </a:r>
          </a:p>
        </p:txBody>
      </p:sp>
    </p:spTree>
    <p:extLst>
      <p:ext uri="{BB962C8B-B14F-4D97-AF65-F5344CB8AC3E}">
        <p14:creationId xmlns:p14="http://schemas.microsoft.com/office/powerpoint/2010/main" val="273139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A7CB-2194-B9BC-132B-9BE5FBC9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472" y="396240"/>
            <a:ext cx="9692640" cy="853440"/>
          </a:xfrm>
        </p:spPr>
        <p:txBody>
          <a:bodyPr/>
          <a:lstStyle/>
          <a:p>
            <a:r>
              <a:rPr lang="en-US" dirty="0"/>
              <a:t>Counterfeit CDs = Lost Profits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245D07-5A7B-A2A4-3A48-7255A0475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4754" y="1452245"/>
            <a:ext cx="6536914" cy="4704715"/>
          </a:xfrm>
        </p:spPr>
      </p:pic>
    </p:spTree>
    <p:extLst>
      <p:ext uri="{BB962C8B-B14F-4D97-AF65-F5344CB8AC3E}">
        <p14:creationId xmlns:p14="http://schemas.microsoft.com/office/powerpoint/2010/main" val="325509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8222-7DB4-756C-322A-034281DE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2" y="284480"/>
            <a:ext cx="9692640" cy="1026160"/>
          </a:xfrm>
        </p:spPr>
        <p:txBody>
          <a:bodyPr/>
          <a:lstStyle/>
          <a:p>
            <a:r>
              <a:rPr lang="en-US" dirty="0"/>
              <a:t>Digital Millennium Copyright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3268-D23B-9A85-AB43-8FC70E328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37360"/>
            <a:ext cx="8595360" cy="4442777"/>
          </a:xfrm>
        </p:spPr>
        <p:txBody>
          <a:bodyPr>
            <a:normAutofit/>
          </a:bodyPr>
          <a:lstStyle/>
          <a:p>
            <a:r>
              <a:rPr lang="en-US" sz="2400" dirty="0"/>
              <a:t>First big revision of copyright law since 1976 </a:t>
            </a:r>
          </a:p>
          <a:p>
            <a:r>
              <a:rPr lang="en-US" sz="2400" dirty="0"/>
              <a:t>Brought U.S. into compliance with Europe •</a:t>
            </a:r>
          </a:p>
          <a:p>
            <a:r>
              <a:rPr lang="en-US" sz="2400" dirty="0"/>
              <a:t>Extended length of copyright </a:t>
            </a:r>
          </a:p>
          <a:p>
            <a:r>
              <a:rPr lang="en-US" sz="2400" dirty="0"/>
              <a:t>Extended copyright protection to music broadcast over Internet </a:t>
            </a:r>
          </a:p>
          <a:p>
            <a:r>
              <a:rPr lang="en-US" sz="2400" dirty="0"/>
              <a:t>Made it illegal for anyone to </a:t>
            </a:r>
          </a:p>
          <a:p>
            <a:pPr marL="274320" lvl="1" indent="0">
              <a:buNone/>
            </a:pPr>
            <a:r>
              <a:rPr lang="en-US" sz="2200" dirty="0"/>
              <a:t>– </a:t>
            </a:r>
            <a:r>
              <a:rPr lang="en-US" sz="2400" dirty="0"/>
              <a:t>Circumvent encryption schemes placed on digital media </a:t>
            </a:r>
          </a:p>
          <a:p>
            <a:pPr marL="274320" lvl="1" indent="0">
              <a:buNone/>
            </a:pPr>
            <a:r>
              <a:rPr lang="en-US" sz="2400" dirty="0"/>
              <a:t>– Circumvent copy controls, even for fair use purposes </a:t>
            </a:r>
          </a:p>
        </p:txBody>
      </p:sp>
    </p:spTree>
    <p:extLst>
      <p:ext uri="{BB962C8B-B14F-4D97-AF65-F5344CB8AC3E}">
        <p14:creationId xmlns:p14="http://schemas.microsoft.com/office/powerpoint/2010/main" val="150172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3976-89CC-49FA-AEA3-99DE4C75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26160"/>
          </a:xfrm>
        </p:spPr>
        <p:txBody>
          <a:bodyPr/>
          <a:lstStyle/>
          <a:p>
            <a:r>
              <a:rPr lang="en-US" dirty="0"/>
              <a:t>Digital Rights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10D7-FC9D-B327-AE21-4A9C2BB6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Actions owners of intellectual property in digital form take to protect their rights </a:t>
            </a:r>
          </a:p>
          <a:p>
            <a:r>
              <a:rPr lang="en-US" sz="2400" dirty="0"/>
              <a:t>Approaches </a:t>
            </a:r>
          </a:p>
          <a:p>
            <a:pPr marL="0" indent="0">
              <a:buNone/>
            </a:pPr>
            <a:r>
              <a:rPr lang="en-US" sz="2400" dirty="0"/>
              <a:t>– Encrypt digital content</a:t>
            </a:r>
          </a:p>
          <a:p>
            <a:pPr marL="0" indent="0">
              <a:buNone/>
            </a:pPr>
            <a:r>
              <a:rPr lang="en-US" sz="2400" dirty="0"/>
              <a:t> – Mark digital content so devices can recognize content as copy-protected</a:t>
            </a:r>
          </a:p>
        </p:txBody>
      </p:sp>
    </p:spTree>
    <p:extLst>
      <p:ext uri="{BB962C8B-B14F-4D97-AF65-F5344CB8AC3E}">
        <p14:creationId xmlns:p14="http://schemas.microsoft.com/office/powerpoint/2010/main" val="154435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0C4D-130D-4180-F3F0-74711DA4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2" y="235903"/>
            <a:ext cx="9692640" cy="883920"/>
          </a:xfrm>
        </p:spPr>
        <p:txBody>
          <a:bodyPr/>
          <a:lstStyle/>
          <a:p>
            <a:r>
              <a:rPr lang="en-US" dirty="0"/>
              <a:t>Secure Digital Music Initiative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D0384-0B91-F416-44BD-809F3C93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112" y="1422400"/>
            <a:ext cx="8595360" cy="4351337"/>
          </a:xfrm>
        </p:spPr>
        <p:txBody>
          <a:bodyPr>
            <a:noAutofit/>
          </a:bodyPr>
          <a:lstStyle/>
          <a:p>
            <a:r>
              <a:rPr lang="en-US" sz="2400" dirty="0"/>
              <a:t>Goals </a:t>
            </a:r>
          </a:p>
          <a:p>
            <a:pPr marL="274320" lvl="1" indent="0">
              <a:buNone/>
            </a:pPr>
            <a:r>
              <a:rPr lang="en-US" sz="2400" dirty="0"/>
              <a:t>– Create copy-protected CDs </a:t>
            </a:r>
          </a:p>
          <a:p>
            <a:pPr marL="274320" lvl="1" indent="0">
              <a:buNone/>
            </a:pPr>
            <a:r>
              <a:rPr lang="en-US" sz="2400" dirty="0"/>
              <a:t>– Secure digital music downloads </a:t>
            </a:r>
          </a:p>
          <a:p>
            <a:r>
              <a:rPr lang="en-US" sz="2400" dirty="0"/>
              <a:t>Consortium of 200 companies developed “digital watermarking” scheme </a:t>
            </a:r>
          </a:p>
          <a:p>
            <a:r>
              <a:rPr lang="en-US" sz="2400" dirty="0"/>
              <a:t>Failed </a:t>
            </a:r>
          </a:p>
          <a:p>
            <a:pPr marL="274320" lvl="1" indent="0">
              <a:buNone/>
            </a:pPr>
            <a:r>
              <a:rPr lang="en-US" sz="2400" dirty="0"/>
              <a:t>– Internet copying became huge before SDMI ready </a:t>
            </a:r>
          </a:p>
          <a:p>
            <a:pPr marL="274320" lvl="1" indent="0">
              <a:buNone/>
            </a:pPr>
            <a:r>
              <a:rPr lang="en-US" sz="2400" dirty="0"/>
              <a:t>– Some SDMI sponsors were electronics companies </a:t>
            </a:r>
          </a:p>
          <a:p>
            <a:pPr marL="274320" lvl="1" indent="0">
              <a:buNone/>
            </a:pPr>
            <a:r>
              <a:rPr lang="en-US" sz="2400" dirty="0"/>
              <a:t>– Digital watermarking encryption cracked</a:t>
            </a:r>
          </a:p>
        </p:txBody>
      </p:sp>
    </p:spTree>
    <p:extLst>
      <p:ext uri="{BB962C8B-B14F-4D97-AF65-F5344CB8AC3E}">
        <p14:creationId xmlns:p14="http://schemas.microsoft.com/office/powerpoint/2010/main" val="222596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946A-D9BE-2CF1-4822-F31BC0DF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75920"/>
            <a:ext cx="9692640" cy="741680"/>
          </a:xfrm>
        </p:spPr>
        <p:txBody>
          <a:bodyPr>
            <a:normAutofit fontScale="90000"/>
          </a:bodyPr>
          <a:lstStyle/>
          <a:p>
            <a:r>
              <a:rPr lang="en-US" dirty="0"/>
              <a:t>Sony BMG Music Entertainment Rootkit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B8DD-8E11-5FD2-9DFF-EFD8AAA8E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371600"/>
            <a:ext cx="8595360" cy="5110480"/>
          </a:xfrm>
        </p:spPr>
        <p:txBody>
          <a:bodyPr>
            <a:noAutofit/>
          </a:bodyPr>
          <a:lstStyle/>
          <a:p>
            <a:r>
              <a:rPr lang="en-US" sz="2400" dirty="0"/>
              <a:t>Millions of audio CDs shipped with Extended Copy Protection, a DRM(Digital Rights Management) system </a:t>
            </a:r>
          </a:p>
          <a:p>
            <a:r>
              <a:rPr lang="en-US" sz="2400" dirty="0"/>
              <a:t> Prevented users from </a:t>
            </a:r>
          </a:p>
          <a:p>
            <a:pPr marL="274320" lvl="1" indent="0">
              <a:buNone/>
            </a:pPr>
            <a:r>
              <a:rPr lang="en-US" sz="2400" dirty="0"/>
              <a:t>– Ripping audio tracks into MP3 format </a:t>
            </a:r>
          </a:p>
          <a:p>
            <a:pPr marL="274320" lvl="1" indent="0">
              <a:buNone/>
            </a:pPr>
            <a:r>
              <a:rPr lang="en-US" sz="2400" dirty="0"/>
              <a:t>– Making more than 3 backup copies </a:t>
            </a:r>
          </a:p>
          <a:p>
            <a:r>
              <a:rPr lang="en-US" sz="2400" dirty="0"/>
              <a:t> Relied upon Windows “rootkit” that hid files and processes; usually only hackers use rootkits </a:t>
            </a:r>
          </a:p>
          <a:p>
            <a:r>
              <a:rPr lang="en-US" sz="2400" dirty="0"/>
              <a:t>Huge public outcry once secret uncovered </a:t>
            </a:r>
          </a:p>
          <a:p>
            <a:r>
              <a:rPr lang="en-US" sz="2400" dirty="0"/>
              <a:t> Sony BMG stopped production and compensated consumers</a:t>
            </a:r>
          </a:p>
        </p:txBody>
      </p:sp>
    </p:spTree>
    <p:extLst>
      <p:ext uri="{BB962C8B-B14F-4D97-AF65-F5344CB8AC3E}">
        <p14:creationId xmlns:p14="http://schemas.microsoft.com/office/powerpoint/2010/main" val="309478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76F8-342C-C1D9-3FC0-CF3FB9EBF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" y="436880"/>
            <a:ext cx="9692640" cy="883920"/>
          </a:xfrm>
        </p:spPr>
        <p:txBody>
          <a:bodyPr/>
          <a:lstStyle/>
          <a:p>
            <a:r>
              <a:rPr lang="en-US" dirty="0"/>
              <a:t>Encrypting DVDs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4ADDB-D6E5-234B-35D9-F1A886DB7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Contents of DVDs encrypted using Content Scramble System (CSS) </a:t>
            </a:r>
          </a:p>
          <a:p>
            <a:r>
              <a:rPr lang="en-US" sz="2400" dirty="0"/>
              <a:t>Need decryption keys to view a DVD </a:t>
            </a:r>
          </a:p>
          <a:p>
            <a:r>
              <a:rPr lang="en-US" sz="2400" dirty="0"/>
              <a:t>Jon Johansen wrote a decryption program for Linux </a:t>
            </a:r>
          </a:p>
          <a:p>
            <a:r>
              <a:rPr lang="en-US" sz="2400" dirty="0"/>
              <a:t> 2600 Magazine published the code </a:t>
            </a:r>
          </a:p>
          <a:p>
            <a:r>
              <a:rPr lang="en-US" sz="2400" dirty="0"/>
              <a:t>Motion picture studios sued 2600 Magazine and won</a:t>
            </a:r>
          </a:p>
          <a:p>
            <a:r>
              <a:rPr lang="en-US" sz="2400" dirty="0"/>
              <a:t>Johansen tried in Norway and found not guilty</a:t>
            </a:r>
          </a:p>
        </p:txBody>
      </p:sp>
    </p:spTree>
    <p:extLst>
      <p:ext uri="{BB962C8B-B14F-4D97-AF65-F5344CB8AC3E}">
        <p14:creationId xmlns:p14="http://schemas.microsoft.com/office/powerpoint/2010/main" val="125224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DA92-E3B9-D9E2-9E4B-EB2DA00D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12" y="487680"/>
            <a:ext cx="9692640" cy="1066800"/>
          </a:xfrm>
        </p:spPr>
        <p:txBody>
          <a:bodyPr/>
          <a:lstStyle/>
          <a:p>
            <a:r>
              <a:rPr lang="en-US" dirty="0"/>
              <a:t>Foiling HD-DVD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2213-D185-0FE0-25B2-4A565949E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Hardware, software, and entertainment companies created Advanced Access Content System to encrypt HD-DVDs </a:t>
            </a:r>
          </a:p>
          <a:p>
            <a:r>
              <a:rPr lang="en-US" sz="2400" dirty="0"/>
              <a:t>Encryption key posted on Digg.com </a:t>
            </a:r>
          </a:p>
          <a:p>
            <a:r>
              <a:rPr lang="en-US" sz="2400" dirty="0"/>
              <a:t>AACS leaned on Digg.com to censor postings containing key </a:t>
            </a:r>
          </a:p>
          <a:p>
            <a:r>
              <a:rPr lang="en-US" sz="2400" dirty="0"/>
              <a:t>Digg users fought back </a:t>
            </a:r>
          </a:p>
          <a:p>
            <a:r>
              <a:rPr lang="en-US" sz="2400" dirty="0"/>
              <a:t> AACS “expired” the key and issued a new one </a:t>
            </a:r>
          </a:p>
          <a:p>
            <a:r>
              <a:rPr lang="en-US" sz="2400" dirty="0"/>
              <a:t> A month later, a Digg user posted the new key</a:t>
            </a:r>
          </a:p>
        </p:txBody>
      </p:sp>
    </p:spTree>
    <p:extLst>
      <p:ext uri="{BB962C8B-B14F-4D97-AF65-F5344CB8AC3E}">
        <p14:creationId xmlns:p14="http://schemas.microsoft.com/office/powerpoint/2010/main" val="332343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14B3-042B-C6AB-E9ED-3C82BDED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06400"/>
            <a:ext cx="10493248" cy="1325562"/>
          </a:xfrm>
        </p:spPr>
        <p:txBody>
          <a:bodyPr/>
          <a:lstStyle/>
          <a:p>
            <a:r>
              <a:rPr lang="en-US" dirty="0"/>
              <a:t>Criticisms of Digital Rights 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9066-1DF1-A20A-9273-305504A0E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64080"/>
            <a:ext cx="8595360" cy="4016057"/>
          </a:xfrm>
        </p:spPr>
        <p:txBody>
          <a:bodyPr>
            <a:normAutofit/>
          </a:bodyPr>
          <a:lstStyle/>
          <a:p>
            <a:r>
              <a:rPr lang="en-US" sz="2400" dirty="0"/>
              <a:t>Any technological “fix” is bound to fail </a:t>
            </a:r>
          </a:p>
          <a:p>
            <a:r>
              <a:rPr lang="en-US" sz="2400" dirty="0"/>
              <a:t>DRM((Digital Rights Management) undermines fair use </a:t>
            </a:r>
          </a:p>
          <a:p>
            <a:r>
              <a:rPr lang="en-US" sz="2400" dirty="0"/>
              <a:t>DRM could reduce competition </a:t>
            </a:r>
          </a:p>
          <a:p>
            <a:r>
              <a:rPr lang="en-US" sz="2400" dirty="0"/>
              <a:t>Some schemes make anonymous access impossible</a:t>
            </a:r>
          </a:p>
        </p:txBody>
      </p:sp>
    </p:spTree>
    <p:extLst>
      <p:ext uri="{BB962C8B-B14F-4D97-AF65-F5344CB8AC3E}">
        <p14:creationId xmlns:p14="http://schemas.microsoft.com/office/powerpoint/2010/main" val="16548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0D04-C118-E615-8F17-0844DD4A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04800"/>
            <a:ext cx="969264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Online Music Stores Employed Digital Rights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5B16A-73CD-2E52-D6AE-629665B06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84960"/>
            <a:ext cx="8595360" cy="4595177"/>
          </a:xfrm>
        </p:spPr>
        <p:txBody>
          <a:bodyPr>
            <a:noAutofit/>
          </a:bodyPr>
          <a:lstStyle/>
          <a:p>
            <a:r>
              <a:rPr lang="en-US" sz="2400" dirty="0"/>
              <a:t>When iTunes Music Store opened, all music was protected with a DRM scheme called </a:t>
            </a:r>
            <a:r>
              <a:rPr lang="en-US" sz="2400" dirty="0" err="1"/>
              <a:t>FairPlay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FairPlay</a:t>
            </a:r>
            <a:r>
              <a:rPr lang="en-US" sz="2400" dirty="0"/>
              <a:t> blocked users from freely exchanging purchased music </a:t>
            </a:r>
          </a:p>
          <a:p>
            <a:pPr marL="274320" lvl="1" indent="0">
              <a:buNone/>
            </a:pPr>
            <a:r>
              <a:rPr lang="en-US" sz="2200" dirty="0"/>
              <a:t>– Songs couldn’t be played on more than 5 different computers </a:t>
            </a:r>
          </a:p>
          <a:p>
            <a:pPr marL="274320" lvl="1" indent="0">
              <a:buNone/>
            </a:pPr>
            <a:r>
              <a:rPr lang="en-US" sz="2200" dirty="0"/>
              <a:t>– Songs couldn’t be copied onto CDs more than 7 times </a:t>
            </a:r>
          </a:p>
          <a:p>
            <a:r>
              <a:rPr lang="en-US" sz="2400" dirty="0"/>
              <a:t>Songs purchased from iTunes Store wouldn’t play on non-Apple devices </a:t>
            </a:r>
          </a:p>
          <a:p>
            <a:r>
              <a:rPr lang="en-US" sz="2400" dirty="0"/>
              <a:t>DRM-protected music purchased from other online retailers couldn’t be played on iPod</a:t>
            </a:r>
          </a:p>
        </p:txBody>
      </p:sp>
    </p:spTree>
    <p:extLst>
      <p:ext uri="{BB962C8B-B14F-4D97-AF65-F5344CB8AC3E}">
        <p14:creationId xmlns:p14="http://schemas.microsoft.com/office/powerpoint/2010/main" val="2650361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C8A4-7547-72AA-5BBB-2129E69F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92" y="345440"/>
            <a:ext cx="9692640" cy="1325562"/>
          </a:xfrm>
        </p:spPr>
        <p:txBody>
          <a:bodyPr/>
          <a:lstStyle/>
          <a:p>
            <a:r>
              <a:rPr lang="en-US" dirty="0"/>
              <a:t>Online Music Stores Drop Digital Rights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F7221-A90E-68AC-4F96-767290B9D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Consumers complained about restrictions associated with DRM </a:t>
            </a:r>
          </a:p>
          <a:p>
            <a:r>
              <a:rPr lang="en-US" sz="2400" dirty="0"/>
              <a:t>European governments put pressure on Apple to license </a:t>
            </a:r>
            <a:r>
              <a:rPr lang="en-US" sz="2400" dirty="0" err="1"/>
              <a:t>FairPlay</a:t>
            </a:r>
            <a:r>
              <a:rPr lang="en-US" sz="2400" dirty="0"/>
              <a:t> or stop using DRM </a:t>
            </a:r>
          </a:p>
          <a:p>
            <a:r>
              <a:rPr lang="en-US" sz="2400" dirty="0"/>
              <a:t>Amazon reached an agreement with all four major music labels to sell DRM-free music </a:t>
            </a:r>
          </a:p>
          <a:p>
            <a:r>
              <a:rPr lang="en-US" sz="2400" dirty="0"/>
              <a:t>Apple followed suit in 2009 </a:t>
            </a:r>
          </a:p>
        </p:txBody>
      </p:sp>
    </p:spTree>
    <p:extLst>
      <p:ext uri="{BB962C8B-B14F-4D97-AF65-F5344CB8AC3E}">
        <p14:creationId xmlns:p14="http://schemas.microsoft.com/office/powerpoint/2010/main" val="44721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39FE-AF45-4992-AA33-1105055F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32" y="345440"/>
            <a:ext cx="9692640" cy="853440"/>
          </a:xfrm>
        </p:spPr>
        <p:txBody>
          <a:bodyPr/>
          <a:lstStyle/>
          <a:p>
            <a:r>
              <a:rPr lang="en-US" dirty="0"/>
              <a:t>Microsoft Xbox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9F79-319F-0426-93A0-7A28FC0E8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232" y="1351280"/>
            <a:ext cx="8595360" cy="4351337"/>
          </a:xfrm>
        </p:spPr>
        <p:txBody>
          <a:bodyPr>
            <a:noAutofit/>
          </a:bodyPr>
          <a:lstStyle/>
          <a:p>
            <a:r>
              <a:rPr lang="en-US" sz="2400" dirty="0"/>
              <a:t>Microsoft announced cloud-based gaming experience for Xbox One (June 2013)</a:t>
            </a:r>
          </a:p>
          <a:p>
            <a:pPr marL="0" indent="0">
              <a:buNone/>
            </a:pPr>
            <a:r>
              <a:rPr lang="en-US" sz="2400" dirty="0"/>
              <a:t>   – User could play any game without disc in tray </a:t>
            </a:r>
          </a:p>
          <a:p>
            <a:pPr marL="274320" lvl="1" indent="0">
              <a:buNone/>
            </a:pPr>
            <a:r>
              <a:rPr lang="en-US" sz="2400" dirty="0"/>
              <a:t>– Automatic software updates of every Xbox One </a:t>
            </a:r>
          </a:p>
          <a:p>
            <a:pPr marL="0" indent="0">
              <a:buNone/>
            </a:pPr>
            <a:r>
              <a:rPr lang="en-US" sz="2400" dirty="0"/>
              <a:t>• Controversial features of licensing arrangement </a:t>
            </a:r>
          </a:p>
          <a:p>
            <a:pPr marL="274320" lvl="1" indent="0">
              <a:buNone/>
            </a:pPr>
            <a:r>
              <a:rPr lang="en-US" sz="2400" dirty="0"/>
              <a:t>– Disc could be shared only once </a:t>
            </a:r>
          </a:p>
          <a:p>
            <a:pPr marL="274320" lvl="1" indent="0">
              <a:buNone/>
            </a:pPr>
            <a:r>
              <a:rPr lang="en-US" sz="2400" dirty="0"/>
              <a:t>– Second-hand market restricted </a:t>
            </a:r>
          </a:p>
          <a:p>
            <a:pPr marL="274320" lvl="1" indent="0">
              <a:buNone/>
            </a:pPr>
            <a:r>
              <a:rPr lang="en-US" sz="2400" dirty="0"/>
              <a:t>– Xbox consoles would have to check in every 24 hours </a:t>
            </a:r>
          </a:p>
          <a:p>
            <a:pPr marL="0" indent="0">
              <a:buNone/>
            </a:pPr>
            <a:r>
              <a:rPr lang="en-US" sz="2400" dirty="0"/>
              <a:t>• Microsoft backtracked</a:t>
            </a:r>
          </a:p>
          <a:p>
            <a:pPr marL="274320" lvl="1" indent="0">
              <a:buNone/>
            </a:pPr>
            <a:r>
              <a:rPr lang="en-US" sz="2400" dirty="0"/>
              <a:t> – No need to connect to Internet</a:t>
            </a:r>
          </a:p>
          <a:p>
            <a:pPr marL="274320" lvl="1" indent="0">
              <a:buNone/>
            </a:pPr>
            <a:r>
              <a:rPr lang="en-US" sz="2400" dirty="0"/>
              <a:t> – Freedom to lend, rent, buy, sell discs </a:t>
            </a:r>
          </a:p>
          <a:p>
            <a:pPr marL="274320" lvl="1" indent="0">
              <a:buNone/>
            </a:pPr>
            <a:r>
              <a:rPr lang="en-US" sz="2400" dirty="0"/>
              <a:t>– Disc must be in tray to play game</a:t>
            </a:r>
          </a:p>
        </p:txBody>
      </p:sp>
    </p:spTree>
    <p:extLst>
      <p:ext uri="{BB962C8B-B14F-4D97-AF65-F5344CB8AC3E}">
        <p14:creationId xmlns:p14="http://schemas.microsoft.com/office/powerpoint/2010/main" val="374046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EE52-1CF7-905A-5618-A0D3FE0D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242824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Peer-to-Peer Networks and </a:t>
            </a:r>
            <a:r>
              <a:rPr lang="en-US" dirty="0" err="1"/>
              <a:t>Cyberlockers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36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4FD1-3CFA-184B-F6B0-A7F23577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72" y="304800"/>
            <a:ext cx="9692640" cy="955040"/>
          </a:xfrm>
        </p:spPr>
        <p:txBody>
          <a:bodyPr/>
          <a:lstStyle/>
          <a:p>
            <a:r>
              <a:rPr lang="en-US" dirty="0"/>
              <a:t>Peer-to-Peer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470C-5B66-C05A-A488-5D731483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20792"/>
            <a:ext cx="8595360" cy="4659345"/>
          </a:xfrm>
        </p:spPr>
        <p:txBody>
          <a:bodyPr>
            <a:noAutofit/>
          </a:bodyPr>
          <a:lstStyle/>
          <a:p>
            <a:r>
              <a:rPr lang="en-US" sz="2400" dirty="0"/>
              <a:t>Peer-to-peer network </a:t>
            </a:r>
          </a:p>
          <a:p>
            <a:pPr marL="548640" lvl="2" indent="0">
              <a:buNone/>
            </a:pPr>
            <a:r>
              <a:rPr lang="en-US" sz="2400" dirty="0"/>
              <a:t>– Transient network</a:t>
            </a:r>
          </a:p>
          <a:p>
            <a:pPr marL="548640" lvl="2" indent="0">
              <a:buNone/>
            </a:pPr>
            <a:r>
              <a:rPr lang="en-US" sz="2400" dirty="0"/>
              <a:t> – Connects computers running same networking program </a:t>
            </a:r>
          </a:p>
          <a:p>
            <a:pPr marL="548640" lvl="2" indent="0">
              <a:buNone/>
            </a:pPr>
            <a:r>
              <a:rPr lang="en-US" sz="2400" dirty="0"/>
              <a:t>– Computers can access files stored on each other’s hard drives </a:t>
            </a:r>
          </a:p>
          <a:p>
            <a:r>
              <a:rPr lang="en-US" sz="2400" dirty="0"/>
              <a:t>How P2P networks facilitate data exchange </a:t>
            </a:r>
          </a:p>
          <a:p>
            <a:pPr marL="548640" lvl="2" indent="0">
              <a:buNone/>
            </a:pPr>
            <a:r>
              <a:rPr lang="en-US" sz="2400" dirty="0"/>
              <a:t>– Give each user access to data stored in many other computers </a:t>
            </a:r>
          </a:p>
          <a:p>
            <a:pPr marL="548640" lvl="2" indent="0">
              <a:buNone/>
            </a:pPr>
            <a:r>
              <a:rPr lang="en-US" sz="2400" dirty="0"/>
              <a:t>– Support simultaneous file transfers among arbitrary pairs of computers </a:t>
            </a:r>
          </a:p>
          <a:p>
            <a:pPr marL="548640" lvl="2" indent="0">
              <a:buNone/>
            </a:pPr>
            <a:r>
              <a:rPr lang="en-US" sz="2400" dirty="0"/>
              <a:t>– Allow users to identify systems with faster file exchange speeds</a:t>
            </a:r>
          </a:p>
        </p:txBody>
      </p:sp>
    </p:spTree>
    <p:extLst>
      <p:ext uri="{BB962C8B-B14F-4D97-AF65-F5344CB8AC3E}">
        <p14:creationId xmlns:p14="http://schemas.microsoft.com/office/powerpoint/2010/main" val="180156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F5C-3D78-4699-B4C5-0E165D43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49" y="404261"/>
            <a:ext cx="9692640" cy="1325562"/>
          </a:xfrm>
        </p:spPr>
        <p:txBody>
          <a:bodyPr/>
          <a:lstStyle/>
          <a:p>
            <a:r>
              <a:rPr lang="en-US"/>
              <a:t>A Peer-to-Peer Network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863B0F-AFC3-38CE-4CE6-68BE12073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8261" y="1828800"/>
            <a:ext cx="5962329" cy="4351338"/>
          </a:xfrm>
        </p:spPr>
      </p:pic>
    </p:spTree>
    <p:extLst>
      <p:ext uri="{BB962C8B-B14F-4D97-AF65-F5344CB8AC3E}">
        <p14:creationId xmlns:p14="http://schemas.microsoft.com/office/powerpoint/2010/main" val="426258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D4CF-0DA9-7F5B-74AD-17E87124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145406"/>
          </a:xfrm>
        </p:spPr>
        <p:txBody>
          <a:bodyPr/>
          <a:lstStyle/>
          <a:p>
            <a:r>
              <a:rPr lang="en-US" dirty="0" err="1"/>
              <a:t>Cyberlockers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D99D-666D-FBE6-6F05-FA76449C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Also called file-hosting services or cloud storage services </a:t>
            </a:r>
          </a:p>
          <a:p>
            <a:r>
              <a:rPr lang="en-US" sz="2400" dirty="0"/>
              <a:t>Internet-based file-sharing services </a:t>
            </a:r>
          </a:p>
          <a:p>
            <a:r>
              <a:rPr lang="en-US" sz="2400" dirty="0"/>
              <a:t>Allow users to upload and download password-protected files </a:t>
            </a:r>
          </a:p>
          <a:p>
            <a:r>
              <a:rPr lang="en-US" sz="2400" dirty="0"/>
              <a:t> Support workgroup collaboration </a:t>
            </a:r>
          </a:p>
          <a:p>
            <a:r>
              <a:rPr lang="en-US" sz="2400" dirty="0"/>
              <a:t>Make sharing of copyrighted material easy</a:t>
            </a:r>
          </a:p>
        </p:txBody>
      </p:sp>
    </p:spTree>
    <p:extLst>
      <p:ext uri="{BB962C8B-B14F-4D97-AF65-F5344CB8AC3E}">
        <p14:creationId xmlns:p14="http://schemas.microsoft.com/office/powerpoint/2010/main" val="2312040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8B41-F7A1-D995-96C1-B4F9E0EF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183907"/>
          </a:xfrm>
        </p:spPr>
        <p:txBody>
          <a:bodyPr/>
          <a:lstStyle/>
          <a:p>
            <a:r>
              <a:rPr lang="en-US" dirty="0"/>
              <a:t>Napster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6403-5C54-D4A9-DD8A-F78A90B0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Peer-to-peer music exchange network </a:t>
            </a:r>
          </a:p>
          <a:p>
            <a:r>
              <a:rPr lang="en-US" sz="2400" dirty="0"/>
              <a:t>Began operation in 1999 </a:t>
            </a:r>
          </a:p>
          <a:p>
            <a:r>
              <a:rPr lang="en-US" sz="2400" dirty="0"/>
              <a:t>Sued by RIAA(Recording Industry Association of America) for copyright violations </a:t>
            </a:r>
          </a:p>
          <a:p>
            <a:r>
              <a:rPr lang="en-US" sz="2400" dirty="0"/>
              <a:t>Courts ruled in favor of RIAA </a:t>
            </a:r>
          </a:p>
          <a:p>
            <a:r>
              <a:rPr lang="en-US" sz="2400" dirty="0"/>
              <a:t>Went off-line in July 2001 </a:t>
            </a:r>
          </a:p>
          <a:p>
            <a:r>
              <a:rPr lang="en-US" sz="2400" dirty="0"/>
              <a:t>Re-emerged in 2003 as a subscription music service </a:t>
            </a:r>
          </a:p>
        </p:txBody>
      </p:sp>
    </p:spTree>
    <p:extLst>
      <p:ext uri="{BB962C8B-B14F-4D97-AF65-F5344CB8AC3E}">
        <p14:creationId xmlns:p14="http://schemas.microsoft.com/office/powerpoint/2010/main" val="14299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BE84-F4A8-62AA-F832-67468246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79" y="519764"/>
            <a:ext cx="9692640" cy="1078030"/>
          </a:xfrm>
        </p:spPr>
        <p:txBody>
          <a:bodyPr/>
          <a:lstStyle/>
          <a:p>
            <a:r>
              <a:rPr lang="en-US" dirty="0"/>
              <a:t>FastTrack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EEA72-8185-C70E-0B18-78BD22D60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21305"/>
            <a:ext cx="8595360" cy="4158832"/>
          </a:xfrm>
        </p:spPr>
        <p:txBody>
          <a:bodyPr>
            <a:normAutofit/>
          </a:bodyPr>
          <a:lstStyle/>
          <a:p>
            <a:r>
              <a:rPr lang="en-US" sz="2400" dirty="0"/>
              <a:t>Second-generation peer-to-peer network technology </a:t>
            </a:r>
          </a:p>
          <a:p>
            <a:r>
              <a:rPr lang="en-US" sz="2400" dirty="0"/>
              <a:t>Used by </a:t>
            </a:r>
            <a:r>
              <a:rPr lang="en-US" sz="2400" dirty="0" err="1"/>
              <a:t>KaZaA</a:t>
            </a:r>
            <a:r>
              <a:rPr lang="en-US" sz="2400" dirty="0"/>
              <a:t> and </a:t>
            </a:r>
            <a:r>
              <a:rPr lang="en-US" sz="2400" dirty="0" err="1"/>
              <a:t>Grokster</a:t>
            </a:r>
            <a:r>
              <a:rPr lang="en-US" sz="2400" dirty="0"/>
              <a:t> </a:t>
            </a:r>
          </a:p>
          <a:p>
            <a:r>
              <a:rPr lang="en-US" sz="2400" dirty="0"/>
              <a:t>Distributes index among large number of “</a:t>
            </a:r>
            <a:r>
              <a:rPr lang="en-US" sz="2400" dirty="0" err="1"/>
              <a:t>supernodes</a:t>
            </a:r>
            <a:r>
              <a:rPr lang="en-US" sz="2400" dirty="0"/>
              <a:t>” </a:t>
            </a:r>
          </a:p>
          <a:p>
            <a:r>
              <a:rPr lang="en-US" sz="2400" dirty="0"/>
              <a:t>Cannot be shut down as easily as Napster </a:t>
            </a:r>
          </a:p>
        </p:txBody>
      </p:sp>
    </p:spTree>
    <p:extLst>
      <p:ext uri="{BB962C8B-B14F-4D97-AF65-F5344CB8AC3E}">
        <p14:creationId xmlns:p14="http://schemas.microsoft.com/office/powerpoint/2010/main" val="246267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5B69-B52E-4776-898D-048B7A50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50" y="677863"/>
            <a:ext cx="9692640" cy="856648"/>
          </a:xfrm>
        </p:spPr>
        <p:txBody>
          <a:bodyPr/>
          <a:lstStyle/>
          <a:p>
            <a:r>
              <a:rPr lang="en-US" dirty="0"/>
              <a:t>Comparing Napster and FastTrack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2C7DA7-2B3B-1E5D-E277-91FE0EABB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2047254"/>
            <a:ext cx="8594725" cy="3914429"/>
          </a:xfrm>
        </p:spPr>
      </p:pic>
    </p:spTree>
    <p:extLst>
      <p:ext uri="{BB962C8B-B14F-4D97-AF65-F5344CB8AC3E}">
        <p14:creationId xmlns:p14="http://schemas.microsoft.com/office/powerpoint/2010/main" val="2078848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F165-0B38-3074-3B48-7B284864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74" y="677863"/>
            <a:ext cx="9692640" cy="924025"/>
          </a:xfrm>
        </p:spPr>
        <p:txBody>
          <a:bodyPr/>
          <a:lstStyle/>
          <a:p>
            <a:r>
              <a:rPr lang="en-US" dirty="0"/>
              <a:t>BitTorrent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716D-93ED-0D69-48F9-323BE1A19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Broadband connections: download much faster than upload </a:t>
            </a:r>
          </a:p>
          <a:p>
            <a:r>
              <a:rPr lang="en-US" sz="2400" dirty="0"/>
              <a:t>BitTorrent speeds downloading </a:t>
            </a:r>
          </a:p>
          <a:p>
            <a:pPr marL="274320" lvl="1" indent="0">
              <a:buNone/>
            </a:pPr>
            <a:r>
              <a:rPr lang="en-US" sz="2400" dirty="0"/>
              <a:t>– Files broken into pieces </a:t>
            </a:r>
          </a:p>
          <a:p>
            <a:pPr marL="274320" lvl="1" indent="0">
              <a:buNone/>
            </a:pPr>
            <a:r>
              <a:rPr lang="en-US" sz="2400" dirty="0"/>
              <a:t>– Different pieces downloaded from different computers </a:t>
            </a:r>
          </a:p>
          <a:p>
            <a:r>
              <a:rPr lang="en-US" sz="2400" dirty="0"/>
              <a:t>Used for downloading large files </a:t>
            </a:r>
          </a:p>
          <a:p>
            <a:pPr marL="274320" lvl="1" indent="0">
              <a:buNone/>
            </a:pPr>
            <a:r>
              <a:rPr lang="en-US" sz="2400" dirty="0"/>
              <a:t>– Computer programs </a:t>
            </a:r>
          </a:p>
          <a:p>
            <a:pPr marL="274320" lvl="1" indent="0">
              <a:buNone/>
            </a:pPr>
            <a:r>
              <a:rPr lang="en-US" sz="2400" dirty="0"/>
              <a:t>– Television shows </a:t>
            </a:r>
          </a:p>
          <a:p>
            <a:pPr marL="274320" lvl="1" indent="0">
              <a:buNone/>
            </a:pPr>
            <a:r>
              <a:rPr lang="en-US" sz="2400" dirty="0"/>
              <a:t>– Movies</a:t>
            </a:r>
          </a:p>
        </p:txBody>
      </p:sp>
    </p:spTree>
    <p:extLst>
      <p:ext uri="{BB962C8B-B14F-4D97-AF65-F5344CB8AC3E}">
        <p14:creationId xmlns:p14="http://schemas.microsoft.com/office/powerpoint/2010/main" val="2310342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F807-E2B9-1C19-E7E1-28BCD648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471638"/>
            <a:ext cx="9692640" cy="981777"/>
          </a:xfrm>
        </p:spPr>
        <p:txBody>
          <a:bodyPr/>
          <a:lstStyle/>
          <a:p>
            <a:r>
              <a:rPr lang="en-US"/>
              <a:t>Concept Behind BitTorrent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2FE20-12A4-9DE6-DADC-3F5B3426C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21FBC-0711-C5FA-6507-BC9CE212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3" y="1759446"/>
            <a:ext cx="7816566" cy="411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6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F0DF-6247-1C69-B22B-574DA3DA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108" y="558265"/>
            <a:ext cx="9692640" cy="895150"/>
          </a:xfrm>
        </p:spPr>
        <p:txBody>
          <a:bodyPr/>
          <a:lstStyle/>
          <a:p>
            <a:r>
              <a:rPr lang="en-US" dirty="0"/>
              <a:t>RIAA Lawsuits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9C53-03F7-2B68-5B0B-C94A0DA4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April 2003: RIAA warned file swappers they could face legal penalties </a:t>
            </a:r>
          </a:p>
          <a:p>
            <a:r>
              <a:rPr lang="en-US" sz="2400" dirty="0"/>
              <a:t>RIAA subpoenaed Verizon for identities of people suspected of running super nodes </a:t>
            </a:r>
          </a:p>
          <a:p>
            <a:r>
              <a:rPr lang="en-US" sz="2400" dirty="0"/>
              <a:t>In June 2003, a judge ruled that Verizon had to release the names of these customers</a:t>
            </a:r>
          </a:p>
          <a:p>
            <a:r>
              <a:rPr lang="en-US" sz="2400" dirty="0"/>
              <a:t>September 2003: RIAA sued 261 individuals </a:t>
            </a:r>
          </a:p>
          <a:p>
            <a:r>
              <a:rPr lang="en-US" sz="2400" dirty="0"/>
              <a:t>December 2003: U.S. Court of Appeals ruled Verizon did not have to give customer names to RIAA</a:t>
            </a:r>
          </a:p>
        </p:txBody>
      </p:sp>
    </p:spTree>
    <p:extLst>
      <p:ext uri="{BB962C8B-B14F-4D97-AF65-F5344CB8AC3E}">
        <p14:creationId xmlns:p14="http://schemas.microsoft.com/office/powerpoint/2010/main" val="2465777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16CC-B7AB-5261-7E56-A1EC3EFA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07" y="481263"/>
            <a:ext cx="9692640" cy="972152"/>
          </a:xfrm>
        </p:spPr>
        <p:txBody>
          <a:bodyPr/>
          <a:lstStyle/>
          <a:p>
            <a:r>
              <a:rPr lang="en-US"/>
              <a:t>MGM v. Grokster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2E9A-FA98-CE32-4FB2-76AD33D58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Entertainment industry interests sued </a:t>
            </a:r>
            <a:r>
              <a:rPr lang="en-US" sz="2400" dirty="0" err="1"/>
              <a:t>Grokster</a:t>
            </a:r>
            <a:r>
              <a:rPr lang="en-US" sz="2400" dirty="0"/>
              <a:t> and </a:t>
            </a:r>
            <a:r>
              <a:rPr lang="en-US" sz="2400" dirty="0" err="1"/>
              <a:t>StreamCast</a:t>
            </a:r>
            <a:r>
              <a:rPr lang="en-US" sz="2400" dirty="0"/>
              <a:t> for the copyright infringements of their users </a:t>
            </a:r>
          </a:p>
          <a:p>
            <a:pPr marL="0" indent="0">
              <a:buNone/>
            </a:pPr>
            <a:r>
              <a:rPr lang="en-US" sz="2400" dirty="0"/>
              <a:t>• Lower courts </a:t>
            </a:r>
          </a:p>
          <a:p>
            <a:pPr marL="274320" lvl="1" indent="0">
              <a:buNone/>
            </a:pPr>
            <a:r>
              <a:rPr lang="en-US" sz="2400" dirty="0"/>
              <a:t>– Ruled in favor of </a:t>
            </a:r>
            <a:r>
              <a:rPr lang="en-US" sz="2400" dirty="0" err="1"/>
              <a:t>Grokster</a:t>
            </a:r>
            <a:r>
              <a:rPr lang="en-US" sz="2400" dirty="0"/>
              <a:t> and </a:t>
            </a:r>
            <a:r>
              <a:rPr lang="en-US" sz="2400" dirty="0" err="1"/>
              <a:t>StreamCast</a:t>
            </a:r>
            <a:endParaRPr lang="en-US" sz="2400" dirty="0"/>
          </a:p>
          <a:p>
            <a:pPr marL="274320" lvl="1" indent="0">
              <a:buNone/>
            </a:pPr>
            <a:r>
              <a:rPr lang="en-US" sz="2400" dirty="0"/>
              <a:t> – Cited Sony v. Universal City Studios as a precedent </a:t>
            </a:r>
          </a:p>
          <a:p>
            <a:r>
              <a:rPr lang="en-US" sz="2400" dirty="0"/>
              <a:t>U.S. Supreme Court</a:t>
            </a:r>
          </a:p>
          <a:p>
            <a:pPr marL="274320" lvl="1" indent="0">
              <a:buNone/>
            </a:pPr>
            <a:r>
              <a:rPr lang="en-US" sz="2400" dirty="0"/>
              <a:t> – Reversed the lower court ruling in June 2005</a:t>
            </a:r>
          </a:p>
          <a:p>
            <a:pPr marL="274320" lvl="1" indent="0">
              <a:buNone/>
            </a:pPr>
            <a:r>
              <a:rPr lang="en-US" sz="2400" dirty="0"/>
              <a:t> – Proper precedent Gershwin Publishing v. Columbia Artists </a:t>
            </a:r>
          </a:p>
        </p:txBody>
      </p:sp>
    </p:spTree>
    <p:extLst>
      <p:ext uri="{BB962C8B-B14F-4D97-AF65-F5344CB8AC3E}">
        <p14:creationId xmlns:p14="http://schemas.microsoft.com/office/powerpoint/2010/main" val="2092399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8EBC-6272-3C95-8A29-C9C44899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981" y="677864"/>
            <a:ext cx="9692640" cy="534920"/>
          </a:xfrm>
        </p:spPr>
        <p:txBody>
          <a:bodyPr>
            <a:normAutofit fontScale="90000"/>
          </a:bodyPr>
          <a:lstStyle/>
          <a:p>
            <a:r>
              <a:rPr lang="en-US" dirty="0"/>
              <a:t>Legal Action Against The Pirate Bay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CCC25-6282-261B-F09D-544A008D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622" y="1443789"/>
            <a:ext cx="8595360" cy="4351337"/>
          </a:xfrm>
        </p:spPr>
        <p:txBody>
          <a:bodyPr>
            <a:noAutofit/>
          </a:bodyPr>
          <a:lstStyle/>
          <a:p>
            <a:r>
              <a:rPr lang="en-US" sz="2400" dirty="0"/>
              <a:t>The Pirate Bay started in Stockholm, Sweden </a:t>
            </a:r>
          </a:p>
          <a:p>
            <a:r>
              <a:rPr lang="en-US" sz="2400" dirty="0"/>
              <a:t>One of world’s biggest BitTorrent file-sharing sites </a:t>
            </a:r>
          </a:p>
          <a:p>
            <a:r>
              <a:rPr lang="en-US" sz="2400" dirty="0"/>
              <a:t>People download songs, movies, TV shows, etc. </a:t>
            </a:r>
          </a:p>
          <a:p>
            <a:r>
              <a:rPr lang="en-US" sz="2400" dirty="0"/>
              <a:t>After 2006 raid by police, popularity increased </a:t>
            </a:r>
          </a:p>
          <a:p>
            <a:r>
              <a:rPr lang="en-US" sz="2400" dirty="0"/>
              <a:t>In 2008 the International Federation of the Phonographic Industry sued four individuals connected with site </a:t>
            </a:r>
          </a:p>
          <a:p>
            <a:r>
              <a:rPr lang="en-US" sz="2400" dirty="0"/>
              <a:t>Defendants said The Pirate Bay just a search engine </a:t>
            </a:r>
          </a:p>
          <a:p>
            <a:r>
              <a:rPr lang="en-US" sz="2400" dirty="0"/>
              <a:t>Found guilty; sentence to prison and fined $6.5 million </a:t>
            </a:r>
          </a:p>
          <a:p>
            <a:r>
              <a:rPr lang="en-US" sz="2400" dirty="0"/>
              <a:t>Meanwhile, The Pirate Bay still operational </a:t>
            </a:r>
          </a:p>
          <a:p>
            <a:r>
              <a:rPr lang="en-US" sz="2400" dirty="0"/>
              <a:t>More than 150 proxy servers all over the world</a:t>
            </a:r>
          </a:p>
        </p:txBody>
      </p:sp>
    </p:spTree>
    <p:extLst>
      <p:ext uri="{BB962C8B-B14F-4D97-AF65-F5344CB8AC3E}">
        <p14:creationId xmlns:p14="http://schemas.microsoft.com/office/powerpoint/2010/main" val="2892352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761B-F87D-1D34-A5C8-8EBC5149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PRO-IP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5A9F-91ED-CFEB-CA6C-1A2BF2C64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Gives federal law enforcement agencies right to seize domain names of sites facilitating copyright infringement </a:t>
            </a:r>
          </a:p>
          <a:p>
            <a:r>
              <a:rPr lang="en-US" sz="2400" dirty="0"/>
              <a:t>Operation In Our Sites (2010) </a:t>
            </a:r>
          </a:p>
          <a:p>
            <a:pPr marL="274320" lvl="1" indent="0">
              <a:buNone/>
            </a:pPr>
            <a:r>
              <a:rPr lang="en-US" sz="2400" dirty="0"/>
              <a:t>– Seized domain names of 10 Web sites making available full-run movies</a:t>
            </a:r>
          </a:p>
          <a:p>
            <a:pPr marL="274320" lvl="1" indent="0">
              <a:buNone/>
            </a:pPr>
            <a:r>
              <a:rPr lang="en-US" sz="2400" dirty="0"/>
              <a:t> – Seized several hundred more domain names over next 1 ½ years</a:t>
            </a:r>
          </a:p>
        </p:txBody>
      </p:sp>
    </p:spTree>
    <p:extLst>
      <p:ext uri="{BB962C8B-B14F-4D97-AF65-F5344CB8AC3E}">
        <p14:creationId xmlns:p14="http://schemas.microsoft.com/office/powerpoint/2010/main" val="391299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FE97-2589-7749-2208-24305869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36884"/>
            <a:ext cx="9692640" cy="972152"/>
          </a:xfrm>
        </p:spPr>
        <p:txBody>
          <a:bodyPr/>
          <a:lstStyle/>
          <a:p>
            <a:r>
              <a:rPr lang="en-US" dirty="0"/>
              <a:t>Megaupload Shutdown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3CCA-EA11-A844-9EB5-1E98804CF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617044"/>
            <a:ext cx="8595360" cy="4563093"/>
          </a:xfrm>
        </p:spPr>
        <p:txBody>
          <a:bodyPr>
            <a:normAutofit/>
          </a:bodyPr>
          <a:lstStyle/>
          <a:p>
            <a:r>
              <a:rPr lang="en-US" sz="2400" dirty="0"/>
              <a:t>Megaupload a prominent </a:t>
            </a:r>
            <a:r>
              <a:rPr lang="en-US" sz="2400" dirty="0" err="1"/>
              <a:t>cyberlocker</a:t>
            </a:r>
            <a:endParaRPr lang="en-US" sz="2400" dirty="0"/>
          </a:p>
          <a:p>
            <a:pPr marL="274320" lvl="1" indent="0">
              <a:buNone/>
            </a:pPr>
            <a:r>
              <a:rPr lang="en-US" sz="2400" dirty="0"/>
              <a:t> – More than 180 million registered users </a:t>
            </a:r>
          </a:p>
          <a:p>
            <a:pPr marL="274320" lvl="1" indent="0">
              <a:buNone/>
            </a:pPr>
            <a:r>
              <a:rPr lang="en-US" sz="2400" dirty="0"/>
              <a:t>– Once world’s 13th most popular Web site</a:t>
            </a:r>
          </a:p>
          <a:p>
            <a:pPr marL="274320" lvl="1" indent="0">
              <a:buNone/>
            </a:pPr>
            <a:r>
              <a:rPr lang="en-US" sz="2400" dirty="0"/>
              <a:t> – Source of movies, TV shows, songs, games </a:t>
            </a:r>
          </a:p>
          <a:p>
            <a:pPr marL="0" indent="0">
              <a:buNone/>
            </a:pPr>
            <a:r>
              <a:rPr lang="en-US" sz="2400" dirty="0"/>
              <a:t>• FBI used PRO-IP Act to shut down Megaupload (January 2012) </a:t>
            </a:r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dirty="0" err="1"/>
              <a:t>FileSonic</a:t>
            </a:r>
            <a:r>
              <a:rPr lang="en-US" sz="2400" dirty="0"/>
              <a:t> and </a:t>
            </a:r>
            <a:r>
              <a:rPr lang="en-US" sz="2400" dirty="0" err="1"/>
              <a:t>FileServe</a:t>
            </a:r>
            <a:r>
              <a:rPr lang="en-US" sz="2400" dirty="0"/>
              <a:t> responded by disabling sharing functionality</a:t>
            </a:r>
          </a:p>
        </p:txBody>
      </p:sp>
    </p:spTree>
    <p:extLst>
      <p:ext uri="{BB962C8B-B14F-4D97-AF65-F5344CB8AC3E}">
        <p14:creationId xmlns:p14="http://schemas.microsoft.com/office/powerpoint/2010/main" val="948343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6491-22F9-9A03-BBB2-494AD360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60" y="529389"/>
            <a:ext cx="9692640" cy="904775"/>
          </a:xfrm>
        </p:spPr>
        <p:txBody>
          <a:bodyPr/>
          <a:lstStyle/>
          <a:p>
            <a:r>
              <a:rPr lang="en-US" dirty="0"/>
              <a:t>Legal Music Services on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3A9B0-916E-AAA8-41F1-C7778BB95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Subscription services for legal downloading </a:t>
            </a:r>
          </a:p>
          <a:p>
            <a:r>
              <a:rPr lang="en-US" sz="2400" dirty="0"/>
              <a:t>Some based on monthly fee; some free </a:t>
            </a:r>
          </a:p>
          <a:p>
            <a:r>
              <a:rPr lang="en-US" sz="2400" dirty="0"/>
              <a:t>Consumers pay for each download </a:t>
            </a:r>
          </a:p>
          <a:p>
            <a:r>
              <a:rPr lang="en-US" sz="2400" dirty="0"/>
              <a:t>Apple’s iTunes Music Store leading service, surpassing </a:t>
            </a:r>
            <a:r>
              <a:rPr lang="en-US" sz="2400" dirty="0" err="1"/>
              <a:t>WalMart</a:t>
            </a:r>
            <a:r>
              <a:rPr lang="en-US" sz="2400" dirty="0"/>
              <a:t> as top music retailer in United States </a:t>
            </a:r>
          </a:p>
          <a:p>
            <a:r>
              <a:rPr lang="en-US" sz="2400" dirty="0"/>
              <a:t> Still, illegal downloading far more popular than legal music services </a:t>
            </a:r>
          </a:p>
        </p:txBody>
      </p:sp>
    </p:spTree>
    <p:extLst>
      <p:ext uri="{BB962C8B-B14F-4D97-AF65-F5344CB8AC3E}">
        <p14:creationId xmlns:p14="http://schemas.microsoft.com/office/powerpoint/2010/main" val="1747382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C0A6-6C3F-F0F7-10B0-506C3D21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267208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42992454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2723</TotalTime>
  <Words>1204</Words>
  <Application>Microsoft Office PowerPoint</Application>
  <PresentationFormat>Widescreen</PresentationFormat>
  <Paragraphs>163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Schoolbook</vt:lpstr>
      <vt:lpstr>Wingdings 2</vt:lpstr>
      <vt:lpstr>View</vt:lpstr>
      <vt:lpstr>CSC410 - Professional Practices in IT</vt:lpstr>
      <vt:lpstr>Today Topics</vt:lpstr>
      <vt:lpstr>New Restrictions on Use</vt:lpstr>
      <vt:lpstr>Counterfeit CDs = Lost Profits</vt:lpstr>
      <vt:lpstr>Digital Millennium Copyright Act</vt:lpstr>
      <vt:lpstr>Digital Rights Management</vt:lpstr>
      <vt:lpstr>Secure Digital Music Initiative</vt:lpstr>
      <vt:lpstr>Sony BMG Music Entertainment Rootkit</vt:lpstr>
      <vt:lpstr>Encrypting DVDs</vt:lpstr>
      <vt:lpstr>Foiling HD-DVD Encryption</vt:lpstr>
      <vt:lpstr>Criticisms of Digital Rights  Management</vt:lpstr>
      <vt:lpstr>Online Music Stores Employed Digital Rights Management</vt:lpstr>
      <vt:lpstr>Online Music Stores Drop Digital Rights Management</vt:lpstr>
      <vt:lpstr>Microsoft Xbox One</vt:lpstr>
      <vt:lpstr>Peer-to-Peer Networks and Cyberlockers</vt:lpstr>
      <vt:lpstr>Peer-to-Peer Networks</vt:lpstr>
      <vt:lpstr>A Peer-to-Peer Network</vt:lpstr>
      <vt:lpstr>Cyberlockers</vt:lpstr>
      <vt:lpstr>Napster</vt:lpstr>
      <vt:lpstr>FastTrack</vt:lpstr>
      <vt:lpstr>Comparing Napster and FastTrack</vt:lpstr>
      <vt:lpstr>BitTorrent</vt:lpstr>
      <vt:lpstr>Concept Behind BitTorrent</vt:lpstr>
      <vt:lpstr>RIAA Lawsuits</vt:lpstr>
      <vt:lpstr>MGM v. Grokster</vt:lpstr>
      <vt:lpstr>Legal Action Against The Pirate Bay</vt:lpstr>
      <vt:lpstr>PRO-IP Act</vt:lpstr>
      <vt:lpstr>Megaupload Shutdown</vt:lpstr>
      <vt:lpstr>Legal Music Services on the Internet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DELL7490</dc:creator>
  <cp:lastModifiedBy>DELL7490</cp:lastModifiedBy>
  <cp:revision>174</cp:revision>
  <dcterms:created xsi:type="dcterms:W3CDTF">2024-09-16T10:53:45Z</dcterms:created>
  <dcterms:modified xsi:type="dcterms:W3CDTF">2024-10-03T03:46:47Z</dcterms:modified>
</cp:coreProperties>
</file>