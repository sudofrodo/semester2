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9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vyF/ShM7TZRkSDw8okX9q7etT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If the class doesn't mention it, make sure to mention that online opt-in choices may be pre-checked and require you un-checking the box to avoid opting in.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Be sure to mention the "subject to change without notice" clause found in most privacy policies.</a:t>
            </a: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615838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28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75302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0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6288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70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07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76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3845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75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320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1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title"/>
          </p:nvPr>
        </p:nvSpPr>
        <p:spPr>
          <a:xfrm>
            <a:off x="535194" y="616688"/>
            <a:ext cx="11121611" cy="542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CSC410 - Professional Practices in IT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Instructor Name : Sidra Nasir</a:t>
            </a:r>
            <a:br>
              <a:rPr lang="en-US" sz="2400" dirty="0"/>
            </a:br>
            <a:r>
              <a:rPr lang="en-US" sz="2400" dirty="0"/>
              <a:t>Email : sidranasir@cuilahore.edu.pk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1676400" y="2243469"/>
            <a:ext cx="8669079" cy="14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br>
              <a:rPr lang="en-US" sz="5400" dirty="0"/>
            </a:br>
            <a:r>
              <a:rPr lang="en-US" sz="5400" dirty="0"/>
              <a:t> </a:t>
            </a:r>
            <a:br>
              <a:rPr lang="en-US" sz="5400" dirty="0"/>
            </a:br>
            <a:br>
              <a:rPr lang="en-US" sz="5400" dirty="0"/>
            </a:br>
            <a:br>
              <a:rPr lang="en-US" sz="5400" dirty="0"/>
            </a:br>
            <a:r>
              <a:rPr lang="en-US" sz="5400" dirty="0"/>
              <a:t>Privacy Risks  and Principles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1212111" y="669309"/>
            <a:ext cx="889837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Topics Covered in this Lecture</a:t>
            </a:r>
            <a:endParaRPr dirty="0"/>
          </a:p>
        </p:txBody>
      </p:sp>
      <p:sp>
        <p:nvSpPr>
          <p:cNvPr id="101" name="Google Shape;101;p3"/>
          <p:cNvSpPr txBox="1">
            <a:spLocks noGrp="1"/>
          </p:cNvSpPr>
          <p:nvPr>
            <p:ph idx="1"/>
          </p:nvPr>
        </p:nvSpPr>
        <p:spPr>
          <a:xfrm>
            <a:off x="1903768" y="2303936"/>
            <a:ext cx="6927574" cy="2057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What is Privacy , Definition and concept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Privacy Threats Categories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New Technology, New Risks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>
            <a:spLocks noGrp="1"/>
          </p:cNvSpPr>
          <p:nvPr>
            <p:ph type="title"/>
          </p:nvPr>
        </p:nvSpPr>
        <p:spPr>
          <a:xfrm>
            <a:off x="494302" y="781455"/>
            <a:ext cx="98059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Learning outcomes of this Lecture</a:t>
            </a:r>
            <a:endParaRPr dirty="0"/>
          </a:p>
        </p:txBody>
      </p:sp>
      <p:sp>
        <p:nvSpPr>
          <p:cNvPr id="107" name="Google Shape;107;p4"/>
          <p:cNvSpPr txBox="1">
            <a:spLocks noGrp="1"/>
          </p:cNvSpPr>
          <p:nvPr>
            <p:ph idx="1"/>
          </p:nvPr>
        </p:nvSpPr>
        <p:spPr>
          <a:xfrm>
            <a:off x="838200" y="2439987"/>
            <a:ext cx="10515600" cy="2846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To understand the concept of Privacy 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Learning Privacy Concept in Islam and daily life. 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To know different types of threats for Privacy under new era.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How to manage personal data management keeping Privacy. 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ctrTitle"/>
          </p:nvPr>
        </p:nvSpPr>
        <p:spPr>
          <a:xfrm>
            <a:off x="2209800" y="3213101"/>
            <a:ext cx="7772400" cy="65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What does privacy mean to you?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>
            <a:spLocks noGrp="1"/>
          </p:cNvSpPr>
          <p:nvPr>
            <p:ph type="title"/>
          </p:nvPr>
        </p:nvSpPr>
        <p:spPr>
          <a:xfrm>
            <a:off x="853854" y="297596"/>
            <a:ext cx="57383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What is privacy?</a:t>
            </a:r>
            <a:endParaRPr dirty="0"/>
          </a:p>
        </p:txBody>
      </p:sp>
      <p:sp>
        <p:nvSpPr>
          <p:cNvPr id="120" name="Google Shape;120;p6"/>
          <p:cNvSpPr txBox="1"/>
          <p:nvPr/>
        </p:nvSpPr>
        <p:spPr>
          <a:xfrm>
            <a:off x="9588500" y="5765800"/>
            <a:ext cx="22479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“Being alone.”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6" descr="IMG_3935"/>
          <p:cNvPicPr preferRelativeResize="0"/>
          <p:nvPr/>
        </p:nvPicPr>
        <p:blipFill rotWithShape="1">
          <a:blip r:embed="rId3">
            <a:alphaModFix/>
          </a:blip>
          <a:srcRect l="11160" t="10440" r="5520"/>
          <a:stretch/>
        </p:blipFill>
        <p:spPr>
          <a:xfrm>
            <a:off x="9956800" y="3302000"/>
            <a:ext cx="1694207" cy="22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 txBox="1"/>
          <p:nvPr/>
        </p:nvSpPr>
        <p:spPr>
          <a:xfrm>
            <a:off x="853854" y="1704548"/>
            <a:ext cx="8826500" cy="344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three key aspects of privacy:</a:t>
            </a:r>
            <a:endParaRPr dirty="0"/>
          </a:p>
          <a:p>
            <a:pPr marL="2286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Freedom from intrusion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(Entry to another's property without right or permission)</a:t>
            </a:r>
            <a:endParaRPr dirty="0"/>
          </a:p>
          <a:p>
            <a:pPr marL="2286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of information about oneself</a:t>
            </a:r>
            <a:endParaRPr dirty="0"/>
          </a:p>
          <a:p>
            <a:pPr marL="2286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Freedom from surveillance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(being tracked, followed, watched, under observation, investigation)</a:t>
            </a:r>
            <a:endParaRPr dirty="0"/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title"/>
          </p:nvPr>
        </p:nvSpPr>
        <p:spPr>
          <a:xfrm>
            <a:off x="815304" y="387025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Westin “Privacy and Freedom” 1967</a:t>
            </a:r>
            <a:endParaRPr dirty="0"/>
          </a:p>
        </p:txBody>
      </p:sp>
      <p:sp>
        <p:nvSpPr>
          <p:cNvPr id="129" name="Google Shape;129;p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“Privacy is the claim of individuals, groups or institutions to determine for themselves when, how, and to what extent information about them is communicated to others”</a:t>
            </a:r>
            <a:endParaRPr sz="2400"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Privacy is not an absolute</a:t>
            </a:r>
            <a:endParaRPr sz="2400" dirty="0"/>
          </a:p>
          <a:p>
            <a:pPr marL="22860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/>
          </a:p>
          <a:p>
            <a:pPr marL="22860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 dirty="0"/>
              <a:t>Alan F. Westin, </a:t>
            </a:r>
            <a:r>
              <a:rPr lang="en-US" sz="2400" i="1" dirty="0"/>
              <a:t>Privacy And Freedom</a:t>
            </a:r>
            <a:r>
              <a:rPr lang="en-US" sz="2400" dirty="0"/>
              <a:t>, 25 Wash. &amp; Lee L. Rev. 166 (1968), https://scholarlycommons.law.wlu.edu/wlulr/vol25/iss1/20</a:t>
            </a:r>
            <a:endParaRPr sz="2400" dirty="0"/>
          </a:p>
          <a:p>
            <a:pPr marL="22860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8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26831" y="647700"/>
            <a:ext cx="8174714" cy="55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9" descr="A close up of a sign&#10;&#10;Description automatically generated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55906" y="430297"/>
            <a:ext cx="7988194" cy="5997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0" descr="A close up of text on a white background&#10;&#10;Description automatically generated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31818" y="457252"/>
            <a:ext cx="8328364" cy="62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1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91533" y="223784"/>
            <a:ext cx="8538318" cy="641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>
            <a:spLocks noGrp="1"/>
          </p:cNvSpPr>
          <p:nvPr>
            <p:ph type="title"/>
          </p:nvPr>
        </p:nvSpPr>
        <p:spPr>
          <a:xfrm>
            <a:off x="499730" y="279990"/>
            <a:ext cx="10363200" cy="87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 dirty="0"/>
              <a:t>Privacy Threats Categories</a:t>
            </a:r>
            <a:endParaRPr dirty="0"/>
          </a:p>
        </p:txBody>
      </p:sp>
      <p:sp>
        <p:nvSpPr>
          <p:cNvPr id="156" name="Google Shape;156;p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dirty="0"/>
          </a:p>
        </p:txBody>
      </p:sp>
      <p:sp>
        <p:nvSpPr>
          <p:cNvPr id="157" name="Google Shape;157;p12"/>
          <p:cNvSpPr txBox="1"/>
          <p:nvPr/>
        </p:nvSpPr>
        <p:spPr>
          <a:xfrm>
            <a:off x="540077" y="1073889"/>
            <a:ext cx="10752763" cy="466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Privacy Threats come in several categories:</a:t>
            </a:r>
            <a:endParaRPr sz="2200" dirty="0"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Intentional/institutional uses of personal information 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(Primarily for law enforcement and tax collection in the government sector and for marketing and decision making in the private sector by both government and organizations).</a:t>
            </a:r>
            <a:endParaRPr sz="2200" dirty="0"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Unauthorized use of release 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“insiders”, the people who maintain the information</a:t>
            </a:r>
            <a:endParaRPr sz="2200" dirty="0"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Theft of information</a:t>
            </a:r>
            <a:endParaRPr sz="2200" dirty="0"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Inadvertent / Unintentional leakage of information 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through negligence or carelessness</a:t>
            </a:r>
            <a:endParaRPr sz="2200" dirty="0"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own actions 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(sometimes intentional trade-offs and sometimes when we are unaware of risks)</a:t>
            </a:r>
            <a:endParaRPr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>
            <a:spLocks noGrp="1"/>
          </p:cNvSpPr>
          <p:nvPr>
            <p:ph type="title"/>
          </p:nvPr>
        </p:nvSpPr>
        <p:spPr>
          <a:xfrm>
            <a:off x="542260" y="262269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 dirty="0"/>
              <a:t>New Technology, New Risks</a:t>
            </a:r>
            <a:endParaRPr b="1" dirty="0"/>
          </a:p>
        </p:txBody>
      </p:sp>
      <p:sp>
        <p:nvSpPr>
          <p:cNvPr id="163" name="Google Shape;163;p13"/>
          <p:cNvSpPr txBox="1">
            <a:spLocks noGrp="1"/>
          </p:cNvSpPr>
          <p:nvPr>
            <p:ph idx="1"/>
          </p:nvPr>
        </p:nvSpPr>
        <p:spPr>
          <a:xfrm>
            <a:off x="339060" y="1592262"/>
            <a:ext cx="1076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400" dirty="0"/>
              <a:t>Government and private databases (searching data re-identification is easy)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400" dirty="0"/>
              <a:t>Sophisticated tools for surveillance and data analysis (smart phones send location)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400" dirty="0"/>
              <a:t>Location data should be Anonymous but it stores phone ID, age and gender info and sent to 3</a:t>
            </a:r>
            <a:r>
              <a:rPr lang="en-US" sz="2400" baseline="30000" dirty="0"/>
              <a:t>rd</a:t>
            </a:r>
            <a:r>
              <a:rPr lang="en-US" sz="2400" dirty="0"/>
              <a:t> parties. 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400" dirty="0"/>
              <a:t>Hidden data in mobile phones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400" dirty="0"/>
              <a:t>Vulnerability (Susceptible to attack) of data to loss, hacking, and misuse</a:t>
            </a:r>
            <a:endParaRPr sz="2400" dirty="0"/>
          </a:p>
        </p:txBody>
      </p:sp>
      <p:sp>
        <p:nvSpPr>
          <p:cNvPr id="165" name="Google Shape;165;p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>
            <a:spLocks noGrp="1"/>
          </p:cNvSpPr>
          <p:nvPr>
            <p:ph type="title"/>
          </p:nvPr>
        </p:nvSpPr>
        <p:spPr>
          <a:xfrm>
            <a:off x="1073888" y="365760"/>
            <a:ext cx="9880624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New risks</a:t>
            </a:r>
            <a:endParaRPr dirty="0"/>
          </a:p>
        </p:txBody>
      </p:sp>
      <p:sp>
        <p:nvSpPr>
          <p:cNvPr id="171" name="Google Shape;171;p14"/>
          <p:cNvSpPr txBox="1">
            <a:spLocks noGrp="1"/>
          </p:cNvSpPr>
          <p:nvPr>
            <p:ph idx="1"/>
          </p:nvPr>
        </p:nvSpPr>
        <p:spPr>
          <a:xfrm>
            <a:off x="901995" y="1691322"/>
            <a:ext cx="9156405" cy="430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Anything we do in cyberspace is recorded, at least briefly, and linked to our computer or phone, and possibly our name.</a:t>
            </a:r>
            <a:endParaRPr sz="2400"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With the huge amount of storage space available, companies, organizations, and governments save huge amounts of data that no one would have imagined saving in the recent past.</a:t>
            </a:r>
            <a:endParaRPr sz="2400"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People often are not aware of the collection of information about them and their activities.</a:t>
            </a:r>
            <a:endParaRPr sz="2400"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Software is extremely complex. Sometimes businesses, organizations, and website managers do not even know what the software they use collects and stores.</a:t>
            </a:r>
            <a:endParaRPr sz="2400"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Leaks happen. The existence of the data presents a risk.</a:t>
            </a:r>
            <a:endParaRPr sz="2400" dirty="0"/>
          </a:p>
        </p:txBody>
      </p:sp>
      <p:sp>
        <p:nvSpPr>
          <p:cNvPr id="173" name="Google Shape;173;p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 txBox="1">
            <a:spLocks noGrp="1"/>
          </p:cNvSpPr>
          <p:nvPr>
            <p:ph type="title"/>
          </p:nvPr>
        </p:nvSpPr>
        <p:spPr>
          <a:xfrm>
            <a:off x="996058" y="124565"/>
            <a:ext cx="9692640" cy="1055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New risks</a:t>
            </a:r>
            <a:endParaRPr dirty="0"/>
          </a:p>
        </p:txBody>
      </p:sp>
      <p:sp>
        <p:nvSpPr>
          <p:cNvPr id="179" name="Google Shape;179;p15"/>
          <p:cNvSpPr txBox="1">
            <a:spLocks noGrp="1"/>
          </p:cNvSpPr>
          <p:nvPr>
            <p:ph idx="1"/>
          </p:nvPr>
        </p:nvSpPr>
        <p:spPr>
          <a:xfrm>
            <a:off x="596900" y="1180214"/>
            <a:ext cx="10301472" cy="4991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Noto Sans Symbols"/>
              <a:buChar char="⮚"/>
            </a:pPr>
            <a:r>
              <a:rPr lang="en-US" sz="2590" dirty="0">
                <a:latin typeface="Times New Roman"/>
                <a:ea typeface="Times New Roman"/>
                <a:cs typeface="Times New Roman"/>
                <a:sym typeface="Times New Roman"/>
              </a:rPr>
              <a:t>A collection of many small items of information can give a fairly detailed picture of a person’s life.</a:t>
            </a:r>
            <a:endParaRPr dirty="0"/>
          </a:p>
          <a:p>
            <a:pPr marL="228600" lvl="0" indent="-22860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Noto Sans Symbols"/>
              <a:buChar char="⮚"/>
            </a:pPr>
            <a:r>
              <a:rPr lang="en-US" sz="2590" dirty="0">
                <a:latin typeface="Times New Roman"/>
                <a:ea typeface="Times New Roman"/>
                <a:cs typeface="Times New Roman"/>
                <a:sym typeface="Times New Roman"/>
              </a:rPr>
              <a:t>Direct association with a person’s name is not essential for compromising privacy. Re-identification has become much easier due to the quantity of personal information stored and the power of data search and analysis tools.</a:t>
            </a:r>
            <a:endParaRPr dirty="0"/>
          </a:p>
          <a:p>
            <a:pPr marL="228600" lvl="0" indent="-22860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Noto Sans Symbols"/>
              <a:buChar char="⮚"/>
            </a:pPr>
            <a:r>
              <a:rPr lang="en-US" sz="2590" dirty="0">
                <a:latin typeface="Times New Roman"/>
                <a:ea typeface="Times New Roman"/>
                <a:cs typeface="Times New Roman"/>
                <a:sym typeface="Times New Roman"/>
              </a:rPr>
              <a:t>If information is on a public website, people other than those for whom it was intended will find it. It is available to everyone. Once information goes on the Internet or into a database, it seems to last forever. People (and automated software) quickly make and distribute copies. It is almost impossible to remove released information from circulation.</a:t>
            </a:r>
            <a:endParaRPr dirty="0"/>
          </a:p>
          <a:p>
            <a:pPr marL="228600" lvl="0" indent="-228600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Noto Sans Symbols"/>
              <a:buChar char="⮚"/>
            </a:pPr>
            <a:r>
              <a:rPr lang="en-US" sz="2590" dirty="0">
                <a:latin typeface="Times New Roman"/>
                <a:ea typeface="Times New Roman"/>
                <a:cs typeface="Times New Roman"/>
                <a:sym typeface="Times New Roman"/>
              </a:rPr>
              <a:t>It is extremely likely that data collected for one purpose (such as making a phone call or responding to a search query) will find other uses (such as business planning, tracking, marketing, or criminal investigations).</a:t>
            </a:r>
            <a:endParaRPr dirty="0"/>
          </a:p>
          <a:p>
            <a:pPr marL="228600" lvl="0" indent="-64135" algn="just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Noto Sans Symbols"/>
              <a:buNone/>
            </a:pPr>
            <a:endParaRPr sz="2590" dirty="0"/>
          </a:p>
        </p:txBody>
      </p:sp>
      <p:sp>
        <p:nvSpPr>
          <p:cNvPr id="181" name="Google Shape;181;p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 txBox="1">
            <a:spLocks noGrp="1"/>
          </p:cNvSpPr>
          <p:nvPr>
            <p:ph type="title"/>
          </p:nvPr>
        </p:nvSpPr>
        <p:spPr>
          <a:xfrm>
            <a:off x="711200" y="685800"/>
            <a:ext cx="1031476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dirty="0"/>
              <a:t>Terminology and principle for managing personal Information</a:t>
            </a:r>
            <a:endParaRPr b="1" dirty="0"/>
          </a:p>
        </p:txBody>
      </p:sp>
      <p:sp>
        <p:nvSpPr>
          <p:cNvPr id="187" name="Google Shape;187;p16"/>
          <p:cNvSpPr txBox="1">
            <a:spLocks noGrp="1"/>
          </p:cNvSpPr>
          <p:nvPr>
            <p:ph idx="1"/>
          </p:nvPr>
        </p:nvSpPr>
        <p:spPr>
          <a:xfrm>
            <a:off x="914399" y="1913860"/>
            <a:ext cx="9856382" cy="4278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400" b="1" dirty="0"/>
              <a:t>Informed consent and Invisible information gathering </a:t>
            </a:r>
            <a:r>
              <a:rPr lang="en-US" sz="2800" b="1" dirty="0"/>
              <a:t>– </a:t>
            </a:r>
            <a:r>
              <a:rPr lang="en-US" sz="2400" dirty="0"/>
              <a:t>collection of personal information about someone without the person’s knowledge (spyware, event data recorders in cars, customer ID number in software of cursor, finger printing)</a:t>
            </a:r>
            <a:endParaRPr dirty="0"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dirty="0"/>
              <a:t>Example: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/>
              <a:t>A company offered a free program that changed a Web browser’s cursor into a cartoon character. Millions of people installed the program but then later discovered that the program sent to the company a report of the websites its users visited, along with a customer identification number in the software</a:t>
            </a:r>
            <a:endParaRPr dirty="0"/>
          </a:p>
        </p:txBody>
      </p:sp>
      <p:sp>
        <p:nvSpPr>
          <p:cNvPr id="189" name="Google Shape;189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>
            <a:spLocks noGrp="1"/>
          </p:cNvSpPr>
          <p:nvPr>
            <p:ph type="title"/>
          </p:nvPr>
        </p:nvSpPr>
        <p:spPr>
          <a:xfrm>
            <a:off x="711200" y="387296"/>
            <a:ext cx="10038316" cy="1298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 dirty="0"/>
              <a:t>Terminology and principle for managing personal Information</a:t>
            </a:r>
            <a:endParaRPr dirty="0"/>
          </a:p>
        </p:txBody>
      </p:sp>
      <p:sp>
        <p:nvSpPr>
          <p:cNvPr id="194" name="Google Shape;194;p17"/>
          <p:cNvSpPr txBox="1">
            <a:spLocks noGrp="1"/>
          </p:cNvSpPr>
          <p:nvPr>
            <p:ph idx="1"/>
          </p:nvPr>
        </p:nvSpPr>
        <p:spPr>
          <a:xfrm>
            <a:off x="1001079" y="1807535"/>
            <a:ext cx="9748437" cy="3965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/>
              <a:t>2.Secondary use –</a:t>
            </a:r>
            <a:r>
              <a:rPr lang="en-US" sz="2800" dirty="0"/>
              <a:t> </a:t>
            </a:r>
            <a:r>
              <a:rPr lang="en-US" sz="2400" dirty="0"/>
              <a:t>use of personal information for a purpose other than the one it was provided for.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endParaRPr dirty="0"/>
          </a:p>
          <a:p>
            <a:pPr lvl="1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200" b="1" dirty="0"/>
              <a:t>Data mining </a:t>
            </a:r>
            <a:r>
              <a:rPr lang="en-US" sz="2200" dirty="0"/>
              <a:t>- searching and analyzing masses of data to find patterns and develop new information or knowledge</a:t>
            </a:r>
            <a:endParaRPr sz="1400" dirty="0"/>
          </a:p>
          <a:p>
            <a:pPr lvl="1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200" b="1" dirty="0"/>
              <a:t>Computer matching </a:t>
            </a:r>
            <a:r>
              <a:rPr lang="en-US" sz="2200" dirty="0"/>
              <a:t>- combining and comparing information from different databases (using social security number, for example, to match records)</a:t>
            </a:r>
            <a:endParaRPr sz="1200" dirty="0"/>
          </a:p>
          <a:p>
            <a:pPr lvl="1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200" b="1" dirty="0"/>
              <a:t>Computer profiling </a:t>
            </a:r>
            <a:r>
              <a:rPr lang="en-US" sz="2200" dirty="0"/>
              <a:t>- analyzing data in computer files to determine characteristics of people most likely to engage in certain behavior</a:t>
            </a:r>
            <a:endParaRPr sz="2400" dirty="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</p:txBody>
      </p:sp>
      <p:sp>
        <p:nvSpPr>
          <p:cNvPr id="196" name="Google Shape;196;p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 txBox="1">
            <a:spLocks noGrp="1"/>
          </p:cNvSpPr>
          <p:nvPr>
            <p:ph type="title"/>
          </p:nvPr>
        </p:nvSpPr>
        <p:spPr>
          <a:xfrm>
            <a:off x="914400" y="287080"/>
            <a:ext cx="9888279" cy="153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 dirty="0"/>
              <a:t>Control of Secondary use of personal information (SUPI)</a:t>
            </a:r>
            <a:endParaRPr dirty="0"/>
          </a:p>
        </p:txBody>
      </p:sp>
      <p:sp>
        <p:nvSpPr>
          <p:cNvPr id="203" name="Google Shape;203;p18"/>
          <p:cNvSpPr txBox="1">
            <a:spLocks noGrp="1"/>
          </p:cNvSpPr>
          <p:nvPr>
            <p:ph idx="1"/>
          </p:nvPr>
        </p:nvSpPr>
        <p:spPr>
          <a:xfrm>
            <a:off x="711200" y="1818168"/>
            <a:ext cx="10304130" cy="4582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1" dirty="0"/>
              <a:t>The degree of control one should have over its SUPI</a:t>
            </a:r>
            <a:r>
              <a:rPr lang="en-US" sz="2800" dirty="0"/>
              <a:t>.</a:t>
            </a:r>
            <a:endParaRPr dirty="0"/>
          </a:p>
          <a:p>
            <a:pPr marL="1143000" lvl="2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 dirty="0"/>
              <a:t>After informing people what info is collected and what it does with it. </a:t>
            </a:r>
            <a:endParaRPr dirty="0"/>
          </a:p>
          <a:p>
            <a:pPr marL="1143000" lvl="2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 dirty="0"/>
              <a:t>Then give control over SUPI through Informed consent (IS)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1" dirty="0"/>
              <a:t>Two forms of IS are Opt-in &amp; Opt-out policies</a:t>
            </a:r>
            <a:endParaRPr dirty="0"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 b="1" dirty="0"/>
              <a:t>Opt-out</a:t>
            </a:r>
            <a:r>
              <a:rPr lang="en-US" sz="2400" dirty="0"/>
              <a:t> by default information will be used</a:t>
            </a:r>
            <a:r>
              <a:rPr lang="en-US" sz="2400" dirty="0">
                <a:solidFill>
                  <a:srgbClr val="FF0000"/>
                </a:solidFill>
              </a:rPr>
              <a:t>.(opt for not use)</a:t>
            </a:r>
            <a:endParaRPr dirty="0"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 b="1" dirty="0"/>
              <a:t>Opt-in </a:t>
            </a:r>
            <a:r>
              <a:rPr lang="en-US" sz="2400" dirty="0"/>
              <a:t>by default info will not be used</a:t>
            </a:r>
            <a:r>
              <a:rPr lang="en-US" sz="2400" dirty="0">
                <a:solidFill>
                  <a:srgbClr val="FF0000"/>
                </a:solidFill>
              </a:rPr>
              <a:t>.(opt for use)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1" dirty="0"/>
              <a:t>Data retention </a:t>
            </a:r>
            <a:r>
              <a:rPr lang="en-US" sz="2800" dirty="0"/>
              <a:t>(Allow to remain in a place or position or maintain a property or features)</a:t>
            </a:r>
            <a:endParaRPr dirty="0"/>
          </a:p>
        </p:txBody>
      </p:sp>
      <p:sp>
        <p:nvSpPr>
          <p:cNvPr id="205" name="Google Shape;205;p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>
            <a:spLocks noGrp="1"/>
          </p:cNvSpPr>
          <p:nvPr>
            <p:ph type="title"/>
          </p:nvPr>
        </p:nvSpPr>
        <p:spPr>
          <a:xfrm>
            <a:off x="645215" y="159488"/>
            <a:ext cx="9062311" cy="1378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200" b="1" dirty="0">
                <a:latin typeface="Calibri"/>
                <a:ea typeface="Calibri"/>
                <a:cs typeface="Calibri"/>
                <a:sym typeface="Calibri"/>
              </a:rPr>
              <a:t>Fair Information Principles or practices for managing personal data</a:t>
            </a:r>
            <a:endParaRPr sz="3200" dirty="0"/>
          </a:p>
        </p:txBody>
      </p:sp>
      <p:sp>
        <p:nvSpPr>
          <p:cNvPr id="212" name="Google Shape;212;p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645215" y="1679945"/>
            <a:ext cx="10285055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Inform people when you collect information about them, what you collect, and how you use it.</a:t>
            </a:r>
            <a:endParaRPr sz="2400"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Collect only the data needed.</a:t>
            </a:r>
            <a:endParaRPr sz="2400"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Offer a way for people to opt out from mailing lists, advertising, and other secondary uses. Offer a way for people to opt out from features and services that expose personal</a:t>
            </a:r>
            <a:endParaRPr sz="2400"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information.</a:t>
            </a:r>
            <a:endParaRPr sz="2400"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Keep data only as long as needed.</a:t>
            </a:r>
            <a:endParaRPr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 txBox="1">
            <a:spLocks noGrp="1"/>
          </p:cNvSpPr>
          <p:nvPr>
            <p:ph type="title"/>
          </p:nvPr>
        </p:nvSpPr>
        <p:spPr>
          <a:xfrm>
            <a:off x="838200" y="446567"/>
            <a:ext cx="9677400" cy="1058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200" b="1" dirty="0">
                <a:latin typeface="Calibri"/>
                <a:ea typeface="Calibri"/>
                <a:cs typeface="Calibri"/>
                <a:sym typeface="Calibri"/>
              </a:rPr>
              <a:t>Fair Information Principles or practices for managing personal data</a:t>
            </a:r>
            <a:endParaRPr sz="3200" dirty="0"/>
          </a:p>
        </p:txBody>
      </p:sp>
      <p:sp>
        <p:nvSpPr>
          <p:cNvPr id="218" name="Google Shape;218;p2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400" dirty="0"/>
              <a:t>5. Maintain accuracy of data. Where appropriate and reasonable, provide a way for people to access and correct data stored about them.</a:t>
            </a:r>
            <a:endParaRPr sz="2400" dirty="0"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400" dirty="0"/>
              <a:t>6. Protect security of data (from theft and from accidental leaks). Provide stronger protection for sensitive data.</a:t>
            </a:r>
            <a:endParaRPr sz="2400" dirty="0"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400" dirty="0"/>
              <a:t>7. Develop policies for responding to law enforcement requests for data.</a:t>
            </a:r>
            <a:endParaRPr sz="2400"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>
            <a:spLocks noGrp="1"/>
          </p:cNvSpPr>
          <p:nvPr>
            <p:ph type="title"/>
          </p:nvPr>
        </p:nvSpPr>
        <p:spPr>
          <a:xfrm>
            <a:off x="812800" y="352628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200" b="1" dirty="0">
                <a:latin typeface="Calibri"/>
                <a:ea typeface="Calibri"/>
                <a:cs typeface="Calibri"/>
                <a:sym typeface="Calibri"/>
              </a:rPr>
              <a:t>Fair Information Principles or practices for managing personal data</a:t>
            </a:r>
            <a:endParaRPr sz="3200" dirty="0"/>
          </a:p>
        </p:txBody>
      </p:sp>
      <p:sp>
        <p:nvSpPr>
          <p:cNvPr id="225" name="Google Shape;225;p21"/>
          <p:cNvSpPr txBox="1">
            <a:spLocks noGrp="1"/>
          </p:cNvSpPr>
          <p:nvPr>
            <p:ph idx="1"/>
          </p:nvPr>
        </p:nvSpPr>
        <p:spPr>
          <a:xfrm>
            <a:off x="812800" y="1860698"/>
            <a:ext cx="10202530" cy="438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dirty="0"/>
              <a:t>Laws in US, Canada,  and Europe using them as ethical practices in many situations but gives custody when court order comes.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dirty="0"/>
              <a:t>There is a wide variation and in interpretation among business and privacy advocates (what info business need and for how long)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dirty="0"/>
              <a:t>Difficult to determine the purpose of supplying info: the increase of cameras used by police or google street view, sent on tweets.</a:t>
            </a:r>
            <a:endParaRPr dirty="0"/>
          </a:p>
        </p:txBody>
      </p:sp>
      <p:sp>
        <p:nvSpPr>
          <p:cNvPr id="227" name="Google Shape;227;p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>
            <a:spLocks noGrp="1"/>
          </p:cNvSpPr>
          <p:nvPr>
            <p:ph type="title"/>
          </p:nvPr>
        </p:nvSpPr>
        <p:spPr>
          <a:xfrm>
            <a:off x="838200" y="25654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End of Lecture  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134</TotalTime>
  <Words>1253</Words>
  <Application>Microsoft Office PowerPoint</Application>
  <PresentationFormat>Widescreen</PresentationFormat>
  <Paragraphs>97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Century Schoolbook</vt:lpstr>
      <vt:lpstr>Noto Sans Symbols</vt:lpstr>
      <vt:lpstr>Times New Roman</vt:lpstr>
      <vt:lpstr>Wingdings 2</vt:lpstr>
      <vt:lpstr>View</vt:lpstr>
      <vt:lpstr>CSC410 - Professional Practices in IT  Instructor Name : Sidra Nasir Email : sidranasir@cuilahore.edu.pk </vt:lpstr>
      <vt:lpstr>     Privacy Risks  and Principles</vt:lpstr>
      <vt:lpstr>Topics Covered in this Lecture</vt:lpstr>
      <vt:lpstr>Learning outcomes of this Lecture</vt:lpstr>
      <vt:lpstr>What does privacy mean to you?</vt:lpstr>
      <vt:lpstr>What is privacy?</vt:lpstr>
      <vt:lpstr>Westin “Privacy and Freedom” 1967</vt:lpstr>
      <vt:lpstr>PowerPoint Presentation</vt:lpstr>
      <vt:lpstr>PowerPoint Presentation</vt:lpstr>
      <vt:lpstr>PowerPoint Presentation</vt:lpstr>
      <vt:lpstr>PowerPoint Presentation</vt:lpstr>
      <vt:lpstr>Privacy Threats Categories</vt:lpstr>
      <vt:lpstr>New Technology, New Risks</vt:lpstr>
      <vt:lpstr>New risks</vt:lpstr>
      <vt:lpstr>New risks</vt:lpstr>
      <vt:lpstr>Terminology and principle for managing personal Information</vt:lpstr>
      <vt:lpstr>Terminology and principle for managing personal Information</vt:lpstr>
      <vt:lpstr>Control of Secondary use of personal information (SUPI)</vt:lpstr>
      <vt:lpstr>Fair Information Principles or practices for managing personal data</vt:lpstr>
      <vt:lpstr>Fair Information Principles or practices for managing personal data</vt:lpstr>
      <vt:lpstr>Fair Information Principles or practices for managing personal data</vt:lpstr>
      <vt:lpstr>End of Lecture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Romana</dc:creator>
  <cp:lastModifiedBy>Sidra Nasir</cp:lastModifiedBy>
  <cp:revision>19</cp:revision>
  <dcterms:created xsi:type="dcterms:W3CDTF">2019-10-06T18:58:03Z</dcterms:created>
  <dcterms:modified xsi:type="dcterms:W3CDTF">2024-10-22T18:29:13Z</dcterms:modified>
</cp:coreProperties>
</file>