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61" r:id="rId3"/>
    <p:sldId id="257" r:id="rId4"/>
    <p:sldId id="258" r:id="rId5"/>
    <p:sldId id="259" r:id="rId6"/>
    <p:sldId id="260"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78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7719CBDB-7F2F-49AE-A66F-BB704C20A519}" type="datetimeFigureOut">
              <a:rPr lang="en-US" smtClean="0"/>
              <a:t>9/10/2024</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5D5B896F-F300-4630-9B97-0C3EF38C0763}"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0407451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19CBDB-7F2F-49AE-A66F-BB704C20A519}" type="datetimeFigureOut">
              <a:rPr lang="en-US" smtClean="0"/>
              <a:t>9/10/2024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5B896F-F300-4630-9B97-0C3EF38C0763}" type="slidenum">
              <a:rPr lang="en-US" smtClean="0"/>
              <a:t>‹#›</a:t>
            </a:fld>
            <a:endParaRPr lang="en-US"/>
          </a:p>
        </p:txBody>
      </p:sp>
    </p:spTree>
    <p:extLst>
      <p:ext uri="{BB962C8B-B14F-4D97-AF65-F5344CB8AC3E}">
        <p14:creationId xmlns:p14="http://schemas.microsoft.com/office/powerpoint/2010/main" val="11636567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19CBDB-7F2F-49AE-A66F-BB704C20A519}" type="datetimeFigureOut">
              <a:rPr lang="en-US" smtClean="0"/>
              <a:t>9/10/2024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5B896F-F300-4630-9B97-0C3EF38C0763}"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3686891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719CBDB-7F2F-49AE-A66F-BB704C20A519}" type="datetimeFigureOut">
              <a:rPr lang="en-US" smtClean="0"/>
              <a:t>9/10/2024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5B896F-F300-4630-9B97-0C3EF38C0763}" type="slidenum">
              <a:rPr lang="en-US" smtClean="0"/>
              <a:t>‹#›</a:t>
            </a:fld>
            <a:endParaRPr lang="en-US"/>
          </a:p>
        </p:txBody>
      </p:sp>
    </p:spTree>
    <p:extLst>
      <p:ext uri="{BB962C8B-B14F-4D97-AF65-F5344CB8AC3E}">
        <p14:creationId xmlns:p14="http://schemas.microsoft.com/office/powerpoint/2010/main" val="4130209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719CBDB-7F2F-49AE-A66F-BB704C20A519}" type="datetimeFigureOut">
              <a:rPr lang="en-US" smtClean="0"/>
              <a:t>9/10/2024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D5B896F-F300-4630-9B97-0C3EF38C0763}" type="slidenum">
              <a:rPr lang="en-US" smtClean="0"/>
              <a:t>‹#›</a:t>
            </a:fld>
            <a:endParaRPr lang="en-US"/>
          </a:p>
        </p:txBody>
      </p:sp>
    </p:spTree>
    <p:extLst>
      <p:ext uri="{BB962C8B-B14F-4D97-AF65-F5344CB8AC3E}">
        <p14:creationId xmlns:p14="http://schemas.microsoft.com/office/powerpoint/2010/main" val="1615276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719CBDB-7F2F-49AE-A66F-BB704C20A519}" type="datetimeFigureOut">
              <a:rPr lang="en-US" smtClean="0"/>
              <a:t>9/10/2024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D5B896F-F300-4630-9B97-0C3EF38C0763}" type="slidenum">
              <a:rPr lang="en-US" smtClean="0"/>
              <a:t>‹#›</a:t>
            </a:fld>
            <a:endParaRPr lang="en-US"/>
          </a:p>
        </p:txBody>
      </p:sp>
    </p:spTree>
    <p:extLst>
      <p:ext uri="{BB962C8B-B14F-4D97-AF65-F5344CB8AC3E}">
        <p14:creationId xmlns:p14="http://schemas.microsoft.com/office/powerpoint/2010/main" val="20163841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19CBDB-7F2F-49AE-A66F-BB704C20A519}" type="datetimeFigureOut">
              <a:rPr lang="en-US" smtClean="0"/>
              <a:t>9/10/2024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D5B896F-F300-4630-9B97-0C3EF38C0763}" type="slidenum">
              <a:rPr lang="en-US" smtClean="0"/>
              <a:t>‹#›</a:t>
            </a:fld>
            <a:endParaRPr lang="en-US"/>
          </a:p>
        </p:txBody>
      </p:sp>
    </p:spTree>
    <p:extLst>
      <p:ext uri="{BB962C8B-B14F-4D97-AF65-F5344CB8AC3E}">
        <p14:creationId xmlns:p14="http://schemas.microsoft.com/office/powerpoint/2010/main" val="37688454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19CBDB-7F2F-49AE-A66F-BB704C20A519}" type="datetimeFigureOut">
              <a:rPr lang="en-US" smtClean="0"/>
              <a:t>9/10/2024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5B896F-F300-4630-9B97-0C3EF38C0763}" type="slidenum">
              <a:rPr lang="en-US" smtClean="0"/>
              <a:t>‹#›</a:t>
            </a:fld>
            <a:endParaRPr lang="en-US"/>
          </a:p>
        </p:txBody>
      </p:sp>
    </p:spTree>
    <p:extLst>
      <p:ext uri="{BB962C8B-B14F-4D97-AF65-F5344CB8AC3E}">
        <p14:creationId xmlns:p14="http://schemas.microsoft.com/office/powerpoint/2010/main" val="33222061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19CBDB-7F2F-49AE-A66F-BB704C20A519}" type="datetimeFigureOut">
              <a:rPr lang="en-US" smtClean="0"/>
              <a:t>9/10/2024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5B896F-F300-4630-9B97-0C3EF38C0763}" type="slidenum">
              <a:rPr lang="en-US" smtClean="0"/>
              <a:t>‹#›</a:t>
            </a:fld>
            <a:endParaRPr lang="en-US"/>
          </a:p>
        </p:txBody>
      </p:sp>
    </p:spTree>
    <p:extLst>
      <p:ext uri="{BB962C8B-B14F-4D97-AF65-F5344CB8AC3E}">
        <p14:creationId xmlns:p14="http://schemas.microsoft.com/office/powerpoint/2010/main" val="38969677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19CBDB-7F2F-49AE-A66F-BB704C20A519}" type="datetimeFigureOut">
              <a:rPr lang="en-US" smtClean="0"/>
              <a:t>9/10/2024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5B896F-F300-4630-9B97-0C3EF38C0763}" type="slidenum">
              <a:rPr lang="en-US" smtClean="0"/>
              <a:t>‹#›</a:t>
            </a:fld>
            <a:endParaRPr lang="en-US"/>
          </a:p>
        </p:txBody>
      </p:sp>
    </p:spTree>
    <p:extLst>
      <p:ext uri="{BB962C8B-B14F-4D97-AF65-F5344CB8AC3E}">
        <p14:creationId xmlns:p14="http://schemas.microsoft.com/office/powerpoint/2010/main" val="7950035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19CBDB-7F2F-49AE-A66F-BB704C20A519}" type="datetimeFigureOut">
              <a:rPr lang="en-US" smtClean="0"/>
              <a:t>9/10/2024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5B896F-F300-4630-9B97-0C3EF38C0763}" type="slidenum">
              <a:rPr lang="en-US" smtClean="0"/>
              <a:t>‹#›</a:t>
            </a:fld>
            <a:endParaRPr lang="en-US"/>
          </a:p>
        </p:txBody>
      </p:sp>
    </p:spTree>
    <p:extLst>
      <p:ext uri="{BB962C8B-B14F-4D97-AF65-F5344CB8AC3E}">
        <p14:creationId xmlns:p14="http://schemas.microsoft.com/office/powerpoint/2010/main" val="23105181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7719CBDB-7F2F-49AE-A66F-BB704C20A519}" type="datetimeFigureOut">
              <a:rPr lang="en-US" smtClean="0"/>
              <a:t>9/10/2024</a:t>
            </a:fld>
            <a:endParaRPr 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5D5B896F-F300-4630-9B97-0C3EF38C0763}" type="slidenum">
              <a:rPr lang="en-US" smtClean="0"/>
              <a:t>‹#›</a:t>
            </a:fld>
            <a:endParaRPr lang="en-US"/>
          </a:p>
        </p:txBody>
      </p:sp>
    </p:spTree>
    <p:extLst>
      <p:ext uri="{BB962C8B-B14F-4D97-AF65-F5344CB8AC3E}">
        <p14:creationId xmlns:p14="http://schemas.microsoft.com/office/powerpoint/2010/main" val="95882305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F2D78-0BDF-C268-7340-C78414DE514E}"/>
              </a:ext>
            </a:extLst>
          </p:cNvPr>
          <p:cNvSpPr>
            <a:spLocks noGrp="1"/>
          </p:cNvSpPr>
          <p:nvPr>
            <p:ph type="ctrTitle"/>
          </p:nvPr>
        </p:nvSpPr>
        <p:spPr>
          <a:xfrm>
            <a:off x="1422400" y="1554480"/>
            <a:ext cx="9144000" cy="1874520"/>
          </a:xfrm>
        </p:spPr>
        <p:txBody>
          <a:bodyPr>
            <a:normAutofit fontScale="90000"/>
          </a:bodyPr>
          <a:lstStyle/>
          <a:p>
            <a:br>
              <a:rPr lang="en-US" dirty="0"/>
            </a:br>
            <a:br>
              <a:rPr lang="en-US" dirty="0"/>
            </a:br>
            <a:r>
              <a:rPr lang="en-US" dirty="0"/>
              <a:t>CSC410 - Professional Practices in IT</a:t>
            </a:r>
          </a:p>
        </p:txBody>
      </p:sp>
      <p:sp>
        <p:nvSpPr>
          <p:cNvPr id="3" name="Subtitle 2">
            <a:extLst>
              <a:ext uri="{FF2B5EF4-FFF2-40B4-BE49-F238E27FC236}">
                <a16:creationId xmlns:a16="http://schemas.microsoft.com/office/drawing/2014/main" id="{C86D0DE7-1911-4CA2-6E18-AFA7DC2A464C}"/>
              </a:ext>
            </a:extLst>
          </p:cNvPr>
          <p:cNvSpPr>
            <a:spLocks noGrp="1"/>
          </p:cNvSpPr>
          <p:nvPr>
            <p:ph type="subTitle" idx="1"/>
          </p:nvPr>
        </p:nvSpPr>
        <p:spPr>
          <a:xfrm>
            <a:off x="1524000" y="3723958"/>
            <a:ext cx="9144000" cy="604202"/>
          </a:xfrm>
        </p:spPr>
        <p:txBody>
          <a:bodyPr/>
          <a:lstStyle/>
          <a:p>
            <a:r>
              <a:rPr lang="en-US" sz="2400" dirty="0"/>
              <a:t>Instructor Name :  Sidra Nasir</a:t>
            </a:r>
            <a:endParaRPr lang="en-US" dirty="0"/>
          </a:p>
        </p:txBody>
      </p:sp>
    </p:spTree>
    <p:extLst>
      <p:ext uri="{BB962C8B-B14F-4D97-AF65-F5344CB8AC3E}">
        <p14:creationId xmlns:p14="http://schemas.microsoft.com/office/powerpoint/2010/main" val="24777052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D77AB-67BC-4498-D8AE-AA3EA0FE3A88}"/>
              </a:ext>
            </a:extLst>
          </p:cNvPr>
          <p:cNvSpPr>
            <a:spLocks noGrp="1"/>
          </p:cNvSpPr>
          <p:nvPr>
            <p:ph type="title"/>
          </p:nvPr>
        </p:nvSpPr>
        <p:spPr>
          <a:xfrm>
            <a:off x="906272" y="467360"/>
            <a:ext cx="9692640" cy="1127760"/>
          </a:xfrm>
        </p:spPr>
        <p:txBody>
          <a:bodyPr/>
          <a:lstStyle/>
          <a:p>
            <a:r>
              <a:rPr lang="en-US" dirty="0"/>
              <a:t>Scenarios</a:t>
            </a:r>
          </a:p>
        </p:txBody>
      </p:sp>
      <p:sp>
        <p:nvSpPr>
          <p:cNvPr id="3" name="Content Placeholder 2">
            <a:extLst>
              <a:ext uri="{FF2B5EF4-FFF2-40B4-BE49-F238E27FC236}">
                <a16:creationId xmlns:a16="http://schemas.microsoft.com/office/drawing/2014/main" id="{D68743F7-100F-7D39-4E62-10E3441BDB02}"/>
              </a:ext>
            </a:extLst>
          </p:cNvPr>
          <p:cNvSpPr>
            <a:spLocks noGrp="1"/>
          </p:cNvSpPr>
          <p:nvPr>
            <p:ph idx="1"/>
          </p:nvPr>
        </p:nvSpPr>
        <p:spPr/>
        <p:txBody>
          <a:bodyPr>
            <a:normAutofit/>
          </a:bodyPr>
          <a:lstStyle/>
          <a:p>
            <a:r>
              <a:rPr lang="en-US" sz="2000" dirty="0"/>
              <a:t>As an initiation into the study of ethics, carefully read each of the following scenarios. After reflection, come up with your own answer to each of the questions.</a:t>
            </a:r>
          </a:p>
        </p:txBody>
      </p:sp>
    </p:spTree>
    <p:extLst>
      <p:ext uri="{BB962C8B-B14F-4D97-AF65-F5344CB8AC3E}">
        <p14:creationId xmlns:p14="http://schemas.microsoft.com/office/powerpoint/2010/main" val="24635969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B9303-CF5F-D69A-27AA-6FCF13B30EAF}"/>
              </a:ext>
            </a:extLst>
          </p:cNvPr>
          <p:cNvSpPr>
            <a:spLocks noGrp="1"/>
          </p:cNvSpPr>
          <p:nvPr>
            <p:ph type="title"/>
          </p:nvPr>
        </p:nvSpPr>
        <p:spPr>
          <a:xfrm>
            <a:off x="1016000" y="210503"/>
            <a:ext cx="9692640" cy="792480"/>
          </a:xfrm>
        </p:spPr>
        <p:txBody>
          <a:bodyPr/>
          <a:lstStyle/>
          <a:p>
            <a:r>
              <a:rPr lang="en-US" dirty="0"/>
              <a:t>Scenario 1</a:t>
            </a:r>
          </a:p>
        </p:txBody>
      </p:sp>
      <p:sp>
        <p:nvSpPr>
          <p:cNvPr id="3" name="Content Placeholder 2">
            <a:extLst>
              <a:ext uri="{FF2B5EF4-FFF2-40B4-BE49-F238E27FC236}">
                <a16:creationId xmlns:a16="http://schemas.microsoft.com/office/drawing/2014/main" id="{48F31E68-FD42-8075-DF22-B7EAC50C59E2}"/>
              </a:ext>
            </a:extLst>
          </p:cNvPr>
          <p:cNvSpPr>
            <a:spLocks noGrp="1"/>
          </p:cNvSpPr>
          <p:nvPr>
            <p:ph idx="1"/>
          </p:nvPr>
        </p:nvSpPr>
        <p:spPr>
          <a:xfrm>
            <a:off x="1190752" y="1065371"/>
            <a:ext cx="8595360" cy="4727257"/>
          </a:xfrm>
        </p:spPr>
        <p:txBody>
          <a:bodyPr>
            <a:noAutofit/>
          </a:bodyPr>
          <a:lstStyle/>
          <a:p>
            <a:pPr>
              <a:lnSpc>
                <a:spcPct val="150000"/>
              </a:lnSpc>
            </a:pPr>
            <a:r>
              <a:rPr lang="en-US" dirty="0"/>
              <a:t>Alexis, a gifted high school student, wants to become a doctor. Because she comes from a poor family, she will need a scholarship in order to attend college. Some of her classes require students to do extra research projects in order to get an A. Her high school has a few older PCs, but there are always long lines of students waiting to use them during the school day. After school, she usually works at a part-time job to help support her family. One evening Alexis visits the library of a private college a few miles from her family’s apartment, and she finds plenty of unused PCs connected to the Internet. She secretively looks over the shoulder of another student to learn a valid login/password combination. Alexis returns to the library several times a week, and by using its PCs and printers she efficiently completes the extra research projects, graduates from high school with straight A’s, and gets a full-ride scholarship to attend a prestigious University.</a:t>
            </a:r>
          </a:p>
        </p:txBody>
      </p:sp>
    </p:spTree>
    <p:extLst>
      <p:ext uri="{BB962C8B-B14F-4D97-AF65-F5344CB8AC3E}">
        <p14:creationId xmlns:p14="http://schemas.microsoft.com/office/powerpoint/2010/main" val="8623950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1333B-C713-0BC6-3C89-2F556909670F}"/>
              </a:ext>
            </a:extLst>
          </p:cNvPr>
          <p:cNvSpPr>
            <a:spLocks noGrp="1"/>
          </p:cNvSpPr>
          <p:nvPr>
            <p:ph type="title"/>
          </p:nvPr>
        </p:nvSpPr>
        <p:spPr>
          <a:xfrm>
            <a:off x="1261872" y="365760"/>
            <a:ext cx="9692640" cy="812800"/>
          </a:xfrm>
        </p:spPr>
        <p:txBody>
          <a:bodyPr/>
          <a:lstStyle/>
          <a:p>
            <a:r>
              <a:rPr lang="en-US" dirty="0"/>
              <a:t>Question</a:t>
            </a:r>
          </a:p>
        </p:txBody>
      </p:sp>
      <p:sp>
        <p:nvSpPr>
          <p:cNvPr id="3" name="Content Placeholder 2">
            <a:extLst>
              <a:ext uri="{FF2B5EF4-FFF2-40B4-BE49-F238E27FC236}">
                <a16:creationId xmlns:a16="http://schemas.microsoft.com/office/drawing/2014/main" id="{822A8CFC-834D-B8F4-4FAD-E38A03CD190D}"/>
              </a:ext>
            </a:extLst>
          </p:cNvPr>
          <p:cNvSpPr>
            <a:spLocks noGrp="1"/>
          </p:cNvSpPr>
          <p:nvPr>
            <p:ph idx="1"/>
          </p:nvPr>
        </p:nvSpPr>
        <p:spPr>
          <a:xfrm>
            <a:off x="1261872" y="1330960"/>
            <a:ext cx="8595360" cy="4849177"/>
          </a:xfrm>
        </p:spPr>
        <p:txBody>
          <a:bodyPr>
            <a:noAutofit/>
          </a:bodyPr>
          <a:lstStyle/>
          <a:p>
            <a:pPr marL="342900" indent="-342900">
              <a:buFont typeface="+mj-lt"/>
              <a:buAutoNum type="arabicPeriod"/>
            </a:pPr>
            <a:r>
              <a:rPr lang="en-US" sz="2000" dirty="0"/>
              <a:t>Did Alexis do anything wrong? </a:t>
            </a:r>
          </a:p>
          <a:p>
            <a:pPr marL="342900" indent="-342900">
              <a:buFont typeface="+mj-lt"/>
              <a:buAutoNum type="arabicPeriod"/>
            </a:pPr>
            <a:r>
              <a:rPr lang="en-US" sz="2000" dirty="0"/>
              <a:t>Who benefited from Alexis’s course of action? </a:t>
            </a:r>
          </a:p>
          <a:p>
            <a:pPr marL="342900" indent="-342900">
              <a:buFont typeface="+mj-lt"/>
              <a:buAutoNum type="arabicPeriod"/>
            </a:pPr>
            <a:r>
              <a:rPr lang="en-US" sz="2000" dirty="0"/>
              <a:t>Who was hurt by Alexis’s course of action? </a:t>
            </a:r>
          </a:p>
          <a:p>
            <a:pPr marL="342900" indent="-342900">
              <a:buFont typeface="+mj-lt"/>
              <a:buAutoNum type="arabicPeriod"/>
            </a:pPr>
            <a:r>
              <a:rPr lang="en-US" sz="2000" dirty="0"/>
              <a:t>Did Alexis have an unfair advantage over her high school classmates?</a:t>
            </a:r>
          </a:p>
          <a:p>
            <a:pPr marL="342900" indent="-342900">
              <a:buFont typeface="+mj-lt"/>
              <a:buAutoNum type="arabicPeriod"/>
            </a:pPr>
            <a:r>
              <a:rPr lang="en-US" sz="2000" dirty="0"/>
              <a:t>Would any of your answers change if it turns out Alexis did not win a college scholarship after all and is now working at the Burger Barn?</a:t>
            </a:r>
          </a:p>
          <a:p>
            <a:pPr marL="342900" indent="-342900">
              <a:buFont typeface="+mj-lt"/>
              <a:buAutoNum type="arabicPeriod"/>
            </a:pPr>
            <a:r>
              <a:rPr lang="en-US" sz="2000" dirty="0"/>
              <a:t>Are there better ways Alexis could have accomplished her objective?</a:t>
            </a:r>
          </a:p>
        </p:txBody>
      </p:sp>
    </p:spTree>
    <p:extLst>
      <p:ext uri="{BB962C8B-B14F-4D97-AF65-F5344CB8AC3E}">
        <p14:creationId xmlns:p14="http://schemas.microsoft.com/office/powerpoint/2010/main" val="29001191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A203D-8F59-FAC1-E3D5-D60C30ECB5C0}"/>
              </a:ext>
            </a:extLst>
          </p:cNvPr>
          <p:cNvSpPr>
            <a:spLocks noGrp="1"/>
          </p:cNvSpPr>
          <p:nvPr>
            <p:ph type="title"/>
          </p:nvPr>
        </p:nvSpPr>
        <p:spPr>
          <a:xfrm>
            <a:off x="784352" y="304800"/>
            <a:ext cx="9692640" cy="741680"/>
          </a:xfrm>
        </p:spPr>
        <p:txBody>
          <a:bodyPr/>
          <a:lstStyle/>
          <a:p>
            <a:r>
              <a:rPr lang="en-US" dirty="0"/>
              <a:t>Scenario 2</a:t>
            </a:r>
          </a:p>
        </p:txBody>
      </p:sp>
      <p:sp>
        <p:nvSpPr>
          <p:cNvPr id="3" name="Content Placeholder 2">
            <a:extLst>
              <a:ext uri="{FF2B5EF4-FFF2-40B4-BE49-F238E27FC236}">
                <a16:creationId xmlns:a16="http://schemas.microsoft.com/office/drawing/2014/main" id="{3FB3A64A-B8B9-48B3-59F9-420CBB75F6FB}"/>
              </a:ext>
            </a:extLst>
          </p:cNvPr>
          <p:cNvSpPr>
            <a:spLocks noGrp="1"/>
          </p:cNvSpPr>
          <p:nvPr>
            <p:ph idx="1"/>
          </p:nvPr>
        </p:nvSpPr>
        <p:spPr>
          <a:xfrm>
            <a:off x="1160272" y="1137920"/>
            <a:ext cx="8595360" cy="4351337"/>
          </a:xfrm>
        </p:spPr>
        <p:txBody>
          <a:bodyPr>
            <a:noAutofit/>
          </a:bodyPr>
          <a:lstStyle/>
          <a:p>
            <a:pPr>
              <a:lnSpc>
                <a:spcPct val="150000"/>
              </a:lnSpc>
            </a:pPr>
            <a:r>
              <a:rPr lang="en-US" dirty="0"/>
              <a:t>You are the senior software engineer at a start-up company developing an exciting new product that will allow salespeople to generate and email sales quotes and customer invoices from their smartphones. Your company’s sales force has led a major corporation to believe your product will be available next week. Unfortunately, at this point the software still contains quite a few bugs. The leader of the testing group has reported that all of the known bugs appear to be minor, but it will take another month of testing for his team to be confident the product contains no catastrophic errors. Because of the fierce competition in the smartphone software industry, it is critical that your company be “first to market.” To the best of your knowledge, a well-established company will release a similar product in a few weeks. If its product appears first, your start-up company will probably go out of business.</a:t>
            </a:r>
          </a:p>
        </p:txBody>
      </p:sp>
    </p:spTree>
    <p:extLst>
      <p:ext uri="{BB962C8B-B14F-4D97-AF65-F5344CB8AC3E}">
        <p14:creationId xmlns:p14="http://schemas.microsoft.com/office/powerpoint/2010/main" val="2713968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EF8D0-F801-6C2D-3854-5B0897A700B1}"/>
              </a:ext>
            </a:extLst>
          </p:cNvPr>
          <p:cNvSpPr>
            <a:spLocks noGrp="1"/>
          </p:cNvSpPr>
          <p:nvPr>
            <p:ph type="title"/>
          </p:nvPr>
        </p:nvSpPr>
        <p:spPr/>
        <p:txBody>
          <a:bodyPr/>
          <a:lstStyle/>
          <a:p>
            <a:r>
              <a:rPr lang="en-US"/>
              <a:t>Questions</a:t>
            </a:r>
          </a:p>
        </p:txBody>
      </p:sp>
      <p:sp>
        <p:nvSpPr>
          <p:cNvPr id="3" name="Content Placeholder 2">
            <a:extLst>
              <a:ext uri="{FF2B5EF4-FFF2-40B4-BE49-F238E27FC236}">
                <a16:creationId xmlns:a16="http://schemas.microsoft.com/office/drawing/2014/main" id="{B5A76C93-BD43-4604-E265-533D34FB4252}"/>
              </a:ext>
            </a:extLst>
          </p:cNvPr>
          <p:cNvSpPr>
            <a:spLocks noGrp="1"/>
          </p:cNvSpPr>
          <p:nvPr>
            <p:ph idx="1"/>
          </p:nvPr>
        </p:nvSpPr>
        <p:spPr/>
        <p:txBody>
          <a:bodyPr>
            <a:normAutofit/>
          </a:bodyPr>
          <a:lstStyle/>
          <a:p>
            <a:pPr marL="342900" indent="-342900">
              <a:buFont typeface="+mj-lt"/>
              <a:buAutoNum type="arabicPeriod"/>
            </a:pPr>
            <a:r>
              <a:rPr lang="en-US" sz="2000" dirty="0"/>
              <a:t>Should you recommend release of the product next week? </a:t>
            </a:r>
          </a:p>
          <a:p>
            <a:pPr marL="342900" indent="-342900">
              <a:buFont typeface="+mj-lt"/>
              <a:buAutoNum type="arabicPeriod"/>
            </a:pPr>
            <a:r>
              <a:rPr lang="en-US" sz="2000" dirty="0"/>
              <a:t>Who will benefit if the company follows your recommendation? </a:t>
            </a:r>
          </a:p>
          <a:p>
            <a:pPr marL="342900" indent="-342900">
              <a:buFont typeface="+mj-lt"/>
              <a:buAutoNum type="arabicPeriod"/>
            </a:pPr>
            <a:r>
              <a:rPr lang="en-US" sz="2000" dirty="0"/>
              <a:t>Who will be harmed if the company follows your recommendation? </a:t>
            </a:r>
          </a:p>
          <a:p>
            <a:pPr marL="342900" indent="-342900">
              <a:buFont typeface="+mj-lt"/>
              <a:buAutoNum type="arabicPeriod"/>
            </a:pPr>
            <a:r>
              <a:rPr lang="en-US" sz="2000" dirty="0"/>
              <a:t>Do you have an obligation to any group of people that may be affected by your decision? </a:t>
            </a:r>
          </a:p>
          <a:p>
            <a:pPr marL="342900" indent="-342900">
              <a:buFont typeface="+mj-lt"/>
              <a:buAutoNum type="arabicPeriod"/>
            </a:pPr>
            <a:r>
              <a:rPr lang="en-US" sz="2000" dirty="0"/>
              <a:t>What additional information, if any, would help you answer the previous questions?</a:t>
            </a:r>
          </a:p>
        </p:txBody>
      </p:sp>
    </p:spTree>
    <p:extLst>
      <p:ext uri="{BB962C8B-B14F-4D97-AF65-F5344CB8AC3E}">
        <p14:creationId xmlns:p14="http://schemas.microsoft.com/office/powerpoint/2010/main" val="1855039039"/>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docProps/app.xml><?xml version="1.0" encoding="utf-8"?>
<Properties xmlns="http://schemas.openxmlformats.org/officeDocument/2006/extended-properties" xmlns:vt="http://schemas.openxmlformats.org/officeDocument/2006/docPropsVTypes">
  <Template>View</Template>
  <TotalTime>144</TotalTime>
  <Words>539</Words>
  <Application>Microsoft Office PowerPoint</Application>
  <PresentationFormat>Widescreen</PresentationFormat>
  <Paragraphs>21</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Century Schoolbook</vt:lpstr>
      <vt:lpstr>Wingdings 2</vt:lpstr>
      <vt:lpstr>View</vt:lpstr>
      <vt:lpstr>  CSC410 - Professional Practices in IT</vt:lpstr>
      <vt:lpstr>Scenarios</vt:lpstr>
      <vt:lpstr>Scenario 1</vt:lpstr>
      <vt:lpstr>Question</vt:lpstr>
      <vt:lpstr>Scenario 2</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DELL7490</dc:creator>
  <cp:lastModifiedBy>DELL7490</cp:lastModifiedBy>
  <cp:revision>2</cp:revision>
  <dcterms:created xsi:type="dcterms:W3CDTF">2024-09-10T05:43:46Z</dcterms:created>
  <dcterms:modified xsi:type="dcterms:W3CDTF">2024-09-10T08:08:37Z</dcterms:modified>
</cp:coreProperties>
</file>