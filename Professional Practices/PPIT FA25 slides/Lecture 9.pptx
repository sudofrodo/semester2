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98" r:id="rId3"/>
    <p:sldId id="319" r:id="rId4"/>
    <p:sldId id="366" r:id="rId5"/>
    <p:sldId id="367" r:id="rId6"/>
    <p:sldId id="368" r:id="rId7"/>
    <p:sldId id="369" r:id="rId8"/>
    <p:sldId id="370" r:id="rId9"/>
    <p:sldId id="371" r:id="rId10"/>
    <p:sldId id="372" r:id="rId11"/>
    <p:sldId id="373" r:id="rId12"/>
    <p:sldId id="365" r:id="rId13"/>
    <p:sldId id="374" r:id="rId14"/>
    <p:sldId id="375" r:id="rId15"/>
    <p:sldId id="376" r:id="rId16"/>
    <p:sldId id="377" r:id="rId17"/>
    <p:sldId id="378" r:id="rId18"/>
    <p:sldId id="379" r:id="rId19"/>
    <p:sldId id="380" r:id="rId20"/>
    <p:sldId id="381" r:id="rId21"/>
    <p:sldId id="382" r:id="rId22"/>
    <p:sldId id="383" r:id="rId23"/>
    <p:sldId id="384" r:id="rId24"/>
    <p:sldId id="385" r:id="rId25"/>
    <p:sldId id="386" r:id="rId26"/>
    <p:sldId id="387" r:id="rId27"/>
    <p:sldId id="388" r:id="rId28"/>
    <p:sldId id="389" r:id="rId29"/>
    <p:sldId id="390" r:id="rId30"/>
    <p:sldId id="318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63" d="100"/>
          <a:sy n="63" d="100"/>
        </p:scale>
        <p:origin x="79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C89DDC24-1FEE-4905-A4BB-4EDF390F8E64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C03D0C88-8BD2-49EF-8F30-00AA472DAC3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029015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DDC24-1FEE-4905-A4BB-4EDF390F8E64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D0C88-8BD2-49EF-8F30-00AA472DA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792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DDC24-1FEE-4905-A4BB-4EDF390F8E64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D0C88-8BD2-49EF-8F30-00AA472DAC3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3509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DDC24-1FEE-4905-A4BB-4EDF390F8E64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D0C88-8BD2-49EF-8F30-00AA472DA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073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DDC24-1FEE-4905-A4BB-4EDF390F8E64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D0C88-8BD2-49EF-8F30-00AA472DA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516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DDC24-1FEE-4905-A4BB-4EDF390F8E64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D0C88-8BD2-49EF-8F30-00AA472DA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078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DDC24-1FEE-4905-A4BB-4EDF390F8E64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D0C88-8BD2-49EF-8F30-00AA472DA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295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DDC24-1FEE-4905-A4BB-4EDF390F8E64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D0C88-8BD2-49EF-8F30-00AA472DA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522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DDC24-1FEE-4905-A4BB-4EDF390F8E64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D0C88-8BD2-49EF-8F30-00AA472DA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00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DDC24-1FEE-4905-A4BB-4EDF390F8E64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D0C88-8BD2-49EF-8F30-00AA472DA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137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DDC24-1FEE-4905-A4BB-4EDF390F8E64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D0C88-8BD2-49EF-8F30-00AA472DA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426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C89DDC24-1FEE-4905-A4BB-4EDF390F8E64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03D0C88-8BD2-49EF-8F30-00AA472DA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927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3A1C1-E1A9-A98F-18CB-E9EDC72BF5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668256" cy="4041648"/>
          </a:xfrm>
        </p:spPr>
        <p:txBody>
          <a:bodyPr/>
          <a:lstStyle/>
          <a:p>
            <a:r>
              <a:rPr lang="en-US" dirty="0"/>
              <a:t>CSC410 - Professional Practices in IT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BDF856-3239-C04C-F37F-C5B31B0C1A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dirty="0"/>
              <a:t>Instructor Name :  Sidra Nasir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383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0D64A-21CE-44F3-C623-B533E9F71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792" y="345440"/>
            <a:ext cx="9692640" cy="1280160"/>
          </a:xfrm>
        </p:spPr>
        <p:txBody>
          <a:bodyPr/>
          <a:lstStyle/>
          <a:p>
            <a:r>
              <a:rPr lang="en-US" dirty="0"/>
              <a:t>Today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5738B-C6E7-F94E-3D66-5CB720490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143760"/>
            <a:ext cx="8595360" cy="4036377"/>
          </a:xfrm>
        </p:spPr>
        <p:txBody>
          <a:bodyPr/>
          <a:lstStyle/>
          <a:p>
            <a:r>
              <a:rPr lang="en-US" sz="2400" dirty="0"/>
              <a:t>Protections for Software</a:t>
            </a:r>
          </a:p>
          <a:p>
            <a:r>
              <a:rPr lang="en-US" sz="2400" dirty="0"/>
              <a:t>Open-Source Software</a:t>
            </a:r>
          </a:p>
          <a:p>
            <a:r>
              <a:rPr lang="en-US" sz="2400" dirty="0"/>
              <a:t>Legitimacy of Intellectual Property Protection for Software</a:t>
            </a:r>
          </a:p>
          <a:p>
            <a:r>
              <a:rPr lang="en-US" sz="2400" dirty="0"/>
              <a:t>Creative Commons</a:t>
            </a:r>
          </a:p>
          <a:p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085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33E1F-029E-4732-F438-448F6B99C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592" y="2225040"/>
            <a:ext cx="9692640" cy="1325562"/>
          </a:xfrm>
        </p:spPr>
        <p:txBody>
          <a:bodyPr/>
          <a:lstStyle/>
          <a:p>
            <a:pPr algn="ctr"/>
            <a:r>
              <a:rPr lang="en-US" dirty="0"/>
              <a:t>Protections for Software</a:t>
            </a:r>
          </a:p>
        </p:txBody>
      </p:sp>
    </p:spTree>
    <p:extLst>
      <p:ext uri="{BB962C8B-B14F-4D97-AF65-F5344CB8AC3E}">
        <p14:creationId xmlns:p14="http://schemas.microsoft.com/office/powerpoint/2010/main" val="2731396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DE2C7-C489-106D-D211-305E20A79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2" y="503238"/>
            <a:ext cx="9692640" cy="1000442"/>
          </a:xfrm>
        </p:spPr>
        <p:txBody>
          <a:bodyPr/>
          <a:lstStyle/>
          <a:p>
            <a:r>
              <a:rPr lang="en-US" dirty="0"/>
              <a:t>Software Copyrights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A9204-6EA1-20B3-6AF5-ACBB13E08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Copyright protection began 1964 </a:t>
            </a:r>
          </a:p>
          <a:p>
            <a:r>
              <a:rPr lang="en-US" sz="2400" dirty="0"/>
              <a:t> What gets copyrighted?</a:t>
            </a:r>
          </a:p>
          <a:p>
            <a:pPr marL="274320" lvl="1" indent="0">
              <a:buNone/>
            </a:pPr>
            <a:r>
              <a:rPr lang="en-US" sz="2400" dirty="0"/>
              <a:t> – Expression of idea, not idea itself</a:t>
            </a:r>
          </a:p>
          <a:p>
            <a:pPr marL="274320" lvl="1" indent="0">
              <a:buNone/>
            </a:pPr>
            <a:r>
              <a:rPr lang="en-US" sz="2400" dirty="0"/>
              <a:t> – Object program, not source program </a:t>
            </a:r>
          </a:p>
          <a:p>
            <a:r>
              <a:rPr lang="en-US" sz="2400" dirty="0"/>
              <a:t> Companies treat source code as a trade secret</a:t>
            </a:r>
          </a:p>
        </p:txBody>
      </p:sp>
    </p:spTree>
    <p:extLst>
      <p:ext uri="{BB962C8B-B14F-4D97-AF65-F5344CB8AC3E}">
        <p14:creationId xmlns:p14="http://schemas.microsoft.com/office/powerpoint/2010/main" val="3506445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25FD4-ACA0-46ED-77E1-459B210B5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64160"/>
            <a:ext cx="9692640" cy="1117600"/>
          </a:xfrm>
        </p:spPr>
        <p:txBody>
          <a:bodyPr/>
          <a:lstStyle/>
          <a:p>
            <a:r>
              <a:rPr lang="en-US" dirty="0"/>
              <a:t>Violations of Software Copyrights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0FDA7-8E69-A201-4777-56DA88041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Copying a program to give or sell to someone else </a:t>
            </a:r>
          </a:p>
          <a:p>
            <a:r>
              <a:rPr lang="en-US" sz="2400" dirty="0"/>
              <a:t> Preloading a program onto the hard disk of a computer being sold </a:t>
            </a:r>
          </a:p>
          <a:p>
            <a:r>
              <a:rPr lang="en-US" sz="2400" dirty="0"/>
              <a:t> Distributing a program over the Internet</a:t>
            </a:r>
          </a:p>
        </p:txBody>
      </p:sp>
    </p:spTree>
    <p:extLst>
      <p:ext uri="{BB962C8B-B14F-4D97-AF65-F5344CB8AC3E}">
        <p14:creationId xmlns:p14="http://schemas.microsoft.com/office/powerpoint/2010/main" val="1598375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E2FEC-446F-3FFD-BD1D-04717F5A2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352" y="386080"/>
            <a:ext cx="9692640" cy="1087120"/>
          </a:xfrm>
        </p:spPr>
        <p:txBody>
          <a:bodyPr/>
          <a:lstStyle/>
          <a:p>
            <a:r>
              <a:rPr lang="en-US" dirty="0"/>
              <a:t>Important Court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274A5-AF20-180D-DECD-8A293B340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Apple Computer v. Franklin Computer </a:t>
            </a:r>
          </a:p>
          <a:p>
            <a:pPr marL="274320" lvl="1" indent="0">
              <a:buNone/>
            </a:pPr>
            <a:r>
              <a:rPr lang="en-US" sz="2400" dirty="0"/>
              <a:t>– Established that object programs are copyrightable </a:t>
            </a:r>
          </a:p>
          <a:p>
            <a:r>
              <a:rPr lang="en-US" sz="2400" dirty="0"/>
              <a:t>Sega v. Accolate</a:t>
            </a:r>
          </a:p>
          <a:p>
            <a:pPr marL="274320" lvl="1" indent="0">
              <a:buNone/>
            </a:pPr>
            <a:r>
              <a:rPr lang="en-US" sz="2400" dirty="0"/>
              <a:t>– Established that disassembling object code to determine technical specifications is fair use</a:t>
            </a:r>
          </a:p>
        </p:txBody>
      </p:sp>
    </p:spTree>
    <p:extLst>
      <p:ext uri="{BB962C8B-B14F-4D97-AF65-F5344CB8AC3E}">
        <p14:creationId xmlns:p14="http://schemas.microsoft.com/office/powerpoint/2010/main" val="1375660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03051-50DD-0CC9-BBD8-D0500632D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52" y="355600"/>
            <a:ext cx="9692640" cy="1016000"/>
          </a:xfrm>
        </p:spPr>
        <p:txBody>
          <a:bodyPr/>
          <a:lstStyle/>
          <a:p>
            <a:r>
              <a:rPr lang="en-US" dirty="0"/>
              <a:t>Safe Software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E21F6-9A30-ECE1-45BA-A9136C883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Reverse engineering okay </a:t>
            </a:r>
          </a:p>
          <a:p>
            <a:r>
              <a:rPr lang="en-US" sz="2400" dirty="0"/>
              <a:t>Companies must protect against unconscious copying </a:t>
            </a:r>
          </a:p>
          <a:p>
            <a:r>
              <a:rPr lang="en-US" sz="2400" dirty="0"/>
              <a:t> Solution: “clean room” software development strategy </a:t>
            </a:r>
          </a:p>
          <a:p>
            <a:pPr marL="548640" lvl="2" indent="0">
              <a:buNone/>
            </a:pPr>
            <a:r>
              <a:rPr lang="en-US" sz="2200" dirty="0"/>
              <a:t>– Team 1 analyzes competitor’s program and writes specification </a:t>
            </a:r>
          </a:p>
          <a:p>
            <a:pPr marL="548640" lvl="2" indent="0">
              <a:buNone/>
            </a:pPr>
            <a:r>
              <a:rPr lang="en-US" sz="2200" dirty="0"/>
              <a:t>– Team 2 uses specification to develop software</a:t>
            </a:r>
          </a:p>
        </p:txBody>
      </p:sp>
    </p:spTree>
    <p:extLst>
      <p:ext uri="{BB962C8B-B14F-4D97-AF65-F5344CB8AC3E}">
        <p14:creationId xmlns:p14="http://schemas.microsoft.com/office/powerpoint/2010/main" val="3105813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FE013-7A2C-B5D2-9CDD-9A6D964A7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72" y="406400"/>
            <a:ext cx="9692640" cy="985520"/>
          </a:xfrm>
        </p:spPr>
        <p:txBody>
          <a:bodyPr/>
          <a:lstStyle/>
          <a:p>
            <a:r>
              <a:rPr lang="en-US" dirty="0"/>
              <a:t>Software Patents (1/3)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C7C30-C9D8-AD69-2F12-C01C27C9D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Until 1981, Patent Office refused to grant software patents </a:t>
            </a:r>
          </a:p>
          <a:p>
            <a:pPr marL="274320" lvl="1" indent="0">
              <a:buNone/>
            </a:pPr>
            <a:r>
              <a:rPr lang="en-US" sz="2400" dirty="0"/>
              <a:t>– Saw programs as mathematical algorithms, not processes or machines</a:t>
            </a:r>
          </a:p>
          <a:p>
            <a:r>
              <a:rPr lang="en-US" sz="2400" dirty="0"/>
              <a:t>  U.S. Supreme Court decision led to first software patent in 1981</a:t>
            </a:r>
          </a:p>
          <a:p>
            <a:r>
              <a:rPr lang="en-US" sz="2400" dirty="0"/>
              <a:t> Further court rulings led to patents being granted for wider range of software</a:t>
            </a:r>
          </a:p>
        </p:txBody>
      </p:sp>
    </p:spTree>
    <p:extLst>
      <p:ext uri="{BB962C8B-B14F-4D97-AF65-F5344CB8AC3E}">
        <p14:creationId xmlns:p14="http://schemas.microsoft.com/office/powerpoint/2010/main" val="3400691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2883A-7D5D-9218-A3BE-29620E4EB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52" y="508000"/>
            <a:ext cx="9692640" cy="853440"/>
          </a:xfrm>
        </p:spPr>
        <p:txBody>
          <a:bodyPr/>
          <a:lstStyle/>
          <a:p>
            <a:r>
              <a:rPr lang="en-US" dirty="0"/>
              <a:t>Software Patents (2/3)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B8A9A-64B6-77D5-C3CC-E47DD0A31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Thousands of software patents now exist </a:t>
            </a:r>
          </a:p>
          <a:p>
            <a:pPr marL="274320" lvl="1" indent="0">
              <a:buNone/>
            </a:pPr>
            <a:r>
              <a:rPr lang="en-US" sz="2400" dirty="0"/>
              <a:t>– Microsoft files ~3,000 applications annually </a:t>
            </a:r>
          </a:p>
          <a:p>
            <a:pPr marL="274320" lvl="1" indent="0">
              <a:buNone/>
            </a:pPr>
            <a:r>
              <a:rPr lang="en-US" sz="2400" dirty="0"/>
              <a:t>– Licensing patents a source of revenue </a:t>
            </a:r>
          </a:p>
          <a:p>
            <a:pPr marL="0" indent="0">
              <a:buNone/>
            </a:pPr>
            <a:r>
              <a:rPr lang="en-US" sz="2400" dirty="0"/>
              <a:t>• Secondary market for software patents</a:t>
            </a:r>
          </a:p>
          <a:p>
            <a:pPr marL="274320" lvl="1" indent="0">
              <a:buNone/>
            </a:pPr>
            <a:r>
              <a:rPr lang="en-US" sz="2400" dirty="0"/>
              <a:t> – Patent trolls: Companies that specialize in buying 	patents and enforcing patent rights</a:t>
            </a:r>
          </a:p>
          <a:p>
            <a:pPr marL="274320" lvl="1" indent="0">
              <a:buNone/>
            </a:pPr>
            <a:r>
              <a:rPr lang="en-US" sz="2400" dirty="0"/>
              <a:t> – Companies would rather settle out of court than spend 	time and money going to trial</a:t>
            </a:r>
          </a:p>
          <a:p>
            <a:pPr marL="274320" lvl="1" indent="0">
              <a:buNone/>
            </a:pPr>
            <a:r>
              <a:rPr lang="en-US" sz="2400" dirty="0"/>
              <a:t> – RIM didn’t settle quickly; ended up paying $</a:t>
            </a:r>
            <a:r>
              <a:rPr lang="en-US" sz="2400"/>
              <a:t>612 	million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13612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AB5BD-39D7-4BEA-713D-A36FAB1DA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2" y="677863"/>
            <a:ext cx="9692640" cy="863600"/>
          </a:xfrm>
        </p:spPr>
        <p:txBody>
          <a:bodyPr/>
          <a:lstStyle/>
          <a:p>
            <a:r>
              <a:rPr lang="en-US" dirty="0"/>
              <a:t>Software Patents (3/3)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89843-2C3E-41D7-9B29-FA15058F5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Critics say too many patents have been issued </a:t>
            </a:r>
          </a:p>
          <a:p>
            <a:pPr marL="274320" lvl="1" indent="0">
              <a:buNone/>
            </a:pPr>
            <a:r>
              <a:rPr lang="en-US" sz="2400" dirty="0"/>
              <a:t>– Patent Office doesn’t know about prior art, so it issues bad software patents </a:t>
            </a:r>
          </a:p>
          <a:p>
            <a:pPr marL="274320" lvl="1" indent="0">
              <a:buNone/>
            </a:pPr>
            <a:r>
              <a:rPr lang="en-US" sz="2400" dirty="0"/>
              <a:t>– Obvious inventions get patents </a:t>
            </a:r>
          </a:p>
          <a:p>
            <a:r>
              <a:rPr lang="en-US" sz="2400" dirty="0"/>
              <a:t>Companies with new products fear getting sued for patent infringement</a:t>
            </a:r>
          </a:p>
          <a:p>
            <a:pPr marL="274320" lvl="1" indent="0">
              <a:buNone/>
            </a:pPr>
            <a:r>
              <a:rPr lang="en-US" sz="2400" dirty="0"/>
              <a:t> – Build stockpiles of patents as defense mechanism </a:t>
            </a:r>
          </a:p>
          <a:p>
            <a:pPr marL="274320" lvl="1" indent="0">
              <a:buNone/>
            </a:pPr>
            <a:r>
              <a:rPr lang="en-US" sz="2400" dirty="0"/>
              <a:t>– Software patents used as legal weapons • Bezos: software patents should expire in 3-5 years</a:t>
            </a:r>
          </a:p>
        </p:txBody>
      </p:sp>
    </p:spTree>
    <p:extLst>
      <p:ext uri="{BB962C8B-B14F-4D97-AF65-F5344CB8AC3E}">
        <p14:creationId xmlns:p14="http://schemas.microsoft.com/office/powerpoint/2010/main" val="1512817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13630-4C2A-3DB9-5DDD-7B87F705E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872" y="386080"/>
            <a:ext cx="9692640" cy="1483360"/>
          </a:xfrm>
        </p:spPr>
        <p:txBody>
          <a:bodyPr>
            <a:normAutofit/>
          </a:bodyPr>
          <a:lstStyle/>
          <a:p>
            <a:r>
              <a:rPr lang="en-US" dirty="0"/>
              <a:t>Key Differences between Software Copyrights and Software Patents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AFEE60-372A-2196-3ED4-6EBF20D277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2063" y="2509520"/>
            <a:ext cx="8594725" cy="2520603"/>
          </a:xfrm>
        </p:spPr>
      </p:pic>
    </p:spTree>
    <p:extLst>
      <p:ext uri="{BB962C8B-B14F-4D97-AF65-F5344CB8AC3E}">
        <p14:creationId xmlns:p14="http://schemas.microsoft.com/office/powerpoint/2010/main" val="2276701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2EE52-1CF7-905A-5618-A0D3FE0DC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112" y="2316480"/>
            <a:ext cx="9692640" cy="1325562"/>
          </a:xfrm>
        </p:spPr>
        <p:txBody>
          <a:bodyPr/>
          <a:lstStyle/>
          <a:p>
            <a:pPr algn="ctr"/>
            <a:r>
              <a:rPr lang="en-US" dirty="0"/>
              <a:t>Open-Source Software</a:t>
            </a:r>
          </a:p>
        </p:txBody>
      </p:sp>
    </p:spTree>
    <p:extLst>
      <p:ext uri="{BB962C8B-B14F-4D97-AF65-F5344CB8AC3E}">
        <p14:creationId xmlns:p14="http://schemas.microsoft.com/office/powerpoint/2010/main" val="2550836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340EA-FF9E-1E03-E4D3-2783D9F00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072" y="355600"/>
            <a:ext cx="9692640" cy="1330960"/>
          </a:xfrm>
        </p:spPr>
        <p:txBody>
          <a:bodyPr/>
          <a:lstStyle/>
          <a:p>
            <a:r>
              <a:rPr lang="en-US" dirty="0"/>
              <a:t>Criticisms of Proprietary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CB85B-0F90-DAB3-4443-D64D36F2E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021840"/>
            <a:ext cx="8595360" cy="4158297"/>
          </a:xfrm>
        </p:spPr>
        <p:txBody>
          <a:bodyPr>
            <a:normAutofit/>
          </a:bodyPr>
          <a:lstStyle/>
          <a:p>
            <a:r>
              <a:rPr lang="en-US" sz="2400" dirty="0"/>
              <a:t>Increasingly harsh measures being taken to enforce copyrights </a:t>
            </a:r>
          </a:p>
          <a:p>
            <a:r>
              <a:rPr lang="en-US" sz="2400" dirty="0"/>
              <a:t>Copyrights are not serving their purpose of promoting progress </a:t>
            </a:r>
          </a:p>
          <a:p>
            <a:r>
              <a:rPr lang="en-US" sz="2400" dirty="0"/>
              <a:t>It is wrong to allow someone to “own” a piece of intellectual property</a:t>
            </a:r>
          </a:p>
        </p:txBody>
      </p:sp>
    </p:spTree>
    <p:extLst>
      <p:ext uri="{BB962C8B-B14F-4D97-AF65-F5344CB8AC3E}">
        <p14:creationId xmlns:p14="http://schemas.microsoft.com/office/powerpoint/2010/main" val="582506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9D427-4F5F-D678-1D5A-D557E5447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872" y="538480"/>
            <a:ext cx="9692640" cy="904240"/>
          </a:xfrm>
        </p:spPr>
        <p:txBody>
          <a:bodyPr/>
          <a:lstStyle/>
          <a:p>
            <a:r>
              <a:rPr lang="en-US" dirty="0"/>
              <a:t>Open-Source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2A033-0EFB-E332-776E-F3FB6079B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 No restrictions preventing others from selling or giving away software</a:t>
            </a:r>
          </a:p>
          <a:p>
            <a:r>
              <a:rPr lang="en-US" sz="2400" dirty="0"/>
              <a:t> •Source code included in distribution </a:t>
            </a:r>
          </a:p>
          <a:p>
            <a:r>
              <a:rPr lang="en-US" sz="2400" dirty="0"/>
              <a:t> No restrictions preventing others from modifying source code </a:t>
            </a:r>
          </a:p>
          <a:p>
            <a:r>
              <a:rPr lang="en-US" sz="2400" dirty="0"/>
              <a:t> No restrictions regarding how people can use software </a:t>
            </a:r>
          </a:p>
          <a:p>
            <a:r>
              <a:rPr lang="en-US" sz="2400" dirty="0"/>
              <a:t> Same rights apply to everyone receiving redistributions of the software (copyleft)</a:t>
            </a:r>
          </a:p>
        </p:txBody>
      </p:sp>
    </p:spTree>
    <p:extLst>
      <p:ext uri="{BB962C8B-B14F-4D97-AF65-F5344CB8AC3E}">
        <p14:creationId xmlns:p14="http://schemas.microsoft.com/office/powerpoint/2010/main" val="8188895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4290A-DC71-68EC-450C-47DBB4E21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2" y="568960"/>
            <a:ext cx="9692640" cy="1056640"/>
          </a:xfrm>
        </p:spPr>
        <p:txBody>
          <a:bodyPr>
            <a:normAutofit fontScale="90000"/>
          </a:bodyPr>
          <a:lstStyle/>
          <a:p>
            <a:r>
              <a:rPr lang="en-US" dirty="0"/>
              <a:t>Beneficial Consequences of </a:t>
            </a:r>
            <a:r>
              <a:rPr lang="en-US" dirty="0" err="1"/>
              <a:t>OpenSource</a:t>
            </a:r>
            <a:r>
              <a:rPr lang="en-US" dirty="0"/>
              <a:t>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0669D-AD1B-C817-42F6-76F5BEDD8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Gives everyone opportunity to improve program </a:t>
            </a:r>
          </a:p>
          <a:p>
            <a:r>
              <a:rPr lang="en-US" sz="2400" dirty="0"/>
              <a:t> New versions of programs appear more frequently </a:t>
            </a:r>
          </a:p>
          <a:p>
            <a:r>
              <a:rPr lang="en-US" sz="2400" dirty="0"/>
              <a:t>Eliminates tension between obeying law and helping others </a:t>
            </a:r>
          </a:p>
          <a:p>
            <a:r>
              <a:rPr lang="en-US" sz="2400" dirty="0"/>
              <a:t>Programs belong to entire community </a:t>
            </a:r>
          </a:p>
          <a:p>
            <a:r>
              <a:rPr lang="en-US" sz="2400" dirty="0"/>
              <a:t> Shifts focus from manufacturing to service</a:t>
            </a:r>
          </a:p>
        </p:txBody>
      </p:sp>
    </p:spTree>
    <p:extLst>
      <p:ext uri="{BB962C8B-B14F-4D97-AF65-F5344CB8AC3E}">
        <p14:creationId xmlns:p14="http://schemas.microsoft.com/office/powerpoint/2010/main" val="19794943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0EB04-548A-2A83-DB1E-F4F44A8CB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152" y="487680"/>
            <a:ext cx="9692640" cy="934720"/>
          </a:xfrm>
        </p:spPr>
        <p:txBody>
          <a:bodyPr/>
          <a:lstStyle/>
          <a:p>
            <a:r>
              <a:rPr lang="en-US" dirty="0"/>
              <a:t>Examples of Open-Source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E0C62-FAD0-FF24-8CA5-DD0DD0E39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BIND </a:t>
            </a:r>
          </a:p>
          <a:p>
            <a:r>
              <a:rPr lang="en-US" sz="2400" dirty="0"/>
              <a:t>Apache </a:t>
            </a:r>
          </a:p>
          <a:p>
            <a:r>
              <a:rPr lang="en-US" sz="2400" dirty="0" err="1"/>
              <a:t>Sendmail</a:t>
            </a:r>
            <a:endParaRPr lang="en-US" sz="2400" dirty="0"/>
          </a:p>
          <a:p>
            <a:r>
              <a:rPr lang="en-US" sz="2400" dirty="0"/>
              <a:t> Android operating system for smartphones </a:t>
            </a:r>
          </a:p>
          <a:p>
            <a:r>
              <a:rPr lang="en-US" sz="2400" dirty="0"/>
              <a:t>Firefox and Chrome • OpenOffice.org </a:t>
            </a:r>
          </a:p>
          <a:p>
            <a:r>
              <a:rPr lang="en-US" sz="2400" dirty="0"/>
              <a:t>Perl, Python, Ruby, TCL/TK, PHP, </a:t>
            </a:r>
            <a:r>
              <a:rPr lang="en-US" sz="2400" dirty="0" err="1"/>
              <a:t>Zope</a:t>
            </a:r>
            <a:r>
              <a:rPr lang="en-US" sz="2400" dirty="0"/>
              <a:t> </a:t>
            </a:r>
          </a:p>
          <a:p>
            <a:r>
              <a:rPr lang="en-US" sz="2400" dirty="0"/>
              <a:t> GNU compilers for C, C++, Objective-C, Fortran, Java, and Ada</a:t>
            </a:r>
          </a:p>
        </p:txBody>
      </p:sp>
    </p:spTree>
    <p:extLst>
      <p:ext uri="{BB962C8B-B14F-4D97-AF65-F5344CB8AC3E}">
        <p14:creationId xmlns:p14="http://schemas.microsoft.com/office/powerpoint/2010/main" val="38952127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D47517-7CC8-BBA8-6E91-A3E015BB0E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1496" y="640080"/>
            <a:ext cx="7349536" cy="5577840"/>
          </a:xfrm>
        </p:spPr>
      </p:pic>
    </p:spTree>
    <p:extLst>
      <p:ext uri="{BB962C8B-B14F-4D97-AF65-F5344CB8AC3E}">
        <p14:creationId xmlns:p14="http://schemas.microsoft.com/office/powerpoint/2010/main" val="908536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B706A-5E9B-578B-8D1E-1E2E80998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832" y="426720"/>
            <a:ext cx="9692640" cy="1076960"/>
          </a:xfrm>
        </p:spPr>
        <p:txBody>
          <a:bodyPr/>
          <a:lstStyle/>
          <a:p>
            <a:r>
              <a:rPr lang="en-US" dirty="0"/>
              <a:t>GNU Project and Linux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1FB37-CDF1-619F-2210-E022244FF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GNU Project</a:t>
            </a:r>
          </a:p>
          <a:p>
            <a:pPr marL="274320" lvl="1" indent="0">
              <a:buNone/>
            </a:pPr>
            <a:r>
              <a:rPr lang="en-US" sz="2400" dirty="0"/>
              <a:t> – Begun by Richard Stallman in 1984 </a:t>
            </a:r>
          </a:p>
          <a:p>
            <a:pPr marL="274320" lvl="1" indent="0">
              <a:buNone/>
            </a:pPr>
            <a:r>
              <a:rPr lang="en-US" sz="2400" dirty="0"/>
              <a:t>– Goal: Develop open-source, Unix-like operating system</a:t>
            </a:r>
          </a:p>
          <a:p>
            <a:pPr marL="274320" lvl="1" indent="0">
              <a:buNone/>
            </a:pPr>
            <a:r>
              <a:rPr lang="en-US" sz="2400" dirty="0"/>
              <a:t> – Most components developed in late 1980s </a:t>
            </a:r>
          </a:p>
          <a:p>
            <a:r>
              <a:rPr lang="en-US" sz="2400" dirty="0"/>
              <a:t> Linux – Linus Torvalds wrote Unix-like kernel in 1991</a:t>
            </a:r>
          </a:p>
          <a:p>
            <a:pPr marL="274320" lvl="1" indent="0">
              <a:buNone/>
            </a:pPr>
            <a:r>
              <a:rPr lang="en-US" sz="2400" dirty="0"/>
              <a:t> – Combined with GNU components to make an O.S.</a:t>
            </a:r>
          </a:p>
          <a:p>
            <a:pPr marL="274320" lvl="1" indent="0">
              <a:buNone/>
            </a:pPr>
            <a:r>
              <a:rPr lang="en-US" sz="2400" dirty="0"/>
              <a:t> – Commonly called Linux</a:t>
            </a:r>
          </a:p>
        </p:txBody>
      </p:sp>
    </p:spTree>
    <p:extLst>
      <p:ext uri="{BB962C8B-B14F-4D97-AF65-F5344CB8AC3E}">
        <p14:creationId xmlns:p14="http://schemas.microsoft.com/office/powerpoint/2010/main" val="21338796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ABE89-AD58-55B8-8C3F-3FD133A72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432" y="457200"/>
            <a:ext cx="9692640" cy="1107440"/>
          </a:xfrm>
        </p:spPr>
        <p:txBody>
          <a:bodyPr/>
          <a:lstStyle/>
          <a:p>
            <a:r>
              <a:rPr lang="en-US" dirty="0"/>
              <a:t>Impact of Open-Source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9479B-AF53-CDBF-5E1B-6F0580D53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214880"/>
            <a:ext cx="8595360" cy="3965257"/>
          </a:xfrm>
        </p:spPr>
        <p:txBody>
          <a:bodyPr>
            <a:normAutofit/>
          </a:bodyPr>
          <a:lstStyle/>
          <a:p>
            <a:r>
              <a:rPr lang="en-US" sz="2400" dirty="0"/>
              <a:t>Linux an alternative to proprietary versions of Unix </a:t>
            </a:r>
          </a:p>
          <a:p>
            <a:r>
              <a:rPr lang="en-US" sz="2400" dirty="0"/>
              <a:t> Linux operating system on 95% of the world’s 500 fastest supercomputers</a:t>
            </a:r>
          </a:p>
        </p:txBody>
      </p:sp>
    </p:spTree>
    <p:extLst>
      <p:ext uri="{BB962C8B-B14F-4D97-AF65-F5344CB8AC3E}">
        <p14:creationId xmlns:p14="http://schemas.microsoft.com/office/powerpoint/2010/main" val="34833881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30A2A-1B5B-C519-C2C4-797FF4824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952" y="406400"/>
            <a:ext cx="9692640" cy="117856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Crititique</a:t>
            </a:r>
            <a:r>
              <a:rPr lang="en-US" dirty="0"/>
              <a:t> of the Open-Source Software Movement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3CAF5-8BB5-8351-968E-FDE9DE181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Without critical mass of developers, quality can be poor </a:t>
            </a:r>
          </a:p>
          <a:p>
            <a:r>
              <a:rPr lang="en-US" sz="2400" dirty="0"/>
              <a:t>Without an “owner,” incompatible versions may arise </a:t>
            </a:r>
          </a:p>
          <a:p>
            <a:r>
              <a:rPr lang="en-US" sz="2400" dirty="0"/>
              <a:t>Relatively weak graphical user interface </a:t>
            </a:r>
          </a:p>
          <a:p>
            <a:r>
              <a:rPr lang="en-US" sz="2400" dirty="0"/>
              <a:t>Poor mechanism for stimulating innovation (no companies will spend billions on new programs)</a:t>
            </a:r>
          </a:p>
        </p:txBody>
      </p:sp>
    </p:spTree>
    <p:extLst>
      <p:ext uri="{BB962C8B-B14F-4D97-AF65-F5344CB8AC3E}">
        <p14:creationId xmlns:p14="http://schemas.microsoft.com/office/powerpoint/2010/main" val="38904896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D5F9E-7997-801F-AE8F-12B542DD9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552" y="2766219"/>
            <a:ext cx="9692640" cy="1325562"/>
          </a:xfrm>
        </p:spPr>
        <p:txBody>
          <a:bodyPr/>
          <a:lstStyle/>
          <a:p>
            <a:pPr algn="ctr"/>
            <a:r>
              <a:rPr lang="en-US" dirty="0"/>
              <a:t>Legitimacy of Intellectual Property Protection for Software</a:t>
            </a:r>
          </a:p>
        </p:txBody>
      </p:sp>
    </p:spTree>
    <p:extLst>
      <p:ext uri="{BB962C8B-B14F-4D97-AF65-F5344CB8AC3E}">
        <p14:creationId xmlns:p14="http://schemas.microsoft.com/office/powerpoint/2010/main" val="37028875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C75FF-6BAE-A89B-D7A5-E14F42A70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2" y="406400"/>
            <a:ext cx="9692640" cy="1325562"/>
          </a:xfrm>
        </p:spPr>
        <p:txBody>
          <a:bodyPr/>
          <a:lstStyle/>
          <a:p>
            <a:r>
              <a:rPr lang="en-US" dirty="0"/>
              <a:t>Do We Have the Right System in Place?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CE79B-7CFF-A24F-8D18-0863BF308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Software licenses typically prevent you from making copies of software to sell or give away </a:t>
            </a:r>
          </a:p>
          <a:p>
            <a:r>
              <a:rPr lang="en-US" sz="2400" dirty="0"/>
              <a:t>Software licenses are legal agreements </a:t>
            </a:r>
          </a:p>
          <a:p>
            <a:r>
              <a:rPr lang="en-US" sz="2400" dirty="0"/>
              <a:t> Not discussing morality of breaking the law </a:t>
            </a:r>
          </a:p>
          <a:p>
            <a:r>
              <a:rPr lang="en-US" sz="2400" dirty="0"/>
              <a:t>Discussing whether society should give intellectual property protection to software</a:t>
            </a:r>
          </a:p>
        </p:txBody>
      </p:sp>
    </p:spTree>
    <p:extLst>
      <p:ext uri="{BB962C8B-B14F-4D97-AF65-F5344CB8AC3E}">
        <p14:creationId xmlns:p14="http://schemas.microsoft.com/office/powerpoint/2010/main" val="42492347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12FF5-DB59-99CE-83C8-753CF256E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112" y="436880"/>
            <a:ext cx="9692640" cy="1056640"/>
          </a:xfrm>
        </p:spPr>
        <p:txBody>
          <a:bodyPr/>
          <a:lstStyle/>
          <a:p>
            <a:r>
              <a:rPr lang="en-US" dirty="0"/>
              <a:t>Rights-based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163E3-0F9D-5978-E596-BBC03DA5E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 “Just deserts” argument</a:t>
            </a:r>
          </a:p>
          <a:p>
            <a:pPr marL="274320" lvl="1" indent="0">
              <a:buNone/>
            </a:pPr>
            <a:r>
              <a:rPr lang="en-US" sz="2400" dirty="0"/>
              <a:t> – Programming is hard work that only a few can do</a:t>
            </a:r>
          </a:p>
          <a:p>
            <a:pPr marL="274320" lvl="1" indent="0">
              <a:buNone/>
            </a:pPr>
            <a:r>
              <a:rPr lang="en-US" sz="2400" dirty="0"/>
              <a:t> – Programmers should be rewarded for their labor </a:t>
            </a:r>
          </a:p>
          <a:p>
            <a:pPr marL="274320" lvl="1" indent="0">
              <a:buNone/>
            </a:pPr>
            <a:r>
              <a:rPr lang="en-US" sz="2400" dirty="0"/>
              <a:t>– They ought to be able to own their programs </a:t>
            </a:r>
          </a:p>
          <a:p>
            <a:r>
              <a:rPr lang="en-US" sz="2400" dirty="0"/>
              <a:t>Criticism of “just deserts” argument</a:t>
            </a:r>
          </a:p>
          <a:p>
            <a:pPr marL="274320" lvl="1" indent="0">
              <a:buNone/>
            </a:pPr>
            <a:r>
              <a:rPr lang="en-US" sz="2400" dirty="0"/>
              <a:t> – Why does labor imply ownership?</a:t>
            </a:r>
          </a:p>
          <a:p>
            <a:pPr marL="274320" lvl="1" indent="0">
              <a:buNone/>
            </a:pPr>
            <a:r>
              <a:rPr lang="en-US" sz="2400" dirty="0"/>
              <a:t> – Can imagine a just society in which all labor went to common good – Intellectual property not like physical property</a:t>
            </a:r>
          </a:p>
        </p:txBody>
      </p:sp>
    </p:spTree>
    <p:extLst>
      <p:ext uri="{BB962C8B-B14F-4D97-AF65-F5344CB8AC3E}">
        <p14:creationId xmlns:p14="http://schemas.microsoft.com/office/powerpoint/2010/main" val="28962231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7C260-06F3-CF44-1273-0D0C1E9C6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Consequentialist Argument Why </a:t>
            </a:r>
            <a:br>
              <a:rPr lang="en-US" dirty="0"/>
            </a:br>
            <a:r>
              <a:rPr lang="en-US" dirty="0"/>
              <a:t>Software Copying Is Bad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4F937A-F09F-85CF-F783-BF3CAE2E5E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2063" y="2700586"/>
            <a:ext cx="8594725" cy="2607765"/>
          </a:xfrm>
        </p:spPr>
      </p:pic>
    </p:spTree>
    <p:extLst>
      <p:ext uri="{BB962C8B-B14F-4D97-AF65-F5344CB8AC3E}">
        <p14:creationId xmlns:p14="http://schemas.microsoft.com/office/powerpoint/2010/main" val="23432239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42478-65B7-9DDD-7C8B-44D4053D2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2" y="314960"/>
            <a:ext cx="9692640" cy="883920"/>
          </a:xfrm>
        </p:spPr>
        <p:txBody>
          <a:bodyPr/>
          <a:lstStyle/>
          <a:p>
            <a:r>
              <a:rPr lang="en-US" dirty="0"/>
              <a:t>Utilitarian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68082-75D3-80F5-F6F2-D610B1815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270000"/>
            <a:ext cx="8595360" cy="4910137"/>
          </a:xfrm>
        </p:spPr>
        <p:txBody>
          <a:bodyPr>
            <a:noAutofit/>
          </a:bodyPr>
          <a:lstStyle/>
          <a:p>
            <a:r>
              <a:rPr lang="en-US" sz="2400" dirty="0"/>
              <a:t>Argument against copying </a:t>
            </a:r>
          </a:p>
          <a:p>
            <a:pPr marL="274320" lvl="1" indent="0">
              <a:buNone/>
            </a:pPr>
            <a:r>
              <a:rPr lang="en-US" sz="2400" dirty="0"/>
              <a:t>– Copying software reduces software purchases… </a:t>
            </a:r>
          </a:p>
          <a:p>
            <a:pPr marL="274320" lvl="1" indent="0">
              <a:buNone/>
            </a:pPr>
            <a:r>
              <a:rPr lang="en-US" sz="2400" dirty="0"/>
              <a:t>– Leading to less income for software makers… </a:t>
            </a:r>
          </a:p>
          <a:p>
            <a:pPr marL="274320" lvl="1" indent="0">
              <a:buNone/>
            </a:pPr>
            <a:r>
              <a:rPr lang="en-US" sz="2400" dirty="0"/>
              <a:t>– Leading to lower production of new software… </a:t>
            </a:r>
          </a:p>
          <a:p>
            <a:pPr marL="274320" lvl="1" indent="0">
              <a:buNone/>
            </a:pPr>
            <a:r>
              <a:rPr lang="en-US" sz="2400" dirty="0"/>
              <a:t>– Leading to fewer benefits to society </a:t>
            </a:r>
          </a:p>
          <a:p>
            <a:r>
              <a:rPr lang="en-US" sz="2400" dirty="0"/>
              <a:t>Each of these claims can be debated </a:t>
            </a:r>
          </a:p>
          <a:p>
            <a:pPr marL="274320" lvl="1" indent="0">
              <a:buNone/>
            </a:pPr>
            <a:r>
              <a:rPr lang="en-US" sz="2400" dirty="0"/>
              <a:t>– Not all who get free copies can afford to buy software </a:t>
            </a:r>
          </a:p>
          <a:p>
            <a:pPr marL="274320" lvl="1" indent="0">
              <a:buNone/>
            </a:pPr>
            <a:r>
              <a:rPr lang="en-US" sz="2400" dirty="0"/>
              <a:t>– Open-source movement demonstrates many people are </a:t>
            </a:r>
          </a:p>
          <a:p>
            <a:pPr marL="274320" lvl="1" indent="0">
              <a:buNone/>
            </a:pPr>
            <a:r>
              <a:rPr lang="en-US" sz="2400" dirty="0"/>
              <a:t>willing to donate their software-writing skills </a:t>
            </a:r>
          </a:p>
          <a:p>
            <a:pPr marL="274320" lvl="1" indent="0">
              <a:buNone/>
            </a:pPr>
            <a:r>
              <a:rPr lang="en-US" sz="2400" dirty="0"/>
              <a:t>– Hardware industry wants to stimulate software industry </a:t>
            </a:r>
          </a:p>
          <a:p>
            <a:pPr marL="274320" lvl="1" indent="0">
              <a:buNone/>
            </a:pPr>
            <a:r>
              <a:rPr lang="en-US" sz="2400" dirty="0"/>
              <a:t>– Difficult to quantify how much society would be harmed if certain software packages not released</a:t>
            </a:r>
          </a:p>
        </p:txBody>
      </p:sp>
    </p:spTree>
    <p:extLst>
      <p:ext uri="{BB962C8B-B14F-4D97-AF65-F5344CB8AC3E}">
        <p14:creationId xmlns:p14="http://schemas.microsoft.com/office/powerpoint/2010/main" val="14992278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4A3F8-A3E4-5E13-866F-975DD7F84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912" y="223520"/>
            <a:ext cx="9692640" cy="1107440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3A3A0-FBDC-15BC-4AAD-D886D11C6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Natural rights argument weak </a:t>
            </a:r>
          </a:p>
          <a:p>
            <a:r>
              <a:rPr lang="en-US" sz="2400" dirty="0"/>
              <a:t>Utilitarian argument not strong, either </a:t>
            </a:r>
          </a:p>
          <a:p>
            <a:r>
              <a:rPr lang="en-US" sz="2400" dirty="0"/>
              <a:t>Nevertheless, society has granted copyright protection to owners of computer programs </a:t>
            </a:r>
          </a:p>
          <a:p>
            <a:r>
              <a:rPr lang="en-US" sz="2400" dirty="0"/>
              <a:t>Breaking the law is wrong unless there is a strong overriding moral obligation or consequence</a:t>
            </a:r>
          </a:p>
        </p:txBody>
      </p:sp>
    </p:spTree>
    <p:extLst>
      <p:ext uri="{BB962C8B-B14F-4D97-AF65-F5344CB8AC3E}">
        <p14:creationId xmlns:p14="http://schemas.microsoft.com/office/powerpoint/2010/main" val="19238567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779AD-5281-5131-C359-C6902A9A6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392" y="2357120"/>
            <a:ext cx="9692640" cy="1325562"/>
          </a:xfrm>
        </p:spPr>
        <p:txBody>
          <a:bodyPr/>
          <a:lstStyle/>
          <a:p>
            <a:pPr algn="ctr"/>
            <a:r>
              <a:rPr lang="en-US" dirty="0"/>
              <a:t>Creative Commons</a:t>
            </a:r>
          </a:p>
        </p:txBody>
      </p:sp>
    </p:spTree>
    <p:extLst>
      <p:ext uri="{BB962C8B-B14F-4D97-AF65-F5344CB8AC3E}">
        <p14:creationId xmlns:p14="http://schemas.microsoft.com/office/powerpoint/2010/main" val="1008463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4F00D-F8E2-EFD8-F8B9-3299457F2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712" y="436880"/>
            <a:ext cx="9692640" cy="965200"/>
          </a:xfrm>
        </p:spPr>
        <p:txBody>
          <a:bodyPr/>
          <a:lstStyle/>
          <a:p>
            <a:r>
              <a:rPr lang="en-US" dirty="0"/>
              <a:t>Streamlining Creative Re-use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46D01-2795-7327-1836-E03E8DE84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584960"/>
            <a:ext cx="8595360" cy="4595177"/>
          </a:xfrm>
        </p:spPr>
        <p:txBody>
          <a:bodyPr>
            <a:noAutofit/>
          </a:bodyPr>
          <a:lstStyle/>
          <a:p>
            <a:r>
              <a:rPr lang="en-US" sz="2400" dirty="0"/>
              <a:t> Under current copyright law, eligible works are copyrighted the moment they are created </a:t>
            </a:r>
          </a:p>
          <a:p>
            <a:r>
              <a:rPr lang="en-US" sz="2400" dirty="0"/>
              <a:t>No copyright notice does not mean it’s okay to copy </a:t>
            </a:r>
          </a:p>
          <a:p>
            <a:r>
              <a:rPr lang="en-US" sz="2400" dirty="0"/>
              <a:t>Must contact people before using work </a:t>
            </a:r>
          </a:p>
          <a:p>
            <a:r>
              <a:rPr lang="en-US" sz="2400" dirty="0"/>
              <a:t>That slows down creative re-use </a:t>
            </a:r>
          </a:p>
          <a:p>
            <a:r>
              <a:rPr lang="en-US" sz="2400" dirty="0"/>
              <a:t>Free Creative Commons license indicates </a:t>
            </a:r>
          </a:p>
          <a:p>
            <a:pPr marL="274320" lvl="1" indent="0">
              <a:buNone/>
            </a:pPr>
            <a:r>
              <a:rPr lang="en-US" sz="2400" dirty="0"/>
              <a:t>– Which kinds of copying are okay </a:t>
            </a:r>
          </a:p>
          <a:p>
            <a:pPr marL="274320" lvl="1" indent="0">
              <a:buNone/>
            </a:pPr>
            <a:r>
              <a:rPr lang="en-US" sz="2400" dirty="0"/>
              <a:t>– Which rights are being retained </a:t>
            </a:r>
          </a:p>
          <a:p>
            <a:r>
              <a:rPr lang="en-US" sz="2400" dirty="0"/>
              <a:t> Flickr and </a:t>
            </a:r>
            <a:r>
              <a:rPr lang="en-US" sz="2400" dirty="0" err="1"/>
              <a:t>Magnatune</a:t>
            </a:r>
            <a:r>
              <a:rPr lang="en-US" sz="2400" dirty="0"/>
              <a:t> two well-known sites using Creative Commons licenses</a:t>
            </a:r>
          </a:p>
        </p:txBody>
      </p:sp>
    </p:spTree>
    <p:extLst>
      <p:ext uri="{BB962C8B-B14F-4D97-AF65-F5344CB8AC3E}">
        <p14:creationId xmlns:p14="http://schemas.microsoft.com/office/powerpoint/2010/main" val="37197707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2390DB-C736-02BE-51F7-57802FC3BD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4114" y="907891"/>
            <a:ext cx="5028062" cy="5042218"/>
          </a:xfrm>
        </p:spPr>
      </p:pic>
    </p:spTree>
    <p:extLst>
      <p:ext uri="{BB962C8B-B14F-4D97-AF65-F5344CB8AC3E}">
        <p14:creationId xmlns:p14="http://schemas.microsoft.com/office/powerpoint/2010/main" val="17419112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8C0A6-6C3F-F0F7-10B0-506C3D219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552" y="2672080"/>
            <a:ext cx="9692640" cy="1325562"/>
          </a:xfrm>
        </p:spPr>
        <p:txBody>
          <a:bodyPr/>
          <a:lstStyle/>
          <a:p>
            <a:pPr algn="ctr"/>
            <a:r>
              <a:rPr lang="en-US" dirty="0"/>
              <a:t>End of Lecture</a:t>
            </a:r>
          </a:p>
        </p:txBody>
      </p:sp>
    </p:spTree>
    <p:extLst>
      <p:ext uri="{BB962C8B-B14F-4D97-AF65-F5344CB8AC3E}">
        <p14:creationId xmlns:p14="http://schemas.microsoft.com/office/powerpoint/2010/main" val="1429924545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2785</TotalTime>
  <Words>1034</Words>
  <Application>Microsoft Office PowerPoint</Application>
  <PresentationFormat>Widescreen</PresentationFormat>
  <Paragraphs>134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Century Schoolbook</vt:lpstr>
      <vt:lpstr>Wingdings 2</vt:lpstr>
      <vt:lpstr>View</vt:lpstr>
      <vt:lpstr>CSC410 - Professional Practices in IT</vt:lpstr>
      <vt:lpstr>Today Topics</vt:lpstr>
      <vt:lpstr>Protections for Software</vt:lpstr>
      <vt:lpstr>Software Copyrights</vt:lpstr>
      <vt:lpstr>Violations of Software Copyrights</vt:lpstr>
      <vt:lpstr>Important Court Cases</vt:lpstr>
      <vt:lpstr>Safe Software Development</vt:lpstr>
      <vt:lpstr>Software Patents (1/3)</vt:lpstr>
      <vt:lpstr>Software Patents (2/3)</vt:lpstr>
      <vt:lpstr>Software Patents (3/3)</vt:lpstr>
      <vt:lpstr>Key Differences between Software Copyrights and Software Patents</vt:lpstr>
      <vt:lpstr>Open-Source Software</vt:lpstr>
      <vt:lpstr>Criticisms of Proprietary Software</vt:lpstr>
      <vt:lpstr>Open-Source Definition</vt:lpstr>
      <vt:lpstr>Beneficial Consequences of OpenSource Software</vt:lpstr>
      <vt:lpstr>Examples of Open-Source Software</vt:lpstr>
      <vt:lpstr>PowerPoint Presentation</vt:lpstr>
      <vt:lpstr>GNU Project and Linux</vt:lpstr>
      <vt:lpstr>Impact of Open-Source Software</vt:lpstr>
      <vt:lpstr>Crititique of the Open-Source Software Movement</vt:lpstr>
      <vt:lpstr>Legitimacy of Intellectual Property Protection for Software</vt:lpstr>
      <vt:lpstr>Do We Have the Right System in Place?</vt:lpstr>
      <vt:lpstr>Rights-based Analysis</vt:lpstr>
      <vt:lpstr>A Consequentialist Argument Why  Software Copying Is Bad</vt:lpstr>
      <vt:lpstr>Utilitarian Analysis</vt:lpstr>
      <vt:lpstr>Conclusion</vt:lpstr>
      <vt:lpstr>Creative Commons</vt:lpstr>
      <vt:lpstr>Streamlining Creative Re-use</vt:lpstr>
      <vt:lpstr>PowerPoint Presentation</vt:lpstr>
      <vt:lpstr>End of Lecture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DELL7490</dc:creator>
  <cp:lastModifiedBy>DELL7490</cp:lastModifiedBy>
  <cp:revision>209</cp:revision>
  <dcterms:created xsi:type="dcterms:W3CDTF">2024-09-16T10:53:45Z</dcterms:created>
  <dcterms:modified xsi:type="dcterms:W3CDTF">2024-10-03T09:25:58Z</dcterms:modified>
</cp:coreProperties>
</file>