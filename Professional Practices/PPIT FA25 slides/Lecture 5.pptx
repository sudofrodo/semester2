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98" r:id="rId3"/>
    <p:sldId id="306" r:id="rId4"/>
    <p:sldId id="257" r:id="rId5"/>
    <p:sldId id="300" r:id="rId6"/>
    <p:sldId id="301" r:id="rId7"/>
    <p:sldId id="299" r:id="rId8"/>
    <p:sldId id="302" r:id="rId9"/>
    <p:sldId id="303" r:id="rId10"/>
    <p:sldId id="304" r:id="rId11"/>
    <p:sldId id="305" r:id="rId12"/>
    <p:sldId id="258" r:id="rId13"/>
    <p:sldId id="259" r:id="rId14"/>
    <p:sldId id="260" r:id="rId15"/>
    <p:sldId id="261" r:id="rId16"/>
    <p:sldId id="262" r:id="rId17"/>
    <p:sldId id="307"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308"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C89DDC24-1FEE-4905-A4BB-4EDF390F8E64}" type="datetimeFigureOut">
              <a:rPr lang="en-US" smtClean="0"/>
              <a:t>9/20/2024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C03D0C88-8BD2-49EF-8F30-00AA472DAC3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0290156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895792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9DDC24-1FEE-4905-A4BB-4EDF390F8E64}"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3509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9DDC24-1FEE-4905-A4BB-4EDF390F8E64}" type="datetimeFigureOut">
              <a:rPr lang="en-US" smtClean="0"/>
              <a:t>9/20/2024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1443073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9DDC24-1FEE-4905-A4BB-4EDF390F8E64}" type="datetimeFigureOut">
              <a:rPr lang="en-US" smtClean="0"/>
              <a:t>9/20/2024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64451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9DDC24-1FEE-4905-A4BB-4EDF390F8E64}" type="datetimeFigureOut">
              <a:rPr lang="en-US" smtClean="0"/>
              <a:t>9/20/2024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314078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9DDC24-1FEE-4905-A4BB-4EDF390F8E64}" type="datetimeFigureOut">
              <a:rPr lang="en-US" smtClean="0"/>
              <a:t>9/20/2024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598295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9DDC24-1FEE-4905-A4BB-4EDF390F8E64}" type="datetimeFigureOut">
              <a:rPr lang="en-US" smtClean="0"/>
              <a:t>9/20/2024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314522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9DDC24-1FEE-4905-A4BB-4EDF390F8E64}" type="datetimeFigureOut">
              <a:rPr lang="en-US" smtClean="0"/>
              <a:t>9/20/2024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03200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934137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9/20/2024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1904426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C89DDC24-1FEE-4905-A4BB-4EDF390F8E64}" type="datetimeFigureOut">
              <a:rPr lang="en-US" smtClean="0"/>
              <a:t>9/20/2024</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C03D0C88-8BD2-49EF-8F30-00AA472DAC31}" type="slidenum">
              <a:rPr lang="en-US" smtClean="0"/>
              <a:t>‹#›</a:t>
            </a:fld>
            <a:endParaRPr lang="en-US"/>
          </a:p>
        </p:txBody>
      </p:sp>
    </p:spTree>
    <p:extLst>
      <p:ext uri="{BB962C8B-B14F-4D97-AF65-F5344CB8AC3E}">
        <p14:creationId xmlns:p14="http://schemas.microsoft.com/office/powerpoint/2010/main" val="273292777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3A1C1-E1A9-A98F-18CB-E9EDC72BF523}"/>
              </a:ext>
            </a:extLst>
          </p:cNvPr>
          <p:cNvSpPr>
            <a:spLocks noGrp="1"/>
          </p:cNvSpPr>
          <p:nvPr>
            <p:ph type="ctrTitle"/>
          </p:nvPr>
        </p:nvSpPr>
        <p:spPr>
          <a:xfrm>
            <a:off x="1261872" y="758952"/>
            <a:ext cx="9668256" cy="4041648"/>
          </a:xfrm>
        </p:spPr>
        <p:txBody>
          <a:bodyPr/>
          <a:lstStyle/>
          <a:p>
            <a:r>
              <a:rPr lang="en-US" dirty="0"/>
              <a:t>CSC410 - Professional Practices in IT</a:t>
            </a:r>
          </a:p>
        </p:txBody>
      </p:sp>
      <p:sp>
        <p:nvSpPr>
          <p:cNvPr id="3" name="Subtitle 2">
            <a:extLst>
              <a:ext uri="{FF2B5EF4-FFF2-40B4-BE49-F238E27FC236}">
                <a16:creationId xmlns:a16="http://schemas.microsoft.com/office/drawing/2014/main" id="{2DBDF856-3239-C04C-F37F-C5B31B0C1A57}"/>
              </a:ext>
            </a:extLst>
          </p:cNvPr>
          <p:cNvSpPr>
            <a:spLocks noGrp="1"/>
          </p:cNvSpPr>
          <p:nvPr>
            <p:ph type="subTitle" idx="1"/>
          </p:nvPr>
        </p:nvSpPr>
        <p:spPr/>
        <p:txBody>
          <a:bodyPr/>
          <a:lstStyle/>
          <a:p>
            <a:r>
              <a:rPr lang="en-US" sz="2400" dirty="0"/>
              <a:t>Instructor Name :  Sidra Nasir</a:t>
            </a:r>
            <a:endParaRPr lang="en-US" dirty="0"/>
          </a:p>
          <a:p>
            <a:endParaRPr lang="en-US" dirty="0"/>
          </a:p>
          <a:p>
            <a:endParaRPr lang="en-US" dirty="0"/>
          </a:p>
        </p:txBody>
      </p:sp>
    </p:spTree>
    <p:extLst>
      <p:ext uri="{BB962C8B-B14F-4D97-AF65-F5344CB8AC3E}">
        <p14:creationId xmlns:p14="http://schemas.microsoft.com/office/powerpoint/2010/main" val="1005383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D64A-21CE-44F3-C623-B533E9F71A1B}"/>
              </a:ext>
            </a:extLst>
          </p:cNvPr>
          <p:cNvSpPr>
            <a:spLocks noGrp="1"/>
          </p:cNvSpPr>
          <p:nvPr>
            <p:ph type="title"/>
          </p:nvPr>
        </p:nvSpPr>
        <p:spPr/>
        <p:txBody>
          <a:bodyPr/>
          <a:lstStyle/>
          <a:p>
            <a:r>
              <a:rPr lang="en-US" dirty="0"/>
              <a:t>Today Topics</a:t>
            </a:r>
          </a:p>
        </p:txBody>
      </p:sp>
      <p:sp>
        <p:nvSpPr>
          <p:cNvPr id="3" name="Content Placeholder 2">
            <a:extLst>
              <a:ext uri="{FF2B5EF4-FFF2-40B4-BE49-F238E27FC236}">
                <a16:creationId xmlns:a16="http://schemas.microsoft.com/office/drawing/2014/main" id="{60A5738B-C6E7-F94E-3D66-5CB720490DE4}"/>
              </a:ext>
            </a:extLst>
          </p:cNvPr>
          <p:cNvSpPr>
            <a:spLocks noGrp="1"/>
          </p:cNvSpPr>
          <p:nvPr>
            <p:ph idx="1"/>
          </p:nvPr>
        </p:nvSpPr>
        <p:spPr/>
        <p:txBody>
          <a:bodyPr/>
          <a:lstStyle/>
          <a:p>
            <a:r>
              <a:rPr lang="en-US" sz="2400" dirty="0"/>
              <a:t>Social Implications of Computing &amp; Networked Communications</a:t>
            </a:r>
          </a:p>
          <a:p>
            <a:r>
              <a:rPr lang="en-US" sz="2400" dirty="0"/>
              <a:t>Impact of Social Media on Individualism; and Collectivism &amp; Culture</a:t>
            </a:r>
          </a:p>
          <a:p>
            <a:r>
              <a:rPr lang="en-US" sz="2400" dirty="0"/>
              <a:t>Moral issues associated with our use of the Internet and the telephone system</a:t>
            </a:r>
          </a:p>
          <a:p>
            <a:r>
              <a:rPr lang="en-US" sz="2400" dirty="0"/>
              <a:t>Spam </a:t>
            </a:r>
          </a:p>
          <a:p>
            <a:r>
              <a:rPr lang="en-US" sz="2400" dirty="0"/>
              <a:t>Internet Interactions</a:t>
            </a:r>
          </a:p>
          <a:p>
            <a:r>
              <a:rPr lang="en-US" sz="2400" dirty="0"/>
              <a:t>Text Messaging</a:t>
            </a:r>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135208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EF4B5-0EEA-226F-3E00-9DB0CD34E972}"/>
              </a:ext>
            </a:extLst>
          </p:cNvPr>
          <p:cNvSpPr>
            <a:spLocks noGrp="1"/>
          </p:cNvSpPr>
          <p:nvPr>
            <p:ph type="title"/>
          </p:nvPr>
        </p:nvSpPr>
        <p:spPr>
          <a:xfrm>
            <a:off x="723392" y="365760"/>
            <a:ext cx="9692640" cy="1325562"/>
          </a:xfrm>
        </p:spPr>
        <p:txBody>
          <a:bodyPr/>
          <a:lstStyle/>
          <a:p>
            <a:r>
              <a:rPr lang="en-US" dirty="0"/>
              <a:t>Networked Communications</a:t>
            </a:r>
          </a:p>
        </p:txBody>
      </p:sp>
      <p:sp>
        <p:nvSpPr>
          <p:cNvPr id="3" name="Content Placeholder 2">
            <a:extLst>
              <a:ext uri="{FF2B5EF4-FFF2-40B4-BE49-F238E27FC236}">
                <a16:creationId xmlns:a16="http://schemas.microsoft.com/office/drawing/2014/main" id="{1126B1FE-0F4C-6965-C7BF-465691FCAE71}"/>
              </a:ext>
            </a:extLst>
          </p:cNvPr>
          <p:cNvSpPr>
            <a:spLocks noGrp="1"/>
          </p:cNvSpPr>
          <p:nvPr>
            <p:ph idx="1"/>
          </p:nvPr>
        </p:nvSpPr>
        <p:spPr>
          <a:xfrm>
            <a:off x="1261872" y="2021840"/>
            <a:ext cx="8595360" cy="4158297"/>
          </a:xfrm>
        </p:spPr>
        <p:txBody>
          <a:bodyPr>
            <a:normAutofit/>
          </a:bodyPr>
          <a:lstStyle/>
          <a:p>
            <a:r>
              <a:rPr lang="en-US" sz="2400" dirty="0"/>
              <a:t>Networked communication has deeply integrated into modern life, enhancing interactions and tasks.</a:t>
            </a:r>
          </a:p>
          <a:p>
            <a:r>
              <a:rPr lang="en-US" sz="2400" dirty="0"/>
              <a:t>While it offers many benefits, it also brings challenges like spam, misuse, and censorship.</a:t>
            </a:r>
          </a:p>
          <a:p>
            <a:r>
              <a:rPr lang="en-US" sz="2400" dirty="0"/>
              <a:t>Understanding the ethical implications is key to managing its role in society.</a:t>
            </a:r>
          </a:p>
        </p:txBody>
      </p:sp>
    </p:spTree>
    <p:extLst>
      <p:ext uri="{BB962C8B-B14F-4D97-AF65-F5344CB8AC3E}">
        <p14:creationId xmlns:p14="http://schemas.microsoft.com/office/powerpoint/2010/main" val="2423707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339C-122B-D055-6AAC-A542C01B73CF}"/>
              </a:ext>
            </a:extLst>
          </p:cNvPr>
          <p:cNvSpPr>
            <a:spLocks noGrp="1"/>
          </p:cNvSpPr>
          <p:nvPr>
            <p:ph type="title"/>
          </p:nvPr>
        </p:nvSpPr>
        <p:spPr>
          <a:xfrm>
            <a:off x="713232" y="386080"/>
            <a:ext cx="9692640" cy="1325562"/>
          </a:xfrm>
        </p:spPr>
        <p:txBody>
          <a:bodyPr>
            <a:normAutofit fontScale="90000"/>
          </a:bodyPr>
          <a:lstStyle/>
          <a:p>
            <a:r>
              <a:rPr lang="en-US" dirty="0"/>
              <a:t>Far More People Have Access to Cell </a:t>
            </a:r>
            <a:br>
              <a:rPr lang="en-US" dirty="0"/>
            </a:br>
            <a:r>
              <a:rPr lang="en-US" dirty="0"/>
              <a:t>Phones than Electricity or Clean Water</a:t>
            </a:r>
          </a:p>
        </p:txBody>
      </p:sp>
      <p:pic>
        <p:nvPicPr>
          <p:cNvPr id="5" name="Content Placeholder 4">
            <a:extLst>
              <a:ext uri="{FF2B5EF4-FFF2-40B4-BE49-F238E27FC236}">
                <a16:creationId xmlns:a16="http://schemas.microsoft.com/office/drawing/2014/main" id="{57C22D01-D037-94AF-DF65-A9FC23CA0E18}"/>
              </a:ext>
            </a:extLst>
          </p:cNvPr>
          <p:cNvPicPr>
            <a:picLocks noGrp="1" noChangeAspect="1"/>
          </p:cNvPicPr>
          <p:nvPr>
            <p:ph idx="1"/>
          </p:nvPr>
        </p:nvPicPr>
        <p:blipFill>
          <a:blip r:embed="rId2"/>
          <a:stretch>
            <a:fillRect/>
          </a:stretch>
        </p:blipFill>
        <p:spPr>
          <a:xfrm>
            <a:off x="2342176" y="1828800"/>
            <a:ext cx="6434498" cy="4351338"/>
          </a:xfrm>
        </p:spPr>
      </p:pic>
    </p:spTree>
    <p:extLst>
      <p:ext uri="{BB962C8B-B14F-4D97-AF65-F5344CB8AC3E}">
        <p14:creationId xmlns:p14="http://schemas.microsoft.com/office/powerpoint/2010/main" val="1090577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A7B86-320C-B2D9-E755-6657757ECDF1}"/>
              </a:ext>
            </a:extLst>
          </p:cNvPr>
          <p:cNvSpPr>
            <a:spLocks noGrp="1"/>
          </p:cNvSpPr>
          <p:nvPr>
            <p:ph type="title"/>
          </p:nvPr>
        </p:nvSpPr>
        <p:spPr>
          <a:xfrm>
            <a:off x="692912" y="2354739"/>
            <a:ext cx="9692640" cy="2148522"/>
          </a:xfrm>
        </p:spPr>
        <p:txBody>
          <a:bodyPr>
            <a:normAutofit/>
          </a:bodyPr>
          <a:lstStyle/>
          <a:p>
            <a:r>
              <a:rPr lang="en-US" dirty="0"/>
              <a:t>Social Implications of Computing &amp; Networked Communications</a:t>
            </a:r>
            <a:br>
              <a:rPr lang="en-US" dirty="0"/>
            </a:br>
            <a:endParaRPr lang="en-US" dirty="0"/>
          </a:p>
        </p:txBody>
      </p:sp>
    </p:spTree>
    <p:extLst>
      <p:ext uri="{BB962C8B-B14F-4D97-AF65-F5344CB8AC3E}">
        <p14:creationId xmlns:p14="http://schemas.microsoft.com/office/powerpoint/2010/main" val="3780734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4B24-24EE-14D7-87A3-1CBA7C8FBFF7}"/>
              </a:ext>
            </a:extLst>
          </p:cNvPr>
          <p:cNvSpPr>
            <a:spLocks noGrp="1"/>
          </p:cNvSpPr>
          <p:nvPr>
            <p:ph type="title"/>
          </p:nvPr>
        </p:nvSpPr>
        <p:spPr>
          <a:xfrm>
            <a:off x="1028192" y="677863"/>
            <a:ext cx="9692640" cy="1958339"/>
          </a:xfrm>
        </p:spPr>
        <p:txBody>
          <a:bodyPr>
            <a:normAutofit/>
          </a:bodyPr>
          <a:lstStyle/>
          <a:p>
            <a:r>
              <a:rPr lang="en-US" dirty="0"/>
              <a:t>Social Implications of Computing &amp; Networked Communications</a:t>
            </a:r>
            <a:br>
              <a:rPr lang="en-US" dirty="0"/>
            </a:br>
            <a:endParaRPr lang="en-US" dirty="0"/>
          </a:p>
        </p:txBody>
      </p:sp>
      <p:sp>
        <p:nvSpPr>
          <p:cNvPr id="3" name="Content Placeholder 2">
            <a:extLst>
              <a:ext uri="{FF2B5EF4-FFF2-40B4-BE49-F238E27FC236}">
                <a16:creationId xmlns:a16="http://schemas.microsoft.com/office/drawing/2014/main" id="{928C33B4-D0BA-8258-F9E7-FD0765423155}"/>
              </a:ext>
            </a:extLst>
          </p:cNvPr>
          <p:cNvSpPr>
            <a:spLocks noGrp="1"/>
          </p:cNvSpPr>
          <p:nvPr>
            <p:ph idx="1"/>
          </p:nvPr>
        </p:nvSpPr>
        <p:spPr>
          <a:xfrm>
            <a:off x="1261872" y="2636202"/>
            <a:ext cx="8595360" cy="3543935"/>
          </a:xfrm>
        </p:spPr>
        <p:txBody>
          <a:bodyPr>
            <a:normAutofit/>
          </a:bodyPr>
          <a:lstStyle/>
          <a:p>
            <a:r>
              <a:rPr lang="en-US" sz="2400" dirty="0"/>
              <a:t>Refer to the ways in which technologies like the internet, computers, and digital networks affect society.</a:t>
            </a:r>
          </a:p>
          <a:p>
            <a:r>
              <a:rPr lang="en-US" sz="2400" dirty="0"/>
              <a:t> These impacts are both positive and negative.</a:t>
            </a:r>
          </a:p>
          <a:p>
            <a:pPr marL="0" indent="0">
              <a:buNone/>
            </a:pPr>
            <a:endParaRPr lang="en-US" sz="2400" dirty="0"/>
          </a:p>
        </p:txBody>
      </p:sp>
    </p:spTree>
    <p:extLst>
      <p:ext uri="{BB962C8B-B14F-4D97-AF65-F5344CB8AC3E}">
        <p14:creationId xmlns:p14="http://schemas.microsoft.com/office/powerpoint/2010/main" val="6810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D152D-291E-5327-78F9-412F3C7F726F}"/>
              </a:ext>
            </a:extLst>
          </p:cNvPr>
          <p:cNvSpPr>
            <a:spLocks noGrp="1"/>
          </p:cNvSpPr>
          <p:nvPr>
            <p:ph type="title"/>
          </p:nvPr>
        </p:nvSpPr>
        <p:spPr>
          <a:xfrm>
            <a:off x="885952" y="396240"/>
            <a:ext cx="9692640" cy="1325562"/>
          </a:xfrm>
        </p:spPr>
        <p:txBody>
          <a:bodyPr/>
          <a:lstStyle/>
          <a:p>
            <a:r>
              <a:rPr lang="en-US" dirty="0"/>
              <a:t>Improved Communication and Connectivity</a:t>
            </a:r>
          </a:p>
        </p:txBody>
      </p:sp>
      <p:sp>
        <p:nvSpPr>
          <p:cNvPr id="3" name="Content Placeholder 2">
            <a:extLst>
              <a:ext uri="{FF2B5EF4-FFF2-40B4-BE49-F238E27FC236}">
                <a16:creationId xmlns:a16="http://schemas.microsoft.com/office/drawing/2014/main" id="{139AE68E-D8DB-C186-0C5C-228C82A5E624}"/>
              </a:ext>
            </a:extLst>
          </p:cNvPr>
          <p:cNvSpPr>
            <a:spLocks noGrp="1"/>
          </p:cNvSpPr>
          <p:nvPr>
            <p:ph idx="1"/>
          </p:nvPr>
        </p:nvSpPr>
        <p:spPr>
          <a:xfrm>
            <a:off x="1190752" y="2110423"/>
            <a:ext cx="8595360" cy="4351337"/>
          </a:xfrm>
        </p:spPr>
        <p:txBody>
          <a:bodyPr>
            <a:normAutofit/>
          </a:bodyPr>
          <a:lstStyle/>
          <a:p>
            <a:r>
              <a:rPr lang="en-US" sz="2400" dirty="0"/>
              <a:t>Positive: Instant global communication and collaboration</a:t>
            </a:r>
          </a:p>
          <a:p>
            <a:r>
              <a:rPr lang="en-US" sz="2400" dirty="0"/>
              <a:t>Negative: Reduced face-to-face interactions and potential isolation</a:t>
            </a:r>
          </a:p>
        </p:txBody>
      </p:sp>
    </p:spTree>
    <p:extLst>
      <p:ext uri="{BB962C8B-B14F-4D97-AF65-F5344CB8AC3E}">
        <p14:creationId xmlns:p14="http://schemas.microsoft.com/office/powerpoint/2010/main" val="2808431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72494-EE74-B6C1-0347-397E1323ACAE}"/>
              </a:ext>
            </a:extLst>
          </p:cNvPr>
          <p:cNvSpPr>
            <a:spLocks noGrp="1"/>
          </p:cNvSpPr>
          <p:nvPr>
            <p:ph type="title"/>
          </p:nvPr>
        </p:nvSpPr>
        <p:spPr>
          <a:xfrm>
            <a:off x="764032" y="436880"/>
            <a:ext cx="9692640" cy="1280160"/>
          </a:xfrm>
        </p:spPr>
        <p:txBody>
          <a:bodyPr/>
          <a:lstStyle/>
          <a:p>
            <a:r>
              <a:rPr lang="en-US" dirty="0"/>
              <a:t>Access to Information and Education</a:t>
            </a:r>
          </a:p>
        </p:txBody>
      </p:sp>
      <p:sp>
        <p:nvSpPr>
          <p:cNvPr id="3" name="Content Placeholder 2">
            <a:extLst>
              <a:ext uri="{FF2B5EF4-FFF2-40B4-BE49-F238E27FC236}">
                <a16:creationId xmlns:a16="http://schemas.microsoft.com/office/drawing/2014/main" id="{A2CB467D-C5A8-4CD8-D217-334F6A99670F}"/>
              </a:ext>
            </a:extLst>
          </p:cNvPr>
          <p:cNvSpPr>
            <a:spLocks noGrp="1"/>
          </p:cNvSpPr>
          <p:nvPr>
            <p:ph idx="1"/>
          </p:nvPr>
        </p:nvSpPr>
        <p:spPr>
          <a:xfrm>
            <a:off x="1261872" y="2255520"/>
            <a:ext cx="8595360" cy="3924617"/>
          </a:xfrm>
        </p:spPr>
        <p:txBody>
          <a:bodyPr>
            <a:normAutofit/>
          </a:bodyPr>
          <a:lstStyle/>
          <a:p>
            <a:r>
              <a:rPr lang="en-US" sz="2400" dirty="0"/>
              <a:t>Positive: Easier access to information and online learning</a:t>
            </a:r>
          </a:p>
          <a:p>
            <a:r>
              <a:rPr lang="en-US" sz="2400" dirty="0"/>
              <a:t>Negative: Spread of misinformation and false knowledge</a:t>
            </a:r>
          </a:p>
          <a:p>
            <a:endParaRPr lang="en-US" sz="2400" dirty="0"/>
          </a:p>
        </p:txBody>
      </p:sp>
    </p:spTree>
    <p:extLst>
      <p:ext uri="{BB962C8B-B14F-4D97-AF65-F5344CB8AC3E}">
        <p14:creationId xmlns:p14="http://schemas.microsoft.com/office/powerpoint/2010/main" val="3141763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24AB7-4924-D25F-8CD4-4DAD4FE44250}"/>
              </a:ext>
            </a:extLst>
          </p:cNvPr>
          <p:cNvSpPr>
            <a:spLocks noGrp="1"/>
          </p:cNvSpPr>
          <p:nvPr>
            <p:ph type="title"/>
          </p:nvPr>
        </p:nvSpPr>
        <p:spPr/>
        <p:txBody>
          <a:bodyPr/>
          <a:lstStyle/>
          <a:p>
            <a:r>
              <a:rPr lang="en-US" dirty="0"/>
              <a:t>Privacy and Security Concerns</a:t>
            </a:r>
          </a:p>
        </p:txBody>
      </p:sp>
      <p:sp>
        <p:nvSpPr>
          <p:cNvPr id="3" name="Content Placeholder 2">
            <a:extLst>
              <a:ext uri="{FF2B5EF4-FFF2-40B4-BE49-F238E27FC236}">
                <a16:creationId xmlns:a16="http://schemas.microsoft.com/office/drawing/2014/main" id="{D88AC528-C1B0-7C8D-D7BF-29F4012CB2D4}"/>
              </a:ext>
            </a:extLst>
          </p:cNvPr>
          <p:cNvSpPr>
            <a:spLocks noGrp="1"/>
          </p:cNvSpPr>
          <p:nvPr>
            <p:ph idx="1"/>
          </p:nvPr>
        </p:nvSpPr>
        <p:spPr>
          <a:xfrm>
            <a:off x="1261872" y="1991360"/>
            <a:ext cx="8595360" cy="4188777"/>
          </a:xfrm>
        </p:spPr>
        <p:txBody>
          <a:bodyPr>
            <a:normAutofit/>
          </a:bodyPr>
          <a:lstStyle/>
          <a:p>
            <a:r>
              <a:rPr lang="en-US" sz="2400" dirty="0"/>
              <a:t>Positive: Secure transactions and data management</a:t>
            </a:r>
          </a:p>
          <a:p>
            <a:r>
              <a:rPr lang="en-US" sz="2400" dirty="0"/>
              <a:t>Negative: Privacy issues, data breaches, and mass surveillance</a:t>
            </a:r>
          </a:p>
          <a:p>
            <a:endParaRPr lang="en-US" sz="2400" dirty="0"/>
          </a:p>
        </p:txBody>
      </p:sp>
    </p:spTree>
    <p:extLst>
      <p:ext uri="{BB962C8B-B14F-4D97-AF65-F5344CB8AC3E}">
        <p14:creationId xmlns:p14="http://schemas.microsoft.com/office/powerpoint/2010/main" val="1640801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161D6-395B-435A-ACD2-77EDBE85551E}"/>
              </a:ext>
            </a:extLst>
          </p:cNvPr>
          <p:cNvSpPr>
            <a:spLocks noGrp="1"/>
          </p:cNvSpPr>
          <p:nvPr>
            <p:ph type="title"/>
          </p:nvPr>
        </p:nvSpPr>
        <p:spPr>
          <a:xfrm>
            <a:off x="703072" y="457200"/>
            <a:ext cx="9692640" cy="1107440"/>
          </a:xfrm>
        </p:spPr>
        <p:txBody>
          <a:bodyPr/>
          <a:lstStyle/>
          <a:p>
            <a:r>
              <a:rPr lang="en-US" dirty="0"/>
              <a:t>Social Interactions and Relationships</a:t>
            </a:r>
          </a:p>
        </p:txBody>
      </p:sp>
      <p:sp>
        <p:nvSpPr>
          <p:cNvPr id="3" name="Content Placeholder 2">
            <a:extLst>
              <a:ext uri="{FF2B5EF4-FFF2-40B4-BE49-F238E27FC236}">
                <a16:creationId xmlns:a16="http://schemas.microsoft.com/office/drawing/2014/main" id="{61037EAC-B80B-CEC2-9E82-E5BE70186401}"/>
              </a:ext>
            </a:extLst>
          </p:cNvPr>
          <p:cNvSpPr>
            <a:spLocks noGrp="1"/>
          </p:cNvSpPr>
          <p:nvPr>
            <p:ph idx="1"/>
          </p:nvPr>
        </p:nvSpPr>
        <p:spPr/>
        <p:txBody>
          <a:bodyPr>
            <a:normAutofit/>
          </a:bodyPr>
          <a:lstStyle/>
          <a:p>
            <a:r>
              <a:rPr lang="en-US" sz="2400" dirty="0"/>
              <a:t>Positive: Social media builds communities and connections</a:t>
            </a:r>
          </a:p>
          <a:p>
            <a:r>
              <a:rPr lang="en-US" sz="2400" dirty="0"/>
              <a:t>Negative: Social comparison, cyberbullying, and reduced personal interaction</a:t>
            </a:r>
          </a:p>
          <a:p>
            <a:endParaRPr lang="en-US" sz="2400" dirty="0"/>
          </a:p>
        </p:txBody>
      </p:sp>
    </p:spTree>
    <p:extLst>
      <p:ext uri="{BB962C8B-B14F-4D97-AF65-F5344CB8AC3E}">
        <p14:creationId xmlns:p14="http://schemas.microsoft.com/office/powerpoint/2010/main" val="538745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E76D-3EC7-746C-A75D-36E440C90AD6}"/>
              </a:ext>
            </a:extLst>
          </p:cNvPr>
          <p:cNvSpPr>
            <a:spLocks noGrp="1"/>
          </p:cNvSpPr>
          <p:nvPr>
            <p:ph type="title"/>
          </p:nvPr>
        </p:nvSpPr>
        <p:spPr>
          <a:xfrm>
            <a:off x="804672" y="365760"/>
            <a:ext cx="9692640" cy="1325562"/>
          </a:xfrm>
        </p:spPr>
        <p:txBody>
          <a:bodyPr>
            <a:normAutofit fontScale="90000"/>
          </a:bodyPr>
          <a:lstStyle/>
          <a:p>
            <a:r>
              <a:rPr lang="en-US" dirty="0"/>
              <a:t>Impact of Social Media on Individualism; and Collectivism &amp; Culture. </a:t>
            </a:r>
          </a:p>
        </p:txBody>
      </p:sp>
      <p:sp>
        <p:nvSpPr>
          <p:cNvPr id="3" name="Content Placeholder 2">
            <a:extLst>
              <a:ext uri="{FF2B5EF4-FFF2-40B4-BE49-F238E27FC236}">
                <a16:creationId xmlns:a16="http://schemas.microsoft.com/office/drawing/2014/main" id="{4BD3C800-C0CD-ABD1-F2F7-FA79BCD60600}"/>
              </a:ext>
            </a:extLst>
          </p:cNvPr>
          <p:cNvSpPr>
            <a:spLocks noGrp="1"/>
          </p:cNvSpPr>
          <p:nvPr>
            <p:ph idx="1"/>
          </p:nvPr>
        </p:nvSpPr>
        <p:spPr/>
        <p:txBody>
          <a:bodyPr/>
          <a:lstStyle/>
          <a:p>
            <a:r>
              <a:rPr lang="en-US" sz="2400" dirty="0"/>
              <a:t>Individualism: Social media empowers personal expression and self-promotion, allowing users to craft unique online identities but can sometimes lead to isolation.</a:t>
            </a:r>
          </a:p>
          <a:p>
            <a:r>
              <a:rPr lang="en-US" sz="2400" dirty="0"/>
              <a:t>Collectivism: It strengthens community bonds and collective movements, enabling group efforts, but can also create echo chambers that limit diverse perspectives.</a:t>
            </a:r>
          </a:p>
          <a:p>
            <a:r>
              <a:rPr lang="en-US" sz="2400" dirty="0"/>
              <a:t>Cultural Impact: Social media fosters cultural exchange and awareness globally, but can dilute local traditions and lead to cultural appropriation</a:t>
            </a:r>
            <a:r>
              <a:rPr lang="en-US" dirty="0"/>
              <a:t>.</a:t>
            </a:r>
          </a:p>
        </p:txBody>
      </p:sp>
    </p:spTree>
    <p:extLst>
      <p:ext uri="{BB962C8B-B14F-4D97-AF65-F5344CB8AC3E}">
        <p14:creationId xmlns:p14="http://schemas.microsoft.com/office/powerpoint/2010/main" val="3762111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51664-78EC-4115-F614-79971CD70AB7}"/>
              </a:ext>
            </a:extLst>
          </p:cNvPr>
          <p:cNvSpPr>
            <a:spLocks noGrp="1"/>
          </p:cNvSpPr>
          <p:nvPr>
            <p:ph type="title"/>
          </p:nvPr>
        </p:nvSpPr>
        <p:spPr>
          <a:xfrm>
            <a:off x="774192" y="2296160"/>
            <a:ext cx="9692640" cy="1325562"/>
          </a:xfrm>
        </p:spPr>
        <p:txBody>
          <a:bodyPr>
            <a:normAutofit fontScale="90000"/>
          </a:bodyPr>
          <a:lstStyle/>
          <a:p>
            <a:pPr algn="ctr"/>
            <a:r>
              <a:rPr lang="en-US" dirty="0"/>
              <a:t>Moral issues associated with our use of the Internet and the telephone system</a:t>
            </a:r>
          </a:p>
        </p:txBody>
      </p:sp>
    </p:spTree>
    <p:extLst>
      <p:ext uri="{BB962C8B-B14F-4D97-AF65-F5344CB8AC3E}">
        <p14:creationId xmlns:p14="http://schemas.microsoft.com/office/powerpoint/2010/main" val="1279428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58F9-84D0-DEF6-D179-A3194149FEC7}"/>
              </a:ext>
            </a:extLst>
          </p:cNvPr>
          <p:cNvSpPr>
            <a:spLocks noGrp="1"/>
          </p:cNvSpPr>
          <p:nvPr>
            <p:ph type="title"/>
          </p:nvPr>
        </p:nvSpPr>
        <p:spPr/>
        <p:txBody>
          <a:bodyPr/>
          <a:lstStyle/>
          <a:p>
            <a:r>
              <a:rPr lang="en-US" dirty="0"/>
              <a:t>The Spam Epidemic (1/3)</a:t>
            </a:r>
          </a:p>
        </p:txBody>
      </p:sp>
      <p:sp>
        <p:nvSpPr>
          <p:cNvPr id="3" name="Content Placeholder 2">
            <a:extLst>
              <a:ext uri="{FF2B5EF4-FFF2-40B4-BE49-F238E27FC236}">
                <a16:creationId xmlns:a16="http://schemas.microsoft.com/office/drawing/2014/main" id="{811E58AD-5FFA-102A-9151-51D823397E80}"/>
              </a:ext>
            </a:extLst>
          </p:cNvPr>
          <p:cNvSpPr>
            <a:spLocks noGrp="1"/>
          </p:cNvSpPr>
          <p:nvPr>
            <p:ph idx="1"/>
          </p:nvPr>
        </p:nvSpPr>
        <p:spPr>
          <a:xfrm>
            <a:off x="1261872" y="1981200"/>
            <a:ext cx="8595360" cy="4117657"/>
          </a:xfrm>
        </p:spPr>
        <p:txBody>
          <a:bodyPr>
            <a:normAutofit/>
          </a:bodyPr>
          <a:lstStyle/>
          <a:p>
            <a:pPr marL="0" indent="0">
              <a:buNone/>
            </a:pPr>
            <a:endParaRPr lang="en-US" sz="2400" dirty="0"/>
          </a:p>
          <a:p>
            <a:r>
              <a:rPr lang="en-US" sz="2400" dirty="0"/>
              <a:t>Spam: Unsolicited, bulk email </a:t>
            </a:r>
          </a:p>
          <a:p>
            <a:r>
              <a:rPr lang="en-US" sz="2400" dirty="0"/>
              <a:t>Spam is profitable</a:t>
            </a:r>
          </a:p>
          <a:p>
            <a:pPr marL="274320" lvl="1" indent="0">
              <a:buNone/>
            </a:pPr>
            <a:r>
              <a:rPr lang="en-US" sz="2200" dirty="0"/>
              <a:t> – More than 100 times cheaper than “junk mail”</a:t>
            </a:r>
          </a:p>
          <a:p>
            <a:pPr marL="274320" lvl="1" indent="0">
              <a:buNone/>
            </a:pPr>
            <a:r>
              <a:rPr lang="en-US" sz="2200" dirty="0"/>
              <a:t> – Profitable even if only 1 in 100,000 buys product </a:t>
            </a:r>
          </a:p>
          <a:p>
            <a:r>
              <a:rPr lang="en-US" sz="2400" dirty="0"/>
              <a:t>Amount of email that is spam has ballooned – 8% in 2001 – 90% in 2009 </a:t>
            </a:r>
          </a:p>
        </p:txBody>
      </p:sp>
    </p:spTree>
    <p:extLst>
      <p:ext uri="{BB962C8B-B14F-4D97-AF65-F5344CB8AC3E}">
        <p14:creationId xmlns:p14="http://schemas.microsoft.com/office/powerpoint/2010/main" val="164613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92583-5555-3A0B-44F9-875204A5C144}"/>
              </a:ext>
            </a:extLst>
          </p:cNvPr>
          <p:cNvSpPr>
            <a:spLocks noGrp="1"/>
          </p:cNvSpPr>
          <p:nvPr>
            <p:ph type="title"/>
          </p:nvPr>
        </p:nvSpPr>
        <p:spPr>
          <a:xfrm>
            <a:off x="1261872" y="365760"/>
            <a:ext cx="9692640" cy="1117600"/>
          </a:xfrm>
        </p:spPr>
        <p:txBody>
          <a:bodyPr/>
          <a:lstStyle/>
          <a:p>
            <a:r>
              <a:rPr lang="en-US" dirty="0"/>
              <a:t>The Spam Epidemic (2/3)</a:t>
            </a:r>
          </a:p>
        </p:txBody>
      </p:sp>
      <p:pic>
        <p:nvPicPr>
          <p:cNvPr id="5" name="Content Placeholder 4">
            <a:extLst>
              <a:ext uri="{FF2B5EF4-FFF2-40B4-BE49-F238E27FC236}">
                <a16:creationId xmlns:a16="http://schemas.microsoft.com/office/drawing/2014/main" id="{C84C93E5-F7C5-60FD-D5CA-1E0AA40D145E}"/>
              </a:ext>
            </a:extLst>
          </p:cNvPr>
          <p:cNvPicPr>
            <a:picLocks noGrp="1" noChangeAspect="1"/>
          </p:cNvPicPr>
          <p:nvPr>
            <p:ph idx="1"/>
          </p:nvPr>
        </p:nvPicPr>
        <p:blipFill>
          <a:blip r:embed="rId2"/>
          <a:stretch>
            <a:fillRect/>
          </a:stretch>
        </p:blipFill>
        <p:spPr>
          <a:xfrm>
            <a:off x="2573819" y="1849120"/>
            <a:ext cx="5463213" cy="4351338"/>
          </a:xfrm>
        </p:spPr>
      </p:pic>
    </p:spTree>
    <p:extLst>
      <p:ext uri="{BB962C8B-B14F-4D97-AF65-F5344CB8AC3E}">
        <p14:creationId xmlns:p14="http://schemas.microsoft.com/office/powerpoint/2010/main" val="1336468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7D42A-E9CB-6719-EDC2-4ED916C0608F}"/>
              </a:ext>
            </a:extLst>
          </p:cNvPr>
          <p:cNvSpPr>
            <a:spLocks noGrp="1"/>
          </p:cNvSpPr>
          <p:nvPr>
            <p:ph type="title"/>
          </p:nvPr>
        </p:nvSpPr>
        <p:spPr>
          <a:xfrm>
            <a:off x="875792" y="325120"/>
            <a:ext cx="9692640" cy="1107440"/>
          </a:xfrm>
        </p:spPr>
        <p:txBody>
          <a:bodyPr/>
          <a:lstStyle/>
          <a:p>
            <a:r>
              <a:rPr lang="en-US" dirty="0"/>
              <a:t>The Spam Epidemic (3/3)</a:t>
            </a:r>
          </a:p>
        </p:txBody>
      </p:sp>
      <p:sp>
        <p:nvSpPr>
          <p:cNvPr id="3" name="Content Placeholder 2">
            <a:extLst>
              <a:ext uri="{FF2B5EF4-FFF2-40B4-BE49-F238E27FC236}">
                <a16:creationId xmlns:a16="http://schemas.microsoft.com/office/drawing/2014/main" id="{E78445F0-8E5C-BB60-C5E8-A02755C49CA4}"/>
              </a:ext>
            </a:extLst>
          </p:cNvPr>
          <p:cNvSpPr>
            <a:spLocks noGrp="1"/>
          </p:cNvSpPr>
          <p:nvPr>
            <p:ph idx="1"/>
          </p:nvPr>
        </p:nvSpPr>
        <p:spPr/>
        <p:txBody>
          <a:bodyPr>
            <a:normAutofit/>
          </a:bodyPr>
          <a:lstStyle/>
          <a:p>
            <a:r>
              <a:rPr lang="en-US" sz="2400" dirty="0"/>
              <a:t>How firms get email addresses</a:t>
            </a:r>
          </a:p>
          <a:p>
            <a:pPr marL="274320" lvl="1" indent="0">
              <a:buNone/>
            </a:pPr>
            <a:r>
              <a:rPr lang="en-US" sz="2400" dirty="0"/>
              <a:t>– Web sites, chat-room conversations, newsgroups </a:t>
            </a:r>
          </a:p>
          <a:p>
            <a:pPr marL="274320" lvl="1" indent="0">
              <a:buNone/>
            </a:pPr>
            <a:r>
              <a:rPr lang="en-US" sz="2400" dirty="0"/>
              <a:t>– Computer viruses harvest addresses from PC address books </a:t>
            </a:r>
          </a:p>
          <a:p>
            <a:pPr marL="274320" lvl="1" indent="0">
              <a:buNone/>
            </a:pPr>
            <a:r>
              <a:rPr lang="en-US" sz="2400" dirty="0"/>
              <a:t>– Dictionary attacks</a:t>
            </a:r>
          </a:p>
          <a:p>
            <a:pPr marL="274320" lvl="1" indent="0">
              <a:buNone/>
            </a:pPr>
            <a:r>
              <a:rPr lang="en-US" sz="2400" dirty="0"/>
              <a:t> – Contests </a:t>
            </a:r>
          </a:p>
          <a:p>
            <a:r>
              <a:rPr lang="en-US" sz="2400" dirty="0"/>
              <a:t>Most spam sent out by bot herders who control huge networks of computers </a:t>
            </a:r>
          </a:p>
          <a:p>
            <a:r>
              <a:rPr lang="en-US" sz="2400" dirty="0"/>
              <a:t>Spam filters block most spam before it reaches users’ inboxes </a:t>
            </a:r>
          </a:p>
        </p:txBody>
      </p:sp>
    </p:spTree>
    <p:extLst>
      <p:ext uri="{BB962C8B-B14F-4D97-AF65-F5344CB8AC3E}">
        <p14:creationId xmlns:p14="http://schemas.microsoft.com/office/powerpoint/2010/main" val="2758519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9599-C118-3C2C-E0F6-F652B7BB234F}"/>
              </a:ext>
            </a:extLst>
          </p:cNvPr>
          <p:cNvSpPr>
            <a:spLocks noGrp="1"/>
          </p:cNvSpPr>
          <p:nvPr>
            <p:ph type="title"/>
          </p:nvPr>
        </p:nvSpPr>
        <p:spPr>
          <a:xfrm>
            <a:off x="713232" y="396240"/>
            <a:ext cx="9692640" cy="1107440"/>
          </a:xfrm>
        </p:spPr>
        <p:txBody>
          <a:bodyPr/>
          <a:lstStyle/>
          <a:p>
            <a:r>
              <a:rPr lang="en-US" dirty="0"/>
              <a:t>Need for Social-Technical Solutions</a:t>
            </a:r>
          </a:p>
        </p:txBody>
      </p:sp>
      <p:sp>
        <p:nvSpPr>
          <p:cNvPr id="3" name="Content Placeholder 2">
            <a:extLst>
              <a:ext uri="{FF2B5EF4-FFF2-40B4-BE49-F238E27FC236}">
                <a16:creationId xmlns:a16="http://schemas.microsoft.com/office/drawing/2014/main" id="{8B207A8D-0CC9-55CC-55FC-56BFFADA1B76}"/>
              </a:ext>
            </a:extLst>
          </p:cNvPr>
          <p:cNvSpPr>
            <a:spLocks noGrp="1"/>
          </p:cNvSpPr>
          <p:nvPr>
            <p:ph idx="1"/>
          </p:nvPr>
        </p:nvSpPr>
        <p:spPr/>
        <p:txBody>
          <a:bodyPr>
            <a:normAutofit/>
          </a:bodyPr>
          <a:lstStyle/>
          <a:p>
            <a:r>
              <a:rPr lang="en-US" sz="2400" dirty="0"/>
              <a:t>New technologies sometimes cause new social situations to emerge </a:t>
            </a:r>
          </a:p>
          <a:p>
            <a:pPr marL="274320" lvl="1" indent="0">
              <a:buNone/>
            </a:pPr>
            <a:r>
              <a:rPr lang="en-US" sz="2400" dirty="0"/>
              <a:t>– Calculators → feminization of bookkeeping </a:t>
            </a:r>
          </a:p>
          <a:p>
            <a:pPr marL="274320" lvl="1" indent="0">
              <a:buNone/>
            </a:pPr>
            <a:r>
              <a:rPr lang="en-US" sz="2400" dirty="0"/>
              <a:t>– Telephones → blurred work/home boundaries </a:t>
            </a:r>
          </a:p>
          <a:p>
            <a:r>
              <a:rPr lang="en-US" sz="2400" dirty="0"/>
              <a:t> Spam an example of this phenomenon</a:t>
            </a:r>
          </a:p>
          <a:p>
            <a:pPr marL="274320" lvl="1" indent="0">
              <a:buNone/>
            </a:pPr>
            <a:r>
              <a:rPr lang="en-US" sz="2400" dirty="0"/>
              <a:t>– Email messages practically free </a:t>
            </a:r>
          </a:p>
          <a:p>
            <a:pPr marL="274320" lvl="1" indent="0">
              <a:buNone/>
            </a:pPr>
            <a:r>
              <a:rPr lang="en-US" sz="2400" dirty="0"/>
              <a:t>– Profits increase with number of messages sent</a:t>
            </a:r>
          </a:p>
          <a:p>
            <a:pPr marL="274320" lvl="1" indent="0">
              <a:buNone/>
            </a:pPr>
            <a:r>
              <a:rPr lang="en-US" sz="2400" dirty="0"/>
              <a:t>– Strong motivation to send more messages </a:t>
            </a:r>
          </a:p>
          <a:p>
            <a:r>
              <a:rPr lang="en-US" sz="2400" dirty="0"/>
              <a:t>Internet design allows unfair, one-way communications </a:t>
            </a:r>
          </a:p>
        </p:txBody>
      </p:sp>
    </p:spTree>
    <p:extLst>
      <p:ext uri="{BB962C8B-B14F-4D97-AF65-F5344CB8AC3E}">
        <p14:creationId xmlns:p14="http://schemas.microsoft.com/office/powerpoint/2010/main" val="1370778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DC7C9-2E84-E2F7-26A0-830FDDFC9DF9}"/>
              </a:ext>
            </a:extLst>
          </p:cNvPr>
          <p:cNvSpPr>
            <a:spLocks noGrp="1"/>
          </p:cNvSpPr>
          <p:nvPr>
            <p:ph type="title"/>
          </p:nvPr>
        </p:nvSpPr>
        <p:spPr>
          <a:xfrm>
            <a:off x="642112" y="365760"/>
            <a:ext cx="10188448" cy="965200"/>
          </a:xfrm>
        </p:spPr>
        <p:txBody>
          <a:bodyPr/>
          <a:lstStyle/>
          <a:p>
            <a:r>
              <a:rPr lang="en-US" dirty="0"/>
              <a:t>Case Study: Ann the Acme Accountant</a:t>
            </a:r>
          </a:p>
        </p:txBody>
      </p:sp>
      <p:sp>
        <p:nvSpPr>
          <p:cNvPr id="3" name="Content Placeholder 2">
            <a:extLst>
              <a:ext uri="{FF2B5EF4-FFF2-40B4-BE49-F238E27FC236}">
                <a16:creationId xmlns:a16="http://schemas.microsoft.com/office/drawing/2014/main" id="{4F1D78D7-3FC7-E365-D4CB-EC4E5B7FA458}"/>
              </a:ext>
            </a:extLst>
          </p:cNvPr>
          <p:cNvSpPr>
            <a:spLocks noGrp="1"/>
          </p:cNvSpPr>
          <p:nvPr>
            <p:ph idx="1"/>
          </p:nvPr>
        </p:nvSpPr>
        <p:spPr>
          <a:xfrm>
            <a:off x="1261872" y="1483360"/>
            <a:ext cx="8595360" cy="4775200"/>
          </a:xfrm>
        </p:spPr>
        <p:txBody>
          <a:bodyPr>
            <a:noAutofit/>
          </a:bodyPr>
          <a:lstStyle/>
          <a:p>
            <a:r>
              <a:rPr lang="en-US" sz="2200" dirty="0"/>
              <a:t>Ann is an accountant at Acme Corporation, a medium-sized firm with 50 employees. All of the employees work in the same building, and Ann knows all of them on a first name basis. In fact, Ann distributes paychecks to Acme’s employees at the end of every month. Ann’s 10-year-old daughter is a Girl Scout. During the annual Girl Scout cookie sale, Ann sent an email to all of the other Acme employees, inviting them to stop by her desk during a break and place orders. (There is no company rule prohibiting the use of the email system for personal emails.) Nine of the recipients were happy to get Ann’s email, and they ordered an average of four boxes of cookies, but the other 40 recipients did not appreciate having to take the time to read and delete an unwanted message; half of them complained to a coworker about Ann’s action. Did Ann do anything wrong?</a:t>
            </a:r>
          </a:p>
        </p:txBody>
      </p:sp>
    </p:spTree>
    <p:extLst>
      <p:ext uri="{BB962C8B-B14F-4D97-AF65-F5344CB8AC3E}">
        <p14:creationId xmlns:p14="http://schemas.microsoft.com/office/powerpoint/2010/main" val="1343132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71491-47B2-3D80-3DCF-BB35019EA585}"/>
              </a:ext>
            </a:extLst>
          </p:cNvPr>
          <p:cNvSpPr>
            <a:spLocks noGrp="1"/>
          </p:cNvSpPr>
          <p:nvPr>
            <p:ph type="title"/>
          </p:nvPr>
        </p:nvSpPr>
        <p:spPr/>
        <p:txBody>
          <a:bodyPr/>
          <a:lstStyle/>
          <a:p>
            <a:r>
              <a:rPr lang="en-US" dirty="0"/>
              <a:t>Case Study: Ann the Acme Accountant</a:t>
            </a:r>
          </a:p>
        </p:txBody>
      </p:sp>
      <p:sp>
        <p:nvSpPr>
          <p:cNvPr id="3" name="Content Placeholder 2">
            <a:extLst>
              <a:ext uri="{FF2B5EF4-FFF2-40B4-BE49-F238E27FC236}">
                <a16:creationId xmlns:a16="http://schemas.microsoft.com/office/drawing/2014/main" id="{2AF18E71-1FCB-0889-723F-5CBF8C433EA4}"/>
              </a:ext>
            </a:extLst>
          </p:cNvPr>
          <p:cNvSpPr>
            <a:spLocks noGrp="1"/>
          </p:cNvSpPr>
          <p:nvPr>
            <p:ph idx="1"/>
          </p:nvPr>
        </p:nvSpPr>
        <p:spPr>
          <a:xfrm>
            <a:off x="1261872" y="2143760"/>
            <a:ext cx="8595360" cy="4036377"/>
          </a:xfrm>
        </p:spPr>
        <p:txBody>
          <a:bodyPr>
            <a:normAutofit/>
          </a:bodyPr>
          <a:lstStyle/>
          <a:p>
            <a:r>
              <a:rPr lang="en-US" sz="2400" dirty="0"/>
              <a:t>Ann: Accountant at Acme Corporation </a:t>
            </a:r>
          </a:p>
          <a:p>
            <a:r>
              <a:rPr lang="en-US" sz="2400" dirty="0"/>
              <a:t>She distributes paychecks to all 50 employees </a:t>
            </a:r>
          </a:p>
          <a:p>
            <a:r>
              <a:rPr lang="en-US" sz="2400" dirty="0"/>
              <a:t>Ann sends email advertising Girl Scout cookie sale </a:t>
            </a:r>
          </a:p>
          <a:p>
            <a:r>
              <a:rPr lang="en-US" sz="2400" dirty="0"/>
              <a:t>9 recipients order cookies; average 4 boxes each </a:t>
            </a:r>
          </a:p>
          <a:p>
            <a:r>
              <a:rPr lang="en-US" sz="2400" dirty="0"/>
              <a:t>Other 40 recipients unhappy to get email; half complain to a co-worker </a:t>
            </a:r>
          </a:p>
          <a:p>
            <a:r>
              <a:rPr lang="en-US" sz="2400" dirty="0"/>
              <a:t> Did Ann do anything wrong?</a:t>
            </a:r>
          </a:p>
        </p:txBody>
      </p:sp>
    </p:spTree>
    <p:extLst>
      <p:ext uri="{BB962C8B-B14F-4D97-AF65-F5344CB8AC3E}">
        <p14:creationId xmlns:p14="http://schemas.microsoft.com/office/powerpoint/2010/main" val="4008898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A66F6-C204-BB3E-1415-654183CA32D2}"/>
              </a:ext>
            </a:extLst>
          </p:cNvPr>
          <p:cNvSpPr>
            <a:spLocks noGrp="1"/>
          </p:cNvSpPr>
          <p:nvPr>
            <p:ph type="title"/>
          </p:nvPr>
        </p:nvSpPr>
        <p:spPr>
          <a:xfrm>
            <a:off x="875792" y="416560"/>
            <a:ext cx="9609328" cy="1158240"/>
          </a:xfrm>
        </p:spPr>
        <p:txBody>
          <a:bodyPr/>
          <a:lstStyle/>
          <a:p>
            <a:r>
              <a:rPr lang="en-US" dirty="0"/>
              <a:t>Kantian Analysis</a:t>
            </a:r>
          </a:p>
        </p:txBody>
      </p:sp>
      <p:sp>
        <p:nvSpPr>
          <p:cNvPr id="3" name="Content Placeholder 2">
            <a:extLst>
              <a:ext uri="{FF2B5EF4-FFF2-40B4-BE49-F238E27FC236}">
                <a16:creationId xmlns:a16="http://schemas.microsoft.com/office/drawing/2014/main" id="{3BB03433-7F54-B312-75DE-8B3DA392E297}"/>
              </a:ext>
            </a:extLst>
          </p:cNvPr>
          <p:cNvSpPr>
            <a:spLocks noGrp="1"/>
          </p:cNvSpPr>
          <p:nvPr>
            <p:ph idx="1"/>
          </p:nvPr>
        </p:nvSpPr>
        <p:spPr/>
        <p:txBody>
          <a:bodyPr>
            <a:normAutofit/>
          </a:bodyPr>
          <a:lstStyle/>
          <a:p>
            <a:r>
              <a:rPr lang="en-US" sz="2400" dirty="0"/>
              <a:t>We should always respect autonomy of others, treating them as ends in themselves and never only as the means to an end (2nd formulation of Categorical Imperative)</a:t>
            </a:r>
          </a:p>
          <a:p>
            <a:r>
              <a:rPr lang="en-US" sz="2400" dirty="0"/>
              <a:t> Ann didn’t misrepresent what she was doing</a:t>
            </a:r>
          </a:p>
          <a:p>
            <a:r>
              <a:rPr lang="en-US" sz="2400" dirty="0"/>
              <a:t> She didn’t force anyone to read the entire email </a:t>
            </a:r>
          </a:p>
          <a:p>
            <a:r>
              <a:rPr lang="en-US" sz="2400" dirty="0"/>
              <a:t> Some who read her email chose to order cookies </a:t>
            </a:r>
          </a:p>
          <a:p>
            <a:r>
              <a:rPr lang="en-US" sz="2400" dirty="0"/>
              <a:t> Therefore, she didn’t “use” others, and her action was not strictly wrong </a:t>
            </a:r>
          </a:p>
          <a:p>
            <a:r>
              <a:rPr lang="en-US" sz="2400" dirty="0"/>
              <a:t>However, an “opt in” approach would have been better</a:t>
            </a:r>
          </a:p>
        </p:txBody>
      </p:sp>
    </p:spTree>
    <p:extLst>
      <p:ext uri="{BB962C8B-B14F-4D97-AF65-F5344CB8AC3E}">
        <p14:creationId xmlns:p14="http://schemas.microsoft.com/office/powerpoint/2010/main" val="4273305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79342-AD7F-687A-B332-B6C781319705}"/>
              </a:ext>
            </a:extLst>
          </p:cNvPr>
          <p:cNvSpPr>
            <a:spLocks noGrp="1"/>
          </p:cNvSpPr>
          <p:nvPr>
            <p:ph type="title"/>
          </p:nvPr>
        </p:nvSpPr>
        <p:spPr>
          <a:xfrm>
            <a:off x="631952" y="406400"/>
            <a:ext cx="9692640" cy="762000"/>
          </a:xfrm>
        </p:spPr>
        <p:txBody>
          <a:bodyPr/>
          <a:lstStyle/>
          <a:p>
            <a:r>
              <a:rPr lang="en-US" dirty="0"/>
              <a:t>Act Utilitarian Analysis</a:t>
            </a:r>
          </a:p>
        </p:txBody>
      </p:sp>
      <p:sp>
        <p:nvSpPr>
          <p:cNvPr id="3" name="Content Placeholder 2">
            <a:extLst>
              <a:ext uri="{FF2B5EF4-FFF2-40B4-BE49-F238E27FC236}">
                <a16:creationId xmlns:a16="http://schemas.microsoft.com/office/drawing/2014/main" id="{005BA0D9-B35F-D734-2D79-FEF1C64E382D}"/>
              </a:ext>
            </a:extLst>
          </p:cNvPr>
          <p:cNvSpPr>
            <a:spLocks noGrp="1"/>
          </p:cNvSpPr>
          <p:nvPr>
            <p:ph idx="1"/>
          </p:nvPr>
        </p:nvSpPr>
        <p:spPr>
          <a:xfrm>
            <a:off x="987552" y="1517491"/>
            <a:ext cx="8595360" cy="5086509"/>
          </a:xfrm>
        </p:spPr>
        <p:txBody>
          <a:bodyPr>
            <a:noAutofit/>
          </a:bodyPr>
          <a:lstStyle/>
          <a:p>
            <a:r>
              <a:rPr lang="en-US" sz="2400" dirty="0"/>
              <a:t>Benefit to Girls Scouts = $108 </a:t>
            </a:r>
          </a:p>
          <a:p>
            <a:pPr marL="274320" lvl="1" indent="0">
              <a:buNone/>
            </a:pPr>
            <a:r>
              <a:rPr lang="en-US" sz="2400" dirty="0"/>
              <a:t>– $3 profit per box of cookies </a:t>
            </a:r>
          </a:p>
          <a:p>
            <a:pPr marL="274320" lvl="1" indent="0">
              <a:buNone/>
            </a:pPr>
            <a:r>
              <a:rPr lang="en-US" sz="2400" dirty="0"/>
              <a:t>– 36 boxes sold </a:t>
            </a:r>
          </a:p>
          <a:p>
            <a:r>
              <a:rPr lang="en-US" sz="2400" dirty="0"/>
              <a:t>Harm to company: time wasted </a:t>
            </a:r>
          </a:p>
          <a:p>
            <a:pPr marL="274320" lvl="1" indent="0">
              <a:buNone/>
            </a:pPr>
            <a:r>
              <a:rPr lang="en-US" sz="2200" dirty="0"/>
              <a:t>– Orders taken during breaks </a:t>
            </a:r>
          </a:p>
          <a:p>
            <a:pPr marL="274320" lvl="1" indent="0">
              <a:buNone/>
            </a:pPr>
            <a:r>
              <a:rPr lang="en-US" sz="2200" dirty="0"/>
              <a:t>– Lost productivity from complaining: $70 </a:t>
            </a:r>
          </a:p>
          <a:p>
            <a:pPr lvl="2"/>
            <a:r>
              <a:rPr lang="en-US" sz="2400" dirty="0"/>
              <a:t>20 employees ×2 ×5 minutes/employee = 200 minutes </a:t>
            </a:r>
          </a:p>
          <a:p>
            <a:pPr lvl="2"/>
            <a:r>
              <a:rPr lang="en-US" sz="2400" dirty="0"/>
              <a:t> 3.5 hours ×$20/hour = $70 </a:t>
            </a:r>
          </a:p>
          <a:p>
            <a:r>
              <a:rPr lang="en-US" sz="2400" dirty="0"/>
              <a:t> Benefits exceed harms, so action good </a:t>
            </a:r>
          </a:p>
          <a:p>
            <a:r>
              <a:rPr lang="en-US" sz="2400" dirty="0"/>
              <a:t> Company may create policy against future fundraisers</a:t>
            </a:r>
          </a:p>
        </p:txBody>
      </p:sp>
    </p:spTree>
    <p:extLst>
      <p:ext uri="{BB962C8B-B14F-4D97-AF65-F5344CB8AC3E}">
        <p14:creationId xmlns:p14="http://schemas.microsoft.com/office/powerpoint/2010/main" val="187368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862F7-0C20-3363-E81B-8B7102359D84}"/>
              </a:ext>
            </a:extLst>
          </p:cNvPr>
          <p:cNvSpPr>
            <a:spLocks noGrp="1"/>
          </p:cNvSpPr>
          <p:nvPr>
            <p:ph type="title"/>
          </p:nvPr>
        </p:nvSpPr>
        <p:spPr/>
        <p:txBody>
          <a:bodyPr/>
          <a:lstStyle/>
          <a:p>
            <a:r>
              <a:rPr lang="en-US" dirty="0"/>
              <a:t>Rule Utilitarian Analysis</a:t>
            </a:r>
          </a:p>
        </p:txBody>
      </p:sp>
      <p:sp>
        <p:nvSpPr>
          <p:cNvPr id="3" name="Content Placeholder 2">
            <a:extLst>
              <a:ext uri="{FF2B5EF4-FFF2-40B4-BE49-F238E27FC236}">
                <a16:creationId xmlns:a16="http://schemas.microsoft.com/office/drawing/2014/main" id="{38B0CE1F-E17F-F4A9-922B-F897C3C54068}"/>
              </a:ext>
            </a:extLst>
          </p:cNvPr>
          <p:cNvSpPr>
            <a:spLocks noGrp="1"/>
          </p:cNvSpPr>
          <p:nvPr>
            <p:ph idx="1"/>
          </p:nvPr>
        </p:nvSpPr>
        <p:spPr>
          <a:xfrm>
            <a:off x="1261872" y="2062480"/>
            <a:ext cx="8595360" cy="4117657"/>
          </a:xfrm>
        </p:spPr>
        <p:txBody>
          <a:bodyPr>
            <a:normAutofit/>
          </a:bodyPr>
          <a:lstStyle/>
          <a:p>
            <a:r>
              <a:rPr lang="en-US" sz="2400" dirty="0"/>
              <a:t>Q: What would be consequences of everyone in company used email to solicit donations? </a:t>
            </a:r>
          </a:p>
          <a:p>
            <a:r>
              <a:rPr lang="en-US" sz="2400" dirty="0"/>
              <a:t>A: Plenty of employee grumbling and lower morale</a:t>
            </a:r>
          </a:p>
          <a:p>
            <a:r>
              <a:rPr lang="en-US" sz="2400" dirty="0"/>
              <a:t>If all doing it, unlikely any one cause would do well </a:t>
            </a:r>
          </a:p>
          <a:p>
            <a:r>
              <a:rPr lang="en-US" sz="2400" dirty="0"/>
              <a:t>Harms greater than benefits, so Ann’s action was wrong</a:t>
            </a:r>
          </a:p>
        </p:txBody>
      </p:sp>
    </p:spTree>
    <p:extLst>
      <p:ext uri="{BB962C8B-B14F-4D97-AF65-F5344CB8AC3E}">
        <p14:creationId xmlns:p14="http://schemas.microsoft.com/office/powerpoint/2010/main" val="227097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4A3F4-E2CB-5518-01AC-6584C0A1132B}"/>
              </a:ext>
            </a:extLst>
          </p:cNvPr>
          <p:cNvSpPr>
            <a:spLocks noGrp="1"/>
          </p:cNvSpPr>
          <p:nvPr>
            <p:ph type="title"/>
          </p:nvPr>
        </p:nvSpPr>
        <p:spPr>
          <a:xfrm>
            <a:off x="469392" y="396240"/>
            <a:ext cx="9692640" cy="1036320"/>
          </a:xfrm>
        </p:spPr>
        <p:txBody>
          <a:bodyPr/>
          <a:lstStyle/>
          <a:p>
            <a:r>
              <a:rPr lang="en-US" dirty="0"/>
              <a:t>Social Contract Theory Analysis</a:t>
            </a:r>
          </a:p>
        </p:txBody>
      </p:sp>
      <p:sp>
        <p:nvSpPr>
          <p:cNvPr id="3" name="Content Placeholder 2">
            <a:extLst>
              <a:ext uri="{FF2B5EF4-FFF2-40B4-BE49-F238E27FC236}">
                <a16:creationId xmlns:a16="http://schemas.microsoft.com/office/drawing/2014/main" id="{ADCD1625-0926-D14A-2FB5-930DD1B8337E}"/>
              </a:ext>
            </a:extLst>
          </p:cNvPr>
          <p:cNvSpPr>
            <a:spLocks noGrp="1"/>
          </p:cNvSpPr>
          <p:nvPr>
            <p:ph idx="1"/>
          </p:nvPr>
        </p:nvSpPr>
        <p:spPr/>
        <p:txBody>
          <a:bodyPr>
            <a:normAutofit/>
          </a:bodyPr>
          <a:lstStyle/>
          <a:p>
            <a:r>
              <a:rPr lang="en-US" sz="2400" dirty="0"/>
              <a:t>Acme Corporation has no prohibition against using its email system this way </a:t>
            </a:r>
          </a:p>
          <a:p>
            <a:r>
              <a:rPr lang="en-US" sz="2400" dirty="0"/>
              <a:t>Ann was exercising her right to express herself </a:t>
            </a:r>
          </a:p>
          <a:p>
            <a:r>
              <a:rPr lang="en-US" sz="2400" dirty="0"/>
              <a:t> Some people didn’t appreciate message, but she didn’t act like a spammer </a:t>
            </a:r>
          </a:p>
          <a:p>
            <a:pPr marL="274320" lvl="1" indent="0">
              <a:buNone/>
            </a:pPr>
            <a:r>
              <a:rPr lang="en-US" sz="2400" dirty="0"/>
              <a:t>	–She didn’t conceal her identity </a:t>
            </a:r>
          </a:p>
          <a:p>
            <a:pPr marL="274320" lvl="1" indent="0">
              <a:buNone/>
            </a:pPr>
            <a:r>
              <a:rPr lang="en-US" sz="2400" dirty="0"/>
              <a:t>	– She wasn’t selling a fraudulent product </a:t>
            </a:r>
          </a:p>
          <a:p>
            <a:r>
              <a:rPr lang="en-US" sz="2400" dirty="0"/>
              <a:t>Ann did nothing wrong</a:t>
            </a:r>
          </a:p>
        </p:txBody>
      </p:sp>
    </p:spTree>
    <p:extLst>
      <p:ext uri="{BB962C8B-B14F-4D97-AF65-F5344CB8AC3E}">
        <p14:creationId xmlns:p14="http://schemas.microsoft.com/office/powerpoint/2010/main" val="2377673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49EBB-2E89-A929-4BFA-0A9D9B958E45}"/>
              </a:ext>
            </a:extLst>
          </p:cNvPr>
          <p:cNvSpPr>
            <a:spLocks noGrp="1"/>
          </p:cNvSpPr>
          <p:nvPr>
            <p:ph type="title"/>
          </p:nvPr>
        </p:nvSpPr>
        <p:spPr>
          <a:xfrm>
            <a:off x="824992" y="375920"/>
            <a:ext cx="9692640" cy="995680"/>
          </a:xfrm>
        </p:spPr>
        <p:txBody>
          <a:bodyPr/>
          <a:lstStyle/>
          <a:p>
            <a:r>
              <a:rPr lang="en-US" dirty="0"/>
              <a:t>Virtue Ethics Analysis</a:t>
            </a:r>
          </a:p>
        </p:txBody>
      </p:sp>
      <p:sp>
        <p:nvSpPr>
          <p:cNvPr id="3" name="Content Placeholder 2">
            <a:extLst>
              <a:ext uri="{FF2B5EF4-FFF2-40B4-BE49-F238E27FC236}">
                <a16:creationId xmlns:a16="http://schemas.microsoft.com/office/drawing/2014/main" id="{AD902179-5851-731B-560E-CB3DAE7564BE}"/>
              </a:ext>
            </a:extLst>
          </p:cNvPr>
          <p:cNvSpPr>
            <a:spLocks noGrp="1"/>
          </p:cNvSpPr>
          <p:nvPr>
            <p:ph idx="1"/>
          </p:nvPr>
        </p:nvSpPr>
        <p:spPr>
          <a:xfrm>
            <a:off x="1261872" y="1747520"/>
            <a:ext cx="8595360" cy="4432617"/>
          </a:xfrm>
        </p:spPr>
        <p:txBody>
          <a:bodyPr>
            <a:noAutofit/>
          </a:bodyPr>
          <a:lstStyle/>
          <a:p>
            <a:r>
              <a:rPr lang="en-US" sz="2400" dirty="0"/>
              <a:t>As employee, relevant virtues: honesty, fairness, respect </a:t>
            </a:r>
          </a:p>
          <a:p>
            <a:r>
              <a:rPr lang="en-US" sz="2400" dirty="0"/>
              <a:t> Ann was honest: her email didn’t mislead anyone </a:t>
            </a:r>
          </a:p>
          <a:p>
            <a:r>
              <a:rPr lang="en-US" sz="2400" dirty="0"/>
              <a:t>She wasn’t fair or respectful, and she exercised poor judgment (as evidenced by larger amount of complaining by co-workers) </a:t>
            </a:r>
          </a:p>
          <a:p>
            <a:r>
              <a:rPr lang="en-US" sz="2400" dirty="0"/>
              <a:t>In her role as parent, she did all work herself and didn’t find a role for her daughter to play </a:t>
            </a:r>
          </a:p>
          <a:p>
            <a:r>
              <a:rPr lang="en-US" sz="2400" dirty="0"/>
              <a:t>Ann should have found a way for her daughter to help, and she should have found another way to advertise that respected co-workers</a:t>
            </a:r>
          </a:p>
        </p:txBody>
      </p:sp>
    </p:spTree>
    <p:extLst>
      <p:ext uri="{BB962C8B-B14F-4D97-AF65-F5344CB8AC3E}">
        <p14:creationId xmlns:p14="http://schemas.microsoft.com/office/powerpoint/2010/main" val="1556885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90CEF-1B3C-F8B5-4DDC-FA6D36316DCA}"/>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001573CE-BBCA-FBA7-3BC6-9A41A89458F9}"/>
              </a:ext>
            </a:extLst>
          </p:cNvPr>
          <p:cNvSpPr>
            <a:spLocks noGrp="1"/>
          </p:cNvSpPr>
          <p:nvPr>
            <p:ph idx="1"/>
          </p:nvPr>
        </p:nvSpPr>
        <p:spPr/>
        <p:txBody>
          <a:bodyPr>
            <a:normAutofit/>
          </a:bodyPr>
          <a:lstStyle/>
          <a:p>
            <a:r>
              <a:rPr lang="en-US" sz="2400" dirty="0"/>
              <a:t>Analyses reached different conclusions, but Ann could have taken a less controversial course </a:t>
            </a:r>
          </a:p>
          <a:p>
            <a:r>
              <a:rPr lang="en-US" sz="2400" dirty="0"/>
              <a:t>She could have posted a sign-up sheet to identify those interested in cookie sale </a:t>
            </a:r>
          </a:p>
          <a:p>
            <a:r>
              <a:rPr lang="en-US" sz="2400" dirty="0"/>
              <a:t>That way, she would have sent email only to those interested, avoiding the problems of grumbling and lost productivity </a:t>
            </a:r>
          </a:p>
          <a:p>
            <a:r>
              <a:rPr lang="en-US" sz="2400" dirty="0"/>
              <a:t>She could have found a way to get her daughter more engaged</a:t>
            </a:r>
          </a:p>
        </p:txBody>
      </p:sp>
    </p:spTree>
    <p:extLst>
      <p:ext uri="{BB962C8B-B14F-4D97-AF65-F5344CB8AC3E}">
        <p14:creationId xmlns:p14="http://schemas.microsoft.com/office/powerpoint/2010/main" val="1372003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9FDC-4AD0-EFC2-E209-8E62B10D16E7}"/>
              </a:ext>
            </a:extLst>
          </p:cNvPr>
          <p:cNvSpPr>
            <a:spLocks noGrp="1"/>
          </p:cNvSpPr>
          <p:nvPr>
            <p:ph type="title"/>
          </p:nvPr>
        </p:nvSpPr>
        <p:spPr>
          <a:xfrm>
            <a:off x="621792" y="2397760"/>
            <a:ext cx="9692640" cy="1325562"/>
          </a:xfrm>
        </p:spPr>
        <p:txBody>
          <a:bodyPr/>
          <a:lstStyle/>
          <a:p>
            <a:pPr algn="ctr"/>
            <a:r>
              <a:rPr lang="en-US" dirty="0"/>
              <a:t>Internet Interactions</a:t>
            </a:r>
          </a:p>
        </p:txBody>
      </p:sp>
    </p:spTree>
    <p:extLst>
      <p:ext uri="{BB962C8B-B14F-4D97-AF65-F5344CB8AC3E}">
        <p14:creationId xmlns:p14="http://schemas.microsoft.com/office/powerpoint/2010/main" val="886021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083BE-B2F6-4C02-75FE-A5689E8C85AD}"/>
              </a:ext>
            </a:extLst>
          </p:cNvPr>
          <p:cNvSpPr>
            <a:spLocks noGrp="1"/>
          </p:cNvSpPr>
          <p:nvPr>
            <p:ph type="title"/>
          </p:nvPr>
        </p:nvSpPr>
        <p:spPr>
          <a:xfrm>
            <a:off x="794512" y="355600"/>
            <a:ext cx="9692640" cy="1325562"/>
          </a:xfrm>
        </p:spPr>
        <p:txBody>
          <a:bodyPr/>
          <a:lstStyle/>
          <a:p>
            <a:r>
              <a:rPr lang="en-US" dirty="0"/>
              <a:t>The World Wide Web</a:t>
            </a:r>
          </a:p>
        </p:txBody>
      </p:sp>
      <p:sp>
        <p:nvSpPr>
          <p:cNvPr id="3" name="Content Placeholder 2">
            <a:extLst>
              <a:ext uri="{FF2B5EF4-FFF2-40B4-BE49-F238E27FC236}">
                <a16:creationId xmlns:a16="http://schemas.microsoft.com/office/drawing/2014/main" id="{F786F204-1C9B-20E5-4CB4-4B5379014AD4}"/>
              </a:ext>
            </a:extLst>
          </p:cNvPr>
          <p:cNvSpPr>
            <a:spLocks noGrp="1"/>
          </p:cNvSpPr>
          <p:nvPr>
            <p:ph idx="1"/>
          </p:nvPr>
        </p:nvSpPr>
        <p:spPr>
          <a:xfrm>
            <a:off x="1261872" y="2153920"/>
            <a:ext cx="8595360" cy="4026217"/>
          </a:xfrm>
        </p:spPr>
        <p:txBody>
          <a:bodyPr>
            <a:normAutofit/>
          </a:bodyPr>
          <a:lstStyle/>
          <a:p>
            <a:r>
              <a:rPr lang="en-US" sz="2400" dirty="0"/>
              <a:t>WWW : networked hypertext system </a:t>
            </a:r>
          </a:p>
          <a:p>
            <a:r>
              <a:rPr lang="en-US" sz="2400" dirty="0"/>
              <a:t> Stimulated tremendous growth in popularity of Internet </a:t>
            </a:r>
          </a:p>
          <a:p>
            <a:r>
              <a:rPr lang="en-US" sz="2400" dirty="0"/>
              <a:t>Two important attributes </a:t>
            </a:r>
          </a:p>
          <a:p>
            <a:pPr marL="274320" lvl="1" indent="0">
              <a:buNone/>
            </a:pPr>
            <a:r>
              <a:rPr lang="en-US" sz="2400" dirty="0"/>
              <a:t>– It is decentralized</a:t>
            </a:r>
          </a:p>
          <a:p>
            <a:pPr marL="274320" lvl="1" indent="0">
              <a:buNone/>
            </a:pPr>
            <a:r>
              <a:rPr lang="en-US" sz="2400" dirty="0"/>
              <a:t> – Every Web object has a unique address</a:t>
            </a:r>
          </a:p>
        </p:txBody>
      </p:sp>
    </p:spTree>
    <p:extLst>
      <p:ext uri="{BB962C8B-B14F-4D97-AF65-F5344CB8AC3E}">
        <p14:creationId xmlns:p14="http://schemas.microsoft.com/office/powerpoint/2010/main" val="2394567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098C-B35C-6631-F9B5-271BF86256AE}"/>
              </a:ext>
            </a:extLst>
          </p:cNvPr>
          <p:cNvSpPr>
            <a:spLocks noGrp="1"/>
          </p:cNvSpPr>
          <p:nvPr>
            <p:ph type="title"/>
          </p:nvPr>
        </p:nvSpPr>
        <p:spPr/>
        <p:txBody>
          <a:bodyPr/>
          <a:lstStyle/>
          <a:p>
            <a:r>
              <a:rPr lang="en-US" dirty="0"/>
              <a:t>Rise of the App</a:t>
            </a:r>
          </a:p>
        </p:txBody>
      </p:sp>
      <p:sp>
        <p:nvSpPr>
          <p:cNvPr id="3" name="Content Placeholder 2">
            <a:extLst>
              <a:ext uri="{FF2B5EF4-FFF2-40B4-BE49-F238E27FC236}">
                <a16:creationId xmlns:a16="http://schemas.microsoft.com/office/drawing/2014/main" id="{50ADF8A7-13B2-B738-B8DB-9001EF8D2364}"/>
              </a:ext>
            </a:extLst>
          </p:cNvPr>
          <p:cNvSpPr>
            <a:spLocks noGrp="1"/>
          </p:cNvSpPr>
          <p:nvPr>
            <p:ph idx="1"/>
          </p:nvPr>
        </p:nvSpPr>
        <p:spPr>
          <a:xfrm>
            <a:off x="1261872" y="1960880"/>
            <a:ext cx="8595360" cy="4219257"/>
          </a:xfrm>
        </p:spPr>
        <p:txBody>
          <a:bodyPr>
            <a:normAutofit/>
          </a:bodyPr>
          <a:lstStyle/>
          <a:p>
            <a:r>
              <a:rPr lang="en-US" sz="2400" dirty="0"/>
              <a:t>People spending more time on smartphones and tablets </a:t>
            </a:r>
          </a:p>
          <a:p>
            <a:r>
              <a:rPr lang="en-US" sz="2400" dirty="0"/>
              <a:t>Using Web browsers awkward on mobile devices </a:t>
            </a:r>
          </a:p>
          <a:p>
            <a:r>
              <a:rPr lang="en-US" sz="2400" dirty="0"/>
              <a:t>Mobile apps replace Web browsers as way to access Internet on mobile devices</a:t>
            </a:r>
          </a:p>
        </p:txBody>
      </p:sp>
    </p:spTree>
    <p:extLst>
      <p:ext uri="{BB962C8B-B14F-4D97-AF65-F5344CB8AC3E}">
        <p14:creationId xmlns:p14="http://schemas.microsoft.com/office/powerpoint/2010/main" val="2434306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AD5E0-9BF5-D220-5DA2-7F20A5B14690}"/>
              </a:ext>
            </a:extLst>
          </p:cNvPr>
          <p:cNvSpPr>
            <a:spLocks noGrp="1"/>
          </p:cNvSpPr>
          <p:nvPr>
            <p:ph type="title"/>
          </p:nvPr>
        </p:nvSpPr>
        <p:spPr/>
        <p:txBody>
          <a:bodyPr/>
          <a:lstStyle/>
          <a:p>
            <a:r>
              <a:rPr lang="en-US" dirty="0"/>
              <a:t>How We Use the Internet</a:t>
            </a:r>
          </a:p>
        </p:txBody>
      </p:sp>
      <p:sp>
        <p:nvSpPr>
          <p:cNvPr id="3" name="Content Placeholder 2">
            <a:extLst>
              <a:ext uri="{FF2B5EF4-FFF2-40B4-BE49-F238E27FC236}">
                <a16:creationId xmlns:a16="http://schemas.microsoft.com/office/drawing/2014/main" id="{9CD69A54-4A8F-B33A-2A9A-FD6718680209}"/>
              </a:ext>
            </a:extLst>
          </p:cNvPr>
          <p:cNvSpPr>
            <a:spLocks noGrp="1"/>
          </p:cNvSpPr>
          <p:nvPr>
            <p:ph idx="1"/>
          </p:nvPr>
        </p:nvSpPr>
        <p:spPr/>
        <p:txBody>
          <a:bodyPr>
            <a:noAutofit/>
          </a:bodyPr>
          <a:lstStyle/>
          <a:p>
            <a:r>
              <a:rPr lang="en-US" sz="2400" dirty="0"/>
              <a:t>Shopping </a:t>
            </a:r>
          </a:p>
          <a:p>
            <a:r>
              <a:rPr lang="en-US" sz="2400" dirty="0"/>
              <a:t>Socializing (e.g., Facebook)</a:t>
            </a:r>
          </a:p>
          <a:p>
            <a:r>
              <a:rPr lang="en-US" sz="2400" dirty="0"/>
              <a:t>Contributing content (e.g., wikis) </a:t>
            </a:r>
          </a:p>
          <a:p>
            <a:r>
              <a:rPr lang="en-US" sz="2400" dirty="0"/>
              <a:t>Blogging </a:t>
            </a:r>
          </a:p>
          <a:p>
            <a:r>
              <a:rPr lang="en-US" sz="2400" dirty="0"/>
              <a:t>Crowdsourcing </a:t>
            </a:r>
          </a:p>
          <a:p>
            <a:r>
              <a:rPr lang="en-US" sz="2400" dirty="0"/>
              <a:t>Learning </a:t>
            </a:r>
          </a:p>
          <a:p>
            <a:r>
              <a:rPr lang="en-US" sz="2400" dirty="0"/>
              <a:t>Exploring our roots</a:t>
            </a:r>
          </a:p>
          <a:p>
            <a:pPr marL="0" indent="0">
              <a:buNone/>
            </a:pPr>
            <a:endParaRPr lang="en-US" sz="2400" dirty="0"/>
          </a:p>
        </p:txBody>
      </p:sp>
    </p:spTree>
    <p:extLst>
      <p:ext uri="{BB962C8B-B14F-4D97-AF65-F5344CB8AC3E}">
        <p14:creationId xmlns:p14="http://schemas.microsoft.com/office/powerpoint/2010/main" val="441550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AD5E0-9BF5-D220-5DA2-7F20A5B14690}"/>
              </a:ext>
            </a:extLst>
          </p:cNvPr>
          <p:cNvSpPr>
            <a:spLocks noGrp="1"/>
          </p:cNvSpPr>
          <p:nvPr>
            <p:ph type="title"/>
          </p:nvPr>
        </p:nvSpPr>
        <p:spPr/>
        <p:txBody>
          <a:bodyPr/>
          <a:lstStyle/>
          <a:p>
            <a:r>
              <a:rPr lang="en-US" dirty="0"/>
              <a:t>How We Use the Internet</a:t>
            </a:r>
          </a:p>
        </p:txBody>
      </p:sp>
      <p:sp>
        <p:nvSpPr>
          <p:cNvPr id="3" name="Content Placeholder 2">
            <a:extLst>
              <a:ext uri="{FF2B5EF4-FFF2-40B4-BE49-F238E27FC236}">
                <a16:creationId xmlns:a16="http://schemas.microsoft.com/office/drawing/2014/main" id="{9CD69A54-4A8F-B33A-2A9A-FD6718680209}"/>
              </a:ext>
            </a:extLst>
          </p:cNvPr>
          <p:cNvSpPr>
            <a:spLocks noGrp="1"/>
          </p:cNvSpPr>
          <p:nvPr>
            <p:ph idx="1"/>
          </p:nvPr>
        </p:nvSpPr>
        <p:spPr/>
        <p:txBody>
          <a:bodyPr>
            <a:noAutofit/>
          </a:bodyPr>
          <a:lstStyle/>
          <a:p>
            <a:r>
              <a:rPr lang="en-US" sz="2400" dirty="0"/>
              <a:t>Entering virtual worlds </a:t>
            </a:r>
          </a:p>
          <a:p>
            <a:r>
              <a:rPr lang="en-US" sz="2400" dirty="0"/>
              <a:t>Controlling the Internet of Things </a:t>
            </a:r>
          </a:p>
          <a:p>
            <a:r>
              <a:rPr lang="en-US" sz="2400" dirty="0"/>
              <a:t>Paying taxes </a:t>
            </a:r>
          </a:p>
          <a:p>
            <a:r>
              <a:rPr lang="en-US" sz="2400" dirty="0"/>
              <a:t>Gambling </a:t>
            </a:r>
          </a:p>
          <a:p>
            <a:r>
              <a:rPr lang="en-US" sz="2400" dirty="0"/>
              <a:t>Taking humanitarian action </a:t>
            </a:r>
          </a:p>
          <a:p>
            <a:r>
              <a:rPr lang="en-US" sz="2400" dirty="0"/>
              <a:t>Lots more!</a:t>
            </a:r>
          </a:p>
          <a:p>
            <a:endParaRPr lang="en-US" sz="2400" dirty="0"/>
          </a:p>
        </p:txBody>
      </p:sp>
    </p:spTree>
    <p:extLst>
      <p:ext uri="{BB962C8B-B14F-4D97-AF65-F5344CB8AC3E}">
        <p14:creationId xmlns:p14="http://schemas.microsoft.com/office/powerpoint/2010/main" val="528575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806B-A1F7-6E94-E5D7-EB3B5CFA7D03}"/>
              </a:ext>
            </a:extLst>
          </p:cNvPr>
          <p:cNvSpPr>
            <a:spLocks noGrp="1"/>
          </p:cNvSpPr>
          <p:nvPr>
            <p:ph type="title"/>
          </p:nvPr>
        </p:nvSpPr>
        <p:spPr/>
        <p:txBody>
          <a:bodyPr/>
          <a:lstStyle/>
          <a:p>
            <a:r>
              <a:rPr lang="en-US" dirty="0"/>
              <a:t>Online Source of Genealogical Information</a:t>
            </a:r>
          </a:p>
        </p:txBody>
      </p:sp>
      <p:pic>
        <p:nvPicPr>
          <p:cNvPr id="5" name="Content Placeholder 4">
            <a:extLst>
              <a:ext uri="{FF2B5EF4-FFF2-40B4-BE49-F238E27FC236}">
                <a16:creationId xmlns:a16="http://schemas.microsoft.com/office/drawing/2014/main" id="{36BB7403-B122-FDB5-C345-575776826C30}"/>
              </a:ext>
            </a:extLst>
          </p:cNvPr>
          <p:cNvPicPr>
            <a:picLocks noGrp="1" noChangeAspect="1"/>
          </p:cNvPicPr>
          <p:nvPr>
            <p:ph idx="1"/>
          </p:nvPr>
        </p:nvPicPr>
        <p:blipFill>
          <a:blip r:embed="rId2"/>
          <a:stretch>
            <a:fillRect/>
          </a:stretch>
        </p:blipFill>
        <p:spPr>
          <a:xfrm>
            <a:off x="2496399" y="1828800"/>
            <a:ext cx="6126052" cy="4351338"/>
          </a:xfrm>
        </p:spPr>
      </p:pic>
    </p:spTree>
    <p:extLst>
      <p:ext uri="{BB962C8B-B14F-4D97-AF65-F5344CB8AC3E}">
        <p14:creationId xmlns:p14="http://schemas.microsoft.com/office/powerpoint/2010/main" val="2298194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8DD48-5940-66BC-3171-2CFA33517C8B}"/>
              </a:ext>
            </a:extLst>
          </p:cNvPr>
          <p:cNvSpPr>
            <a:spLocks noGrp="1"/>
          </p:cNvSpPr>
          <p:nvPr>
            <p:ph type="title"/>
          </p:nvPr>
        </p:nvSpPr>
        <p:spPr>
          <a:xfrm>
            <a:off x="692912" y="1981200"/>
            <a:ext cx="9692640" cy="1325562"/>
          </a:xfrm>
        </p:spPr>
        <p:txBody>
          <a:bodyPr/>
          <a:lstStyle/>
          <a:p>
            <a:pPr algn="ctr"/>
            <a:r>
              <a:rPr lang="en-US" dirty="0"/>
              <a:t>Text Messaging</a:t>
            </a:r>
          </a:p>
        </p:txBody>
      </p:sp>
    </p:spTree>
    <p:extLst>
      <p:ext uri="{BB962C8B-B14F-4D97-AF65-F5344CB8AC3E}">
        <p14:creationId xmlns:p14="http://schemas.microsoft.com/office/powerpoint/2010/main" val="15537385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0BE43-0E8E-02AE-3D4E-5F4AB380735F}"/>
              </a:ext>
            </a:extLst>
          </p:cNvPr>
          <p:cNvSpPr>
            <a:spLocks noGrp="1"/>
          </p:cNvSpPr>
          <p:nvPr>
            <p:ph type="title"/>
          </p:nvPr>
        </p:nvSpPr>
        <p:spPr>
          <a:xfrm>
            <a:off x="703072" y="345440"/>
            <a:ext cx="9692640" cy="1325562"/>
          </a:xfrm>
        </p:spPr>
        <p:txBody>
          <a:bodyPr/>
          <a:lstStyle/>
          <a:p>
            <a:r>
              <a:rPr lang="en-US" dirty="0"/>
              <a:t>Transforming Lives in Developing Countries</a:t>
            </a:r>
          </a:p>
        </p:txBody>
      </p:sp>
      <p:sp>
        <p:nvSpPr>
          <p:cNvPr id="3" name="Content Placeholder 2">
            <a:extLst>
              <a:ext uri="{FF2B5EF4-FFF2-40B4-BE49-F238E27FC236}">
                <a16:creationId xmlns:a16="http://schemas.microsoft.com/office/drawing/2014/main" id="{E024E94A-DC86-25F6-1FF5-C8BF4BB468E0}"/>
              </a:ext>
            </a:extLst>
          </p:cNvPr>
          <p:cNvSpPr>
            <a:spLocks noGrp="1"/>
          </p:cNvSpPr>
          <p:nvPr>
            <p:ph idx="1"/>
          </p:nvPr>
        </p:nvSpPr>
        <p:spPr>
          <a:xfrm>
            <a:off x="1170432" y="2092960"/>
            <a:ext cx="8595360" cy="3843337"/>
          </a:xfrm>
        </p:spPr>
        <p:txBody>
          <a:bodyPr>
            <a:normAutofit/>
          </a:bodyPr>
          <a:lstStyle/>
          <a:p>
            <a:r>
              <a:rPr lang="en-US" sz="2400" dirty="0"/>
              <a:t>M-PESA in Kenya </a:t>
            </a:r>
          </a:p>
          <a:p>
            <a:pPr marL="274320" lvl="1" indent="0">
              <a:buNone/>
            </a:pPr>
            <a:r>
              <a:rPr lang="en-US" sz="2400" dirty="0"/>
              <a:t>– Save money</a:t>
            </a:r>
          </a:p>
          <a:p>
            <a:pPr marL="274320" lvl="1" indent="0">
              <a:buNone/>
            </a:pPr>
            <a:r>
              <a:rPr lang="en-US" sz="2400" dirty="0"/>
              <a:t> – Pay bills</a:t>
            </a:r>
          </a:p>
          <a:p>
            <a:pPr marL="274320" lvl="1" indent="0">
              <a:buNone/>
            </a:pPr>
            <a:r>
              <a:rPr lang="en-US" sz="2400" dirty="0"/>
              <a:t> – Transfer funds </a:t>
            </a:r>
          </a:p>
          <a:p>
            <a:r>
              <a:rPr lang="en-US" sz="2400" dirty="0"/>
              <a:t>Communicate information about crop prices </a:t>
            </a:r>
          </a:p>
          <a:p>
            <a:r>
              <a:rPr lang="en-US" sz="2400" dirty="0"/>
              <a:t>Protect against counterfeit medicine</a:t>
            </a:r>
          </a:p>
        </p:txBody>
      </p:sp>
    </p:spTree>
    <p:extLst>
      <p:ext uri="{BB962C8B-B14F-4D97-AF65-F5344CB8AC3E}">
        <p14:creationId xmlns:p14="http://schemas.microsoft.com/office/powerpoint/2010/main" val="104833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94B10-961C-94B9-3014-8026669D4450}"/>
              </a:ext>
            </a:extLst>
          </p:cNvPr>
          <p:cNvSpPr>
            <a:spLocks noGrp="1"/>
          </p:cNvSpPr>
          <p:nvPr>
            <p:ph type="title"/>
          </p:nvPr>
        </p:nvSpPr>
        <p:spPr>
          <a:xfrm>
            <a:off x="723392" y="426720"/>
            <a:ext cx="9692640" cy="1046480"/>
          </a:xfrm>
        </p:spPr>
        <p:txBody>
          <a:bodyPr/>
          <a:lstStyle/>
          <a:p>
            <a:r>
              <a:rPr lang="en-US" dirty="0"/>
              <a:t>Twitter</a:t>
            </a:r>
          </a:p>
        </p:txBody>
      </p:sp>
      <p:sp>
        <p:nvSpPr>
          <p:cNvPr id="3" name="Content Placeholder 2">
            <a:extLst>
              <a:ext uri="{FF2B5EF4-FFF2-40B4-BE49-F238E27FC236}">
                <a16:creationId xmlns:a16="http://schemas.microsoft.com/office/drawing/2014/main" id="{CE36E492-E87A-8668-B05A-2CF4117F72EA}"/>
              </a:ext>
            </a:extLst>
          </p:cNvPr>
          <p:cNvSpPr>
            <a:spLocks noGrp="1"/>
          </p:cNvSpPr>
          <p:nvPr>
            <p:ph idx="1"/>
          </p:nvPr>
        </p:nvSpPr>
        <p:spPr/>
        <p:txBody>
          <a:bodyPr>
            <a:normAutofit/>
          </a:bodyPr>
          <a:lstStyle/>
          <a:p>
            <a:r>
              <a:rPr lang="en-US" sz="2400" dirty="0"/>
              <a:t>Web-based social networking service </a:t>
            </a:r>
          </a:p>
          <a:p>
            <a:r>
              <a:rPr lang="en-US" sz="2400" dirty="0"/>
              <a:t>More than 200 million users </a:t>
            </a:r>
          </a:p>
          <a:p>
            <a:r>
              <a:rPr lang="en-US" sz="2400" dirty="0"/>
              <a:t>Blogging tool </a:t>
            </a:r>
          </a:p>
          <a:p>
            <a:r>
              <a:rPr lang="en-US" sz="2400" dirty="0"/>
              <a:t>Business promotion </a:t>
            </a:r>
          </a:p>
          <a:p>
            <a:r>
              <a:rPr lang="en-US" sz="2400" dirty="0"/>
              <a:t>Role in Arab Spring uprisings debated </a:t>
            </a:r>
          </a:p>
          <a:p>
            <a:pPr marL="274320" lvl="1" indent="0">
              <a:buNone/>
            </a:pPr>
            <a:r>
              <a:rPr lang="en-US" sz="2400" dirty="0"/>
              <a:t>– (+) Social networks lead to politicization </a:t>
            </a:r>
          </a:p>
          <a:p>
            <a:pPr marL="274320" lvl="1" indent="0">
              <a:buNone/>
            </a:pPr>
            <a:r>
              <a:rPr lang="en-US" sz="2400" dirty="0"/>
              <a:t>– (-) Ties in social networks too weak for high-risk activism</a:t>
            </a:r>
          </a:p>
        </p:txBody>
      </p:sp>
    </p:spTree>
    <p:extLst>
      <p:ext uri="{BB962C8B-B14F-4D97-AF65-F5344CB8AC3E}">
        <p14:creationId xmlns:p14="http://schemas.microsoft.com/office/powerpoint/2010/main" val="2567914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AB87-327B-BE58-052A-F645393A1907}"/>
              </a:ext>
            </a:extLst>
          </p:cNvPr>
          <p:cNvSpPr>
            <a:spLocks noGrp="1"/>
          </p:cNvSpPr>
          <p:nvPr>
            <p:ph type="title"/>
          </p:nvPr>
        </p:nvSpPr>
        <p:spPr>
          <a:xfrm>
            <a:off x="987552" y="2590800"/>
            <a:ext cx="9692640" cy="1325562"/>
          </a:xfrm>
        </p:spPr>
        <p:txBody>
          <a:bodyPr/>
          <a:lstStyle/>
          <a:p>
            <a:pPr algn="ctr"/>
            <a:r>
              <a:rPr lang="en-US" dirty="0"/>
              <a:t>END OF LECTURE</a:t>
            </a:r>
          </a:p>
        </p:txBody>
      </p:sp>
    </p:spTree>
    <p:extLst>
      <p:ext uri="{BB962C8B-B14F-4D97-AF65-F5344CB8AC3E}">
        <p14:creationId xmlns:p14="http://schemas.microsoft.com/office/powerpoint/2010/main" val="843697419"/>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651</TotalTime>
  <Words>1376</Words>
  <Application>Microsoft Office PowerPoint</Application>
  <PresentationFormat>Widescreen</PresentationFormat>
  <Paragraphs>156</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Century Schoolbook</vt:lpstr>
      <vt:lpstr>Wingdings 2</vt:lpstr>
      <vt:lpstr>View</vt:lpstr>
      <vt:lpstr>CSC410 - Professional Practices in IT</vt:lpstr>
      <vt:lpstr>Today Topics</vt:lpstr>
      <vt:lpstr>Networked Communications</vt:lpstr>
      <vt:lpstr>Far More People Have Access to Cell  Phones than Electricity or Clean Water</vt:lpstr>
      <vt:lpstr>Social Implications of Computing &amp; Networked Communications </vt:lpstr>
      <vt:lpstr>Social Implications of Computing &amp; Networked Communications </vt:lpstr>
      <vt:lpstr>Improved Communication and Connectivity</vt:lpstr>
      <vt:lpstr>Access to Information and Education</vt:lpstr>
      <vt:lpstr>Privacy and Security Concerns</vt:lpstr>
      <vt:lpstr>Social Interactions and Relationships</vt:lpstr>
      <vt:lpstr>Impact of Social Media on Individualism; and Collectivism &amp; Culture. </vt:lpstr>
      <vt:lpstr>Moral issues associated with our use of the Internet and the telephone system</vt:lpstr>
      <vt:lpstr>The Spam Epidemic (1/3)</vt:lpstr>
      <vt:lpstr>The Spam Epidemic (2/3)</vt:lpstr>
      <vt:lpstr>The Spam Epidemic (3/3)</vt:lpstr>
      <vt:lpstr>Need for Social-Technical Solutions</vt:lpstr>
      <vt:lpstr>Case Study: Ann the Acme Accountant</vt:lpstr>
      <vt:lpstr>Case Study: Ann the Acme Accountant</vt:lpstr>
      <vt:lpstr>Kantian Analysis</vt:lpstr>
      <vt:lpstr>Act Utilitarian Analysis</vt:lpstr>
      <vt:lpstr>Rule Utilitarian Analysis</vt:lpstr>
      <vt:lpstr>Social Contract Theory Analysis</vt:lpstr>
      <vt:lpstr>Virtue Ethics Analysis</vt:lpstr>
      <vt:lpstr>Summary</vt:lpstr>
      <vt:lpstr>Internet Interactions</vt:lpstr>
      <vt:lpstr>The World Wide Web</vt:lpstr>
      <vt:lpstr>Rise of the App</vt:lpstr>
      <vt:lpstr>How We Use the Internet</vt:lpstr>
      <vt:lpstr>How We Use the Internet</vt:lpstr>
      <vt:lpstr>Online Source of Genealogical Information</vt:lpstr>
      <vt:lpstr>Text Messaging</vt:lpstr>
      <vt:lpstr>Transforming Lives in Developing Countries</vt:lpstr>
      <vt:lpstr>Twitter</vt:lpstr>
      <vt:lpstr>END OF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DELL7490</dc:creator>
  <cp:lastModifiedBy>DELL7490</cp:lastModifiedBy>
  <cp:revision>61</cp:revision>
  <dcterms:created xsi:type="dcterms:W3CDTF">2024-09-16T10:53:45Z</dcterms:created>
  <dcterms:modified xsi:type="dcterms:W3CDTF">2024-09-20T04:31:46Z</dcterms:modified>
</cp:coreProperties>
</file>