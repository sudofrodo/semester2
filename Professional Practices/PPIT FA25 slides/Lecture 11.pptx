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H6J7C+cyEIeyvqSVAb5rXe9v3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129" name="Google Shape;1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160" name="Google Shape;16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167" name="Google Shape;1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174" name="Google Shape;1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181" name="Google Shape;1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 name="Google Shape;18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194" name="Google Shape;19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201" name="Google Shape;20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8506888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33246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21041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7605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48590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73035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85128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7934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2918040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74504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9077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87417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896701" y="2137143"/>
            <a:ext cx="9587001" cy="397277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5400"/>
              <a:buFont typeface="Calibri"/>
              <a:buNone/>
            </a:pPr>
            <a:r>
              <a:rPr lang="en-US" sz="6600" dirty="0"/>
              <a:t>CSC410 - Professional Practices in IT</a:t>
            </a:r>
            <a:br>
              <a:rPr lang="en-US" sz="5400" dirty="0"/>
            </a:br>
            <a:br>
              <a:rPr lang="en-US" sz="5400" dirty="0"/>
            </a:br>
            <a:r>
              <a:rPr lang="en-US" sz="2000" dirty="0"/>
              <a:t>Instructor Name : Sidra Nasir</a:t>
            </a:r>
            <a:br>
              <a:rPr lang="en-US" sz="2000" dirty="0"/>
            </a:br>
            <a:r>
              <a:rPr lang="en-US" sz="2000" dirty="0"/>
              <a:t>Email : sidranasir@cuilahore.edu.pk </a:t>
            </a:r>
            <a:br>
              <a:rPr lang="en-US" sz="2160" dirty="0"/>
            </a:b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title"/>
          </p:nvPr>
        </p:nvSpPr>
        <p:spPr>
          <a:xfrm>
            <a:off x="1676400" y="1520456"/>
            <a:ext cx="8584019" cy="310455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5400"/>
              <a:buFont typeface="Calibri"/>
              <a:buNone/>
            </a:pPr>
            <a:br>
              <a:rPr lang="en-US" sz="5400" dirty="0"/>
            </a:br>
            <a:r>
              <a:rPr lang="en-US" sz="5400" dirty="0"/>
              <a:t> Lecture -2</a:t>
            </a:r>
            <a:br>
              <a:rPr lang="en-US" sz="5400" dirty="0"/>
            </a:br>
            <a:br>
              <a:rPr lang="en-US" sz="5400" dirty="0"/>
            </a:br>
            <a:r>
              <a:rPr lang="en-US" sz="5400" dirty="0"/>
              <a:t>Privacy Risks  and Principles</a:t>
            </a:r>
            <a:endParaRPr dirty="0"/>
          </a:p>
        </p:txBody>
      </p:sp>
      <p:sp>
        <p:nvSpPr>
          <p:cNvPr id="94" name="Google Shape;94;p2"/>
          <p:cNvSpPr txBox="1">
            <a:spLocks noGrp="1"/>
          </p:cNvSpPr>
          <p:nvPr>
            <p:ph type="dt" sz="half"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6/5/2020</a:t>
            </a:r>
            <a:endParaRPr/>
          </a:p>
        </p:txBody>
      </p:sp>
      <p:sp>
        <p:nvSpPr>
          <p:cNvPr id="95" name="Google Shape;95;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1329070" y="881960"/>
            <a:ext cx="818599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Topics Covered in this Lecture</a:t>
            </a:r>
            <a:endParaRPr dirty="0"/>
          </a:p>
        </p:txBody>
      </p:sp>
      <p:sp>
        <p:nvSpPr>
          <p:cNvPr id="101" name="Google Shape;101;p3"/>
          <p:cNvSpPr txBox="1">
            <a:spLocks noGrp="1"/>
          </p:cNvSpPr>
          <p:nvPr>
            <p:ph idx="1"/>
          </p:nvPr>
        </p:nvSpPr>
        <p:spPr>
          <a:xfrm>
            <a:off x="1434548" y="2501486"/>
            <a:ext cx="6927574" cy="20572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dirty="0">
                <a:latin typeface="Calibri"/>
                <a:ea typeface="Calibri"/>
                <a:cs typeface="Calibri"/>
                <a:sym typeface="Calibri"/>
              </a:rPr>
              <a:t>Privacy key issues</a:t>
            </a:r>
            <a:endParaRPr sz="2400" dirty="0"/>
          </a:p>
          <a:p>
            <a:pPr marL="228600" lvl="0" indent="-228600" algn="l" rtl="0">
              <a:lnSpc>
                <a:spcPct val="90000"/>
              </a:lnSpc>
              <a:spcBef>
                <a:spcPts val="1000"/>
              </a:spcBef>
              <a:spcAft>
                <a:spcPts val="0"/>
              </a:spcAft>
              <a:buClr>
                <a:schemeClr val="dk1"/>
              </a:buClr>
              <a:buSzPts val="2400"/>
              <a:buChar char="•"/>
            </a:pPr>
            <a:r>
              <a:rPr lang="en-US" sz="2400" dirty="0">
                <a:latin typeface="Calibri"/>
                <a:ea typeface="Calibri"/>
                <a:cs typeface="Calibri"/>
                <a:sym typeface="Calibri"/>
              </a:rPr>
              <a:t>Role of identity thefts</a:t>
            </a:r>
            <a:endParaRPr sz="2400" dirty="0"/>
          </a:p>
          <a:p>
            <a:pPr marL="228600" lvl="0" indent="-228600" algn="l" rtl="0">
              <a:lnSpc>
                <a:spcPct val="90000"/>
              </a:lnSpc>
              <a:spcBef>
                <a:spcPts val="1000"/>
              </a:spcBef>
              <a:spcAft>
                <a:spcPts val="0"/>
              </a:spcAft>
              <a:buClr>
                <a:schemeClr val="dk1"/>
              </a:buClr>
              <a:buSzPts val="2400"/>
              <a:buChar char="•"/>
            </a:pPr>
            <a:r>
              <a:rPr lang="en-US" sz="2400" dirty="0">
                <a:latin typeface="Calibri"/>
                <a:ea typeface="Calibri"/>
                <a:cs typeface="Calibri"/>
                <a:sym typeface="Calibri"/>
              </a:rPr>
              <a:t>Key Data Thefts</a:t>
            </a:r>
            <a:endParaRPr sz="2400" dirty="0"/>
          </a:p>
          <a:p>
            <a:pPr marL="228600" lvl="0" indent="-50800" algn="l" rtl="0">
              <a:lnSpc>
                <a:spcPct val="90000"/>
              </a:lnSpc>
              <a:spcBef>
                <a:spcPts val="1000"/>
              </a:spcBef>
              <a:spcAft>
                <a:spcPts val="0"/>
              </a:spcAft>
              <a:buClr>
                <a:schemeClr val="dk1"/>
              </a:buClr>
              <a:buSzPts val="2800"/>
              <a:buNone/>
            </a:pP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a:spLocks noGrp="1"/>
          </p:cNvSpPr>
          <p:nvPr>
            <p:ph type="title"/>
          </p:nvPr>
        </p:nvSpPr>
        <p:spPr>
          <a:xfrm>
            <a:off x="838200" y="579437"/>
            <a:ext cx="102489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Learning outcomes of this Lecture</a:t>
            </a:r>
            <a:endParaRPr dirty="0"/>
          </a:p>
        </p:txBody>
      </p:sp>
      <p:sp>
        <p:nvSpPr>
          <p:cNvPr id="107" name="Google Shape;107;p4"/>
          <p:cNvSpPr txBox="1">
            <a:spLocks noGrp="1"/>
          </p:cNvSpPr>
          <p:nvPr>
            <p:ph idx="1"/>
          </p:nvPr>
        </p:nvSpPr>
        <p:spPr>
          <a:xfrm>
            <a:off x="838200" y="2439987"/>
            <a:ext cx="10515600" cy="28463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dirty="0"/>
              <a:t>To understand the Key Privacy issues</a:t>
            </a:r>
            <a:endParaRPr sz="2400" dirty="0"/>
          </a:p>
          <a:p>
            <a:pPr marL="228600" lvl="0" indent="-228600" algn="l" rtl="0">
              <a:lnSpc>
                <a:spcPct val="90000"/>
              </a:lnSpc>
              <a:spcBef>
                <a:spcPts val="1000"/>
              </a:spcBef>
              <a:spcAft>
                <a:spcPts val="0"/>
              </a:spcAft>
              <a:buClr>
                <a:schemeClr val="dk1"/>
              </a:buClr>
              <a:buSzPts val="2800"/>
              <a:buChar char="•"/>
            </a:pPr>
            <a:r>
              <a:rPr lang="en-US" sz="2400" dirty="0"/>
              <a:t>Role of Identity theft in Privacy.</a:t>
            </a:r>
            <a:endParaRPr sz="2400" dirty="0"/>
          </a:p>
          <a:p>
            <a:pPr marL="228600" lvl="0" indent="-228600" algn="l" rtl="0">
              <a:lnSpc>
                <a:spcPct val="90000"/>
              </a:lnSpc>
              <a:spcBef>
                <a:spcPts val="1000"/>
              </a:spcBef>
              <a:spcAft>
                <a:spcPts val="0"/>
              </a:spcAft>
              <a:buClr>
                <a:schemeClr val="dk1"/>
              </a:buClr>
              <a:buSzPts val="2800"/>
              <a:buChar char="•"/>
            </a:pPr>
            <a:r>
              <a:rPr lang="en-US" sz="2400" dirty="0"/>
              <a:t>To know different types of Identity threats under new era.</a:t>
            </a:r>
            <a:endParaRPr sz="2400" dirty="0"/>
          </a:p>
          <a:p>
            <a:pPr marL="0" lvl="0" indent="0" algn="l" rtl="0">
              <a:lnSpc>
                <a:spcPct val="90000"/>
              </a:lnSpc>
              <a:spcBef>
                <a:spcPts val="1000"/>
              </a:spcBef>
              <a:spcAft>
                <a:spcPts val="0"/>
              </a:spcAft>
              <a:buClr>
                <a:schemeClr val="dk1"/>
              </a:buClr>
              <a:buSzPts val="2800"/>
              <a:buNone/>
            </a:pPr>
            <a:r>
              <a:rPr lang="en-US" sz="2400" dirty="0"/>
              <a:t> </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560123" y="344494"/>
            <a:ext cx="9692640" cy="132556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Key Privacy Issues</a:t>
            </a:r>
            <a:endParaRPr dirty="0"/>
          </a:p>
        </p:txBody>
      </p:sp>
      <p:sp>
        <p:nvSpPr>
          <p:cNvPr id="114" name="Google Shape;114;p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dirty="0"/>
              <a:t>The rest of this lecture discusses a number of current and important privacy issues, including:</a:t>
            </a:r>
            <a:endParaRPr sz="2400" dirty="0"/>
          </a:p>
          <a:p>
            <a:pPr marL="976313" lvl="0" indent="-519113" algn="l" rtl="0">
              <a:lnSpc>
                <a:spcPct val="90000"/>
              </a:lnSpc>
              <a:spcBef>
                <a:spcPts val="1000"/>
              </a:spcBef>
              <a:spcAft>
                <a:spcPts val="0"/>
              </a:spcAft>
              <a:buClr>
                <a:schemeClr val="dk1"/>
              </a:buClr>
              <a:buSzPts val="2800"/>
              <a:buFont typeface="Noto Sans Symbols"/>
              <a:buChar char="⮚"/>
            </a:pPr>
            <a:r>
              <a:rPr lang="en-US" sz="2400" dirty="0"/>
              <a:t>Identity theft</a:t>
            </a:r>
            <a:endParaRPr sz="2400" dirty="0"/>
          </a:p>
          <a:p>
            <a:pPr marL="976313" lvl="0" indent="-519113" algn="l" rtl="0">
              <a:lnSpc>
                <a:spcPct val="90000"/>
              </a:lnSpc>
              <a:spcBef>
                <a:spcPts val="1000"/>
              </a:spcBef>
              <a:spcAft>
                <a:spcPts val="0"/>
              </a:spcAft>
              <a:buClr>
                <a:schemeClr val="dk1"/>
              </a:buClr>
              <a:buSzPts val="2800"/>
              <a:buFont typeface="Noto Sans Symbols"/>
              <a:buChar char="⮚"/>
            </a:pPr>
            <a:r>
              <a:rPr lang="en-US" sz="2400" dirty="0"/>
              <a:t>Customer profiling</a:t>
            </a:r>
            <a:endParaRPr sz="2400" dirty="0"/>
          </a:p>
          <a:p>
            <a:pPr marL="976313" lvl="0" indent="-519113" algn="l" rtl="0">
              <a:lnSpc>
                <a:spcPct val="90000"/>
              </a:lnSpc>
              <a:spcBef>
                <a:spcPts val="1000"/>
              </a:spcBef>
              <a:spcAft>
                <a:spcPts val="0"/>
              </a:spcAft>
              <a:buClr>
                <a:schemeClr val="dk1"/>
              </a:buClr>
              <a:buSzPts val="2800"/>
              <a:buFont typeface="Noto Sans Symbols"/>
              <a:buChar char="⮚"/>
            </a:pPr>
            <a:r>
              <a:rPr lang="en-US" sz="2400" dirty="0"/>
              <a:t>Need to treat customer data responsibly</a:t>
            </a:r>
            <a:endParaRPr sz="2400" dirty="0"/>
          </a:p>
          <a:p>
            <a:pPr marL="976313" lvl="0" indent="-519113" algn="l" rtl="0">
              <a:lnSpc>
                <a:spcPct val="90000"/>
              </a:lnSpc>
              <a:spcBef>
                <a:spcPts val="1000"/>
              </a:spcBef>
              <a:spcAft>
                <a:spcPts val="0"/>
              </a:spcAft>
              <a:buClr>
                <a:schemeClr val="dk1"/>
              </a:buClr>
              <a:buSzPts val="2800"/>
              <a:buFont typeface="Noto Sans Symbols"/>
              <a:buChar char="⮚"/>
            </a:pPr>
            <a:r>
              <a:rPr lang="en-US" sz="2400" dirty="0"/>
              <a:t>Workplace monitoring</a:t>
            </a:r>
            <a:endParaRPr sz="2400" dirty="0"/>
          </a:p>
          <a:p>
            <a:pPr marL="976313" lvl="0" indent="-519113" algn="l" rtl="0">
              <a:lnSpc>
                <a:spcPct val="90000"/>
              </a:lnSpc>
              <a:spcBef>
                <a:spcPts val="1000"/>
              </a:spcBef>
              <a:spcAft>
                <a:spcPts val="0"/>
              </a:spcAft>
              <a:buClr>
                <a:schemeClr val="dk1"/>
              </a:buClr>
              <a:buSzPts val="2800"/>
              <a:buFont typeface="Noto Sans Symbols"/>
              <a:buChar char="⮚"/>
            </a:pPr>
            <a:r>
              <a:rPr lang="en-US" sz="2400" dirty="0"/>
              <a:t>Spamming</a:t>
            </a:r>
            <a:endParaRPr sz="2400" dirty="0"/>
          </a:p>
          <a:p>
            <a:pPr marL="976313" lvl="0" indent="-519113" algn="l" rtl="0">
              <a:lnSpc>
                <a:spcPct val="90000"/>
              </a:lnSpc>
              <a:spcBef>
                <a:spcPts val="1000"/>
              </a:spcBef>
              <a:spcAft>
                <a:spcPts val="0"/>
              </a:spcAft>
              <a:buClr>
                <a:schemeClr val="dk1"/>
              </a:buClr>
              <a:buSzPts val="2800"/>
              <a:buFont typeface="Noto Sans Symbols"/>
              <a:buChar char="⮚"/>
            </a:pPr>
            <a:r>
              <a:rPr lang="en-US" sz="2400" dirty="0"/>
              <a:t>Advanced surveillance techniques</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Identity Theft</a:t>
            </a:r>
            <a:endParaRPr/>
          </a:p>
        </p:txBody>
      </p:sp>
      <p:sp>
        <p:nvSpPr>
          <p:cNvPr id="121" name="Google Shape;121;p6"/>
          <p:cNvSpPr txBox="1">
            <a:spLocks noGrp="1"/>
          </p:cNvSpPr>
          <p:nvPr>
            <p:ph idx="1"/>
          </p:nvPr>
        </p:nvSpPr>
        <p:spPr>
          <a:xfrm>
            <a:off x="1264024" y="1676400"/>
            <a:ext cx="8946776" cy="4648200"/>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dk1"/>
              </a:buClr>
              <a:buSzPts val="2590"/>
              <a:buChar char="•"/>
            </a:pPr>
            <a:r>
              <a:rPr lang="en-US" sz="2590" dirty="0"/>
              <a:t>Theft of key pieces of personal information to gain access to a person’s financial accounts</a:t>
            </a:r>
            <a:endParaRPr dirty="0"/>
          </a:p>
          <a:p>
            <a:pPr marL="228600" lvl="0" indent="-228600" algn="l" rtl="0">
              <a:lnSpc>
                <a:spcPct val="80000"/>
              </a:lnSpc>
              <a:spcBef>
                <a:spcPts val="1000"/>
              </a:spcBef>
              <a:spcAft>
                <a:spcPts val="0"/>
              </a:spcAft>
              <a:buClr>
                <a:schemeClr val="dk1"/>
              </a:buClr>
              <a:buSzPts val="2590"/>
              <a:buChar char="•"/>
            </a:pPr>
            <a:r>
              <a:rPr lang="en-US" sz="2590" dirty="0"/>
              <a:t>when someone steals key pieces of personal information to impersonate a person</a:t>
            </a:r>
            <a:endParaRPr dirty="0"/>
          </a:p>
          <a:p>
            <a:pPr marL="228600" lvl="0" indent="-228600" algn="l" rtl="0">
              <a:lnSpc>
                <a:spcPct val="80000"/>
              </a:lnSpc>
              <a:spcBef>
                <a:spcPts val="1000"/>
              </a:spcBef>
              <a:spcAft>
                <a:spcPts val="0"/>
              </a:spcAft>
              <a:buClr>
                <a:schemeClr val="dk1"/>
              </a:buClr>
              <a:buSzPts val="2590"/>
              <a:buChar char="•"/>
            </a:pPr>
            <a:r>
              <a:rPr lang="en-US" sz="2590" dirty="0"/>
              <a:t>Information includes: </a:t>
            </a:r>
            <a:endParaRPr dirty="0"/>
          </a:p>
          <a:p>
            <a:pPr marL="800100" lvl="1" indent="-342900">
              <a:lnSpc>
                <a:spcPct val="80000"/>
              </a:lnSpc>
              <a:spcBef>
                <a:spcPts val="500"/>
              </a:spcBef>
              <a:spcAft>
                <a:spcPts val="0"/>
              </a:spcAft>
              <a:buClr>
                <a:schemeClr val="dk1"/>
              </a:buClr>
              <a:buSzPts val="2220"/>
            </a:pPr>
            <a:r>
              <a:rPr lang="en-US" sz="2220" dirty="0"/>
              <a:t>Name</a:t>
            </a:r>
            <a:endParaRPr dirty="0"/>
          </a:p>
          <a:p>
            <a:pPr marL="800100" lvl="1" indent="-342900">
              <a:lnSpc>
                <a:spcPct val="80000"/>
              </a:lnSpc>
              <a:spcBef>
                <a:spcPts val="500"/>
              </a:spcBef>
              <a:spcAft>
                <a:spcPts val="0"/>
              </a:spcAft>
              <a:buClr>
                <a:schemeClr val="dk1"/>
              </a:buClr>
              <a:buSzPts val="2220"/>
            </a:pPr>
            <a:r>
              <a:rPr lang="en-US" sz="2220" dirty="0"/>
              <a:t>Address</a:t>
            </a:r>
            <a:endParaRPr dirty="0"/>
          </a:p>
          <a:p>
            <a:pPr marL="800100" lvl="1" indent="-342900">
              <a:lnSpc>
                <a:spcPct val="80000"/>
              </a:lnSpc>
              <a:spcBef>
                <a:spcPts val="500"/>
              </a:spcBef>
              <a:spcAft>
                <a:spcPts val="0"/>
              </a:spcAft>
              <a:buClr>
                <a:schemeClr val="dk1"/>
              </a:buClr>
              <a:buSzPts val="2220"/>
            </a:pPr>
            <a:r>
              <a:rPr lang="en-US" sz="2220" dirty="0"/>
              <a:t>Date of birth</a:t>
            </a:r>
            <a:endParaRPr dirty="0"/>
          </a:p>
          <a:p>
            <a:pPr marL="800100" lvl="1" indent="-342900">
              <a:lnSpc>
                <a:spcPct val="80000"/>
              </a:lnSpc>
              <a:spcBef>
                <a:spcPts val="500"/>
              </a:spcBef>
              <a:spcAft>
                <a:spcPts val="0"/>
              </a:spcAft>
              <a:buClr>
                <a:schemeClr val="dk1"/>
              </a:buClr>
              <a:buSzPts val="2220"/>
            </a:pPr>
            <a:r>
              <a:rPr lang="en-US" sz="2220" dirty="0"/>
              <a:t>Social Security number</a:t>
            </a:r>
            <a:endParaRPr dirty="0"/>
          </a:p>
          <a:p>
            <a:pPr marL="800100" lvl="1" indent="-342900">
              <a:lnSpc>
                <a:spcPct val="80000"/>
              </a:lnSpc>
              <a:spcBef>
                <a:spcPts val="500"/>
              </a:spcBef>
              <a:spcAft>
                <a:spcPts val="0"/>
              </a:spcAft>
              <a:buClr>
                <a:schemeClr val="dk1"/>
              </a:buClr>
              <a:buSzPts val="2220"/>
            </a:pPr>
            <a:r>
              <a:rPr lang="en-US" sz="2220" dirty="0"/>
              <a:t>Passport number</a:t>
            </a:r>
            <a:endParaRPr dirty="0"/>
          </a:p>
          <a:p>
            <a:pPr marL="800100" lvl="1" indent="-342900">
              <a:lnSpc>
                <a:spcPct val="80000"/>
              </a:lnSpc>
              <a:spcBef>
                <a:spcPts val="500"/>
              </a:spcBef>
              <a:spcAft>
                <a:spcPts val="0"/>
              </a:spcAft>
              <a:buClr>
                <a:schemeClr val="dk1"/>
              </a:buClr>
              <a:buSzPts val="2220"/>
            </a:pPr>
            <a:r>
              <a:rPr lang="en-US" sz="2220" dirty="0"/>
              <a:t>Driver’s license number</a:t>
            </a:r>
            <a:endParaRPr dirty="0"/>
          </a:p>
          <a:p>
            <a:pPr marL="800100" lvl="1" indent="-342900">
              <a:lnSpc>
                <a:spcPct val="80000"/>
              </a:lnSpc>
              <a:spcBef>
                <a:spcPts val="500"/>
              </a:spcBef>
              <a:spcAft>
                <a:spcPts val="0"/>
              </a:spcAft>
              <a:buClr>
                <a:schemeClr val="dk1"/>
              </a:buClr>
              <a:buSzPts val="2220"/>
            </a:pPr>
            <a:r>
              <a:rPr lang="en-US" sz="2220" dirty="0"/>
              <a:t>Mother’s maiden name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7"/>
          <p:cNvPicPr preferRelativeResize="0"/>
          <p:nvPr/>
        </p:nvPicPr>
        <p:blipFill rotWithShape="1">
          <a:blip r:embed="rId3">
            <a:alphaModFix/>
          </a:blip>
          <a:srcRect/>
          <a:stretch/>
        </p:blipFill>
        <p:spPr>
          <a:xfrm>
            <a:off x="1524001" y="114300"/>
            <a:ext cx="9143999" cy="662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273044" y="312597"/>
            <a:ext cx="9692640" cy="132556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Identity Theft </a:t>
            </a:r>
            <a:endParaRPr/>
          </a:p>
        </p:txBody>
      </p:sp>
      <p:sp>
        <p:nvSpPr>
          <p:cNvPr id="133" name="Google Shape;133;p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dirty="0"/>
              <a:t>Fastest growing form of fraud in the United States</a:t>
            </a:r>
            <a:endParaRPr sz="2400" dirty="0"/>
          </a:p>
          <a:p>
            <a:pPr marL="228600" lvl="0" indent="-228600" algn="l" rtl="0">
              <a:lnSpc>
                <a:spcPct val="90000"/>
              </a:lnSpc>
              <a:spcBef>
                <a:spcPts val="1000"/>
              </a:spcBef>
              <a:spcAft>
                <a:spcPts val="0"/>
              </a:spcAft>
              <a:buClr>
                <a:schemeClr val="dk1"/>
              </a:buClr>
              <a:buSzPts val="2800"/>
              <a:buChar char="•"/>
            </a:pPr>
            <a:r>
              <a:rPr lang="en-US" sz="2400" dirty="0"/>
              <a:t>Lack of initiative in informing people whose data was stolen</a:t>
            </a:r>
            <a:endParaRPr sz="2400" dirty="0"/>
          </a:p>
          <a:p>
            <a:pPr marL="228600" lvl="0" indent="-228600" algn="l" rtl="0">
              <a:lnSpc>
                <a:spcPct val="90000"/>
              </a:lnSpc>
              <a:spcBef>
                <a:spcPts val="1000"/>
              </a:spcBef>
              <a:spcAft>
                <a:spcPts val="0"/>
              </a:spcAft>
              <a:buClr>
                <a:schemeClr val="dk1"/>
              </a:buClr>
              <a:buSzPts val="2800"/>
              <a:buChar char="•"/>
            </a:pPr>
            <a:r>
              <a:rPr lang="en-US" sz="2400" dirty="0"/>
              <a:t>Using this information, an identity thief may apply for new credit or financial accounts, rent an apartment, set up utility or phone service, and register for college courses—all in someone else’s name.</a:t>
            </a: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title"/>
          </p:nvPr>
        </p:nvSpPr>
        <p:spPr>
          <a:xfrm>
            <a:off x="854149" y="356191"/>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Identity theft</a:t>
            </a:r>
            <a:endParaRPr dirty="0"/>
          </a:p>
        </p:txBody>
      </p:sp>
      <p:sp>
        <p:nvSpPr>
          <p:cNvPr id="139" name="Google Shape;139;p9"/>
          <p:cNvSpPr txBox="1">
            <a:spLocks noGrp="1"/>
          </p:cNvSpPr>
          <p:nvPr>
            <p:ph idx="1"/>
          </p:nvPr>
        </p:nvSpPr>
        <p:spPr>
          <a:xfrm>
            <a:off x="1112666" y="1548809"/>
            <a:ext cx="9161929" cy="4953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dirty="0"/>
              <a:t>Four approaches are frequently used by identity thieves to capture the personal data of their victims:</a:t>
            </a:r>
            <a:endParaRPr sz="2400" dirty="0"/>
          </a:p>
          <a:p>
            <a:pPr marL="803275" lvl="0" indent="-457200" algn="just" rtl="0">
              <a:lnSpc>
                <a:spcPct val="90000"/>
              </a:lnSpc>
              <a:spcBef>
                <a:spcPts val="1000"/>
              </a:spcBef>
              <a:spcAft>
                <a:spcPts val="0"/>
              </a:spcAft>
              <a:buClr>
                <a:schemeClr val="dk1"/>
              </a:buClr>
              <a:buSzPts val="2800"/>
              <a:buFont typeface="+mj-lt"/>
              <a:buAutoNum type="arabicPeriod"/>
            </a:pPr>
            <a:r>
              <a:rPr lang="en-US" sz="2400" dirty="0"/>
              <a:t>Create a </a:t>
            </a:r>
            <a:r>
              <a:rPr lang="en-US" sz="2400" b="1" dirty="0"/>
              <a:t>data breach </a:t>
            </a:r>
            <a:r>
              <a:rPr lang="en-US" sz="2400" dirty="0"/>
              <a:t>to steal hundreds, thousands, or even millions of personal records.</a:t>
            </a:r>
            <a:endParaRPr sz="2400" dirty="0"/>
          </a:p>
          <a:p>
            <a:pPr marL="803275" lvl="0" indent="-457200" algn="just" rtl="0">
              <a:lnSpc>
                <a:spcPct val="90000"/>
              </a:lnSpc>
              <a:spcBef>
                <a:spcPts val="1000"/>
              </a:spcBef>
              <a:spcAft>
                <a:spcPts val="0"/>
              </a:spcAft>
              <a:buClr>
                <a:schemeClr val="dk1"/>
              </a:buClr>
              <a:buSzPts val="2800"/>
              <a:buFont typeface="+mj-lt"/>
              <a:buAutoNum type="arabicPeriod"/>
            </a:pPr>
            <a:r>
              <a:rPr lang="en-US" sz="2400" b="1" dirty="0"/>
              <a:t>Purchase personal data </a:t>
            </a:r>
            <a:r>
              <a:rPr lang="en-US" sz="2400" dirty="0"/>
              <a:t>from criminals.</a:t>
            </a:r>
            <a:endParaRPr sz="2400" dirty="0"/>
          </a:p>
          <a:p>
            <a:pPr marL="803275" lvl="0" indent="-457200" algn="just" rtl="0">
              <a:lnSpc>
                <a:spcPct val="90000"/>
              </a:lnSpc>
              <a:spcBef>
                <a:spcPts val="1000"/>
              </a:spcBef>
              <a:spcAft>
                <a:spcPts val="0"/>
              </a:spcAft>
              <a:buClr>
                <a:schemeClr val="dk1"/>
              </a:buClr>
              <a:buSzPts val="2800"/>
              <a:buFont typeface="+mj-lt"/>
              <a:buAutoNum type="arabicPeriod"/>
            </a:pPr>
            <a:r>
              <a:rPr lang="en-US" sz="2400" dirty="0"/>
              <a:t>Use </a:t>
            </a:r>
            <a:r>
              <a:rPr lang="en-US" sz="2400" b="1" dirty="0"/>
              <a:t>phishing</a:t>
            </a:r>
            <a:r>
              <a:rPr lang="en-US" sz="2400" dirty="0"/>
              <a:t> to entice users to willingly give up personal data. </a:t>
            </a:r>
            <a:endParaRPr sz="2400" dirty="0"/>
          </a:p>
          <a:p>
            <a:pPr marL="803275" lvl="0" indent="-457200" algn="just" rtl="0">
              <a:lnSpc>
                <a:spcPct val="90000"/>
              </a:lnSpc>
              <a:spcBef>
                <a:spcPts val="1000"/>
              </a:spcBef>
              <a:spcAft>
                <a:spcPts val="0"/>
              </a:spcAft>
              <a:buClr>
                <a:schemeClr val="dk1"/>
              </a:buClr>
              <a:buSzPts val="2800"/>
              <a:buFont typeface="+mj-lt"/>
              <a:buAutoNum type="arabicPeriod"/>
            </a:pPr>
            <a:r>
              <a:rPr lang="en-US" sz="2400" b="1" dirty="0"/>
              <a:t>Install spyware </a:t>
            </a:r>
            <a:r>
              <a:rPr lang="en-US" sz="2400" dirty="0"/>
              <a:t>capable of capturing the keystrokes of victims</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a:spLocks noGrp="1"/>
          </p:cNvSpPr>
          <p:nvPr>
            <p:ph type="title"/>
          </p:nvPr>
        </p:nvSpPr>
        <p:spPr>
          <a:xfrm>
            <a:off x="1141228" y="439479"/>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1: Data Breech</a:t>
            </a:r>
            <a:endParaRPr dirty="0"/>
          </a:p>
        </p:txBody>
      </p:sp>
      <p:sp>
        <p:nvSpPr>
          <p:cNvPr id="145" name="Google Shape;145;p10"/>
          <p:cNvSpPr txBox="1">
            <a:spLocks noGrp="1"/>
          </p:cNvSpPr>
          <p:nvPr>
            <p:ph idx="1"/>
          </p:nvPr>
        </p:nvSpPr>
        <p:spPr>
          <a:xfrm>
            <a:off x="1237129" y="1775012"/>
            <a:ext cx="8973671" cy="454958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sz="2400" dirty="0"/>
              <a:t>An alarming number of identity theft incidents involve breaches of large databases to gain personal identity information. </a:t>
            </a:r>
            <a:endParaRPr sz="2400" dirty="0"/>
          </a:p>
          <a:p>
            <a:pPr marL="228600" lvl="0" indent="-228600" algn="just" rtl="0">
              <a:lnSpc>
                <a:spcPct val="90000"/>
              </a:lnSpc>
              <a:spcBef>
                <a:spcPts val="1000"/>
              </a:spcBef>
              <a:spcAft>
                <a:spcPts val="0"/>
              </a:spcAft>
              <a:buClr>
                <a:schemeClr val="dk1"/>
              </a:buClr>
              <a:buSzPts val="2800"/>
              <a:buChar char="•"/>
            </a:pPr>
            <a:r>
              <a:rPr lang="en-US" sz="2400" dirty="0"/>
              <a:t>The breach may be caused by hackers breaking into the database or, more often than one would suspect, by carelessness or failure to follow proper security procedures.</a:t>
            </a: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1"/>
          <p:cNvSpPr txBox="1">
            <a:spLocks noGrp="1"/>
          </p:cNvSpPr>
          <p:nvPr>
            <p:ph type="title"/>
          </p:nvPr>
        </p:nvSpPr>
        <p:spPr>
          <a:xfrm>
            <a:off x="453797" y="578411"/>
            <a:ext cx="9692640" cy="132556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2: Purchase of Personal Data</a:t>
            </a:r>
            <a:br>
              <a:rPr lang="en-US" dirty="0"/>
            </a:br>
            <a:endParaRPr dirty="0"/>
          </a:p>
        </p:txBody>
      </p:sp>
      <p:sp>
        <p:nvSpPr>
          <p:cNvPr id="151" name="Google Shape;151;p1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sz="2400" dirty="0"/>
              <a:t>There is a black market in personal data. </a:t>
            </a:r>
            <a:endParaRPr sz="2400" dirty="0"/>
          </a:p>
          <a:p>
            <a:pPr marL="228600" lvl="0" indent="-228600" algn="just" rtl="0">
              <a:lnSpc>
                <a:spcPct val="90000"/>
              </a:lnSpc>
              <a:spcBef>
                <a:spcPts val="1000"/>
              </a:spcBef>
              <a:spcAft>
                <a:spcPts val="0"/>
              </a:spcAft>
              <a:buClr>
                <a:schemeClr val="dk1"/>
              </a:buClr>
              <a:buSzPts val="2800"/>
              <a:buChar char="•"/>
            </a:pPr>
            <a:r>
              <a:rPr lang="en-US" sz="2400" dirty="0"/>
              <a:t>Credit card numbers can be purchased in bulk quantity for as little as $.40 each, while the login name and PIN necessary to access a bank account can be had for just $10.36 </a:t>
            </a:r>
            <a:endParaRPr sz="2400" dirty="0"/>
          </a:p>
          <a:p>
            <a:pPr marL="228600" lvl="0" indent="-228600" algn="just" rtl="0">
              <a:lnSpc>
                <a:spcPct val="90000"/>
              </a:lnSpc>
              <a:spcBef>
                <a:spcPts val="1000"/>
              </a:spcBef>
              <a:spcAft>
                <a:spcPts val="0"/>
              </a:spcAft>
              <a:buClr>
                <a:schemeClr val="dk1"/>
              </a:buClr>
              <a:buSzPts val="2800"/>
              <a:buChar char="•"/>
            </a:pPr>
            <a:r>
              <a:rPr lang="en-US" sz="2400" dirty="0"/>
              <a:t>A full set of identity information including:  date of birth, address, Social Security number, and telephone number—sells for between $1 and $15.37</a:t>
            </a: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title"/>
          </p:nvPr>
        </p:nvSpPr>
        <p:spPr>
          <a:xfrm>
            <a:off x="591825" y="304800"/>
            <a:ext cx="882396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3: Phishing</a:t>
            </a:r>
            <a:endParaRPr dirty="0"/>
          </a:p>
        </p:txBody>
      </p:sp>
      <p:sp>
        <p:nvSpPr>
          <p:cNvPr id="157" name="Google Shape;157;p12"/>
          <p:cNvSpPr txBox="1">
            <a:spLocks noGrp="1"/>
          </p:cNvSpPr>
          <p:nvPr>
            <p:ph idx="1"/>
          </p:nvPr>
        </p:nvSpPr>
        <p:spPr>
          <a:xfrm>
            <a:off x="941294" y="1701208"/>
            <a:ext cx="9269506" cy="4623391"/>
          </a:xfrm>
          <a:prstGeom prst="rect">
            <a:avLst/>
          </a:prstGeom>
          <a:noFill/>
          <a:ln>
            <a:noFill/>
          </a:ln>
        </p:spPr>
        <p:txBody>
          <a:bodyPr spcFirstLastPara="1" wrap="square" lIns="91425" tIns="45700" rIns="91425" bIns="45700" anchor="t" anchorCtr="0">
            <a:normAutofit/>
          </a:bodyPr>
          <a:lstStyle/>
          <a:p>
            <a:pPr marL="742950" lvl="1" indent="-285750" algn="just">
              <a:spcBef>
                <a:spcPts val="0"/>
              </a:spcBef>
              <a:spcAft>
                <a:spcPts val="0"/>
              </a:spcAft>
              <a:buClr>
                <a:schemeClr val="dk1"/>
              </a:buClr>
              <a:buSzPts val="2400"/>
            </a:pPr>
            <a:r>
              <a:rPr lang="en-US" sz="2400" dirty="0"/>
              <a:t>Attempt to steal personal identity data </a:t>
            </a:r>
            <a:endParaRPr sz="2400" dirty="0"/>
          </a:p>
          <a:p>
            <a:pPr marL="742950" lvl="1" indent="-285750" algn="just">
              <a:spcBef>
                <a:spcPts val="500"/>
              </a:spcBef>
              <a:spcAft>
                <a:spcPts val="0"/>
              </a:spcAft>
              <a:buClr>
                <a:schemeClr val="dk1"/>
              </a:buClr>
              <a:buSzPts val="2400"/>
            </a:pPr>
            <a:r>
              <a:rPr lang="en-US" sz="2400" dirty="0"/>
              <a:t>By tricking users into entering information on a counterfeit Web site</a:t>
            </a:r>
            <a:endParaRPr sz="2400" dirty="0"/>
          </a:p>
          <a:p>
            <a:pPr marL="742950" lvl="1" indent="-285750" algn="just">
              <a:spcBef>
                <a:spcPts val="500"/>
              </a:spcBef>
              <a:spcAft>
                <a:spcPts val="0"/>
              </a:spcAft>
              <a:buClr>
                <a:schemeClr val="dk1"/>
              </a:buClr>
              <a:buSzPts val="2400"/>
            </a:pPr>
            <a:r>
              <a:rPr lang="en-US" sz="2400" b="1" dirty="0"/>
              <a:t>Spear-phishing</a:t>
            </a:r>
            <a:r>
              <a:rPr lang="en-US" sz="2400" dirty="0"/>
              <a:t> - a variation in which employees are sent e-mails that look like they came from high-level executives within their organization</a:t>
            </a:r>
            <a:endParaRPr sz="2400" dirty="0"/>
          </a:p>
          <a:p>
            <a:pPr marL="463550" indent="-285750">
              <a:lnSpc>
                <a:spcPct val="90000"/>
              </a:lnSpc>
              <a:spcBef>
                <a:spcPts val="1000"/>
              </a:spcBef>
              <a:spcAft>
                <a:spcPts val="0"/>
              </a:spcAft>
              <a:buClr>
                <a:schemeClr val="dk1"/>
              </a:buClr>
              <a:buSzPts val="2800"/>
            </a:pPr>
            <a:endParaRPr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txBox="1">
            <a:spLocks noGrp="1"/>
          </p:cNvSpPr>
          <p:nvPr>
            <p:ph type="title"/>
          </p:nvPr>
        </p:nvSpPr>
        <p:spPr>
          <a:xfrm>
            <a:off x="1905000" y="3048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a:t>4: Spyware</a:t>
            </a:r>
            <a:endParaRPr/>
          </a:p>
        </p:txBody>
      </p:sp>
      <p:sp>
        <p:nvSpPr>
          <p:cNvPr id="164" name="Google Shape;164;p13"/>
          <p:cNvSpPr txBox="1">
            <a:spLocks noGrp="1"/>
          </p:cNvSpPr>
          <p:nvPr>
            <p:ph idx="1"/>
          </p:nvPr>
        </p:nvSpPr>
        <p:spPr>
          <a:xfrm>
            <a:off x="524435" y="1679944"/>
            <a:ext cx="9686365" cy="464465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b="1" i="1" dirty="0"/>
              <a:t>Keystroke-logging software </a:t>
            </a:r>
            <a:r>
              <a:rPr lang="en-US" sz="2400" dirty="0"/>
              <a:t>downloaded to users’ computers without the knowledge or consent of the user</a:t>
            </a:r>
            <a:endParaRPr sz="2400" dirty="0"/>
          </a:p>
          <a:p>
            <a:pPr marL="685800" lvl="1" indent="-228600" algn="l" rtl="0">
              <a:lnSpc>
                <a:spcPct val="90000"/>
              </a:lnSpc>
              <a:spcBef>
                <a:spcPts val="500"/>
              </a:spcBef>
              <a:spcAft>
                <a:spcPts val="0"/>
              </a:spcAft>
              <a:buClr>
                <a:schemeClr val="dk1"/>
              </a:buClr>
              <a:buSzPts val="2400"/>
              <a:buChar char="•"/>
            </a:pPr>
            <a:r>
              <a:rPr lang="en-US" sz="2400" dirty="0"/>
              <a:t>Enables the capture of: </a:t>
            </a:r>
            <a:endParaRPr sz="2400" dirty="0"/>
          </a:p>
          <a:p>
            <a:pPr marL="1257300" lvl="2" indent="-342900">
              <a:spcBef>
                <a:spcPts val="500"/>
              </a:spcBef>
              <a:spcAft>
                <a:spcPts val="0"/>
              </a:spcAft>
              <a:buClr>
                <a:schemeClr val="dk1"/>
              </a:buClr>
              <a:buSzPts val="2000"/>
            </a:pPr>
            <a:r>
              <a:rPr lang="en-US" sz="2400" dirty="0"/>
              <a:t>Account usernames</a:t>
            </a:r>
            <a:endParaRPr sz="2400" dirty="0"/>
          </a:p>
          <a:p>
            <a:pPr marL="1257300" lvl="2" indent="-342900">
              <a:spcBef>
                <a:spcPts val="500"/>
              </a:spcBef>
              <a:spcAft>
                <a:spcPts val="0"/>
              </a:spcAft>
              <a:buClr>
                <a:schemeClr val="dk1"/>
              </a:buClr>
              <a:buSzPts val="2000"/>
            </a:pPr>
            <a:r>
              <a:rPr lang="en-US" sz="2400" dirty="0"/>
              <a:t>Passwords</a:t>
            </a:r>
            <a:endParaRPr sz="2400" dirty="0"/>
          </a:p>
          <a:p>
            <a:pPr marL="1257300" lvl="2" indent="-342900">
              <a:spcBef>
                <a:spcPts val="500"/>
              </a:spcBef>
              <a:spcAft>
                <a:spcPts val="0"/>
              </a:spcAft>
              <a:buClr>
                <a:schemeClr val="dk1"/>
              </a:buClr>
              <a:buSzPts val="2000"/>
            </a:pPr>
            <a:r>
              <a:rPr lang="en-US" sz="2400" dirty="0"/>
              <a:t>Credit card numbers</a:t>
            </a:r>
            <a:endParaRPr sz="2400" dirty="0"/>
          </a:p>
          <a:p>
            <a:pPr marL="1257300" lvl="2" indent="-342900">
              <a:spcBef>
                <a:spcPts val="500"/>
              </a:spcBef>
              <a:spcAft>
                <a:spcPts val="0"/>
              </a:spcAft>
              <a:buClr>
                <a:schemeClr val="dk1"/>
              </a:buClr>
              <a:buSzPts val="2000"/>
            </a:pPr>
            <a:r>
              <a:rPr lang="en-US" sz="2400" dirty="0"/>
              <a:t>Other sensitive information</a:t>
            </a:r>
            <a:endParaRPr sz="2400" dirty="0"/>
          </a:p>
          <a:p>
            <a:pPr marL="685800" lvl="1" indent="-228600" algn="l" rtl="0">
              <a:lnSpc>
                <a:spcPct val="90000"/>
              </a:lnSpc>
              <a:spcBef>
                <a:spcPts val="500"/>
              </a:spcBef>
              <a:spcAft>
                <a:spcPts val="0"/>
              </a:spcAft>
              <a:buClr>
                <a:schemeClr val="dk1"/>
              </a:buClr>
              <a:buSzPts val="2400"/>
              <a:buChar char="•"/>
            </a:pPr>
            <a:r>
              <a:rPr lang="en-US" sz="2400" dirty="0"/>
              <a:t>Operates even if an infected computer is not connected to the Internet</a:t>
            </a:r>
            <a:endParaRPr sz="2400" dirty="0"/>
          </a:p>
          <a:p>
            <a:pPr marL="228600" lvl="0" indent="-228600" algn="l" rtl="0">
              <a:lnSpc>
                <a:spcPct val="90000"/>
              </a:lnSpc>
              <a:spcBef>
                <a:spcPts val="1000"/>
              </a:spcBef>
              <a:spcAft>
                <a:spcPts val="0"/>
              </a:spcAft>
              <a:buClr>
                <a:schemeClr val="dk1"/>
              </a:buClr>
              <a:buSzPts val="2800"/>
              <a:buChar char="•"/>
            </a:pPr>
            <a:r>
              <a:rPr lang="en-US" sz="2400" dirty="0"/>
              <a:t>Identity Theft and Assumption Deterrence Act of 1998 was passed to fight fraud</a:t>
            </a:r>
            <a:endParaRPr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a:spLocks noGrp="1"/>
          </p:cNvSpPr>
          <p:nvPr>
            <p:ph type="title"/>
          </p:nvPr>
        </p:nvSpPr>
        <p:spPr>
          <a:xfrm>
            <a:off x="2057400" y="152400"/>
            <a:ext cx="8077200" cy="609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3959"/>
              <a:buFont typeface="Calibri"/>
              <a:buNone/>
            </a:pPr>
            <a:r>
              <a:rPr lang="en-US" sz="3959"/>
              <a:t>E-mail Used by Phishers</a:t>
            </a:r>
            <a:endParaRPr/>
          </a:p>
        </p:txBody>
      </p:sp>
      <p:pic>
        <p:nvPicPr>
          <p:cNvPr id="171" name="Google Shape;171;p14" descr="Fig04-03"/>
          <p:cNvPicPr preferRelativeResize="0">
            <a:picLocks noGrp="1"/>
          </p:cNvPicPr>
          <p:nvPr>
            <p:ph idx="1"/>
          </p:nvPr>
        </p:nvPicPr>
        <p:blipFill rotWithShape="1">
          <a:blip r:embed="rId3">
            <a:alphaModFix/>
          </a:blip>
          <a:srcRect/>
          <a:stretch/>
        </p:blipFill>
        <p:spPr>
          <a:xfrm>
            <a:off x="3581401" y="762000"/>
            <a:ext cx="5343525" cy="5562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5"/>
          <p:cNvSpPr txBox="1">
            <a:spLocks noGrp="1"/>
          </p:cNvSpPr>
          <p:nvPr>
            <p:ph type="title"/>
          </p:nvPr>
        </p:nvSpPr>
        <p:spPr>
          <a:xfrm>
            <a:off x="432533" y="312598"/>
            <a:ext cx="9692640" cy="132556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Consumer Profiling</a:t>
            </a:r>
            <a:endParaRPr dirty="0"/>
          </a:p>
        </p:txBody>
      </p:sp>
      <p:sp>
        <p:nvSpPr>
          <p:cNvPr id="178" name="Google Shape;178;p1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80000"/>
              </a:lnSpc>
              <a:spcBef>
                <a:spcPts val="0"/>
              </a:spcBef>
              <a:spcAft>
                <a:spcPts val="0"/>
              </a:spcAft>
              <a:buClr>
                <a:schemeClr val="dk1"/>
              </a:buClr>
              <a:buSzPts val="2800"/>
              <a:buChar char="•"/>
            </a:pPr>
            <a:r>
              <a:rPr lang="en-US" sz="2400" dirty="0"/>
              <a:t>Companies openly collect personal information about Internet users when they register at Web sites, complete surveys, fill out forms, or enter contests online</a:t>
            </a:r>
            <a:endParaRPr sz="2400" dirty="0"/>
          </a:p>
          <a:p>
            <a:pPr marL="228600" lvl="0" indent="-228600" algn="just" rtl="0">
              <a:lnSpc>
                <a:spcPct val="80000"/>
              </a:lnSpc>
              <a:spcBef>
                <a:spcPts val="1000"/>
              </a:spcBef>
              <a:spcAft>
                <a:spcPts val="0"/>
              </a:spcAft>
              <a:buClr>
                <a:schemeClr val="dk1"/>
              </a:buClr>
              <a:buSzPts val="2800"/>
              <a:buChar char="•"/>
            </a:pPr>
            <a:r>
              <a:rPr lang="en-US" sz="2400" b="1" dirty="0"/>
              <a:t>Cookies</a:t>
            </a:r>
            <a:endParaRPr sz="2400" dirty="0"/>
          </a:p>
          <a:p>
            <a:pPr marL="685800" lvl="1" indent="-228600" algn="just" rtl="0">
              <a:lnSpc>
                <a:spcPct val="80000"/>
              </a:lnSpc>
              <a:spcBef>
                <a:spcPts val="500"/>
              </a:spcBef>
              <a:spcAft>
                <a:spcPts val="0"/>
              </a:spcAft>
              <a:buClr>
                <a:schemeClr val="dk1"/>
              </a:buClr>
              <a:buSzPts val="2400"/>
              <a:buChar char="•"/>
            </a:pPr>
            <a:r>
              <a:rPr lang="en-US" sz="2400" dirty="0"/>
              <a:t>Text files that a Web site puts on a user’s hard drive so that it can remember the information later</a:t>
            </a:r>
            <a:endParaRPr sz="2400" dirty="0"/>
          </a:p>
          <a:p>
            <a:pPr marL="228600" lvl="0" indent="-228600" algn="just" rtl="0">
              <a:lnSpc>
                <a:spcPct val="80000"/>
              </a:lnSpc>
              <a:spcBef>
                <a:spcPts val="1000"/>
              </a:spcBef>
              <a:spcAft>
                <a:spcPts val="0"/>
              </a:spcAft>
              <a:buClr>
                <a:schemeClr val="dk1"/>
              </a:buClr>
              <a:buSzPts val="2800"/>
              <a:buChar char="•"/>
            </a:pPr>
            <a:r>
              <a:rPr lang="en-US" sz="2400" b="1" dirty="0"/>
              <a:t>Tracking software: </a:t>
            </a:r>
            <a:r>
              <a:rPr lang="en-US" sz="2400" dirty="0"/>
              <a:t>to allow their Web sites to analyze browsing habits and deduce personal interests and preferences</a:t>
            </a:r>
            <a:endParaRPr sz="2400" dirty="0"/>
          </a:p>
          <a:p>
            <a:pPr marL="228600" lvl="0" indent="-228600" algn="just" rtl="0">
              <a:lnSpc>
                <a:spcPct val="80000"/>
              </a:lnSpc>
              <a:spcBef>
                <a:spcPts val="1000"/>
              </a:spcBef>
              <a:spcAft>
                <a:spcPts val="0"/>
              </a:spcAft>
              <a:buClr>
                <a:schemeClr val="dk1"/>
              </a:buClr>
              <a:buSzPts val="2800"/>
              <a:buChar char="•"/>
            </a:pPr>
            <a:r>
              <a:rPr lang="en-US" sz="2400" dirty="0"/>
              <a:t>Similar methods are used outside the Web environment</a:t>
            </a:r>
            <a:endParaRPr sz="2400" dirty="0"/>
          </a:p>
          <a:p>
            <a:pPr marL="228600" lvl="0" indent="-228600" algn="just" rtl="0">
              <a:lnSpc>
                <a:spcPct val="80000"/>
              </a:lnSpc>
              <a:spcBef>
                <a:spcPts val="1000"/>
              </a:spcBef>
              <a:spcAft>
                <a:spcPts val="0"/>
              </a:spcAft>
              <a:buClr>
                <a:schemeClr val="dk1"/>
              </a:buClr>
              <a:buSzPts val="2800"/>
              <a:buChar char="•"/>
            </a:pPr>
            <a:r>
              <a:rPr lang="en-US" sz="2400" dirty="0"/>
              <a:t>Databases contain a huge amount of consumer behavioral data</a:t>
            </a:r>
            <a:endParaRPr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title"/>
          </p:nvPr>
        </p:nvSpPr>
        <p:spPr>
          <a:xfrm>
            <a:off x="1095153" y="3810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US" sz="4000" b="1" dirty="0"/>
              <a:t>Aggregating Consumer Data</a:t>
            </a:r>
            <a:endParaRPr dirty="0"/>
          </a:p>
        </p:txBody>
      </p:sp>
      <p:sp>
        <p:nvSpPr>
          <p:cNvPr id="185" name="Google Shape;185;p16"/>
          <p:cNvSpPr txBox="1">
            <a:spLocks noGrp="1"/>
          </p:cNvSpPr>
          <p:nvPr>
            <p:ph idx="1"/>
          </p:nvPr>
        </p:nvSpPr>
        <p:spPr>
          <a:xfrm>
            <a:off x="591671" y="1524000"/>
            <a:ext cx="9619129" cy="48006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sz="2400" dirty="0"/>
              <a:t>Large-scale marketing organizations such as </a:t>
            </a:r>
            <a:r>
              <a:rPr lang="en-US" sz="2400" b="1" i="1" dirty="0"/>
              <a:t>DoubleClick</a:t>
            </a:r>
            <a:r>
              <a:rPr lang="en-US" sz="2400" dirty="0"/>
              <a:t> employ advertising networks to serve ads to thousands of Web sites. When someone clicks on an ad at a company’s Website, tracking information about the person is gathered and forwarded to DoubleClick, which stores it in a large database. This data includes a record of the ad on which the person clicked and what the person bought.</a:t>
            </a:r>
            <a:endParaRPr sz="2400" b="1" dirty="0"/>
          </a:p>
          <a:p>
            <a:pPr marL="228600" lvl="0" indent="-228600" algn="just" rtl="0">
              <a:lnSpc>
                <a:spcPct val="90000"/>
              </a:lnSpc>
              <a:spcBef>
                <a:spcPts val="1000"/>
              </a:spcBef>
              <a:spcAft>
                <a:spcPts val="0"/>
              </a:spcAft>
              <a:buClr>
                <a:schemeClr val="dk1"/>
              </a:buClr>
              <a:buSzPts val="2800"/>
              <a:buChar char="•"/>
            </a:pPr>
            <a:r>
              <a:rPr lang="en-US" sz="2400" b="1" dirty="0"/>
              <a:t>Affiliated Web sites</a:t>
            </a:r>
            <a:endParaRPr sz="2400" dirty="0"/>
          </a:p>
          <a:p>
            <a:pPr marL="685800" lvl="1" indent="-228600" algn="just" rtl="0">
              <a:lnSpc>
                <a:spcPct val="90000"/>
              </a:lnSpc>
              <a:spcBef>
                <a:spcPts val="500"/>
              </a:spcBef>
              <a:spcAft>
                <a:spcPts val="0"/>
              </a:spcAft>
              <a:buClr>
                <a:schemeClr val="dk1"/>
              </a:buClr>
              <a:buSzPts val="2400"/>
              <a:buChar char="•"/>
            </a:pPr>
            <a:r>
              <a:rPr lang="en-US" sz="2400" dirty="0"/>
              <a:t>Group of Web sites served by a single advertising network</a:t>
            </a:r>
            <a:endParaRPr sz="2400" dirty="0"/>
          </a:p>
          <a:p>
            <a:pPr marL="228600" lvl="0" indent="-228600" algn="just" rtl="0">
              <a:lnSpc>
                <a:spcPct val="90000"/>
              </a:lnSpc>
              <a:spcBef>
                <a:spcPts val="1000"/>
              </a:spcBef>
              <a:spcAft>
                <a:spcPts val="0"/>
              </a:spcAft>
              <a:buClr>
                <a:schemeClr val="dk1"/>
              </a:buClr>
              <a:buSzPts val="2800"/>
              <a:buChar char="•"/>
            </a:pPr>
            <a:r>
              <a:rPr lang="en-US" sz="2400" dirty="0"/>
              <a:t>Customized service for each consumer</a:t>
            </a:r>
            <a:endParaRPr sz="2400" dirty="0"/>
          </a:p>
          <a:p>
            <a:pPr marL="228600" lvl="0" indent="-50800" algn="l" rtl="0">
              <a:lnSpc>
                <a:spcPct val="90000"/>
              </a:lnSpc>
              <a:spcBef>
                <a:spcPts val="1000"/>
              </a:spcBef>
              <a:spcAft>
                <a:spcPts val="0"/>
              </a:spcAft>
              <a:buClr>
                <a:schemeClr val="dk1"/>
              </a:buClr>
              <a:buSzPts val="2800"/>
              <a:buNone/>
            </a:pPr>
            <a:endParaRPr sz="2400" dirty="0"/>
          </a:p>
          <a:p>
            <a:pPr marL="685800" lvl="1" indent="-76200" algn="l" rtl="0">
              <a:lnSpc>
                <a:spcPct val="90000"/>
              </a:lnSpc>
              <a:spcBef>
                <a:spcPts val="500"/>
              </a:spcBef>
              <a:spcAft>
                <a:spcPts val="0"/>
              </a:spcAft>
              <a:buClr>
                <a:schemeClr val="dk1"/>
              </a:buClr>
              <a:buSzPts val="2400"/>
              <a:buNone/>
            </a:pPr>
            <a:endParaRPr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453798" y="503238"/>
            <a:ext cx="9692640" cy="132556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b="1" dirty="0"/>
              <a:t>Collecting Data from Websites Visits</a:t>
            </a:r>
            <a:endParaRPr dirty="0"/>
          </a:p>
        </p:txBody>
      </p:sp>
      <p:sp>
        <p:nvSpPr>
          <p:cNvPr id="191" name="Google Shape;191;p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dirty="0"/>
              <a:t>Marketers use cookies to recognize return visitors to their sites and to store useful information about them.</a:t>
            </a:r>
            <a:endParaRPr sz="2400" b="1" dirty="0"/>
          </a:p>
          <a:p>
            <a:pPr marL="228600" lvl="0" indent="-228600" algn="l" rtl="0">
              <a:lnSpc>
                <a:spcPct val="90000"/>
              </a:lnSpc>
              <a:spcBef>
                <a:spcPts val="1000"/>
              </a:spcBef>
              <a:spcAft>
                <a:spcPts val="0"/>
              </a:spcAft>
              <a:buClr>
                <a:schemeClr val="dk1"/>
              </a:buClr>
              <a:buSzPts val="2800"/>
              <a:buChar char="•"/>
            </a:pPr>
            <a:r>
              <a:rPr lang="en-US" sz="2400" b="1" dirty="0"/>
              <a:t>Types of data collected </a:t>
            </a:r>
            <a:r>
              <a:rPr lang="en-US" sz="2400" dirty="0"/>
              <a:t>while surfing the Web</a:t>
            </a:r>
            <a:endParaRPr sz="2400" dirty="0"/>
          </a:p>
          <a:p>
            <a:pPr marL="800100" lvl="1" indent="-342900">
              <a:spcBef>
                <a:spcPts val="500"/>
              </a:spcBef>
              <a:spcAft>
                <a:spcPts val="0"/>
              </a:spcAft>
              <a:buClr>
                <a:schemeClr val="dk1"/>
              </a:buClr>
              <a:buSzPts val="2400"/>
            </a:pPr>
            <a:r>
              <a:rPr lang="en-US" sz="2400" dirty="0"/>
              <a:t>GET data</a:t>
            </a:r>
            <a:endParaRPr sz="2400" dirty="0"/>
          </a:p>
          <a:p>
            <a:pPr marL="800100" lvl="1" indent="-342900">
              <a:spcBef>
                <a:spcPts val="500"/>
              </a:spcBef>
              <a:spcAft>
                <a:spcPts val="0"/>
              </a:spcAft>
              <a:buClr>
                <a:schemeClr val="dk1"/>
              </a:buClr>
              <a:buSzPts val="2400"/>
            </a:pPr>
            <a:r>
              <a:rPr lang="en-US" sz="2400" dirty="0"/>
              <a:t>POST data</a:t>
            </a:r>
            <a:endParaRPr sz="2400" dirty="0"/>
          </a:p>
          <a:p>
            <a:pPr marL="800100" lvl="1" indent="-342900">
              <a:spcBef>
                <a:spcPts val="500"/>
              </a:spcBef>
              <a:spcAft>
                <a:spcPts val="0"/>
              </a:spcAft>
              <a:buClr>
                <a:schemeClr val="dk1"/>
              </a:buClr>
              <a:buSzPts val="2400"/>
            </a:pPr>
            <a:r>
              <a:rPr lang="en-US" sz="2400" dirty="0"/>
              <a:t>Click-stream data</a:t>
            </a:r>
            <a:endParaRPr sz="2400" dirty="0"/>
          </a:p>
          <a:p>
            <a:pPr marL="228600" lvl="0" indent="-50800" algn="l" rtl="0">
              <a:lnSpc>
                <a:spcPct val="90000"/>
              </a:lnSpc>
              <a:spcBef>
                <a:spcPts val="1000"/>
              </a:spcBef>
              <a:spcAft>
                <a:spcPts val="0"/>
              </a:spcAft>
              <a:buClr>
                <a:schemeClr val="dk1"/>
              </a:buClr>
              <a:buSzPts val="2800"/>
              <a:buNone/>
            </a:pPr>
            <a:endParaRP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744279" y="365760"/>
            <a:ext cx="8963247" cy="1325562"/>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400"/>
              <a:buFont typeface="Calibri"/>
              <a:buNone/>
            </a:pPr>
            <a:r>
              <a:rPr lang="en-US" b="1" dirty="0"/>
              <a:t>Collecting Data from Websites Visits</a:t>
            </a:r>
            <a:endParaRPr dirty="0"/>
          </a:p>
        </p:txBody>
      </p:sp>
      <p:sp>
        <p:nvSpPr>
          <p:cNvPr id="198" name="Google Shape;198;p18"/>
          <p:cNvSpPr txBox="1">
            <a:spLocks noGrp="1"/>
          </p:cNvSpPr>
          <p:nvPr>
            <p:ph idx="1"/>
          </p:nvPr>
        </p:nvSpPr>
        <p:spPr>
          <a:xfrm>
            <a:off x="838200" y="2017059"/>
            <a:ext cx="10155865" cy="415990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b="1" dirty="0"/>
              <a:t>Four ways </a:t>
            </a:r>
            <a:r>
              <a:rPr lang="en-US" sz="2400" dirty="0"/>
              <a:t>to limit or even stop the deposit of cookies on hard drives</a:t>
            </a:r>
            <a:endParaRPr sz="2400" dirty="0"/>
          </a:p>
          <a:p>
            <a:pPr marL="742950" lvl="1" indent="-285750">
              <a:spcBef>
                <a:spcPts val="500"/>
              </a:spcBef>
              <a:spcAft>
                <a:spcPts val="0"/>
              </a:spcAft>
              <a:buClr>
                <a:schemeClr val="dk1"/>
              </a:buClr>
              <a:buSzPts val="2400"/>
            </a:pPr>
            <a:r>
              <a:rPr lang="en-US" sz="2400" dirty="0"/>
              <a:t>Set the browser to limit or stop cookies</a:t>
            </a:r>
            <a:endParaRPr sz="2400" dirty="0"/>
          </a:p>
          <a:p>
            <a:pPr marL="742950" lvl="1" indent="-285750">
              <a:spcBef>
                <a:spcPts val="500"/>
              </a:spcBef>
              <a:spcAft>
                <a:spcPts val="0"/>
              </a:spcAft>
              <a:buClr>
                <a:schemeClr val="dk1"/>
              </a:buClr>
              <a:buSzPts val="2400"/>
            </a:pPr>
            <a:r>
              <a:rPr lang="en-US" sz="2400" dirty="0"/>
              <a:t>Manually delete them from the hard drive</a:t>
            </a:r>
            <a:endParaRPr sz="2400" dirty="0"/>
          </a:p>
          <a:p>
            <a:pPr marL="742950" lvl="1" indent="-285750">
              <a:spcBef>
                <a:spcPts val="500"/>
              </a:spcBef>
              <a:spcAft>
                <a:spcPts val="0"/>
              </a:spcAft>
              <a:buClr>
                <a:schemeClr val="dk1"/>
              </a:buClr>
              <a:buSzPts val="2400"/>
            </a:pPr>
            <a:r>
              <a:rPr lang="en-US" sz="2400" dirty="0"/>
              <a:t>Download and install a cookie-management program </a:t>
            </a:r>
            <a:endParaRPr sz="2400" dirty="0"/>
          </a:p>
          <a:p>
            <a:pPr marL="742950" lvl="1" indent="-285750">
              <a:spcBef>
                <a:spcPts val="500"/>
              </a:spcBef>
              <a:spcAft>
                <a:spcPts val="0"/>
              </a:spcAft>
              <a:buClr>
                <a:schemeClr val="dk1"/>
              </a:buClr>
              <a:buSzPts val="2400"/>
            </a:pPr>
            <a:r>
              <a:rPr lang="en-US" sz="2400" dirty="0"/>
              <a:t>Use anonymous browsing programs that don’t accept cookies</a:t>
            </a:r>
            <a:endParaRPr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Personalization software</a:t>
            </a:r>
            <a:endParaRPr/>
          </a:p>
        </p:txBody>
      </p:sp>
      <p:sp>
        <p:nvSpPr>
          <p:cNvPr id="205" name="Google Shape;205;p1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400" dirty="0"/>
              <a:t>Used by marketers to optimize the number, frequency, and mixture of their ad placements</a:t>
            </a:r>
            <a:endParaRPr sz="2400" dirty="0"/>
          </a:p>
          <a:p>
            <a:pPr marL="800100" lvl="1" indent="-342900">
              <a:spcBef>
                <a:spcPts val="500"/>
              </a:spcBef>
              <a:spcAft>
                <a:spcPts val="0"/>
              </a:spcAft>
              <a:buClr>
                <a:schemeClr val="dk1"/>
              </a:buClr>
              <a:buSzPts val="2400"/>
            </a:pPr>
            <a:r>
              <a:rPr lang="en-US" sz="2400" dirty="0"/>
              <a:t>Rules-based</a:t>
            </a:r>
            <a:endParaRPr sz="2400" dirty="0"/>
          </a:p>
          <a:p>
            <a:pPr marL="800100" lvl="1" indent="-342900">
              <a:spcBef>
                <a:spcPts val="500"/>
              </a:spcBef>
              <a:spcAft>
                <a:spcPts val="0"/>
              </a:spcAft>
              <a:buClr>
                <a:schemeClr val="dk1"/>
              </a:buClr>
              <a:buSzPts val="2400"/>
            </a:pPr>
            <a:r>
              <a:rPr lang="en-US" sz="2400" dirty="0"/>
              <a:t>Collaborative filtering</a:t>
            </a:r>
            <a:endParaRPr sz="2400" dirty="0"/>
          </a:p>
          <a:p>
            <a:pPr marL="800100" lvl="1" indent="-342900">
              <a:spcBef>
                <a:spcPts val="500"/>
              </a:spcBef>
              <a:spcAft>
                <a:spcPts val="0"/>
              </a:spcAft>
              <a:buClr>
                <a:schemeClr val="dk1"/>
              </a:buClr>
              <a:buSzPts val="2400"/>
            </a:pPr>
            <a:r>
              <a:rPr lang="en-US" sz="2400" dirty="0"/>
              <a:t>Demographic filtering</a:t>
            </a:r>
            <a:endParaRPr sz="2400" dirty="0"/>
          </a:p>
          <a:p>
            <a:pPr marL="800100" lvl="1" indent="-342900">
              <a:spcBef>
                <a:spcPts val="500"/>
              </a:spcBef>
              <a:spcAft>
                <a:spcPts val="0"/>
              </a:spcAft>
              <a:buClr>
                <a:schemeClr val="dk1"/>
              </a:buClr>
              <a:buSzPts val="2400"/>
            </a:pPr>
            <a:r>
              <a:rPr lang="en-US" sz="2400" dirty="0"/>
              <a:t>Contextual commerce</a:t>
            </a:r>
            <a:endParaRPr sz="2400" dirty="0"/>
          </a:p>
          <a:p>
            <a:pPr marL="228600" lvl="0" indent="-228600" algn="l" rtl="0">
              <a:lnSpc>
                <a:spcPct val="90000"/>
              </a:lnSpc>
              <a:spcBef>
                <a:spcPts val="1000"/>
              </a:spcBef>
              <a:spcAft>
                <a:spcPts val="0"/>
              </a:spcAft>
              <a:buClr>
                <a:schemeClr val="dk1"/>
              </a:buClr>
              <a:buSzPts val="2800"/>
              <a:buChar char="•"/>
            </a:pPr>
            <a:r>
              <a:rPr lang="en-US" sz="2400" dirty="0"/>
              <a:t>Platform for Privacy Preferences (P3P)</a:t>
            </a:r>
            <a:endParaRPr sz="2400" dirty="0"/>
          </a:p>
          <a:p>
            <a:pPr marL="800100" lvl="1" indent="-342900">
              <a:spcBef>
                <a:spcPts val="500"/>
              </a:spcBef>
              <a:spcAft>
                <a:spcPts val="0"/>
              </a:spcAft>
              <a:buClr>
                <a:schemeClr val="dk1"/>
              </a:buClr>
              <a:buSzPts val="2400"/>
            </a:pPr>
            <a:r>
              <a:rPr lang="en-US" sz="2400" dirty="0"/>
              <a:t>screening technology</a:t>
            </a:r>
            <a:endParaRPr sz="2400" dirty="0"/>
          </a:p>
          <a:p>
            <a:pPr marL="800100" lvl="1" indent="-342900">
              <a:spcBef>
                <a:spcPts val="500"/>
              </a:spcBef>
              <a:spcAft>
                <a:spcPts val="0"/>
              </a:spcAft>
              <a:buClr>
                <a:schemeClr val="dk1"/>
              </a:buClr>
              <a:buSzPts val="2400"/>
            </a:pPr>
            <a:r>
              <a:rPr lang="en-US" sz="2400" dirty="0"/>
              <a:t>Shields users from sites that don’t provide the level of privacy protection desired</a:t>
            </a:r>
            <a:endParaRPr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Consumer Profiling (continued)</a:t>
            </a:r>
            <a:endParaRPr/>
          </a:p>
        </p:txBody>
      </p:sp>
      <p:sp>
        <p:nvSpPr>
          <p:cNvPr id="211" name="Google Shape;211;p2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sz="2400" b="1" dirty="0"/>
              <a:t>Rules-based personalization </a:t>
            </a:r>
            <a:r>
              <a:rPr lang="en-US" sz="2400" dirty="0"/>
              <a:t>software uses business rules tied to customer-supplied preferences or online behavior to determine the most appropriate page views and product information to display when a user visits a Web site. Car rental adds on holiday booking websites etc.</a:t>
            </a:r>
            <a:endParaRPr sz="2400" dirty="0"/>
          </a:p>
          <a:p>
            <a:pPr marL="228600" lvl="0" indent="-228600" algn="just" rtl="0">
              <a:lnSpc>
                <a:spcPct val="90000"/>
              </a:lnSpc>
              <a:spcBef>
                <a:spcPts val="1000"/>
              </a:spcBef>
              <a:spcAft>
                <a:spcPts val="0"/>
              </a:spcAft>
              <a:buClr>
                <a:schemeClr val="dk1"/>
              </a:buClr>
              <a:buSzPts val="2800"/>
              <a:buChar char="•"/>
            </a:pPr>
            <a:r>
              <a:rPr lang="en-US" sz="2400" b="1" dirty="0"/>
              <a:t>Collaborative filtering </a:t>
            </a:r>
            <a:r>
              <a:rPr lang="en-US" sz="2400" dirty="0"/>
              <a:t>offers consumer recommendations based on the types of products purchased by other people with similar buying habits. Same type of story writers </a:t>
            </a:r>
            <a:r>
              <a:rPr lang="en-US" sz="2400" dirty="0" err="1"/>
              <a:t>etc</a:t>
            </a:r>
            <a:endParaRPr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Consumer Profiling (continued)</a:t>
            </a:r>
            <a:endParaRPr/>
          </a:p>
        </p:txBody>
      </p:sp>
      <p:sp>
        <p:nvSpPr>
          <p:cNvPr id="217" name="Google Shape;217;p2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sz="2400" b="1" dirty="0"/>
              <a:t>Demographic filtering </a:t>
            </a:r>
            <a:r>
              <a:rPr lang="en-US" sz="2400" dirty="0"/>
              <a:t>is another form of personalization software. It augments clickstream data and user-supplied data with demographic information associated with user zip codes to make product suggestions.</a:t>
            </a:r>
            <a:endParaRPr sz="2400" dirty="0"/>
          </a:p>
          <a:p>
            <a:pPr marL="228600" lvl="0" indent="-228600" algn="just" rtl="0">
              <a:lnSpc>
                <a:spcPct val="90000"/>
              </a:lnSpc>
              <a:spcBef>
                <a:spcPts val="1000"/>
              </a:spcBef>
              <a:spcAft>
                <a:spcPts val="0"/>
              </a:spcAft>
              <a:buClr>
                <a:schemeClr val="dk1"/>
              </a:buClr>
              <a:buSzPts val="2800"/>
              <a:buChar char="•"/>
            </a:pPr>
            <a:r>
              <a:rPr lang="en-US" sz="2400" b="1" dirty="0"/>
              <a:t>Contextual</a:t>
            </a:r>
            <a:r>
              <a:rPr lang="en-US" sz="2400" dirty="0"/>
              <a:t> </a:t>
            </a:r>
            <a:r>
              <a:rPr lang="en-US" sz="2400" b="1" dirty="0"/>
              <a:t>commerce</a:t>
            </a:r>
            <a:r>
              <a:rPr lang="en-US" sz="2400" dirty="0"/>
              <a:t>, associates product promotions and other e-commerce offerings with specific content a user may receive in a news story online.</a:t>
            </a:r>
            <a:endParaRPr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2"/>
          <p:cNvSpPr txBox="1">
            <a:spLocks noGrp="1"/>
          </p:cNvSpPr>
          <p:nvPr>
            <p:ph type="title"/>
          </p:nvPr>
        </p:nvSpPr>
        <p:spPr>
          <a:xfrm>
            <a:off x="2133600" y="23622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7200"/>
              <a:buFont typeface="Calibri"/>
              <a:buNone/>
            </a:pPr>
            <a:r>
              <a:rPr lang="en-US" sz="7200"/>
              <a:t>THE END </a:t>
            </a:r>
            <a:endParaRPr/>
          </a:p>
        </p:txBody>
      </p:sp>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View</Template>
  <TotalTime>136</TotalTime>
  <Words>971</Words>
  <Application>Microsoft Office PowerPoint</Application>
  <PresentationFormat>Widescreen</PresentationFormat>
  <Paragraphs>112</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Century Schoolbook</vt:lpstr>
      <vt:lpstr>Noto Sans Symbols</vt:lpstr>
      <vt:lpstr>Wingdings 2</vt:lpstr>
      <vt:lpstr>View</vt:lpstr>
      <vt:lpstr>CSC410 - Professional Practices in IT  Instructor Name : Sidra Nasir Email : sidranasir@cuilahore.edu.pk  </vt:lpstr>
      <vt:lpstr>  Lecture -2  Privacy Risks  and Principles</vt:lpstr>
      <vt:lpstr>Topics Covered in this Lecture</vt:lpstr>
      <vt:lpstr>Learning outcomes of this Lecture</vt:lpstr>
      <vt:lpstr>Key Privacy Issues</vt:lpstr>
      <vt:lpstr>Identity Theft</vt:lpstr>
      <vt:lpstr>PowerPoint Presentation</vt:lpstr>
      <vt:lpstr>Identity Theft </vt:lpstr>
      <vt:lpstr>Identity theft</vt:lpstr>
      <vt:lpstr>1: Data Breech</vt:lpstr>
      <vt:lpstr>2: Purchase of Personal Data </vt:lpstr>
      <vt:lpstr>3: Phishing</vt:lpstr>
      <vt:lpstr>4: Spyware</vt:lpstr>
      <vt:lpstr>E-mail Used by Phishers</vt:lpstr>
      <vt:lpstr>Consumer Profiling</vt:lpstr>
      <vt:lpstr>Aggregating Consumer Data</vt:lpstr>
      <vt:lpstr>Collecting Data from Websites Visits</vt:lpstr>
      <vt:lpstr>Collecting Data from Websites Visits</vt:lpstr>
      <vt:lpstr>Personalization software</vt:lpstr>
      <vt:lpstr>Consumer Profiling (continued)</vt:lpstr>
      <vt:lpstr>Consumer Profiling (continued)</vt:lpstr>
      <vt:lpstr>THE 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Tariq Umer</dc:creator>
  <cp:lastModifiedBy>Sidra Nasir</cp:lastModifiedBy>
  <cp:revision>24</cp:revision>
  <dcterms:created xsi:type="dcterms:W3CDTF">2020-05-18T20:11:58Z</dcterms:created>
  <dcterms:modified xsi:type="dcterms:W3CDTF">2024-10-23T18:46:33Z</dcterms:modified>
</cp:coreProperties>
</file>