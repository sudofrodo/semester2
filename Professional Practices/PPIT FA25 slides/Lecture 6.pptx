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8" r:id="rId1"/>
  </p:sldMasterIdLst>
  <p:sldIdLst>
    <p:sldId id="256" r:id="rId2"/>
    <p:sldId id="298" r:id="rId3"/>
    <p:sldId id="279" r:id="rId4"/>
    <p:sldId id="319" r:id="rId5"/>
    <p:sldId id="280" r:id="rId6"/>
    <p:sldId id="281" r:id="rId7"/>
    <p:sldId id="282" r:id="rId8"/>
    <p:sldId id="283" r:id="rId9"/>
    <p:sldId id="284" r:id="rId10"/>
    <p:sldId id="285" r:id="rId11"/>
    <p:sldId id="286" r:id="rId12"/>
    <p:sldId id="287" r:id="rId13"/>
    <p:sldId id="288" r:id="rId14"/>
    <p:sldId id="289" r:id="rId15"/>
    <p:sldId id="290" r:id="rId16"/>
    <p:sldId id="299" r:id="rId17"/>
    <p:sldId id="300" r:id="rId18"/>
    <p:sldId id="291" r:id="rId19"/>
    <p:sldId id="292" r:id="rId20"/>
    <p:sldId id="293" r:id="rId21"/>
    <p:sldId id="294" r:id="rId22"/>
    <p:sldId id="295" r:id="rId23"/>
    <p:sldId id="296" r:id="rId24"/>
    <p:sldId id="297" r:id="rId25"/>
    <p:sldId id="301" r:id="rId26"/>
    <p:sldId id="302" r:id="rId27"/>
    <p:sldId id="303" r:id="rId28"/>
    <p:sldId id="304" r:id="rId29"/>
    <p:sldId id="305" r:id="rId30"/>
    <p:sldId id="306" r:id="rId31"/>
    <p:sldId id="307" r:id="rId32"/>
    <p:sldId id="308" r:id="rId33"/>
    <p:sldId id="309" r:id="rId34"/>
    <p:sldId id="310" r:id="rId35"/>
    <p:sldId id="311" r:id="rId36"/>
    <p:sldId id="312" r:id="rId37"/>
    <p:sldId id="313" r:id="rId38"/>
    <p:sldId id="314" r:id="rId39"/>
    <p:sldId id="315" r:id="rId40"/>
    <p:sldId id="316" r:id="rId41"/>
    <p:sldId id="317" r:id="rId42"/>
    <p:sldId id="318" r:id="rId43"/>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63" d="100"/>
          <a:sy n="63" d="100"/>
        </p:scale>
        <p:origin x="780" y="5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tableStyles" Target="tableStyle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theme" Target="theme/theme1.xml"/><Relationship Id="rId20" Type="http://schemas.openxmlformats.org/officeDocument/2006/relationships/slide" Target="slides/slide19.xml"/><Relationship Id="rId41" Type="http://schemas.openxmlformats.org/officeDocument/2006/relationships/slide" Target="slides/slide40.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bg>
      <p:bgPr>
        <a:solidFill>
          <a:schemeClr val="bg2">
            <a:lumMod val="75000"/>
          </a:schemeClr>
        </a:solid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a:xfrm>
            <a:off x="1261872" y="758952"/>
            <a:ext cx="9418320" cy="4041648"/>
          </a:xfrm>
        </p:spPr>
        <p:txBody>
          <a:bodyPr anchor="b">
            <a:normAutofit/>
          </a:bodyPr>
          <a:lstStyle>
            <a:lvl1pPr algn="l">
              <a:lnSpc>
                <a:spcPct val="85000"/>
              </a:lnSpc>
              <a:defRPr sz="7200" baseline="0">
                <a:solidFill>
                  <a:schemeClr val="tx1"/>
                </a:solidFill>
              </a:defRPr>
            </a:lvl1pPr>
          </a:lstStyle>
          <a:p>
            <a:r>
              <a:rPr lang="en-US"/>
              <a:t>Click to edit Master title style</a:t>
            </a:r>
            <a:endParaRPr lang="en-US" dirty="0"/>
          </a:p>
        </p:txBody>
      </p:sp>
      <p:sp>
        <p:nvSpPr>
          <p:cNvPr id="3" name="Subtitle 2"/>
          <p:cNvSpPr>
            <a:spLocks noGrp="1"/>
          </p:cNvSpPr>
          <p:nvPr>
            <p:ph type="subTitle" idx="1"/>
          </p:nvPr>
        </p:nvSpPr>
        <p:spPr>
          <a:xfrm>
            <a:off x="1261872" y="4800600"/>
            <a:ext cx="9418320" cy="1691640"/>
          </a:xfrm>
        </p:spPr>
        <p:txBody>
          <a:bodyPr>
            <a:normAutofit/>
          </a:bodyPr>
          <a:lstStyle>
            <a:lvl1pPr marL="0" indent="0" algn="l">
              <a:buNone/>
              <a:defRPr sz="2200" baseline="0">
                <a:solidFill>
                  <a:schemeClr val="tx1">
                    <a:lumMod val="75000"/>
                  </a:schemeClr>
                </a:solidFill>
              </a:defRPr>
            </a:lvl1pPr>
            <a:lvl2pPr marL="457200" indent="0" algn="ctr">
              <a:buNone/>
              <a:defRPr sz="2200"/>
            </a:lvl2pPr>
            <a:lvl3pPr marL="914400" indent="0" algn="ctr">
              <a:buNone/>
              <a:defRPr sz="2200"/>
            </a:lvl3pPr>
            <a:lvl4pPr marL="1371600" indent="0" algn="ctr">
              <a:buNone/>
              <a:defRPr sz="2000"/>
            </a:lvl4pPr>
            <a:lvl5pPr marL="1828800" indent="0" algn="ctr">
              <a:buNone/>
              <a:defRPr sz="2000"/>
            </a:lvl5pPr>
            <a:lvl6pPr marL="2286000" indent="0" algn="ctr">
              <a:buNone/>
              <a:defRPr sz="2000"/>
            </a:lvl6pPr>
            <a:lvl7pPr marL="2743200" indent="0" algn="ctr">
              <a:buNone/>
              <a:defRPr sz="2000"/>
            </a:lvl7pPr>
            <a:lvl8pPr marL="3200400" indent="0" algn="ctr">
              <a:buNone/>
              <a:defRPr sz="2000"/>
            </a:lvl8pPr>
            <a:lvl9pPr marL="3657600" indent="0" algn="ctr">
              <a:buNone/>
              <a:defRPr sz="20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lvl1pPr>
              <a:defRPr>
                <a:solidFill>
                  <a:schemeClr val="tx1">
                    <a:lumMod val="50000"/>
                  </a:schemeClr>
                </a:solidFill>
              </a:defRPr>
            </a:lvl1pPr>
          </a:lstStyle>
          <a:p>
            <a:fld id="{C89DDC24-1FEE-4905-A4BB-4EDF390F8E64}" type="datetimeFigureOut">
              <a:rPr lang="en-US" smtClean="0"/>
              <a:t>9/24/2024</a:t>
            </a:fld>
            <a:endParaRPr lang="en-US"/>
          </a:p>
        </p:txBody>
      </p:sp>
      <p:sp>
        <p:nvSpPr>
          <p:cNvPr id="5" name="Footer Placeholder 4"/>
          <p:cNvSpPr>
            <a:spLocks noGrp="1"/>
          </p:cNvSpPr>
          <p:nvPr>
            <p:ph type="ftr" sz="quarter" idx="11"/>
          </p:nvPr>
        </p:nvSpPr>
        <p:spPr/>
        <p:txBody>
          <a:bodyPr/>
          <a:lstStyle>
            <a:lvl1pPr>
              <a:defRPr>
                <a:solidFill>
                  <a:schemeClr val="tx1">
                    <a:lumMod val="65000"/>
                  </a:schemeClr>
                </a:solidFill>
              </a:defRPr>
            </a:lvl1pPr>
          </a:lstStyle>
          <a:p>
            <a:endParaRPr lang="en-US"/>
          </a:p>
        </p:txBody>
      </p:sp>
      <p:sp>
        <p:nvSpPr>
          <p:cNvPr id="6" name="Slide Number Placeholder 5"/>
          <p:cNvSpPr>
            <a:spLocks noGrp="1"/>
          </p:cNvSpPr>
          <p:nvPr>
            <p:ph type="sldNum" sz="quarter" idx="12"/>
          </p:nvPr>
        </p:nvSpPr>
        <p:spPr/>
        <p:txBody>
          <a:bodyPr/>
          <a:lstStyle>
            <a:lvl1pPr>
              <a:defRPr>
                <a:solidFill>
                  <a:schemeClr val="tx1">
                    <a:lumMod val="65000"/>
                  </a:schemeClr>
                </a:solidFill>
              </a:defRPr>
            </a:lvl1pPr>
          </a:lstStyle>
          <a:p>
            <a:fld id="{C03D0C88-8BD2-49EF-8F30-00AA472DAC31}" type="slidenum">
              <a:rPr lang="en-US" smtClean="0"/>
              <a:t>‹#›</a:t>
            </a:fld>
            <a:endParaRPr lang="en-US"/>
          </a:p>
        </p:txBody>
      </p:sp>
      <p:sp>
        <p:nvSpPr>
          <p:cNvPr id="7" name="Rectangle 6"/>
          <p:cNvSpPr/>
          <p:nvPr/>
        </p:nvSpPr>
        <p:spPr>
          <a:xfrm>
            <a:off x="0" y="0"/>
            <a:ext cx="457200"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Tree>
    <p:extLst>
      <p:ext uri="{BB962C8B-B14F-4D97-AF65-F5344CB8AC3E}">
        <p14:creationId xmlns:p14="http://schemas.microsoft.com/office/powerpoint/2010/main" val="802901569"/>
      </p:ext>
    </p:extLst>
  </p:cSld>
  <p:clrMapOvr>
    <a:overrideClrMapping bg1="dk1" tx1="lt1" bg2="dk2" tx2="lt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C89DDC24-1FEE-4905-A4BB-4EDF390F8E64}" type="datetimeFigureOut">
              <a:rPr lang="en-US" smtClean="0"/>
              <a:t>9/24/2024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03D0C88-8BD2-49EF-8F30-00AA472DAC31}" type="slidenum">
              <a:rPr lang="en-US" smtClean="0"/>
              <a:t>‹#›</a:t>
            </a:fld>
            <a:endParaRPr lang="en-US"/>
          </a:p>
        </p:txBody>
      </p:sp>
    </p:spTree>
    <p:extLst>
      <p:ext uri="{BB962C8B-B14F-4D97-AF65-F5344CB8AC3E}">
        <p14:creationId xmlns:p14="http://schemas.microsoft.com/office/powerpoint/2010/main" val="89579224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261872" y="758952"/>
            <a:ext cx="9418320" cy="4041648"/>
          </a:xfrm>
        </p:spPr>
        <p:txBody>
          <a:bodyPr anchor="b">
            <a:normAutofit/>
          </a:bodyPr>
          <a:lstStyle>
            <a:lvl1pPr>
              <a:lnSpc>
                <a:spcPct val="85000"/>
              </a:lnSpc>
              <a:defRPr sz="7200" b="0"/>
            </a:lvl1pPr>
          </a:lstStyle>
          <a:p>
            <a:r>
              <a:rPr lang="en-US"/>
              <a:t>Click to edit Master title style</a:t>
            </a:r>
            <a:endParaRPr lang="en-US" dirty="0"/>
          </a:p>
        </p:txBody>
      </p:sp>
      <p:sp>
        <p:nvSpPr>
          <p:cNvPr id="3" name="Text Placeholder 2"/>
          <p:cNvSpPr>
            <a:spLocks noGrp="1"/>
          </p:cNvSpPr>
          <p:nvPr>
            <p:ph type="body" idx="1"/>
          </p:nvPr>
        </p:nvSpPr>
        <p:spPr>
          <a:xfrm>
            <a:off x="1261872" y="4800600"/>
            <a:ext cx="9418320" cy="1691640"/>
          </a:xfrm>
        </p:spPr>
        <p:txBody>
          <a:bodyPr anchor="t">
            <a:normAutofit/>
          </a:bodyPr>
          <a:lstStyle>
            <a:lvl1pPr marL="0" indent="0">
              <a:buNone/>
              <a:defRPr sz="2200">
                <a:solidFill>
                  <a:schemeClr val="tx1">
                    <a:lumMod val="65000"/>
                    <a:lumOff val="3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C89DDC24-1FEE-4905-A4BB-4EDF390F8E64}" type="datetimeFigureOut">
              <a:rPr lang="en-US" smtClean="0"/>
              <a:t>9/24/2024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03D0C88-8BD2-49EF-8F30-00AA472DAC31}" type="slidenum">
              <a:rPr lang="en-US" smtClean="0"/>
              <a:t>‹#›</a:t>
            </a:fld>
            <a:endParaRPr lang="en-US"/>
          </a:p>
        </p:txBody>
      </p:sp>
      <p:sp>
        <p:nvSpPr>
          <p:cNvPr id="7" name="Rectangle 6"/>
          <p:cNvSpPr/>
          <p:nvPr/>
        </p:nvSpPr>
        <p:spPr>
          <a:xfrm>
            <a:off x="0" y="0"/>
            <a:ext cx="457200"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Tree>
    <p:extLst>
      <p:ext uri="{BB962C8B-B14F-4D97-AF65-F5344CB8AC3E}">
        <p14:creationId xmlns:p14="http://schemas.microsoft.com/office/powerpoint/2010/main" val="21350905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1261872" y="1828800"/>
            <a:ext cx="4480560" cy="4351337"/>
          </a:xfrm>
        </p:spPr>
        <p:txBody>
          <a:bodyPr/>
          <a:lstStyle>
            <a:lvl1pPr>
              <a:defRPr sz="1800"/>
            </a:lvl1pPr>
            <a:lvl2pPr>
              <a:defRPr sz="1600"/>
            </a:lvl2pPr>
            <a:lvl3pPr>
              <a:defRPr sz="14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126480" y="1828800"/>
            <a:ext cx="4480560" cy="4351337"/>
          </a:xfrm>
        </p:spPr>
        <p:txBody>
          <a:bodyPr/>
          <a:lstStyle>
            <a:lvl1pPr>
              <a:defRPr sz="1800"/>
            </a:lvl1pPr>
            <a:lvl2pPr>
              <a:defRPr sz="1600"/>
            </a:lvl2pPr>
            <a:lvl3pPr>
              <a:defRPr sz="14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C89DDC24-1FEE-4905-A4BB-4EDF390F8E64}" type="datetimeFigureOut">
              <a:rPr lang="en-US" smtClean="0"/>
              <a:t>9/24/2024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03D0C88-8BD2-49EF-8F30-00AA472DAC31}" type="slidenum">
              <a:rPr lang="en-US" smtClean="0"/>
              <a:t>‹#›</a:t>
            </a:fld>
            <a:endParaRPr lang="en-US"/>
          </a:p>
        </p:txBody>
      </p:sp>
    </p:spTree>
    <p:extLst>
      <p:ext uri="{BB962C8B-B14F-4D97-AF65-F5344CB8AC3E}">
        <p14:creationId xmlns:p14="http://schemas.microsoft.com/office/powerpoint/2010/main" val="144307329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p:txBody>
          <a:bodyPr/>
          <a:lstStyle/>
          <a:p>
            <a:r>
              <a:rPr lang="en-US"/>
              <a:t>Click to edit Master title style</a:t>
            </a:r>
            <a:endParaRPr lang="en-US" dirty="0"/>
          </a:p>
        </p:txBody>
      </p:sp>
      <p:sp>
        <p:nvSpPr>
          <p:cNvPr id="3" name="Text Placeholder 2"/>
          <p:cNvSpPr>
            <a:spLocks noGrp="1"/>
          </p:cNvSpPr>
          <p:nvPr>
            <p:ph type="body" idx="1"/>
          </p:nvPr>
        </p:nvSpPr>
        <p:spPr>
          <a:xfrm>
            <a:off x="1261872" y="1713655"/>
            <a:ext cx="4480560" cy="731520"/>
          </a:xfrm>
        </p:spPr>
        <p:txBody>
          <a:bodyPr anchor="b">
            <a:normAutofit/>
          </a:bodyPr>
          <a:lstStyle>
            <a:lvl1pPr marL="0" indent="0">
              <a:spcBef>
                <a:spcPts val="0"/>
              </a:spcBef>
              <a:buNone/>
              <a:defRPr sz="2000" b="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261872" y="2507550"/>
            <a:ext cx="4480560" cy="3664650"/>
          </a:xfrm>
        </p:spPr>
        <p:txBody>
          <a:bodyPr/>
          <a:lstStyle>
            <a:lvl1pPr>
              <a:defRPr sz="1800"/>
            </a:lvl1pPr>
            <a:lvl2pPr>
              <a:defRPr sz="1600"/>
            </a:lvl2pPr>
            <a:lvl3pPr>
              <a:defRPr sz="14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126480" y="1713655"/>
            <a:ext cx="4480560" cy="731520"/>
          </a:xfrm>
        </p:spPr>
        <p:txBody>
          <a:bodyPr anchor="b">
            <a:normAutofit/>
          </a:bodyPr>
          <a:lstStyle>
            <a:lvl1pPr marL="0" indent="0">
              <a:lnSpc>
                <a:spcPct val="95000"/>
              </a:lnSpc>
              <a:spcBef>
                <a:spcPts val="0"/>
              </a:spcBef>
              <a:buNone/>
              <a:defRPr lang="en-US" sz="2000" b="0" kern="1200" dirty="0">
                <a:solidFill>
                  <a:schemeClr val="tx2"/>
                </a:solidFill>
                <a:latin typeface="+mn-lt"/>
                <a:ea typeface="+mn-ea"/>
                <a:cs typeface="+mn-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marL="0" lvl="0" indent="0" algn="l" defTabSz="914400" rtl="0" eaLnBrk="1" latinLnBrk="0" hangingPunct="1">
              <a:lnSpc>
                <a:spcPct val="90000"/>
              </a:lnSpc>
              <a:spcBef>
                <a:spcPts val="2000"/>
              </a:spcBef>
              <a:buFontTx/>
              <a:buNone/>
            </a:pPr>
            <a:r>
              <a:rPr lang="en-US"/>
              <a:t>Click to edit Master text styles</a:t>
            </a:r>
          </a:p>
        </p:txBody>
      </p:sp>
      <p:sp>
        <p:nvSpPr>
          <p:cNvPr id="6" name="Content Placeholder 5"/>
          <p:cNvSpPr>
            <a:spLocks noGrp="1"/>
          </p:cNvSpPr>
          <p:nvPr>
            <p:ph sz="quarter" idx="4"/>
          </p:nvPr>
        </p:nvSpPr>
        <p:spPr>
          <a:xfrm>
            <a:off x="6126480" y="2507550"/>
            <a:ext cx="4480560" cy="3664650"/>
          </a:xfrm>
        </p:spPr>
        <p:txBody>
          <a:bodyPr/>
          <a:lstStyle>
            <a:lvl1pPr>
              <a:defRPr sz="1800"/>
            </a:lvl1pPr>
            <a:lvl2pPr>
              <a:defRPr sz="1600"/>
            </a:lvl2pPr>
            <a:lvl3pPr>
              <a:defRPr sz="14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C89DDC24-1FEE-4905-A4BB-4EDF390F8E64}" type="datetimeFigureOut">
              <a:rPr lang="en-US" smtClean="0"/>
              <a:t>9/24/2024</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03D0C88-8BD2-49EF-8F30-00AA472DAC31}" type="slidenum">
              <a:rPr lang="en-US" smtClean="0"/>
              <a:t>‹#›</a:t>
            </a:fld>
            <a:endParaRPr lang="en-US"/>
          </a:p>
        </p:txBody>
      </p:sp>
    </p:spTree>
    <p:extLst>
      <p:ext uri="{BB962C8B-B14F-4D97-AF65-F5344CB8AC3E}">
        <p14:creationId xmlns:p14="http://schemas.microsoft.com/office/powerpoint/2010/main" val="264451638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6" name="Title 5"/>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C89DDC24-1FEE-4905-A4BB-4EDF390F8E64}" type="datetimeFigureOut">
              <a:rPr lang="en-US" smtClean="0"/>
              <a:t>9/24/2024</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03D0C88-8BD2-49EF-8F30-00AA472DAC31}" type="slidenum">
              <a:rPr lang="en-US" smtClean="0"/>
              <a:t>‹#›</a:t>
            </a:fld>
            <a:endParaRPr lang="en-US"/>
          </a:p>
        </p:txBody>
      </p:sp>
    </p:spTree>
    <p:extLst>
      <p:ext uri="{BB962C8B-B14F-4D97-AF65-F5344CB8AC3E}">
        <p14:creationId xmlns:p14="http://schemas.microsoft.com/office/powerpoint/2010/main" val="231407863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C89DDC24-1FEE-4905-A4BB-4EDF390F8E64}" type="datetimeFigureOut">
              <a:rPr lang="en-US" smtClean="0"/>
              <a:t>9/24/2024</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03D0C88-8BD2-49EF-8F30-00AA472DAC31}" type="slidenum">
              <a:rPr lang="en-US" smtClean="0"/>
              <a:t>‹#›</a:t>
            </a:fld>
            <a:endParaRPr lang="en-US"/>
          </a:p>
        </p:txBody>
      </p:sp>
    </p:spTree>
    <p:extLst>
      <p:ext uri="{BB962C8B-B14F-4D97-AF65-F5344CB8AC3E}">
        <p14:creationId xmlns:p14="http://schemas.microsoft.com/office/powerpoint/2010/main" val="259829574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41248" y="457200"/>
            <a:ext cx="3200400" cy="1600197"/>
          </a:xfrm>
        </p:spPr>
        <p:txBody>
          <a:bodyPr anchor="b">
            <a:normAutofit/>
          </a:bodyPr>
          <a:lstStyle>
            <a:lvl1pPr>
              <a:defRPr sz="3200" b="0" baseline="0"/>
            </a:lvl1pPr>
          </a:lstStyle>
          <a:p>
            <a:r>
              <a:rPr lang="en-US"/>
              <a:t>Click to edit Master title style</a:t>
            </a:r>
            <a:endParaRPr lang="en-US" dirty="0"/>
          </a:p>
        </p:txBody>
      </p:sp>
      <p:sp>
        <p:nvSpPr>
          <p:cNvPr id="3" name="Content Placeholder 2"/>
          <p:cNvSpPr>
            <a:spLocks noGrp="1"/>
          </p:cNvSpPr>
          <p:nvPr>
            <p:ph idx="1"/>
          </p:nvPr>
        </p:nvSpPr>
        <p:spPr>
          <a:xfrm>
            <a:off x="4504267" y="685800"/>
            <a:ext cx="6079066" cy="5486400"/>
          </a:xfrm>
        </p:spPr>
        <p:txBody>
          <a:bodyPr/>
          <a:lstStyle>
            <a:lvl1pPr>
              <a:defRPr sz="2000"/>
            </a:lvl1pPr>
            <a:lvl2pPr>
              <a:defRPr sz="1800"/>
            </a:lvl2pPr>
            <a:lvl3pPr>
              <a:defRPr sz="16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841248" y="2099734"/>
            <a:ext cx="3200400" cy="3810001"/>
          </a:xfrm>
        </p:spPr>
        <p:txBody>
          <a:bodyPr>
            <a:normAutofit/>
          </a:bodyPr>
          <a:lstStyle>
            <a:lvl1pPr marL="0" indent="0">
              <a:lnSpc>
                <a:spcPct val="114000"/>
              </a:lnSpc>
              <a:spcBef>
                <a:spcPts val="800"/>
              </a:spcBef>
              <a:buNone/>
              <a:defRPr sz="13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C89DDC24-1FEE-4905-A4BB-4EDF390F8E64}" type="datetimeFigureOut">
              <a:rPr lang="en-US" smtClean="0"/>
              <a:t>9/24/2024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03D0C88-8BD2-49EF-8F30-00AA472DAC31}" type="slidenum">
              <a:rPr lang="en-US" smtClean="0"/>
              <a:t>‹#›</a:t>
            </a:fld>
            <a:endParaRPr lang="en-US"/>
          </a:p>
        </p:txBody>
      </p:sp>
    </p:spTree>
    <p:extLst>
      <p:ext uri="{BB962C8B-B14F-4D97-AF65-F5344CB8AC3E}">
        <p14:creationId xmlns:p14="http://schemas.microsoft.com/office/powerpoint/2010/main" val="231452274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8" name="Rectangle 7"/>
          <p:cNvSpPr/>
          <p:nvPr/>
        </p:nvSpPr>
        <p:spPr>
          <a:xfrm>
            <a:off x="0" y="5105400"/>
            <a:ext cx="11292840" cy="1752600"/>
          </a:xfrm>
          <a:prstGeom prst="rect">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914400" y="5257800"/>
            <a:ext cx="9982200" cy="914400"/>
          </a:xfrm>
        </p:spPr>
        <p:txBody>
          <a:bodyPr anchor="b">
            <a:normAutofit/>
          </a:bodyPr>
          <a:lstStyle>
            <a:lvl1pPr>
              <a:defRPr sz="2800" b="0">
                <a:solidFill>
                  <a:schemeClr val="bg1"/>
                </a:solidFill>
              </a:defRPr>
            </a:lvl1pPr>
          </a:lstStyle>
          <a:p>
            <a:r>
              <a:rPr lang="en-US"/>
              <a:t>Click to edit Master title style</a:t>
            </a:r>
            <a:endParaRPr lang="en-US" dirty="0"/>
          </a:p>
        </p:txBody>
      </p:sp>
      <p:sp>
        <p:nvSpPr>
          <p:cNvPr id="3" name="Picture Placeholder 2"/>
          <p:cNvSpPr>
            <a:spLocks noGrp="1" noChangeAspect="1"/>
          </p:cNvSpPr>
          <p:nvPr>
            <p:ph type="pic" idx="1"/>
          </p:nvPr>
        </p:nvSpPr>
        <p:spPr>
          <a:xfrm>
            <a:off x="0" y="0"/>
            <a:ext cx="11292840" cy="5128923"/>
          </a:xfrm>
          <a:solidFill>
            <a:schemeClr val="accent1"/>
          </a:solidFill>
        </p:spPr>
        <p:txBody>
          <a:bodyPr anchor="t"/>
          <a:lstStyle>
            <a:lvl1pPr marL="0" indent="0">
              <a:buNone/>
              <a:defRPr sz="3200">
                <a:solidFill>
                  <a:schemeClr val="bg1"/>
                </a:solidFill>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914400" y="6108589"/>
            <a:ext cx="9982200" cy="597011"/>
          </a:xfrm>
        </p:spPr>
        <p:txBody>
          <a:bodyPr>
            <a:normAutofit/>
          </a:bodyPr>
          <a:lstStyle>
            <a:lvl1pPr marL="0" indent="0">
              <a:lnSpc>
                <a:spcPct val="100000"/>
              </a:lnSpc>
              <a:spcBef>
                <a:spcPts val="800"/>
              </a:spcBef>
              <a:buNone/>
              <a:defRPr sz="1300">
                <a:solidFill>
                  <a:schemeClr val="bg1">
                    <a:lumMod val="85000"/>
                  </a:schemeClr>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C89DDC24-1FEE-4905-A4BB-4EDF390F8E64}" type="datetimeFigureOut">
              <a:rPr lang="en-US" smtClean="0"/>
              <a:t>9/24/2024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03D0C88-8BD2-49EF-8F30-00AA472DAC31}" type="slidenum">
              <a:rPr lang="en-US" smtClean="0"/>
              <a:t>‹#›</a:t>
            </a:fld>
            <a:endParaRPr lang="en-US"/>
          </a:p>
        </p:txBody>
      </p:sp>
    </p:spTree>
    <p:extLst>
      <p:ext uri="{BB962C8B-B14F-4D97-AF65-F5344CB8AC3E}">
        <p14:creationId xmlns:p14="http://schemas.microsoft.com/office/powerpoint/2010/main" val="20320032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C89DDC24-1FEE-4905-A4BB-4EDF390F8E64}" type="datetimeFigureOut">
              <a:rPr lang="en-US" smtClean="0"/>
              <a:t>9/24/2024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03D0C88-8BD2-49EF-8F30-00AA472DAC31}" type="slidenum">
              <a:rPr lang="en-US" smtClean="0"/>
              <a:t>‹#›</a:t>
            </a:fld>
            <a:endParaRPr lang="en-US"/>
          </a:p>
        </p:txBody>
      </p:sp>
    </p:spTree>
    <p:extLst>
      <p:ext uri="{BB962C8B-B14F-4D97-AF65-F5344CB8AC3E}">
        <p14:creationId xmlns:p14="http://schemas.microsoft.com/office/powerpoint/2010/main" val="293413718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648700" y="381000"/>
            <a:ext cx="2476500" cy="5897562"/>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762000" y="381000"/>
            <a:ext cx="7734300" cy="5897562"/>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C89DDC24-1FEE-4905-A4BB-4EDF390F8E64}" type="datetimeFigureOut">
              <a:rPr lang="en-US" smtClean="0"/>
              <a:t>9/24/2024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03D0C88-8BD2-49EF-8F30-00AA472DAC31}" type="slidenum">
              <a:rPr lang="en-US" smtClean="0"/>
              <a:t>‹#›</a:t>
            </a:fld>
            <a:endParaRPr lang="en-US"/>
          </a:p>
        </p:txBody>
      </p:sp>
    </p:spTree>
    <p:extLst>
      <p:ext uri="{BB962C8B-B14F-4D97-AF65-F5344CB8AC3E}">
        <p14:creationId xmlns:p14="http://schemas.microsoft.com/office/powerpoint/2010/main" val="190442683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7" name="Rectangle 6"/>
          <p:cNvSpPr/>
          <p:nvPr/>
        </p:nvSpPr>
        <p:spPr>
          <a:xfrm>
            <a:off x="11292840" y="0"/>
            <a:ext cx="914400" cy="6858000"/>
          </a:xfrm>
          <a:prstGeom prst="rect">
            <a:avLst/>
          </a:prstGeom>
          <a:solidFill>
            <a:schemeClr val="tx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Placeholder 1"/>
          <p:cNvSpPr>
            <a:spLocks noGrp="1"/>
          </p:cNvSpPr>
          <p:nvPr>
            <p:ph type="title"/>
          </p:nvPr>
        </p:nvSpPr>
        <p:spPr>
          <a:xfrm>
            <a:off x="1261872" y="365760"/>
            <a:ext cx="9692640" cy="1325562"/>
          </a:xfrm>
          <a:prstGeom prst="rect">
            <a:avLst/>
          </a:prstGeom>
        </p:spPr>
        <p:txBody>
          <a:bodyPr vert="horz" lIns="91440" tIns="45720" rIns="91440" bIns="45720" rtlCol="0" anchor="b">
            <a:normAutofit/>
          </a:bodyPr>
          <a:lstStyle/>
          <a:p>
            <a:r>
              <a:rPr lang="en-US"/>
              <a:t>Click to edit Master title style</a:t>
            </a:r>
            <a:endParaRPr lang="en-US" dirty="0"/>
          </a:p>
        </p:txBody>
      </p:sp>
      <p:sp>
        <p:nvSpPr>
          <p:cNvPr id="3" name="Text Placeholder 2"/>
          <p:cNvSpPr>
            <a:spLocks noGrp="1"/>
          </p:cNvSpPr>
          <p:nvPr>
            <p:ph type="body" idx="1"/>
          </p:nvPr>
        </p:nvSpPr>
        <p:spPr>
          <a:xfrm>
            <a:off x="1261872" y="1828800"/>
            <a:ext cx="8595360" cy="4351337"/>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rot="16200000">
            <a:off x="10797542" y="998537"/>
            <a:ext cx="1904999" cy="365125"/>
          </a:xfrm>
          <a:prstGeom prst="rect">
            <a:avLst/>
          </a:prstGeom>
        </p:spPr>
        <p:txBody>
          <a:bodyPr vert="horz" lIns="91440" tIns="45720" rIns="91440" bIns="45720" rtlCol="0" anchor="ctr"/>
          <a:lstStyle>
            <a:lvl1pPr algn="r">
              <a:defRPr sz="1050" b="0">
                <a:solidFill>
                  <a:schemeClr val="tx2">
                    <a:lumMod val="20000"/>
                    <a:lumOff val="80000"/>
                  </a:schemeClr>
                </a:solidFill>
              </a:defRPr>
            </a:lvl1pPr>
          </a:lstStyle>
          <a:p>
            <a:fld id="{C89DDC24-1FEE-4905-A4BB-4EDF390F8E64}" type="datetimeFigureOut">
              <a:rPr lang="en-US" smtClean="0"/>
              <a:t>9/24/2024</a:t>
            </a:fld>
            <a:endParaRPr lang="en-US"/>
          </a:p>
        </p:txBody>
      </p:sp>
      <p:sp>
        <p:nvSpPr>
          <p:cNvPr id="5" name="Footer Placeholder 4"/>
          <p:cNvSpPr>
            <a:spLocks noGrp="1"/>
          </p:cNvSpPr>
          <p:nvPr>
            <p:ph type="ftr" sz="quarter" idx="3"/>
          </p:nvPr>
        </p:nvSpPr>
        <p:spPr>
          <a:xfrm rot="16200000">
            <a:off x="9959341" y="4046537"/>
            <a:ext cx="3581400" cy="365125"/>
          </a:xfrm>
          <a:prstGeom prst="rect">
            <a:avLst/>
          </a:prstGeom>
        </p:spPr>
        <p:txBody>
          <a:bodyPr vert="horz" lIns="91440" tIns="45720" rIns="91440" bIns="45720" rtlCol="0" anchor="ctr"/>
          <a:lstStyle>
            <a:lvl1pPr algn="l">
              <a:defRPr sz="1050">
                <a:solidFill>
                  <a:schemeClr val="tx2">
                    <a:lumMod val="20000"/>
                    <a:lumOff val="80000"/>
                  </a:schemeClr>
                </a:solidFill>
              </a:defRPr>
            </a:lvl1pPr>
          </a:lstStyle>
          <a:p>
            <a:endParaRPr lang="en-US"/>
          </a:p>
        </p:txBody>
      </p:sp>
      <p:sp>
        <p:nvSpPr>
          <p:cNvPr id="6" name="Slide Number Placeholder 5"/>
          <p:cNvSpPr>
            <a:spLocks noGrp="1"/>
          </p:cNvSpPr>
          <p:nvPr>
            <p:ph type="sldNum" sz="quarter" idx="4"/>
          </p:nvPr>
        </p:nvSpPr>
        <p:spPr>
          <a:xfrm>
            <a:off x="11292840" y="6172200"/>
            <a:ext cx="914400" cy="593725"/>
          </a:xfrm>
          <a:prstGeom prst="rect">
            <a:avLst/>
          </a:prstGeom>
        </p:spPr>
        <p:txBody>
          <a:bodyPr vert="horz" lIns="45720" tIns="45720" rIns="45720" bIns="45720" rtlCol="0" anchor="ctr">
            <a:normAutofit/>
          </a:bodyPr>
          <a:lstStyle>
            <a:lvl1pPr algn="ctr">
              <a:defRPr sz="3600">
                <a:solidFill>
                  <a:schemeClr val="tx2">
                    <a:lumMod val="60000"/>
                    <a:lumOff val="40000"/>
                  </a:schemeClr>
                </a:solidFill>
              </a:defRPr>
            </a:lvl1pPr>
          </a:lstStyle>
          <a:p>
            <a:fld id="{C03D0C88-8BD2-49EF-8F30-00AA472DAC31}" type="slidenum">
              <a:rPr lang="en-US" smtClean="0"/>
              <a:t>‹#›</a:t>
            </a:fld>
            <a:endParaRPr lang="en-US"/>
          </a:p>
        </p:txBody>
      </p:sp>
    </p:spTree>
    <p:extLst>
      <p:ext uri="{BB962C8B-B14F-4D97-AF65-F5344CB8AC3E}">
        <p14:creationId xmlns:p14="http://schemas.microsoft.com/office/powerpoint/2010/main" val="2732927776"/>
      </p:ext>
    </p:extLst>
  </p:cSld>
  <p:clrMap bg1="lt1" tx1="dk1" bg2="lt2" tx2="dk2" accent1="accent1" accent2="accent2" accent3="accent3" accent4="accent4" accent5="accent5" accent6="accent6" hlink="hlink" folHlink="folHlink"/>
  <p:sldLayoutIdLst>
    <p:sldLayoutId id="2147483679" r:id="rId1"/>
    <p:sldLayoutId id="2147483680" r:id="rId2"/>
    <p:sldLayoutId id="2147483681" r:id="rId3"/>
    <p:sldLayoutId id="2147483682" r:id="rId4"/>
    <p:sldLayoutId id="2147483683" r:id="rId5"/>
    <p:sldLayoutId id="2147483684" r:id="rId6"/>
    <p:sldLayoutId id="2147483685" r:id="rId7"/>
    <p:sldLayoutId id="2147483686" r:id="rId8"/>
    <p:sldLayoutId id="2147483687" r:id="rId9"/>
    <p:sldLayoutId id="2147483688" r:id="rId10"/>
    <p:sldLayoutId id="2147483689" r:id="rId11"/>
  </p:sldLayoutIdLst>
  <p:txStyles>
    <p:titleStyle>
      <a:lvl1pPr algn="l" defTabSz="914400" rtl="0" eaLnBrk="1" latinLnBrk="0" hangingPunct="1">
        <a:lnSpc>
          <a:spcPct val="90000"/>
        </a:lnSpc>
        <a:spcBef>
          <a:spcPct val="0"/>
        </a:spcBef>
        <a:buNone/>
        <a:defRPr sz="4400" kern="1200" spc="-50" baseline="0">
          <a:solidFill>
            <a:schemeClr val="tx1"/>
          </a:solidFill>
          <a:latin typeface="+mj-lt"/>
          <a:ea typeface="+mj-ea"/>
          <a:cs typeface="+mj-cs"/>
        </a:defRPr>
      </a:lvl1pPr>
    </p:titleStyle>
    <p:bodyStyle>
      <a:lvl1pPr marL="182880" indent="-182880" algn="l" defTabSz="914400" rtl="0" eaLnBrk="1" latinLnBrk="0" hangingPunct="1">
        <a:lnSpc>
          <a:spcPct val="95000"/>
        </a:lnSpc>
        <a:spcBef>
          <a:spcPts val="1400"/>
        </a:spcBef>
        <a:spcAft>
          <a:spcPts val="200"/>
        </a:spcAft>
        <a:buClr>
          <a:schemeClr val="accent1"/>
        </a:buClr>
        <a:buSzPct val="80000"/>
        <a:buFont typeface="Arial" pitchFamily="34" charset="0"/>
        <a:buChar char="•"/>
        <a:defRPr sz="1800" kern="1200" spc="10" baseline="0">
          <a:solidFill>
            <a:schemeClr val="tx1"/>
          </a:solidFill>
          <a:latin typeface="+mn-lt"/>
          <a:ea typeface="+mn-ea"/>
          <a:cs typeface="+mn-cs"/>
        </a:defRPr>
      </a:lvl1pPr>
      <a:lvl2pPr marL="457200" indent="-182880" algn="l" defTabSz="914400" rtl="0" eaLnBrk="1" latinLnBrk="0" hangingPunct="1">
        <a:lnSpc>
          <a:spcPct val="90000"/>
        </a:lnSpc>
        <a:spcBef>
          <a:spcPts val="300"/>
        </a:spcBef>
        <a:spcAft>
          <a:spcPts val="300"/>
        </a:spcAft>
        <a:buClr>
          <a:schemeClr val="accent1"/>
        </a:buClr>
        <a:buFont typeface="Wingdings 2" pitchFamily="18" charset="2"/>
        <a:buChar char=""/>
        <a:defRPr sz="1600" kern="1200">
          <a:solidFill>
            <a:schemeClr val="tx1">
              <a:lumMod val="85000"/>
              <a:lumOff val="15000"/>
            </a:schemeClr>
          </a:solidFill>
          <a:latin typeface="+mn-lt"/>
          <a:ea typeface="+mn-ea"/>
          <a:cs typeface="+mn-cs"/>
        </a:defRPr>
      </a:lvl2pPr>
      <a:lvl3pPr marL="731520" indent="-18288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3pPr>
      <a:lvl4pPr marL="1005840" indent="-18288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4pPr>
      <a:lvl5pPr marL="1280160" indent="-18288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5pPr>
      <a:lvl6pPr marL="16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6pPr>
      <a:lvl7pPr marL="19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7pPr>
      <a:lvl8pPr marL="22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8pPr>
      <a:lvl9pPr marL="25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773A1C1-E1A9-A98F-18CB-E9EDC72BF523}"/>
              </a:ext>
            </a:extLst>
          </p:cNvPr>
          <p:cNvSpPr>
            <a:spLocks noGrp="1"/>
          </p:cNvSpPr>
          <p:nvPr>
            <p:ph type="ctrTitle"/>
          </p:nvPr>
        </p:nvSpPr>
        <p:spPr>
          <a:xfrm>
            <a:off x="1261872" y="758952"/>
            <a:ext cx="9668256" cy="4041648"/>
          </a:xfrm>
        </p:spPr>
        <p:txBody>
          <a:bodyPr/>
          <a:lstStyle/>
          <a:p>
            <a:r>
              <a:rPr lang="en-US" dirty="0"/>
              <a:t>CSC410 - Professional Practices in IT</a:t>
            </a:r>
          </a:p>
        </p:txBody>
      </p:sp>
      <p:sp>
        <p:nvSpPr>
          <p:cNvPr id="3" name="Subtitle 2">
            <a:extLst>
              <a:ext uri="{FF2B5EF4-FFF2-40B4-BE49-F238E27FC236}">
                <a16:creationId xmlns:a16="http://schemas.microsoft.com/office/drawing/2014/main" id="{2DBDF856-3239-C04C-F37F-C5B31B0C1A57}"/>
              </a:ext>
            </a:extLst>
          </p:cNvPr>
          <p:cNvSpPr>
            <a:spLocks noGrp="1"/>
          </p:cNvSpPr>
          <p:nvPr>
            <p:ph type="subTitle" idx="1"/>
          </p:nvPr>
        </p:nvSpPr>
        <p:spPr/>
        <p:txBody>
          <a:bodyPr/>
          <a:lstStyle/>
          <a:p>
            <a:r>
              <a:rPr lang="en-US" sz="2400" dirty="0"/>
              <a:t>Instructor Name :  Sidra Nasir</a:t>
            </a:r>
            <a:endParaRPr lang="en-US" dirty="0"/>
          </a:p>
          <a:p>
            <a:endParaRPr lang="en-US" dirty="0"/>
          </a:p>
          <a:p>
            <a:endParaRPr lang="en-US" dirty="0"/>
          </a:p>
        </p:txBody>
      </p:sp>
    </p:spTree>
    <p:extLst>
      <p:ext uri="{BB962C8B-B14F-4D97-AF65-F5344CB8AC3E}">
        <p14:creationId xmlns:p14="http://schemas.microsoft.com/office/powerpoint/2010/main" val="100538387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300D64A-21CE-44F3-C623-B533E9F71A1B}"/>
              </a:ext>
            </a:extLst>
          </p:cNvPr>
          <p:cNvSpPr>
            <a:spLocks noGrp="1"/>
          </p:cNvSpPr>
          <p:nvPr>
            <p:ph type="title"/>
          </p:nvPr>
        </p:nvSpPr>
        <p:spPr/>
        <p:txBody>
          <a:bodyPr/>
          <a:lstStyle/>
          <a:p>
            <a:r>
              <a:rPr lang="en-US" dirty="0"/>
              <a:t>Today Topics</a:t>
            </a:r>
          </a:p>
        </p:txBody>
      </p:sp>
      <p:sp>
        <p:nvSpPr>
          <p:cNvPr id="3" name="Content Placeholder 2">
            <a:extLst>
              <a:ext uri="{FF2B5EF4-FFF2-40B4-BE49-F238E27FC236}">
                <a16:creationId xmlns:a16="http://schemas.microsoft.com/office/drawing/2014/main" id="{60A5738B-C6E7-F94E-3D66-5CB720490DE4}"/>
              </a:ext>
            </a:extLst>
          </p:cNvPr>
          <p:cNvSpPr>
            <a:spLocks noGrp="1"/>
          </p:cNvSpPr>
          <p:nvPr>
            <p:ph idx="1"/>
          </p:nvPr>
        </p:nvSpPr>
        <p:spPr>
          <a:xfrm>
            <a:off x="1261872" y="2255520"/>
            <a:ext cx="8595360" cy="3924617"/>
          </a:xfrm>
        </p:spPr>
        <p:txBody>
          <a:bodyPr/>
          <a:lstStyle/>
          <a:p>
            <a:r>
              <a:rPr lang="en-US" sz="2400" dirty="0"/>
              <a:t>Censorship</a:t>
            </a:r>
          </a:p>
          <a:p>
            <a:r>
              <a:rPr lang="en-US" sz="2400" dirty="0"/>
              <a:t>Freedom of Expression </a:t>
            </a:r>
          </a:p>
          <a:p>
            <a:r>
              <a:rPr lang="en-US" sz="2400" dirty="0"/>
              <a:t>Children and Inappropriate Content</a:t>
            </a:r>
          </a:p>
          <a:p>
            <a:r>
              <a:rPr lang="en-US" sz="2400" dirty="0"/>
              <a:t>Breaking Trust</a:t>
            </a:r>
            <a:endParaRPr lang="en-US" dirty="0"/>
          </a:p>
          <a:p>
            <a:endParaRPr lang="en-US" dirty="0"/>
          </a:p>
          <a:p>
            <a:endParaRPr lang="en-US" dirty="0"/>
          </a:p>
          <a:p>
            <a:endParaRPr lang="en-US" dirty="0"/>
          </a:p>
        </p:txBody>
      </p:sp>
    </p:spTree>
    <p:extLst>
      <p:ext uri="{BB962C8B-B14F-4D97-AF65-F5344CB8AC3E}">
        <p14:creationId xmlns:p14="http://schemas.microsoft.com/office/powerpoint/2010/main" val="135208571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FCC3511-078A-5E54-2A20-503C6C4A6445}"/>
              </a:ext>
            </a:extLst>
          </p:cNvPr>
          <p:cNvSpPr>
            <a:spLocks noGrp="1"/>
          </p:cNvSpPr>
          <p:nvPr>
            <p:ph type="title"/>
          </p:nvPr>
        </p:nvSpPr>
        <p:spPr>
          <a:xfrm>
            <a:off x="631952" y="2103438"/>
            <a:ext cx="9692640" cy="1325562"/>
          </a:xfrm>
        </p:spPr>
        <p:txBody>
          <a:bodyPr/>
          <a:lstStyle/>
          <a:p>
            <a:pPr algn="ctr"/>
            <a:r>
              <a:rPr lang="en-US" dirty="0"/>
              <a:t>Censorship</a:t>
            </a:r>
          </a:p>
        </p:txBody>
      </p:sp>
    </p:spTree>
    <p:extLst>
      <p:ext uri="{BB962C8B-B14F-4D97-AF65-F5344CB8AC3E}">
        <p14:creationId xmlns:p14="http://schemas.microsoft.com/office/powerpoint/2010/main" val="345890525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FCC3511-078A-5E54-2A20-503C6C4A6445}"/>
              </a:ext>
            </a:extLst>
          </p:cNvPr>
          <p:cNvSpPr>
            <a:spLocks noGrp="1"/>
          </p:cNvSpPr>
          <p:nvPr>
            <p:ph type="title"/>
          </p:nvPr>
        </p:nvSpPr>
        <p:spPr/>
        <p:txBody>
          <a:bodyPr/>
          <a:lstStyle/>
          <a:p>
            <a:r>
              <a:rPr lang="en-US" dirty="0"/>
              <a:t>Censorship</a:t>
            </a:r>
          </a:p>
        </p:txBody>
      </p:sp>
      <p:sp>
        <p:nvSpPr>
          <p:cNvPr id="3" name="Content Placeholder 2">
            <a:extLst>
              <a:ext uri="{FF2B5EF4-FFF2-40B4-BE49-F238E27FC236}">
                <a16:creationId xmlns:a16="http://schemas.microsoft.com/office/drawing/2014/main" id="{043D12A3-BE5D-B255-C1BD-7103AEF28F11}"/>
              </a:ext>
            </a:extLst>
          </p:cNvPr>
          <p:cNvSpPr>
            <a:spLocks noGrp="1"/>
          </p:cNvSpPr>
          <p:nvPr>
            <p:ph idx="1"/>
          </p:nvPr>
        </p:nvSpPr>
        <p:spPr/>
        <p:txBody>
          <a:bodyPr>
            <a:normAutofit/>
          </a:bodyPr>
          <a:lstStyle/>
          <a:p>
            <a:r>
              <a:rPr lang="en-US" sz="2400" dirty="0"/>
              <a:t>Censorship is the attempt to suppress or regulate public access to material considered offensive or harmful.</a:t>
            </a:r>
          </a:p>
          <a:p>
            <a:r>
              <a:rPr lang="en-US" sz="2400" dirty="0"/>
              <a:t> Historically, most censorship has been exercised by governments and religious institutions. </a:t>
            </a:r>
          </a:p>
          <a:p>
            <a:r>
              <a:rPr lang="en-US" sz="2400" dirty="0"/>
              <a:t>For example, Roman censors banished the poets Ovid and Juvenal for their writings. During the Middle Ages the Inquisition suppressed the publication of many books, including the work of Galileo Galilei.</a:t>
            </a:r>
          </a:p>
        </p:txBody>
      </p:sp>
    </p:spTree>
    <p:extLst>
      <p:ext uri="{BB962C8B-B14F-4D97-AF65-F5344CB8AC3E}">
        <p14:creationId xmlns:p14="http://schemas.microsoft.com/office/powerpoint/2010/main" val="408077367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9EF6758-B011-8300-9FCF-92D38B0116D2}"/>
              </a:ext>
            </a:extLst>
          </p:cNvPr>
          <p:cNvSpPr>
            <a:spLocks noGrp="1"/>
          </p:cNvSpPr>
          <p:nvPr>
            <p:ph type="title"/>
          </p:nvPr>
        </p:nvSpPr>
        <p:spPr/>
        <p:txBody>
          <a:bodyPr/>
          <a:lstStyle/>
          <a:p>
            <a:r>
              <a:rPr lang="en-US" dirty="0"/>
              <a:t>Forms of Direct Censorship</a:t>
            </a:r>
          </a:p>
        </p:txBody>
      </p:sp>
      <p:sp>
        <p:nvSpPr>
          <p:cNvPr id="3" name="Content Placeholder 2">
            <a:extLst>
              <a:ext uri="{FF2B5EF4-FFF2-40B4-BE49-F238E27FC236}">
                <a16:creationId xmlns:a16="http://schemas.microsoft.com/office/drawing/2014/main" id="{A1A56695-82BE-E47D-9F93-A84FB0505C04}"/>
              </a:ext>
            </a:extLst>
          </p:cNvPr>
          <p:cNvSpPr>
            <a:spLocks noGrp="1"/>
          </p:cNvSpPr>
          <p:nvPr>
            <p:ph idx="1"/>
          </p:nvPr>
        </p:nvSpPr>
        <p:spPr>
          <a:xfrm>
            <a:off x="1261872" y="2143761"/>
            <a:ext cx="8595360" cy="3484880"/>
          </a:xfrm>
        </p:spPr>
        <p:txBody>
          <a:bodyPr>
            <a:normAutofit/>
          </a:bodyPr>
          <a:lstStyle/>
          <a:p>
            <a:r>
              <a:rPr lang="en-US" sz="2400" dirty="0"/>
              <a:t>Government monopolization </a:t>
            </a:r>
          </a:p>
          <a:p>
            <a:r>
              <a:rPr lang="en-US" sz="2400" dirty="0"/>
              <a:t>Prepublication review </a:t>
            </a:r>
          </a:p>
          <a:p>
            <a:r>
              <a:rPr lang="en-US" sz="2400" dirty="0"/>
              <a:t>Licensing and registration</a:t>
            </a:r>
          </a:p>
          <a:p>
            <a:endParaRPr lang="en-US" sz="2400" dirty="0"/>
          </a:p>
        </p:txBody>
      </p:sp>
    </p:spTree>
    <p:extLst>
      <p:ext uri="{BB962C8B-B14F-4D97-AF65-F5344CB8AC3E}">
        <p14:creationId xmlns:p14="http://schemas.microsoft.com/office/powerpoint/2010/main" val="222290696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B341BD0-6C5B-2B8D-65BA-B2830FEE3688}"/>
              </a:ext>
            </a:extLst>
          </p:cNvPr>
          <p:cNvSpPr>
            <a:spLocks noGrp="1"/>
          </p:cNvSpPr>
          <p:nvPr>
            <p:ph type="title"/>
          </p:nvPr>
        </p:nvSpPr>
        <p:spPr>
          <a:xfrm>
            <a:off x="753872" y="396240"/>
            <a:ext cx="9692640" cy="995680"/>
          </a:xfrm>
        </p:spPr>
        <p:txBody>
          <a:bodyPr/>
          <a:lstStyle/>
          <a:p>
            <a:r>
              <a:rPr lang="en-US" dirty="0"/>
              <a:t>Self-censorship</a:t>
            </a:r>
          </a:p>
        </p:txBody>
      </p:sp>
      <p:sp>
        <p:nvSpPr>
          <p:cNvPr id="3" name="Content Placeholder 2">
            <a:extLst>
              <a:ext uri="{FF2B5EF4-FFF2-40B4-BE49-F238E27FC236}">
                <a16:creationId xmlns:a16="http://schemas.microsoft.com/office/drawing/2014/main" id="{00315E78-0550-78C0-B5BF-D1872DCB822B}"/>
              </a:ext>
            </a:extLst>
          </p:cNvPr>
          <p:cNvSpPr>
            <a:spLocks noGrp="1"/>
          </p:cNvSpPr>
          <p:nvPr>
            <p:ph idx="1"/>
          </p:nvPr>
        </p:nvSpPr>
        <p:spPr>
          <a:xfrm>
            <a:off x="1261872" y="1656080"/>
            <a:ext cx="8595360" cy="4524057"/>
          </a:xfrm>
        </p:spPr>
        <p:txBody>
          <a:bodyPr>
            <a:normAutofit/>
          </a:bodyPr>
          <a:lstStyle/>
          <a:p>
            <a:r>
              <a:rPr lang="en-US" sz="2400" dirty="0"/>
              <a:t>Most common form of censorship </a:t>
            </a:r>
          </a:p>
          <a:p>
            <a:r>
              <a:rPr lang="en-US" sz="2400" dirty="0"/>
              <a:t>Group decides for itself not to publish </a:t>
            </a:r>
          </a:p>
          <a:p>
            <a:r>
              <a:rPr lang="en-US" sz="2400" dirty="0"/>
              <a:t>Reasons </a:t>
            </a:r>
          </a:p>
          <a:p>
            <a:pPr marL="548640" lvl="2" indent="0">
              <a:buNone/>
            </a:pPr>
            <a:r>
              <a:rPr lang="en-US" sz="2400" dirty="0"/>
              <a:t>– Avoid subsequent persecution </a:t>
            </a:r>
          </a:p>
          <a:p>
            <a:pPr marL="548640" lvl="2" indent="0">
              <a:buNone/>
            </a:pPr>
            <a:r>
              <a:rPr lang="en-US" sz="2400" dirty="0"/>
              <a:t>– Maintain good relations with government officials (sources of information) </a:t>
            </a:r>
          </a:p>
          <a:p>
            <a:r>
              <a:rPr lang="en-US" sz="2400" dirty="0"/>
              <a:t>Ratings systems created to advise potential audience </a:t>
            </a:r>
          </a:p>
          <a:p>
            <a:pPr marL="548640" lvl="2" indent="0">
              <a:buNone/>
            </a:pPr>
            <a:r>
              <a:rPr lang="en-US" sz="2400" dirty="0"/>
              <a:t>– Movies, TVs, CDs, video games </a:t>
            </a:r>
          </a:p>
          <a:p>
            <a:pPr marL="548640" lvl="2" indent="0">
              <a:buNone/>
            </a:pPr>
            <a:r>
              <a:rPr lang="en-US" sz="2400" dirty="0"/>
              <a:t>– Not the Web</a:t>
            </a:r>
          </a:p>
        </p:txBody>
      </p:sp>
    </p:spTree>
    <p:extLst>
      <p:ext uri="{BB962C8B-B14F-4D97-AF65-F5344CB8AC3E}">
        <p14:creationId xmlns:p14="http://schemas.microsoft.com/office/powerpoint/2010/main" val="245865569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74A7F43-417E-DC67-DCE3-542AEE88390F}"/>
              </a:ext>
            </a:extLst>
          </p:cNvPr>
          <p:cNvSpPr>
            <a:spLocks noGrp="1"/>
          </p:cNvSpPr>
          <p:nvPr>
            <p:ph type="title"/>
          </p:nvPr>
        </p:nvSpPr>
        <p:spPr>
          <a:xfrm>
            <a:off x="885952" y="396240"/>
            <a:ext cx="9692640" cy="1325562"/>
          </a:xfrm>
        </p:spPr>
        <p:txBody>
          <a:bodyPr/>
          <a:lstStyle/>
          <a:p>
            <a:r>
              <a:rPr lang="en-US" dirty="0"/>
              <a:t>Challenges Posed by the Internet</a:t>
            </a:r>
          </a:p>
        </p:txBody>
      </p:sp>
      <p:sp>
        <p:nvSpPr>
          <p:cNvPr id="3" name="Content Placeholder 2">
            <a:extLst>
              <a:ext uri="{FF2B5EF4-FFF2-40B4-BE49-F238E27FC236}">
                <a16:creationId xmlns:a16="http://schemas.microsoft.com/office/drawing/2014/main" id="{42971DCD-F5B9-6F3E-A31E-9B8F87BC44F3}"/>
              </a:ext>
            </a:extLst>
          </p:cNvPr>
          <p:cNvSpPr>
            <a:spLocks noGrp="1"/>
          </p:cNvSpPr>
          <p:nvPr>
            <p:ph idx="1"/>
          </p:nvPr>
        </p:nvSpPr>
        <p:spPr>
          <a:xfrm>
            <a:off x="1261872" y="2011680"/>
            <a:ext cx="8595360" cy="4168457"/>
          </a:xfrm>
        </p:spPr>
        <p:txBody>
          <a:bodyPr>
            <a:normAutofit/>
          </a:bodyPr>
          <a:lstStyle/>
          <a:p>
            <a:r>
              <a:rPr lang="en-US" sz="2400" dirty="0"/>
              <a:t>Many-to-many communications </a:t>
            </a:r>
          </a:p>
          <a:p>
            <a:r>
              <a:rPr lang="en-US" sz="2400" dirty="0"/>
              <a:t>Dynamic connections </a:t>
            </a:r>
          </a:p>
          <a:p>
            <a:r>
              <a:rPr lang="en-US" sz="2400" dirty="0"/>
              <a:t>Huge numbers of Web sites </a:t>
            </a:r>
          </a:p>
          <a:p>
            <a:r>
              <a:rPr lang="en-US" sz="2400" dirty="0"/>
              <a:t>Extends beyond national borders, laws </a:t>
            </a:r>
          </a:p>
          <a:p>
            <a:r>
              <a:rPr lang="en-US" sz="2400" dirty="0"/>
              <a:t>Hard to distinguish between minors and </a:t>
            </a:r>
          </a:p>
          <a:p>
            <a:r>
              <a:rPr lang="en-US" sz="2400" dirty="0"/>
              <a:t>Adults</a:t>
            </a:r>
          </a:p>
          <a:p>
            <a:endParaRPr lang="en-US" sz="2400" dirty="0"/>
          </a:p>
        </p:txBody>
      </p:sp>
    </p:spTree>
    <p:extLst>
      <p:ext uri="{BB962C8B-B14F-4D97-AF65-F5344CB8AC3E}">
        <p14:creationId xmlns:p14="http://schemas.microsoft.com/office/powerpoint/2010/main" val="45412420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EC16A5F-8DAD-09B9-378B-9F654365AB54}"/>
              </a:ext>
            </a:extLst>
          </p:cNvPr>
          <p:cNvSpPr>
            <a:spLocks noGrp="1"/>
          </p:cNvSpPr>
          <p:nvPr>
            <p:ph type="title"/>
          </p:nvPr>
        </p:nvSpPr>
        <p:spPr>
          <a:xfrm>
            <a:off x="855472" y="386080"/>
            <a:ext cx="9692640" cy="1325562"/>
          </a:xfrm>
        </p:spPr>
        <p:txBody>
          <a:bodyPr/>
          <a:lstStyle/>
          <a:p>
            <a:r>
              <a:rPr lang="en-US" dirty="0"/>
              <a:t>Governmental Filtering and Surveillance </a:t>
            </a:r>
          </a:p>
        </p:txBody>
      </p:sp>
      <p:sp>
        <p:nvSpPr>
          <p:cNvPr id="3" name="Content Placeholder 2">
            <a:extLst>
              <a:ext uri="{FF2B5EF4-FFF2-40B4-BE49-F238E27FC236}">
                <a16:creationId xmlns:a16="http://schemas.microsoft.com/office/drawing/2014/main" id="{6580F61F-8880-1180-1CFC-BFEE311E7107}"/>
              </a:ext>
            </a:extLst>
          </p:cNvPr>
          <p:cNvSpPr>
            <a:spLocks noGrp="1"/>
          </p:cNvSpPr>
          <p:nvPr>
            <p:ph idx="1"/>
          </p:nvPr>
        </p:nvSpPr>
        <p:spPr/>
        <p:txBody>
          <a:bodyPr>
            <a:normAutofit/>
          </a:bodyPr>
          <a:lstStyle/>
          <a:p>
            <a:r>
              <a:rPr lang="en-US" sz="2400" dirty="0"/>
              <a:t>Cuba, North Korea: Internet virtually inaccessible </a:t>
            </a:r>
          </a:p>
          <a:p>
            <a:r>
              <a:rPr lang="en-US" sz="2400" dirty="0"/>
              <a:t> Saudi Arabia: centralized control center </a:t>
            </a:r>
          </a:p>
          <a:p>
            <a:r>
              <a:rPr lang="en-US" sz="2400" dirty="0"/>
              <a:t>People’s Republic of China: </a:t>
            </a:r>
          </a:p>
          <a:p>
            <a:pPr marL="274320" lvl="1" indent="0">
              <a:buNone/>
            </a:pPr>
            <a:r>
              <a:rPr lang="en-US" sz="2400" dirty="0"/>
              <a:t>– Blocks Internet access at times of social unrest </a:t>
            </a:r>
          </a:p>
          <a:p>
            <a:pPr marL="274320" lvl="1" indent="0">
              <a:buNone/>
            </a:pPr>
            <a:r>
              <a:rPr lang="en-US" sz="2400" dirty="0"/>
              <a:t>– Has “one of most sophisticated filtering systems in the world” </a:t>
            </a:r>
          </a:p>
          <a:p>
            <a:r>
              <a:rPr lang="en-US" sz="2400" dirty="0"/>
              <a:t>Germany: Forbids access to neo-Nazi sites </a:t>
            </a:r>
          </a:p>
          <a:p>
            <a:r>
              <a:rPr lang="en-US" sz="2400" dirty="0"/>
              <a:t>United States: Have been repeated efforts to limit access of minors to pornography </a:t>
            </a:r>
          </a:p>
        </p:txBody>
      </p:sp>
    </p:spTree>
    <p:extLst>
      <p:ext uri="{BB962C8B-B14F-4D97-AF65-F5344CB8AC3E}">
        <p14:creationId xmlns:p14="http://schemas.microsoft.com/office/powerpoint/2010/main" val="203958015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B5899F4-3CCF-84A9-6F82-99C7561564FC}"/>
              </a:ext>
            </a:extLst>
          </p:cNvPr>
          <p:cNvSpPr>
            <a:spLocks noGrp="1"/>
          </p:cNvSpPr>
          <p:nvPr>
            <p:ph type="title"/>
          </p:nvPr>
        </p:nvSpPr>
        <p:spPr>
          <a:xfrm>
            <a:off x="581152" y="375920"/>
            <a:ext cx="9692640" cy="1158240"/>
          </a:xfrm>
        </p:spPr>
        <p:txBody>
          <a:bodyPr/>
          <a:lstStyle/>
          <a:p>
            <a:r>
              <a:rPr lang="en-US" dirty="0"/>
              <a:t>Ethical Perspectives on Censorship</a:t>
            </a:r>
          </a:p>
        </p:txBody>
      </p:sp>
      <p:sp>
        <p:nvSpPr>
          <p:cNvPr id="3" name="Content Placeholder 2">
            <a:extLst>
              <a:ext uri="{FF2B5EF4-FFF2-40B4-BE49-F238E27FC236}">
                <a16:creationId xmlns:a16="http://schemas.microsoft.com/office/drawing/2014/main" id="{C2A382F2-7970-D380-E4CD-F55A120ECE98}"/>
              </a:ext>
            </a:extLst>
          </p:cNvPr>
          <p:cNvSpPr>
            <a:spLocks noGrp="1"/>
          </p:cNvSpPr>
          <p:nvPr>
            <p:ph idx="1"/>
          </p:nvPr>
        </p:nvSpPr>
        <p:spPr/>
        <p:txBody>
          <a:bodyPr>
            <a:normAutofit/>
          </a:bodyPr>
          <a:lstStyle/>
          <a:p>
            <a:r>
              <a:rPr lang="en-US" sz="2400" dirty="0"/>
              <a:t>Kant opposed censorship </a:t>
            </a:r>
          </a:p>
          <a:p>
            <a:pPr marL="274320" lvl="1" indent="0">
              <a:buNone/>
            </a:pPr>
            <a:r>
              <a:rPr lang="en-US" sz="2400" dirty="0"/>
              <a:t>– Enlightenment thinker </a:t>
            </a:r>
          </a:p>
          <a:p>
            <a:pPr marL="274320" lvl="1" indent="0">
              <a:buNone/>
            </a:pPr>
            <a:r>
              <a:rPr lang="en-US" sz="2400" dirty="0"/>
              <a:t>– “Have courage to use your own reason” </a:t>
            </a:r>
          </a:p>
          <a:p>
            <a:r>
              <a:rPr lang="en-US" sz="2400" dirty="0"/>
              <a:t>Mill opposed censorship </a:t>
            </a:r>
          </a:p>
          <a:p>
            <a:pPr marL="274320" lvl="1" indent="0">
              <a:buNone/>
            </a:pPr>
            <a:r>
              <a:rPr lang="en-US" sz="2400" dirty="0"/>
              <a:t>– No one is infallible </a:t>
            </a:r>
          </a:p>
          <a:p>
            <a:pPr marL="274320" lvl="1" indent="0">
              <a:buNone/>
            </a:pPr>
            <a:r>
              <a:rPr lang="en-US" sz="2400" dirty="0"/>
              <a:t>– Any opinion may contain a kernel of truth </a:t>
            </a:r>
          </a:p>
          <a:p>
            <a:pPr marL="274320" lvl="1" indent="0">
              <a:buNone/>
            </a:pPr>
            <a:r>
              <a:rPr lang="en-US" sz="2400" dirty="0"/>
              <a:t>– Truth revealed in class of ideas </a:t>
            </a:r>
          </a:p>
          <a:p>
            <a:pPr marL="274320" lvl="1" indent="0">
              <a:buNone/>
            </a:pPr>
            <a:r>
              <a:rPr lang="en-US" sz="2400" dirty="0"/>
              <a:t>– Ideas resulting from discourse are more influential</a:t>
            </a:r>
          </a:p>
          <a:p>
            <a:endParaRPr lang="en-US" sz="2400" dirty="0"/>
          </a:p>
        </p:txBody>
      </p:sp>
    </p:spTree>
    <p:extLst>
      <p:ext uri="{BB962C8B-B14F-4D97-AF65-F5344CB8AC3E}">
        <p14:creationId xmlns:p14="http://schemas.microsoft.com/office/powerpoint/2010/main" val="304719240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9B9245D-CBCD-151C-DACC-DDD8FAFF6075}"/>
              </a:ext>
            </a:extLst>
          </p:cNvPr>
          <p:cNvSpPr>
            <a:spLocks noGrp="1"/>
          </p:cNvSpPr>
          <p:nvPr>
            <p:ph type="title"/>
          </p:nvPr>
        </p:nvSpPr>
        <p:spPr>
          <a:xfrm>
            <a:off x="784352" y="335280"/>
            <a:ext cx="9692640" cy="1325562"/>
          </a:xfrm>
        </p:spPr>
        <p:txBody>
          <a:bodyPr/>
          <a:lstStyle/>
          <a:p>
            <a:r>
              <a:rPr lang="en-US" dirty="0"/>
              <a:t>Mill’s Principle of Harm</a:t>
            </a:r>
          </a:p>
        </p:txBody>
      </p:sp>
      <p:sp>
        <p:nvSpPr>
          <p:cNvPr id="3" name="Content Placeholder 2">
            <a:extLst>
              <a:ext uri="{FF2B5EF4-FFF2-40B4-BE49-F238E27FC236}">
                <a16:creationId xmlns:a16="http://schemas.microsoft.com/office/drawing/2014/main" id="{D84E52ED-647B-7A96-FFAD-D73036D64C19}"/>
              </a:ext>
            </a:extLst>
          </p:cNvPr>
          <p:cNvSpPr>
            <a:spLocks noGrp="1"/>
          </p:cNvSpPr>
          <p:nvPr>
            <p:ph idx="1"/>
          </p:nvPr>
        </p:nvSpPr>
        <p:spPr>
          <a:xfrm>
            <a:off x="1261872" y="2235201"/>
            <a:ext cx="8595360" cy="3749040"/>
          </a:xfrm>
        </p:spPr>
        <p:txBody>
          <a:bodyPr>
            <a:normAutofit/>
          </a:bodyPr>
          <a:lstStyle/>
          <a:p>
            <a:r>
              <a:rPr lang="en-US" sz="2400" dirty="0"/>
              <a:t>“The only ground on which intervention is justified is to prevent harm to others; the individual’s own good is not a sufficient condition.”</a:t>
            </a:r>
          </a:p>
        </p:txBody>
      </p:sp>
    </p:spTree>
    <p:extLst>
      <p:ext uri="{BB962C8B-B14F-4D97-AF65-F5344CB8AC3E}">
        <p14:creationId xmlns:p14="http://schemas.microsoft.com/office/powerpoint/2010/main" val="331258381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C1E559E-AA4A-37A4-9F00-86C8B3D8F671}"/>
              </a:ext>
            </a:extLst>
          </p:cNvPr>
          <p:cNvSpPr>
            <a:spLocks noGrp="1"/>
          </p:cNvSpPr>
          <p:nvPr>
            <p:ph type="title"/>
          </p:nvPr>
        </p:nvSpPr>
        <p:spPr>
          <a:xfrm>
            <a:off x="631952" y="2326640"/>
            <a:ext cx="9692640" cy="1325562"/>
          </a:xfrm>
        </p:spPr>
        <p:txBody>
          <a:bodyPr/>
          <a:lstStyle/>
          <a:p>
            <a:pPr algn="ctr"/>
            <a:r>
              <a:rPr lang="en-US" dirty="0"/>
              <a:t>Freedom of Expression</a:t>
            </a:r>
          </a:p>
        </p:txBody>
      </p:sp>
    </p:spTree>
    <p:extLst>
      <p:ext uri="{BB962C8B-B14F-4D97-AF65-F5344CB8AC3E}">
        <p14:creationId xmlns:p14="http://schemas.microsoft.com/office/powerpoint/2010/main" val="344631664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63814AB-E5F6-9D5D-E9E8-4AD91ACD071A}"/>
              </a:ext>
            </a:extLst>
          </p:cNvPr>
          <p:cNvSpPr>
            <a:spLocks noGrp="1"/>
          </p:cNvSpPr>
          <p:nvPr>
            <p:ph type="title"/>
          </p:nvPr>
        </p:nvSpPr>
        <p:spPr>
          <a:xfrm>
            <a:off x="896112" y="365760"/>
            <a:ext cx="9692640" cy="1046480"/>
          </a:xfrm>
        </p:spPr>
        <p:txBody>
          <a:bodyPr/>
          <a:lstStyle/>
          <a:p>
            <a:r>
              <a:rPr lang="en-US" dirty="0"/>
              <a:t>Freedom of Expression: History</a:t>
            </a:r>
          </a:p>
        </p:txBody>
      </p:sp>
      <p:sp>
        <p:nvSpPr>
          <p:cNvPr id="3" name="Content Placeholder 2">
            <a:extLst>
              <a:ext uri="{FF2B5EF4-FFF2-40B4-BE49-F238E27FC236}">
                <a16:creationId xmlns:a16="http://schemas.microsoft.com/office/drawing/2014/main" id="{3044AB9F-CFE1-5CDB-959A-F0E5C9AE88A8}"/>
              </a:ext>
            </a:extLst>
          </p:cNvPr>
          <p:cNvSpPr>
            <a:spLocks noGrp="1"/>
          </p:cNvSpPr>
          <p:nvPr>
            <p:ph idx="1"/>
          </p:nvPr>
        </p:nvSpPr>
        <p:spPr/>
        <p:txBody>
          <a:bodyPr>
            <a:normAutofit lnSpcReduction="10000"/>
          </a:bodyPr>
          <a:lstStyle/>
          <a:p>
            <a:r>
              <a:rPr lang="en-US" sz="2400" dirty="0"/>
              <a:t>De </a:t>
            </a:r>
            <a:r>
              <a:rPr lang="en-US" sz="2400" dirty="0" err="1"/>
              <a:t>Scandalis</a:t>
            </a:r>
            <a:r>
              <a:rPr lang="en-US" sz="2400" dirty="0"/>
              <a:t> Magnatum (England, 1275) </a:t>
            </a:r>
          </a:p>
          <a:p>
            <a:r>
              <a:rPr lang="en-US" sz="2400" dirty="0"/>
              <a:t>Court of Star Chamber</a:t>
            </a:r>
          </a:p>
          <a:p>
            <a:r>
              <a:rPr lang="en-US" sz="2400" dirty="0"/>
              <a:t>18th century </a:t>
            </a:r>
          </a:p>
          <a:p>
            <a:pPr marL="0" indent="0">
              <a:buNone/>
            </a:pPr>
            <a:r>
              <a:rPr lang="en-US" sz="2400" dirty="0"/>
              <a:t>	– No prior restraints on publication</a:t>
            </a:r>
          </a:p>
          <a:p>
            <a:pPr marL="0" indent="0">
              <a:buNone/>
            </a:pPr>
            <a:r>
              <a:rPr lang="en-US" sz="2400" dirty="0"/>
              <a:t>	– People could be punished for sedition or libel </a:t>
            </a:r>
          </a:p>
          <a:p>
            <a:r>
              <a:rPr lang="en-US" sz="2400" dirty="0"/>
              <a:t> American states adopted bills of rights including freedom of expression </a:t>
            </a:r>
          </a:p>
          <a:p>
            <a:r>
              <a:rPr lang="en-US" sz="2400" dirty="0"/>
              <a:t>Freedom of expression in 1st amendment to U.S. Constitution </a:t>
            </a:r>
          </a:p>
        </p:txBody>
      </p:sp>
    </p:spTree>
    <p:extLst>
      <p:ext uri="{BB962C8B-B14F-4D97-AF65-F5344CB8AC3E}">
        <p14:creationId xmlns:p14="http://schemas.microsoft.com/office/powerpoint/2010/main" val="55022769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95630CE-122B-4C0E-EEDC-45A6C8207979}"/>
              </a:ext>
            </a:extLst>
          </p:cNvPr>
          <p:cNvSpPr>
            <a:spLocks noGrp="1"/>
          </p:cNvSpPr>
          <p:nvPr>
            <p:ph type="title"/>
          </p:nvPr>
        </p:nvSpPr>
        <p:spPr>
          <a:xfrm>
            <a:off x="784352" y="314960"/>
            <a:ext cx="9692640" cy="1325562"/>
          </a:xfrm>
        </p:spPr>
        <p:txBody>
          <a:bodyPr/>
          <a:lstStyle/>
          <a:p>
            <a:r>
              <a:rPr lang="en-US" dirty="0"/>
              <a:t>1st Amendment to U.S. Constitution</a:t>
            </a:r>
          </a:p>
        </p:txBody>
      </p:sp>
      <p:sp>
        <p:nvSpPr>
          <p:cNvPr id="3" name="Content Placeholder 2">
            <a:extLst>
              <a:ext uri="{FF2B5EF4-FFF2-40B4-BE49-F238E27FC236}">
                <a16:creationId xmlns:a16="http://schemas.microsoft.com/office/drawing/2014/main" id="{FC3AC7B8-790B-0477-8B07-AA29AAEF7567}"/>
              </a:ext>
            </a:extLst>
          </p:cNvPr>
          <p:cNvSpPr>
            <a:spLocks noGrp="1"/>
          </p:cNvSpPr>
          <p:nvPr>
            <p:ph idx="1"/>
          </p:nvPr>
        </p:nvSpPr>
        <p:spPr>
          <a:xfrm>
            <a:off x="1261872" y="2011680"/>
            <a:ext cx="8595360" cy="4168457"/>
          </a:xfrm>
        </p:spPr>
        <p:txBody>
          <a:bodyPr>
            <a:normAutofit/>
          </a:bodyPr>
          <a:lstStyle/>
          <a:p>
            <a:r>
              <a:rPr lang="en-US" sz="2400" dirty="0"/>
              <a:t>Congress shall make no law respecting an establishment of religion, or prohibiting the free exercise thereof; or abridging the freedom of speech, or of the press; or the right of the people peaceably to assemble, and to petition the government for a redress of grievances.</a:t>
            </a:r>
          </a:p>
        </p:txBody>
      </p:sp>
    </p:spTree>
    <p:extLst>
      <p:ext uri="{BB962C8B-B14F-4D97-AF65-F5344CB8AC3E}">
        <p14:creationId xmlns:p14="http://schemas.microsoft.com/office/powerpoint/2010/main" val="232770071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DD799BE-297E-910D-3BD5-A4DBADB02F0D}"/>
              </a:ext>
            </a:extLst>
          </p:cNvPr>
          <p:cNvSpPr>
            <a:spLocks noGrp="1"/>
          </p:cNvSpPr>
          <p:nvPr>
            <p:ph type="title"/>
          </p:nvPr>
        </p:nvSpPr>
        <p:spPr>
          <a:xfrm>
            <a:off x="713232" y="386080"/>
            <a:ext cx="9692640" cy="1325562"/>
          </a:xfrm>
        </p:spPr>
        <p:txBody>
          <a:bodyPr/>
          <a:lstStyle/>
          <a:p>
            <a:r>
              <a:rPr lang="en-US" dirty="0"/>
              <a:t>Freedom of Expression Not an Absolute Right</a:t>
            </a:r>
          </a:p>
        </p:txBody>
      </p:sp>
      <p:sp>
        <p:nvSpPr>
          <p:cNvPr id="3" name="Content Placeholder 2">
            <a:extLst>
              <a:ext uri="{FF2B5EF4-FFF2-40B4-BE49-F238E27FC236}">
                <a16:creationId xmlns:a16="http://schemas.microsoft.com/office/drawing/2014/main" id="{2DAB6239-61EF-963B-1D4C-276BA04EA2FD}"/>
              </a:ext>
            </a:extLst>
          </p:cNvPr>
          <p:cNvSpPr>
            <a:spLocks noGrp="1"/>
          </p:cNvSpPr>
          <p:nvPr>
            <p:ph idx="1"/>
          </p:nvPr>
        </p:nvSpPr>
        <p:spPr>
          <a:xfrm>
            <a:off x="1261872" y="2296160"/>
            <a:ext cx="8595360" cy="3883977"/>
          </a:xfrm>
        </p:spPr>
        <p:txBody>
          <a:bodyPr>
            <a:normAutofit/>
          </a:bodyPr>
          <a:lstStyle/>
          <a:p>
            <a:r>
              <a:rPr lang="en-US" sz="2400" dirty="0"/>
              <a:t>1st Amendment covers political and nonpolitical speech </a:t>
            </a:r>
          </a:p>
          <a:p>
            <a:r>
              <a:rPr lang="en-US" sz="2400" dirty="0"/>
              <a:t>Right to freedom of expression must be balanced against the public good </a:t>
            </a:r>
          </a:p>
          <a:p>
            <a:r>
              <a:rPr lang="en-US" sz="2400" dirty="0"/>
              <a:t>Various restrictions on freedom of expression exist</a:t>
            </a:r>
          </a:p>
        </p:txBody>
      </p:sp>
    </p:spTree>
    <p:extLst>
      <p:ext uri="{BB962C8B-B14F-4D97-AF65-F5344CB8AC3E}">
        <p14:creationId xmlns:p14="http://schemas.microsoft.com/office/powerpoint/2010/main" val="91457237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DD895F9-1D54-5FCA-98C5-9DEE7A4CF888}"/>
              </a:ext>
            </a:extLst>
          </p:cNvPr>
          <p:cNvSpPr>
            <a:spLocks noGrp="1"/>
          </p:cNvSpPr>
          <p:nvPr>
            <p:ph type="title"/>
          </p:nvPr>
        </p:nvSpPr>
        <p:spPr>
          <a:xfrm>
            <a:off x="642112" y="294640"/>
            <a:ext cx="9692640" cy="1168400"/>
          </a:xfrm>
        </p:spPr>
        <p:txBody>
          <a:bodyPr/>
          <a:lstStyle/>
          <a:p>
            <a:r>
              <a:rPr lang="fr-FR" dirty="0"/>
              <a:t>FCC v. Pacifica </a:t>
            </a:r>
            <a:r>
              <a:rPr lang="fr-FR" dirty="0" err="1"/>
              <a:t>Foundation</a:t>
            </a:r>
            <a:r>
              <a:rPr lang="fr-FR" dirty="0"/>
              <a:t> et al.</a:t>
            </a:r>
            <a:endParaRPr lang="en-US" dirty="0"/>
          </a:p>
        </p:txBody>
      </p:sp>
      <p:sp>
        <p:nvSpPr>
          <p:cNvPr id="3" name="Content Placeholder 2">
            <a:extLst>
              <a:ext uri="{FF2B5EF4-FFF2-40B4-BE49-F238E27FC236}">
                <a16:creationId xmlns:a16="http://schemas.microsoft.com/office/drawing/2014/main" id="{C4617940-DA71-C196-4C5B-16E54BB82DCF}"/>
              </a:ext>
            </a:extLst>
          </p:cNvPr>
          <p:cNvSpPr>
            <a:spLocks noGrp="1"/>
          </p:cNvSpPr>
          <p:nvPr>
            <p:ph idx="1"/>
          </p:nvPr>
        </p:nvSpPr>
        <p:spPr/>
        <p:txBody>
          <a:bodyPr/>
          <a:lstStyle/>
          <a:p>
            <a:r>
              <a:rPr lang="en-US" sz="2400" dirty="0"/>
              <a:t>George Carlin records “Filthy Words” </a:t>
            </a:r>
          </a:p>
          <a:p>
            <a:r>
              <a:rPr lang="en-US" sz="2400" dirty="0"/>
              <a:t> WBAI in New York airs “Filthy Words” (1973) </a:t>
            </a:r>
          </a:p>
          <a:p>
            <a:r>
              <a:rPr lang="en-US" sz="2400" dirty="0"/>
              <a:t>FCC issues declaratory order to Pacifica </a:t>
            </a:r>
          </a:p>
          <a:p>
            <a:r>
              <a:rPr lang="en-US" sz="2400" dirty="0"/>
              <a:t> Pacifica sues </a:t>
            </a:r>
          </a:p>
          <a:p>
            <a:r>
              <a:rPr lang="en-US" sz="2400" dirty="0"/>
              <a:t> U.S. Supreme Court ruled FCC did not violate 1st</a:t>
            </a:r>
          </a:p>
          <a:p>
            <a:r>
              <a:rPr lang="en-US" sz="2400" dirty="0"/>
              <a:t>Amendment (5-4 decision) </a:t>
            </a:r>
          </a:p>
          <a:p>
            <a:pPr marL="274320" lvl="1" indent="0">
              <a:buNone/>
            </a:pPr>
            <a:r>
              <a:rPr lang="en-US" sz="2400" dirty="0"/>
              <a:t>– Broadcast media “uniquely pervasive” </a:t>
            </a:r>
          </a:p>
          <a:p>
            <a:pPr marL="274320" lvl="1" indent="0">
              <a:buNone/>
            </a:pPr>
            <a:r>
              <a:rPr lang="en-US" sz="2400" dirty="0"/>
              <a:t>– Broadcasting uniquely accessible to children</a:t>
            </a:r>
          </a:p>
          <a:p>
            <a:endParaRPr lang="en-US" dirty="0"/>
          </a:p>
        </p:txBody>
      </p:sp>
    </p:spTree>
    <p:extLst>
      <p:ext uri="{BB962C8B-B14F-4D97-AF65-F5344CB8AC3E}">
        <p14:creationId xmlns:p14="http://schemas.microsoft.com/office/powerpoint/2010/main" val="70591019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F91E976-4BE0-99AA-4A6E-BF49BA3FCD13}"/>
              </a:ext>
            </a:extLst>
          </p:cNvPr>
          <p:cNvSpPr>
            <a:spLocks noGrp="1"/>
          </p:cNvSpPr>
          <p:nvPr>
            <p:ph type="title"/>
          </p:nvPr>
        </p:nvSpPr>
        <p:spPr>
          <a:xfrm>
            <a:off x="774192" y="416560"/>
            <a:ext cx="9692640" cy="863600"/>
          </a:xfrm>
        </p:spPr>
        <p:txBody>
          <a:bodyPr/>
          <a:lstStyle/>
          <a:p>
            <a:r>
              <a:rPr lang="en-US" dirty="0"/>
              <a:t> Case Study</a:t>
            </a:r>
          </a:p>
        </p:txBody>
      </p:sp>
      <p:sp>
        <p:nvSpPr>
          <p:cNvPr id="3" name="Content Placeholder 2">
            <a:extLst>
              <a:ext uri="{FF2B5EF4-FFF2-40B4-BE49-F238E27FC236}">
                <a16:creationId xmlns:a16="http://schemas.microsoft.com/office/drawing/2014/main" id="{01A8BFAC-99B2-8CE7-5915-C42014A116F2}"/>
              </a:ext>
            </a:extLst>
          </p:cNvPr>
          <p:cNvSpPr>
            <a:spLocks noGrp="1"/>
          </p:cNvSpPr>
          <p:nvPr>
            <p:ph idx="1"/>
          </p:nvPr>
        </p:nvSpPr>
        <p:spPr>
          <a:xfrm>
            <a:off x="1261872" y="1605280"/>
            <a:ext cx="8595360" cy="4574857"/>
          </a:xfrm>
        </p:spPr>
        <p:txBody>
          <a:bodyPr>
            <a:noAutofit/>
          </a:bodyPr>
          <a:lstStyle/>
          <a:p>
            <a:r>
              <a:rPr lang="en-US" sz="2400" dirty="0"/>
              <a:t>Kate is a journalism major who maintains a popular blog focusing on campus life. Kate attends a private birthday party in someone’s apartment for her friend Jerry, a college student active in the Whig Party on campus. Someone gives Jerry a Tory Party T-shirt as a gag gift, and Jerry puts it on. Kate uses her cell phone to get a picture of Jerry wearing the T-shirt when he is looking the other way. Jerry gives Kate a ride home after the party, but she does not tell him about the photo. When she is back in her apartment, she posts the photo on her blog. In the blog she identifies Jerry and explains the context in which the photo was taken. The story is read by many people both on and off campus. </a:t>
            </a:r>
          </a:p>
        </p:txBody>
      </p:sp>
    </p:spTree>
    <p:extLst>
      <p:ext uri="{BB962C8B-B14F-4D97-AF65-F5344CB8AC3E}">
        <p14:creationId xmlns:p14="http://schemas.microsoft.com/office/powerpoint/2010/main" val="217074555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F91E976-4BE0-99AA-4A6E-BF49BA3FCD13}"/>
              </a:ext>
            </a:extLst>
          </p:cNvPr>
          <p:cNvSpPr>
            <a:spLocks noGrp="1"/>
          </p:cNvSpPr>
          <p:nvPr>
            <p:ph type="title"/>
          </p:nvPr>
        </p:nvSpPr>
        <p:spPr>
          <a:xfrm>
            <a:off x="774192" y="416560"/>
            <a:ext cx="9692640" cy="863600"/>
          </a:xfrm>
        </p:spPr>
        <p:txBody>
          <a:bodyPr/>
          <a:lstStyle/>
          <a:p>
            <a:r>
              <a:rPr lang="en-US" dirty="0"/>
              <a:t>Cont..</a:t>
            </a:r>
          </a:p>
        </p:txBody>
      </p:sp>
      <p:sp>
        <p:nvSpPr>
          <p:cNvPr id="3" name="Content Placeholder 2">
            <a:extLst>
              <a:ext uri="{FF2B5EF4-FFF2-40B4-BE49-F238E27FC236}">
                <a16:creationId xmlns:a16="http://schemas.microsoft.com/office/drawing/2014/main" id="{01A8BFAC-99B2-8CE7-5915-C42014A116F2}"/>
              </a:ext>
            </a:extLst>
          </p:cNvPr>
          <p:cNvSpPr>
            <a:spLocks noGrp="1"/>
          </p:cNvSpPr>
          <p:nvPr>
            <p:ph idx="1"/>
          </p:nvPr>
        </p:nvSpPr>
        <p:spPr>
          <a:xfrm>
            <a:off x="1261872" y="1605280"/>
            <a:ext cx="8595360" cy="4574857"/>
          </a:xfrm>
        </p:spPr>
        <p:txBody>
          <a:bodyPr>
            <a:noAutofit/>
          </a:bodyPr>
          <a:lstStyle/>
          <a:p>
            <a:r>
              <a:rPr lang="en-US" sz="2400" dirty="0"/>
              <a:t>The next day Jerry confronts Kate, yells at her for posting the photo, and demands that she remove it from her Web site. Kate complies with Jerry’s request by removing the photo, and the two of them remain friends. As a result of the incident, Jerry becomes more popular on campus, and the number of people who read Kate’s blog increases.</a:t>
            </a:r>
          </a:p>
          <a:p>
            <a:r>
              <a:rPr lang="en-US" sz="2400" dirty="0"/>
              <a:t> Was it wrong for Kate to post the picture of Jerry on her blog without first getting his permission?</a:t>
            </a:r>
          </a:p>
        </p:txBody>
      </p:sp>
    </p:spTree>
    <p:extLst>
      <p:ext uri="{BB962C8B-B14F-4D97-AF65-F5344CB8AC3E}">
        <p14:creationId xmlns:p14="http://schemas.microsoft.com/office/powerpoint/2010/main" val="429493814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65274E9-F742-A402-2AED-D38A314DA95B}"/>
              </a:ext>
            </a:extLst>
          </p:cNvPr>
          <p:cNvSpPr>
            <a:spLocks noGrp="1"/>
          </p:cNvSpPr>
          <p:nvPr>
            <p:ph type="title"/>
          </p:nvPr>
        </p:nvSpPr>
        <p:spPr>
          <a:xfrm>
            <a:off x="662432" y="436880"/>
            <a:ext cx="9692640" cy="812800"/>
          </a:xfrm>
        </p:spPr>
        <p:txBody>
          <a:bodyPr/>
          <a:lstStyle/>
          <a:p>
            <a:r>
              <a:rPr lang="en-US" dirty="0"/>
              <a:t>Case Study: Kate’s Blog</a:t>
            </a:r>
          </a:p>
        </p:txBody>
      </p:sp>
      <p:sp>
        <p:nvSpPr>
          <p:cNvPr id="3" name="Content Placeholder 2">
            <a:extLst>
              <a:ext uri="{FF2B5EF4-FFF2-40B4-BE49-F238E27FC236}">
                <a16:creationId xmlns:a16="http://schemas.microsoft.com/office/drawing/2014/main" id="{E358304C-54FB-B59B-C06D-BEEB89BC6090}"/>
              </a:ext>
            </a:extLst>
          </p:cNvPr>
          <p:cNvSpPr>
            <a:spLocks noGrp="1"/>
          </p:cNvSpPr>
          <p:nvPr>
            <p:ph idx="1"/>
          </p:nvPr>
        </p:nvSpPr>
        <p:spPr>
          <a:xfrm>
            <a:off x="1261872" y="1676400"/>
            <a:ext cx="8595360" cy="4503737"/>
          </a:xfrm>
        </p:spPr>
        <p:txBody>
          <a:bodyPr>
            <a:noAutofit/>
          </a:bodyPr>
          <a:lstStyle/>
          <a:p>
            <a:r>
              <a:rPr lang="en-US" sz="2400" dirty="0"/>
              <a:t> Kate: Maintains a popular “life on campus” blog </a:t>
            </a:r>
          </a:p>
          <a:p>
            <a:r>
              <a:rPr lang="en-US" sz="2400" dirty="0"/>
              <a:t>Jerry: Another student; active in Whig Party </a:t>
            </a:r>
          </a:p>
          <a:p>
            <a:r>
              <a:rPr lang="en-US" sz="2400" dirty="0"/>
              <a:t>At private birthday party, someone gives Jerry a Tory Party T-shirt as a gag, and Jerry puts it on </a:t>
            </a:r>
          </a:p>
          <a:p>
            <a:r>
              <a:rPr lang="en-US" sz="2400" dirty="0"/>
              <a:t>Kate uses cell phone to take picture of Jerry when he isn’t looking, posts it on her blog </a:t>
            </a:r>
          </a:p>
          <a:p>
            <a:r>
              <a:rPr lang="en-US" sz="2400" dirty="0"/>
              <a:t>Story read by many people on and off campus </a:t>
            </a:r>
          </a:p>
          <a:p>
            <a:r>
              <a:rPr lang="en-US" sz="2400" dirty="0"/>
              <a:t>Jerry confronts Kate and demands she remove photo; she complies, and they remain friends </a:t>
            </a:r>
          </a:p>
          <a:p>
            <a:r>
              <a:rPr lang="en-US" sz="2400" dirty="0"/>
              <a:t>Kate’s blog and Jerry both become more popular</a:t>
            </a:r>
          </a:p>
        </p:txBody>
      </p:sp>
    </p:spTree>
    <p:extLst>
      <p:ext uri="{BB962C8B-B14F-4D97-AF65-F5344CB8AC3E}">
        <p14:creationId xmlns:p14="http://schemas.microsoft.com/office/powerpoint/2010/main" val="34335732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31CACB-5AD3-0FE7-4F2A-86424912F6BE}"/>
              </a:ext>
            </a:extLst>
          </p:cNvPr>
          <p:cNvSpPr>
            <a:spLocks noGrp="1"/>
          </p:cNvSpPr>
          <p:nvPr>
            <p:ph type="title"/>
          </p:nvPr>
        </p:nvSpPr>
        <p:spPr>
          <a:xfrm>
            <a:off x="713232" y="314960"/>
            <a:ext cx="9692640" cy="975360"/>
          </a:xfrm>
        </p:spPr>
        <p:txBody>
          <a:bodyPr/>
          <a:lstStyle/>
          <a:p>
            <a:r>
              <a:rPr lang="en-US" dirty="0"/>
              <a:t>Kantian Analysis</a:t>
            </a:r>
          </a:p>
        </p:txBody>
      </p:sp>
      <p:sp>
        <p:nvSpPr>
          <p:cNvPr id="3" name="Content Placeholder 2">
            <a:extLst>
              <a:ext uri="{FF2B5EF4-FFF2-40B4-BE49-F238E27FC236}">
                <a16:creationId xmlns:a16="http://schemas.microsoft.com/office/drawing/2014/main" id="{13BE5212-2543-AB1D-12B4-82860E72B41B}"/>
              </a:ext>
            </a:extLst>
          </p:cNvPr>
          <p:cNvSpPr>
            <a:spLocks noGrp="1"/>
          </p:cNvSpPr>
          <p:nvPr>
            <p:ph idx="1"/>
          </p:nvPr>
        </p:nvSpPr>
        <p:spPr/>
        <p:txBody>
          <a:bodyPr>
            <a:normAutofit/>
          </a:bodyPr>
          <a:lstStyle/>
          <a:p>
            <a:r>
              <a:rPr lang="en-US" sz="2400" dirty="0"/>
              <a:t>Kate uploaded Jerry’s photo to her blog without asking his permission </a:t>
            </a:r>
          </a:p>
          <a:p>
            <a:r>
              <a:rPr lang="en-US" sz="2400" dirty="0"/>
              <a:t> She treated him as a means to her end of increasing the readership of her Web site </a:t>
            </a:r>
          </a:p>
          <a:p>
            <a:r>
              <a:rPr lang="en-US" sz="2400" dirty="0"/>
              <a:t> Her action was wrong</a:t>
            </a:r>
          </a:p>
        </p:txBody>
      </p:sp>
    </p:spTree>
    <p:extLst>
      <p:ext uri="{BB962C8B-B14F-4D97-AF65-F5344CB8AC3E}">
        <p14:creationId xmlns:p14="http://schemas.microsoft.com/office/powerpoint/2010/main" val="1296641488"/>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E5F5DC1-B708-7137-243F-68C2E4757D7F}"/>
              </a:ext>
            </a:extLst>
          </p:cNvPr>
          <p:cNvSpPr>
            <a:spLocks noGrp="1"/>
          </p:cNvSpPr>
          <p:nvPr>
            <p:ph type="title"/>
          </p:nvPr>
        </p:nvSpPr>
        <p:spPr>
          <a:xfrm>
            <a:off x="550672" y="355600"/>
            <a:ext cx="9692640" cy="1325562"/>
          </a:xfrm>
        </p:spPr>
        <p:txBody>
          <a:bodyPr/>
          <a:lstStyle/>
          <a:p>
            <a:r>
              <a:rPr lang="en-US" dirty="0"/>
              <a:t>Social Contract Theory Analysis</a:t>
            </a:r>
          </a:p>
        </p:txBody>
      </p:sp>
      <p:sp>
        <p:nvSpPr>
          <p:cNvPr id="3" name="Content Placeholder 2">
            <a:extLst>
              <a:ext uri="{FF2B5EF4-FFF2-40B4-BE49-F238E27FC236}">
                <a16:creationId xmlns:a16="http://schemas.microsoft.com/office/drawing/2014/main" id="{067B69DF-DFB0-418B-757B-D963047750EC}"/>
              </a:ext>
            </a:extLst>
          </p:cNvPr>
          <p:cNvSpPr>
            <a:spLocks noGrp="1"/>
          </p:cNvSpPr>
          <p:nvPr>
            <p:ph idx="1"/>
          </p:nvPr>
        </p:nvSpPr>
        <p:spPr>
          <a:xfrm>
            <a:off x="1261872" y="2143760"/>
            <a:ext cx="8595360" cy="4036377"/>
          </a:xfrm>
        </p:spPr>
        <p:txBody>
          <a:bodyPr>
            <a:normAutofit/>
          </a:bodyPr>
          <a:lstStyle/>
          <a:p>
            <a:r>
              <a:rPr lang="en-US" sz="2400" dirty="0"/>
              <a:t>Birthday party held in apartment of one of Jerry’s friends </a:t>
            </a:r>
          </a:p>
          <a:p>
            <a:r>
              <a:rPr lang="en-US" sz="2400" dirty="0"/>
              <a:t> Jerry had a reasonable expectation of privacy </a:t>
            </a:r>
          </a:p>
          <a:p>
            <a:r>
              <a:rPr lang="en-US" sz="2400" dirty="0"/>
              <a:t>Kate violated Jerry’s right to privacy </a:t>
            </a:r>
          </a:p>
          <a:p>
            <a:r>
              <a:rPr lang="en-US" sz="2400" dirty="0"/>
              <a:t> Kate’s action was wrong</a:t>
            </a:r>
          </a:p>
        </p:txBody>
      </p:sp>
    </p:spTree>
    <p:extLst>
      <p:ext uri="{BB962C8B-B14F-4D97-AF65-F5344CB8AC3E}">
        <p14:creationId xmlns:p14="http://schemas.microsoft.com/office/powerpoint/2010/main" val="4289547468"/>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7813400-96FB-EDF6-9D8E-12C99D1A9C1F}"/>
              </a:ext>
            </a:extLst>
          </p:cNvPr>
          <p:cNvSpPr>
            <a:spLocks noGrp="1"/>
          </p:cNvSpPr>
          <p:nvPr>
            <p:ph type="title"/>
          </p:nvPr>
        </p:nvSpPr>
        <p:spPr>
          <a:xfrm>
            <a:off x="794512" y="365760"/>
            <a:ext cx="9692640" cy="1117600"/>
          </a:xfrm>
        </p:spPr>
        <p:txBody>
          <a:bodyPr/>
          <a:lstStyle/>
          <a:p>
            <a:r>
              <a:rPr lang="en-US" dirty="0"/>
              <a:t>Act Utilitarian Analysis</a:t>
            </a:r>
          </a:p>
        </p:txBody>
      </p:sp>
      <p:sp>
        <p:nvSpPr>
          <p:cNvPr id="3" name="Content Placeholder 2">
            <a:extLst>
              <a:ext uri="{FF2B5EF4-FFF2-40B4-BE49-F238E27FC236}">
                <a16:creationId xmlns:a16="http://schemas.microsoft.com/office/drawing/2014/main" id="{73A3997F-C4F8-BBF7-DF65-1EFBE4E4E808}"/>
              </a:ext>
            </a:extLst>
          </p:cNvPr>
          <p:cNvSpPr>
            <a:spLocks noGrp="1"/>
          </p:cNvSpPr>
          <p:nvPr>
            <p:ph idx="1"/>
          </p:nvPr>
        </p:nvSpPr>
        <p:spPr/>
        <p:txBody>
          <a:bodyPr>
            <a:normAutofit/>
          </a:bodyPr>
          <a:lstStyle/>
          <a:p>
            <a:r>
              <a:rPr lang="en-US" sz="2400" dirty="0"/>
              <a:t>Benefits </a:t>
            </a:r>
          </a:p>
          <a:p>
            <a:pPr marL="548640" lvl="2" indent="0">
              <a:buNone/>
            </a:pPr>
            <a:r>
              <a:rPr lang="en-US" sz="2400" dirty="0"/>
              <a:t>– Popularity of Kate’s blog increased (definitely) </a:t>
            </a:r>
          </a:p>
          <a:p>
            <a:pPr marL="548640" lvl="2" indent="0">
              <a:buNone/>
            </a:pPr>
            <a:r>
              <a:rPr lang="en-US" sz="2400" dirty="0"/>
              <a:t>– Jerry become more popular on campus (definitely)</a:t>
            </a:r>
          </a:p>
          <a:p>
            <a:pPr lvl="1"/>
            <a:r>
              <a:rPr lang="en-US" sz="2400" dirty="0"/>
              <a:t>Harms </a:t>
            </a:r>
          </a:p>
          <a:p>
            <a:pPr marL="548640" lvl="2" indent="0">
              <a:buNone/>
            </a:pPr>
            <a:r>
              <a:rPr lang="en-US" sz="2400" dirty="0"/>
              <a:t>– Jerry’s anger at Kate (only temporary) </a:t>
            </a:r>
          </a:p>
          <a:p>
            <a:pPr marL="548640" lvl="2" indent="0">
              <a:buNone/>
            </a:pPr>
            <a:r>
              <a:rPr lang="en-US" sz="2400" dirty="0"/>
              <a:t>– Photo could discredit Jerry at some point in future </a:t>
            </a:r>
          </a:p>
          <a:p>
            <a:pPr marL="548640" lvl="2" indent="0">
              <a:buNone/>
            </a:pPr>
            <a:r>
              <a:rPr lang="en-US" sz="2400" dirty="0"/>
              <a:t>(unlikely) </a:t>
            </a:r>
          </a:p>
          <a:p>
            <a:pPr marL="274320" lvl="1" indent="0">
              <a:buNone/>
            </a:pPr>
            <a:r>
              <a:rPr lang="en-US" sz="2400" dirty="0"/>
              <a:t>• Benefits greater than harms, so Kate did a good thing</a:t>
            </a:r>
          </a:p>
        </p:txBody>
      </p:sp>
    </p:spTree>
    <p:extLst>
      <p:ext uri="{BB962C8B-B14F-4D97-AF65-F5344CB8AC3E}">
        <p14:creationId xmlns:p14="http://schemas.microsoft.com/office/powerpoint/2010/main" val="1070132327"/>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602D139-378F-12EA-100B-13E680F368E4}"/>
              </a:ext>
            </a:extLst>
          </p:cNvPr>
          <p:cNvSpPr>
            <a:spLocks noGrp="1"/>
          </p:cNvSpPr>
          <p:nvPr>
            <p:ph type="title"/>
          </p:nvPr>
        </p:nvSpPr>
        <p:spPr>
          <a:xfrm>
            <a:off x="428752" y="457200"/>
            <a:ext cx="9692640" cy="792480"/>
          </a:xfrm>
        </p:spPr>
        <p:txBody>
          <a:bodyPr/>
          <a:lstStyle/>
          <a:p>
            <a:r>
              <a:rPr lang="en-US" dirty="0"/>
              <a:t>Rule Utilitarian Analysis</a:t>
            </a:r>
          </a:p>
        </p:txBody>
      </p:sp>
      <p:sp>
        <p:nvSpPr>
          <p:cNvPr id="3" name="Content Placeholder 2">
            <a:extLst>
              <a:ext uri="{FF2B5EF4-FFF2-40B4-BE49-F238E27FC236}">
                <a16:creationId xmlns:a16="http://schemas.microsoft.com/office/drawing/2014/main" id="{0AADCC2C-85D2-0CC2-7535-661A0F6BD7C7}"/>
              </a:ext>
            </a:extLst>
          </p:cNvPr>
          <p:cNvSpPr>
            <a:spLocks noGrp="1"/>
          </p:cNvSpPr>
          <p:nvPr>
            <p:ph idx="1"/>
          </p:nvPr>
        </p:nvSpPr>
        <p:spPr>
          <a:xfrm>
            <a:off x="1129792" y="1412240"/>
            <a:ext cx="8595360" cy="4767897"/>
          </a:xfrm>
        </p:spPr>
        <p:txBody>
          <a:bodyPr>
            <a:noAutofit/>
          </a:bodyPr>
          <a:lstStyle/>
          <a:p>
            <a:r>
              <a:rPr lang="en-US" sz="2400" dirty="0"/>
              <a:t>What if everyone were constantly taking photos of people </a:t>
            </a:r>
          </a:p>
          <a:p>
            <a:r>
              <a:rPr lang="en-US" sz="2400" dirty="0"/>
              <a:t>they encountered and posting them? </a:t>
            </a:r>
          </a:p>
          <a:p>
            <a:r>
              <a:rPr lang="en-US" sz="2400" dirty="0"/>
              <a:t> Positive consequences </a:t>
            </a:r>
          </a:p>
          <a:p>
            <a:pPr marL="548640" lvl="2" indent="0">
              <a:buNone/>
            </a:pPr>
            <a:r>
              <a:rPr lang="en-US" sz="2200" dirty="0"/>
              <a:t>– People would have more opportunities to keep up with what their friends are doing </a:t>
            </a:r>
          </a:p>
          <a:p>
            <a:pPr marL="548640" lvl="2" indent="0">
              <a:buNone/>
            </a:pPr>
            <a:r>
              <a:rPr lang="en-US" sz="2200" dirty="0"/>
              <a:t>– People might be more reluctant to engage in illegal activities </a:t>
            </a:r>
          </a:p>
          <a:p>
            <a:r>
              <a:rPr lang="en-US" sz="2400" dirty="0"/>
              <a:t> Negative consequences </a:t>
            </a:r>
          </a:p>
          <a:p>
            <a:pPr marL="548640" lvl="2" indent="0">
              <a:buNone/>
            </a:pPr>
            <a:r>
              <a:rPr lang="en-US" sz="2200" dirty="0"/>
              <a:t>– People would become more self-conscious </a:t>
            </a:r>
          </a:p>
          <a:p>
            <a:pPr marL="548640" lvl="2" indent="0">
              <a:buNone/>
            </a:pPr>
            <a:r>
              <a:rPr lang="en-US" sz="2200" dirty="0"/>
              <a:t>– Some relationships would be harmed </a:t>
            </a:r>
          </a:p>
          <a:p>
            <a:r>
              <a:rPr lang="en-US" sz="2400" dirty="0"/>
              <a:t> Negative consequences more weighty than positive consequences, so Kate’s action was bad</a:t>
            </a:r>
          </a:p>
        </p:txBody>
      </p:sp>
    </p:spTree>
    <p:extLst>
      <p:ext uri="{BB962C8B-B14F-4D97-AF65-F5344CB8AC3E}">
        <p14:creationId xmlns:p14="http://schemas.microsoft.com/office/powerpoint/2010/main" val="3817357934"/>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BD8CD4C-CD21-7D66-A2F9-9EBAB60F7B75}"/>
              </a:ext>
            </a:extLst>
          </p:cNvPr>
          <p:cNvSpPr>
            <a:spLocks noGrp="1"/>
          </p:cNvSpPr>
          <p:nvPr>
            <p:ph type="title"/>
          </p:nvPr>
        </p:nvSpPr>
        <p:spPr>
          <a:xfrm>
            <a:off x="703072" y="416560"/>
            <a:ext cx="9692640" cy="1026160"/>
          </a:xfrm>
        </p:spPr>
        <p:txBody>
          <a:bodyPr/>
          <a:lstStyle/>
          <a:p>
            <a:r>
              <a:rPr lang="en-US" dirty="0"/>
              <a:t>Virtue Ethics Analysis</a:t>
            </a:r>
          </a:p>
        </p:txBody>
      </p:sp>
      <p:sp>
        <p:nvSpPr>
          <p:cNvPr id="3" name="Content Placeholder 2">
            <a:extLst>
              <a:ext uri="{FF2B5EF4-FFF2-40B4-BE49-F238E27FC236}">
                <a16:creationId xmlns:a16="http://schemas.microsoft.com/office/drawing/2014/main" id="{2A4BA2B0-CEB5-342B-F3D1-4174DECBEABB}"/>
              </a:ext>
            </a:extLst>
          </p:cNvPr>
          <p:cNvSpPr>
            <a:spLocks noGrp="1"/>
          </p:cNvSpPr>
          <p:nvPr>
            <p:ph idx="1"/>
          </p:nvPr>
        </p:nvSpPr>
        <p:spPr>
          <a:xfrm>
            <a:off x="1261872" y="1686560"/>
            <a:ext cx="8595360" cy="4493577"/>
          </a:xfrm>
        </p:spPr>
        <p:txBody>
          <a:bodyPr>
            <a:normAutofit/>
          </a:bodyPr>
          <a:lstStyle/>
          <a:p>
            <a:r>
              <a:rPr lang="en-US" sz="2400" dirty="0"/>
              <a:t>True friends trust each other and seek each other’s good </a:t>
            </a:r>
          </a:p>
          <a:p>
            <a:r>
              <a:rPr lang="en-US" sz="2400" dirty="0"/>
              <a:t>Reciprocity and equality are fundamental elements of friendship </a:t>
            </a:r>
          </a:p>
          <a:p>
            <a:r>
              <a:rPr lang="en-US" sz="2400" dirty="0"/>
              <a:t>Lack of reciprocity: Kate took something from Jerry without giving him anything in return </a:t>
            </a:r>
          </a:p>
          <a:p>
            <a:r>
              <a:rPr lang="en-US" sz="2400" dirty="0"/>
              <a:t>Lack of equality: She put her own interest above that of Jerry </a:t>
            </a:r>
          </a:p>
          <a:p>
            <a:r>
              <a:rPr lang="en-US" sz="2400" dirty="0"/>
              <a:t>Kate’s actions did not seem to be characteristic of a good friend</a:t>
            </a:r>
          </a:p>
        </p:txBody>
      </p:sp>
    </p:spTree>
    <p:extLst>
      <p:ext uri="{BB962C8B-B14F-4D97-AF65-F5344CB8AC3E}">
        <p14:creationId xmlns:p14="http://schemas.microsoft.com/office/powerpoint/2010/main" val="3667511302"/>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ECB699A-BCFF-7166-099D-A151A1F71C90}"/>
              </a:ext>
            </a:extLst>
          </p:cNvPr>
          <p:cNvSpPr>
            <a:spLocks noGrp="1"/>
          </p:cNvSpPr>
          <p:nvPr>
            <p:ph type="title"/>
          </p:nvPr>
        </p:nvSpPr>
        <p:spPr>
          <a:xfrm>
            <a:off x="703072" y="416560"/>
            <a:ext cx="9692640" cy="1137920"/>
          </a:xfrm>
        </p:spPr>
        <p:txBody>
          <a:bodyPr/>
          <a:lstStyle/>
          <a:p>
            <a:r>
              <a:rPr lang="en-US" dirty="0"/>
              <a:t>Summary</a:t>
            </a:r>
          </a:p>
        </p:txBody>
      </p:sp>
      <p:sp>
        <p:nvSpPr>
          <p:cNvPr id="3" name="Content Placeholder 2">
            <a:extLst>
              <a:ext uri="{FF2B5EF4-FFF2-40B4-BE49-F238E27FC236}">
                <a16:creationId xmlns:a16="http://schemas.microsoft.com/office/drawing/2014/main" id="{8D7AE852-9A06-86AE-3338-E4E8DF5ECDAD}"/>
              </a:ext>
            </a:extLst>
          </p:cNvPr>
          <p:cNvSpPr>
            <a:spLocks noGrp="1"/>
          </p:cNvSpPr>
          <p:nvPr>
            <p:ph idx="1"/>
          </p:nvPr>
        </p:nvSpPr>
        <p:spPr/>
        <p:txBody>
          <a:bodyPr>
            <a:normAutofit/>
          </a:bodyPr>
          <a:lstStyle/>
          <a:p>
            <a:r>
              <a:rPr lang="en-US" sz="2400" dirty="0"/>
              <a:t>Four out of five analyses: Wrong for Kate to post the photo without asking Jerry’s permission </a:t>
            </a:r>
          </a:p>
          <a:p>
            <a:r>
              <a:rPr lang="en-US" sz="2400" dirty="0"/>
              <a:t>Kate figured it would be better to beg for forgiveness than ask for permission, but she cut Jerry out of a decision that affected both of them, and that’s no way to treat a friend </a:t>
            </a:r>
          </a:p>
          <a:p>
            <a:r>
              <a:rPr lang="en-US" sz="2400" dirty="0"/>
              <a:t>Kate should have tried to get Jerry’s consent</a:t>
            </a:r>
          </a:p>
        </p:txBody>
      </p:sp>
    </p:spTree>
    <p:extLst>
      <p:ext uri="{BB962C8B-B14F-4D97-AF65-F5344CB8AC3E}">
        <p14:creationId xmlns:p14="http://schemas.microsoft.com/office/powerpoint/2010/main" val="2324616470"/>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9AE25CC-B2C8-F56F-387F-F8AF33691D2E}"/>
              </a:ext>
            </a:extLst>
          </p:cNvPr>
          <p:cNvSpPr>
            <a:spLocks noGrp="1"/>
          </p:cNvSpPr>
          <p:nvPr>
            <p:ph type="title"/>
          </p:nvPr>
        </p:nvSpPr>
        <p:spPr>
          <a:xfrm>
            <a:off x="824992" y="2103438"/>
            <a:ext cx="9692640" cy="1325562"/>
          </a:xfrm>
        </p:spPr>
        <p:txBody>
          <a:bodyPr/>
          <a:lstStyle/>
          <a:p>
            <a:r>
              <a:rPr lang="en-US" dirty="0"/>
              <a:t>Children and Inappropriate Content</a:t>
            </a:r>
          </a:p>
        </p:txBody>
      </p:sp>
    </p:spTree>
    <p:extLst>
      <p:ext uri="{BB962C8B-B14F-4D97-AF65-F5344CB8AC3E}">
        <p14:creationId xmlns:p14="http://schemas.microsoft.com/office/powerpoint/2010/main" val="2605982627"/>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7C2158E-2288-4AB4-0A49-4E292ED75473}"/>
              </a:ext>
            </a:extLst>
          </p:cNvPr>
          <p:cNvSpPr>
            <a:spLocks noGrp="1"/>
          </p:cNvSpPr>
          <p:nvPr>
            <p:ph type="title"/>
          </p:nvPr>
        </p:nvSpPr>
        <p:spPr>
          <a:xfrm>
            <a:off x="784352" y="284480"/>
            <a:ext cx="9692640" cy="1117600"/>
          </a:xfrm>
        </p:spPr>
        <p:txBody>
          <a:bodyPr/>
          <a:lstStyle/>
          <a:p>
            <a:r>
              <a:rPr lang="en-US" dirty="0"/>
              <a:t>Web Filters</a:t>
            </a:r>
          </a:p>
        </p:txBody>
      </p:sp>
      <p:sp>
        <p:nvSpPr>
          <p:cNvPr id="3" name="Content Placeholder 2">
            <a:extLst>
              <a:ext uri="{FF2B5EF4-FFF2-40B4-BE49-F238E27FC236}">
                <a16:creationId xmlns:a16="http://schemas.microsoft.com/office/drawing/2014/main" id="{A48C1B43-4690-A368-2397-091A46C7E6B7}"/>
              </a:ext>
            </a:extLst>
          </p:cNvPr>
          <p:cNvSpPr>
            <a:spLocks noGrp="1"/>
          </p:cNvSpPr>
          <p:nvPr>
            <p:ph idx="1"/>
          </p:nvPr>
        </p:nvSpPr>
        <p:spPr/>
        <p:txBody>
          <a:bodyPr>
            <a:normAutofit/>
          </a:bodyPr>
          <a:lstStyle/>
          <a:p>
            <a:r>
              <a:rPr lang="en-US" sz="2400" dirty="0"/>
              <a:t>Web filter: Software that prevents display of certain Web pages </a:t>
            </a:r>
          </a:p>
          <a:p>
            <a:pPr marL="274320" lvl="1" indent="0">
              <a:buNone/>
            </a:pPr>
            <a:r>
              <a:rPr lang="en-US" sz="2400" dirty="0"/>
              <a:t>– May be installed on an individual PC</a:t>
            </a:r>
          </a:p>
          <a:p>
            <a:pPr marL="274320" lvl="1" indent="0">
              <a:buNone/>
            </a:pPr>
            <a:r>
              <a:rPr lang="en-US" sz="2400" dirty="0"/>
              <a:t>– ISP may provide service for customers</a:t>
            </a:r>
          </a:p>
          <a:p>
            <a:r>
              <a:rPr lang="en-US" sz="2400" dirty="0"/>
              <a:t>Methodologies </a:t>
            </a:r>
          </a:p>
          <a:p>
            <a:pPr marL="274320" lvl="1" indent="0">
              <a:buNone/>
            </a:pPr>
            <a:r>
              <a:rPr lang="en-US" sz="2400" dirty="0"/>
              <a:t>– Maintain “black list” of objectionable sites</a:t>
            </a:r>
          </a:p>
          <a:p>
            <a:pPr marL="274320" lvl="1" indent="0">
              <a:buNone/>
            </a:pPr>
            <a:r>
              <a:rPr lang="en-US" sz="2400" dirty="0"/>
              <a:t>– Examine content for objectionable words / phrases</a:t>
            </a:r>
          </a:p>
        </p:txBody>
      </p:sp>
    </p:spTree>
    <p:extLst>
      <p:ext uri="{BB962C8B-B14F-4D97-AF65-F5344CB8AC3E}">
        <p14:creationId xmlns:p14="http://schemas.microsoft.com/office/powerpoint/2010/main" val="124347432"/>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a:extLst>
              <a:ext uri="{FF2B5EF4-FFF2-40B4-BE49-F238E27FC236}">
                <a16:creationId xmlns:a16="http://schemas.microsoft.com/office/drawing/2014/main" id="{05E8A473-E7C3-1814-ADDB-B06888A4E2C0}"/>
              </a:ext>
            </a:extLst>
          </p:cNvPr>
          <p:cNvPicPr>
            <a:picLocks noGrp="1" noChangeAspect="1"/>
          </p:cNvPicPr>
          <p:nvPr>
            <p:ph idx="1"/>
          </p:nvPr>
        </p:nvPicPr>
        <p:blipFill>
          <a:blip r:embed="rId2"/>
          <a:stretch>
            <a:fillRect/>
          </a:stretch>
        </p:blipFill>
        <p:spPr>
          <a:xfrm>
            <a:off x="934721" y="1386849"/>
            <a:ext cx="9225280" cy="4295983"/>
          </a:xfrm>
        </p:spPr>
      </p:pic>
    </p:spTree>
    <p:extLst>
      <p:ext uri="{BB962C8B-B14F-4D97-AF65-F5344CB8AC3E}">
        <p14:creationId xmlns:p14="http://schemas.microsoft.com/office/powerpoint/2010/main" val="1036810413"/>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5F57766-6C2A-E261-C56C-282F19EBAACD}"/>
              </a:ext>
            </a:extLst>
          </p:cNvPr>
          <p:cNvSpPr>
            <a:spLocks noGrp="1"/>
          </p:cNvSpPr>
          <p:nvPr>
            <p:ph type="title"/>
          </p:nvPr>
        </p:nvSpPr>
        <p:spPr>
          <a:xfrm>
            <a:off x="885952" y="406400"/>
            <a:ext cx="9692640" cy="1158240"/>
          </a:xfrm>
        </p:spPr>
        <p:txBody>
          <a:bodyPr/>
          <a:lstStyle/>
          <a:p>
            <a:r>
              <a:rPr lang="en-US" dirty="0"/>
              <a:t>Child Internet Protection Act</a:t>
            </a:r>
          </a:p>
        </p:txBody>
      </p:sp>
      <p:sp>
        <p:nvSpPr>
          <p:cNvPr id="3" name="Content Placeholder 2">
            <a:extLst>
              <a:ext uri="{FF2B5EF4-FFF2-40B4-BE49-F238E27FC236}">
                <a16:creationId xmlns:a16="http://schemas.microsoft.com/office/drawing/2014/main" id="{969D8384-F105-C85D-22DF-1DD6B4D6C6CD}"/>
              </a:ext>
            </a:extLst>
          </p:cNvPr>
          <p:cNvSpPr>
            <a:spLocks noGrp="1"/>
          </p:cNvSpPr>
          <p:nvPr>
            <p:ph idx="1"/>
          </p:nvPr>
        </p:nvSpPr>
        <p:spPr>
          <a:xfrm>
            <a:off x="1261872" y="2032000"/>
            <a:ext cx="8595360" cy="4148137"/>
          </a:xfrm>
        </p:spPr>
        <p:txBody>
          <a:bodyPr>
            <a:normAutofit/>
          </a:bodyPr>
          <a:lstStyle/>
          <a:p>
            <a:r>
              <a:rPr lang="en-US" sz="2400" dirty="0"/>
              <a:t>Libraries receiving federal networking funds must filter pages containing obscenity or child pornography </a:t>
            </a:r>
          </a:p>
          <a:p>
            <a:r>
              <a:rPr lang="en-US" sz="2400" dirty="0"/>
              <a:t> U.S. Supreme Court ruled CIPA did not violate 1st Amendment guarantees (6-3 decision in June 2003)</a:t>
            </a:r>
          </a:p>
        </p:txBody>
      </p:sp>
    </p:spTree>
    <p:extLst>
      <p:ext uri="{BB962C8B-B14F-4D97-AF65-F5344CB8AC3E}">
        <p14:creationId xmlns:p14="http://schemas.microsoft.com/office/powerpoint/2010/main" val="1323985573"/>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42842AC-9443-D68F-0DF4-D9A506CE1B79}"/>
              </a:ext>
            </a:extLst>
          </p:cNvPr>
          <p:cNvSpPr>
            <a:spLocks noGrp="1"/>
          </p:cNvSpPr>
          <p:nvPr>
            <p:ph type="title"/>
          </p:nvPr>
        </p:nvSpPr>
        <p:spPr>
          <a:xfrm>
            <a:off x="835152" y="335280"/>
            <a:ext cx="9692640" cy="1219200"/>
          </a:xfrm>
        </p:spPr>
        <p:txBody>
          <a:bodyPr/>
          <a:lstStyle/>
          <a:p>
            <a:r>
              <a:rPr lang="en-US" dirty="0"/>
              <a:t>Ethical Evaluations of CIPA</a:t>
            </a:r>
          </a:p>
        </p:txBody>
      </p:sp>
      <p:sp>
        <p:nvSpPr>
          <p:cNvPr id="3" name="Content Placeholder 2">
            <a:extLst>
              <a:ext uri="{FF2B5EF4-FFF2-40B4-BE49-F238E27FC236}">
                <a16:creationId xmlns:a16="http://schemas.microsoft.com/office/drawing/2014/main" id="{902446A1-8FEA-C58E-CE31-C51F8B30EA96}"/>
              </a:ext>
            </a:extLst>
          </p:cNvPr>
          <p:cNvSpPr>
            <a:spLocks noGrp="1"/>
          </p:cNvSpPr>
          <p:nvPr>
            <p:ph idx="1"/>
          </p:nvPr>
        </p:nvSpPr>
        <p:spPr>
          <a:xfrm>
            <a:off x="1261872" y="1930400"/>
            <a:ext cx="8595360" cy="4249737"/>
          </a:xfrm>
        </p:spPr>
        <p:txBody>
          <a:bodyPr>
            <a:normAutofit/>
          </a:bodyPr>
          <a:lstStyle/>
          <a:p>
            <a:r>
              <a:rPr lang="en-US" sz="2400" dirty="0"/>
              <a:t>Kantian evaluation: CIPA is wrong </a:t>
            </a:r>
          </a:p>
          <a:p>
            <a:r>
              <a:rPr lang="en-US" sz="2400" dirty="0"/>
              <a:t>Act utilitarian evaluation: depends on how benefits and harms are weighed </a:t>
            </a:r>
          </a:p>
          <a:p>
            <a:r>
              <a:rPr lang="en-US" sz="2400" dirty="0"/>
              <a:t>Social contract theory: freedom of conscience should be given precedence </a:t>
            </a:r>
          </a:p>
        </p:txBody>
      </p:sp>
    </p:spTree>
    <p:extLst>
      <p:ext uri="{BB962C8B-B14F-4D97-AF65-F5344CB8AC3E}">
        <p14:creationId xmlns:p14="http://schemas.microsoft.com/office/powerpoint/2010/main" val="1196201749"/>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6850E85-2D20-CCFE-B4C4-8D8567E5FD73}"/>
              </a:ext>
            </a:extLst>
          </p:cNvPr>
          <p:cNvSpPr>
            <a:spLocks noGrp="1"/>
          </p:cNvSpPr>
          <p:nvPr>
            <p:ph type="title"/>
          </p:nvPr>
        </p:nvSpPr>
        <p:spPr>
          <a:xfrm>
            <a:off x="896112" y="335280"/>
            <a:ext cx="9692640" cy="1087120"/>
          </a:xfrm>
        </p:spPr>
        <p:txBody>
          <a:bodyPr/>
          <a:lstStyle/>
          <a:p>
            <a:r>
              <a:rPr lang="en-US" dirty="0"/>
              <a:t>Sexting</a:t>
            </a:r>
          </a:p>
        </p:txBody>
      </p:sp>
      <p:sp>
        <p:nvSpPr>
          <p:cNvPr id="3" name="Content Placeholder 2">
            <a:extLst>
              <a:ext uri="{FF2B5EF4-FFF2-40B4-BE49-F238E27FC236}">
                <a16:creationId xmlns:a16="http://schemas.microsoft.com/office/drawing/2014/main" id="{006E517C-892A-B55C-EEBA-181E3E5D5C3C}"/>
              </a:ext>
            </a:extLst>
          </p:cNvPr>
          <p:cNvSpPr>
            <a:spLocks noGrp="1"/>
          </p:cNvSpPr>
          <p:nvPr>
            <p:ph idx="1"/>
          </p:nvPr>
        </p:nvSpPr>
        <p:spPr/>
        <p:txBody>
          <a:bodyPr>
            <a:normAutofit/>
          </a:bodyPr>
          <a:lstStyle/>
          <a:p>
            <a:r>
              <a:rPr lang="en-US" sz="2400" dirty="0"/>
              <a:t>Definition: sexually suggestive text messages or emails with nude or nearly nude photographs </a:t>
            </a:r>
          </a:p>
          <a:p>
            <a:r>
              <a:rPr lang="en-US" sz="2400" dirty="0"/>
              <a:t> In a 2009 survey, 9% of U.S. teenagers admitted to sending a sext, 17% admitted to receiving a sext </a:t>
            </a:r>
          </a:p>
          <a:p>
            <a:r>
              <a:rPr lang="en-US" sz="2400" dirty="0"/>
              <a:t>Case of Jesse Logan </a:t>
            </a:r>
          </a:p>
          <a:p>
            <a:r>
              <a:rPr lang="en-US" sz="2400" dirty="0"/>
              <a:t>Case of Phillip Alpert </a:t>
            </a:r>
          </a:p>
          <a:p>
            <a:r>
              <a:rPr lang="en-US" sz="2400" dirty="0"/>
              <a:t>Case of Ting-Yi </a:t>
            </a:r>
            <a:r>
              <a:rPr lang="en-US" sz="2400" dirty="0" err="1"/>
              <a:t>Oei</a:t>
            </a:r>
            <a:endParaRPr lang="en-US" sz="2400" dirty="0"/>
          </a:p>
        </p:txBody>
      </p:sp>
    </p:spTree>
    <p:extLst>
      <p:ext uri="{BB962C8B-B14F-4D97-AF65-F5344CB8AC3E}">
        <p14:creationId xmlns:p14="http://schemas.microsoft.com/office/powerpoint/2010/main" val="2213954873"/>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659F832-DB9F-E565-0F94-B6AC91EDEA91}"/>
              </a:ext>
            </a:extLst>
          </p:cNvPr>
          <p:cNvSpPr>
            <a:spLocks noGrp="1"/>
          </p:cNvSpPr>
          <p:nvPr>
            <p:ph type="title"/>
          </p:nvPr>
        </p:nvSpPr>
        <p:spPr>
          <a:xfrm>
            <a:off x="784352" y="2306320"/>
            <a:ext cx="9692640" cy="1325562"/>
          </a:xfrm>
        </p:spPr>
        <p:txBody>
          <a:bodyPr/>
          <a:lstStyle/>
          <a:p>
            <a:pPr algn="ctr"/>
            <a:r>
              <a:rPr lang="en-US" dirty="0"/>
              <a:t>Breaking Trust</a:t>
            </a:r>
          </a:p>
        </p:txBody>
      </p:sp>
    </p:spTree>
    <p:extLst>
      <p:ext uri="{BB962C8B-B14F-4D97-AF65-F5344CB8AC3E}">
        <p14:creationId xmlns:p14="http://schemas.microsoft.com/office/powerpoint/2010/main" val="1962504707"/>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B2831FA-B18B-3B0C-6521-C79D0CCC82B7}"/>
              </a:ext>
            </a:extLst>
          </p:cNvPr>
          <p:cNvSpPr>
            <a:spLocks noGrp="1"/>
          </p:cNvSpPr>
          <p:nvPr>
            <p:ph type="title"/>
          </p:nvPr>
        </p:nvSpPr>
        <p:spPr>
          <a:xfrm>
            <a:off x="885952" y="335280"/>
            <a:ext cx="9692640" cy="1137920"/>
          </a:xfrm>
        </p:spPr>
        <p:txBody>
          <a:bodyPr/>
          <a:lstStyle/>
          <a:p>
            <a:r>
              <a:rPr lang="en-US" dirty="0"/>
              <a:t>Identity Theft (1/2)</a:t>
            </a:r>
          </a:p>
        </p:txBody>
      </p:sp>
      <p:sp>
        <p:nvSpPr>
          <p:cNvPr id="3" name="Content Placeholder 2">
            <a:extLst>
              <a:ext uri="{FF2B5EF4-FFF2-40B4-BE49-F238E27FC236}">
                <a16:creationId xmlns:a16="http://schemas.microsoft.com/office/drawing/2014/main" id="{CADA515A-5A08-61F2-9E8C-6460E51A1D9B}"/>
              </a:ext>
            </a:extLst>
          </p:cNvPr>
          <p:cNvSpPr>
            <a:spLocks noGrp="1"/>
          </p:cNvSpPr>
          <p:nvPr>
            <p:ph idx="1"/>
          </p:nvPr>
        </p:nvSpPr>
        <p:spPr/>
        <p:txBody>
          <a:bodyPr>
            <a:normAutofit/>
          </a:bodyPr>
          <a:lstStyle/>
          <a:p>
            <a:r>
              <a:rPr lang="en-US" sz="2400" dirty="0"/>
              <a:t>Identity theft: When a person uses another person’s electronic identity </a:t>
            </a:r>
          </a:p>
          <a:p>
            <a:r>
              <a:rPr lang="en-US" sz="2400" dirty="0"/>
              <a:t>Leading form of identity theft is credit card fraud </a:t>
            </a:r>
          </a:p>
          <a:p>
            <a:r>
              <a:rPr lang="en-US" sz="2400" dirty="0"/>
              <a:t>Financial institutions contribute to problem by making it easy to open new accounts </a:t>
            </a:r>
          </a:p>
          <a:p>
            <a:r>
              <a:rPr lang="en-US" sz="2400" dirty="0"/>
              <a:t>About 8 million cases of identity theft in U.S. in 2010 </a:t>
            </a:r>
          </a:p>
          <a:p>
            <a:r>
              <a:rPr lang="en-US" sz="2400" dirty="0"/>
              <a:t>Consumer’s liability for credit card losses limited to $50</a:t>
            </a:r>
          </a:p>
        </p:txBody>
      </p:sp>
    </p:spTree>
    <p:extLst>
      <p:ext uri="{BB962C8B-B14F-4D97-AF65-F5344CB8AC3E}">
        <p14:creationId xmlns:p14="http://schemas.microsoft.com/office/powerpoint/2010/main" val="998137023"/>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286DDBF-4E49-CDC6-AE6C-EFDEAC3527A3}"/>
              </a:ext>
            </a:extLst>
          </p:cNvPr>
          <p:cNvSpPr>
            <a:spLocks noGrp="1"/>
          </p:cNvSpPr>
          <p:nvPr>
            <p:ph type="title"/>
          </p:nvPr>
        </p:nvSpPr>
        <p:spPr>
          <a:xfrm>
            <a:off x="824992" y="375920"/>
            <a:ext cx="9692640" cy="1229360"/>
          </a:xfrm>
        </p:spPr>
        <p:txBody>
          <a:bodyPr/>
          <a:lstStyle/>
          <a:p>
            <a:r>
              <a:rPr lang="en-US" dirty="0"/>
              <a:t>Identity Theft (2/2)</a:t>
            </a:r>
          </a:p>
        </p:txBody>
      </p:sp>
      <p:sp>
        <p:nvSpPr>
          <p:cNvPr id="3" name="Content Placeholder 2">
            <a:extLst>
              <a:ext uri="{FF2B5EF4-FFF2-40B4-BE49-F238E27FC236}">
                <a16:creationId xmlns:a16="http://schemas.microsoft.com/office/drawing/2014/main" id="{9A262ED6-ABC2-EBC9-6B3E-970ED741F5DB}"/>
              </a:ext>
            </a:extLst>
          </p:cNvPr>
          <p:cNvSpPr>
            <a:spLocks noGrp="1"/>
          </p:cNvSpPr>
          <p:nvPr>
            <p:ph idx="1"/>
          </p:nvPr>
        </p:nvSpPr>
        <p:spPr/>
        <p:txBody>
          <a:bodyPr>
            <a:normAutofit/>
          </a:bodyPr>
          <a:lstStyle/>
          <a:p>
            <a:r>
              <a:rPr lang="en-US" sz="2400" dirty="0"/>
              <a:t>Nearly half of cases from lost credit card, checkbook, etc. </a:t>
            </a:r>
          </a:p>
          <a:p>
            <a:r>
              <a:rPr lang="en-US" sz="2400" dirty="0"/>
              <a:t>In 20% of cases, credit card number stolen at time of making purchase (skimmers) </a:t>
            </a:r>
          </a:p>
          <a:p>
            <a:r>
              <a:rPr lang="en-US" sz="2400" dirty="0"/>
              <a:t>About 1 million cases of identity theft annually in United States from online activities </a:t>
            </a:r>
          </a:p>
          <a:p>
            <a:r>
              <a:rPr lang="en-US" sz="2400" dirty="0"/>
              <a:t> Phishing: Use of email to attempt to deceive people into revealing personal information </a:t>
            </a:r>
          </a:p>
          <a:p>
            <a:r>
              <a:rPr lang="en-US" sz="2400" dirty="0"/>
              <a:t>Identity theft a federal crime, but only 1 in 700 cases results in an arrest </a:t>
            </a:r>
          </a:p>
        </p:txBody>
      </p:sp>
    </p:spTree>
    <p:extLst>
      <p:ext uri="{BB962C8B-B14F-4D97-AF65-F5344CB8AC3E}">
        <p14:creationId xmlns:p14="http://schemas.microsoft.com/office/powerpoint/2010/main" val="2453920624"/>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8648387-A617-C221-B8F1-742993A65FBC}"/>
              </a:ext>
            </a:extLst>
          </p:cNvPr>
          <p:cNvSpPr>
            <a:spLocks noGrp="1"/>
          </p:cNvSpPr>
          <p:nvPr>
            <p:ph type="title"/>
          </p:nvPr>
        </p:nvSpPr>
        <p:spPr>
          <a:xfrm>
            <a:off x="743712" y="375920"/>
            <a:ext cx="9692640" cy="1219200"/>
          </a:xfrm>
        </p:spPr>
        <p:txBody>
          <a:bodyPr/>
          <a:lstStyle/>
          <a:p>
            <a:r>
              <a:rPr lang="en-US" dirty="0"/>
              <a:t>Chat-Room Predators</a:t>
            </a:r>
          </a:p>
        </p:txBody>
      </p:sp>
      <p:sp>
        <p:nvSpPr>
          <p:cNvPr id="3" name="Content Placeholder 2">
            <a:extLst>
              <a:ext uri="{FF2B5EF4-FFF2-40B4-BE49-F238E27FC236}">
                <a16:creationId xmlns:a16="http://schemas.microsoft.com/office/drawing/2014/main" id="{3B2FCDFE-E23C-E62E-B42C-9F0F39425A5B}"/>
              </a:ext>
            </a:extLst>
          </p:cNvPr>
          <p:cNvSpPr>
            <a:spLocks noGrp="1"/>
          </p:cNvSpPr>
          <p:nvPr>
            <p:ph idx="1"/>
          </p:nvPr>
        </p:nvSpPr>
        <p:spPr/>
        <p:txBody>
          <a:bodyPr>
            <a:normAutofit/>
          </a:bodyPr>
          <a:lstStyle/>
          <a:p>
            <a:r>
              <a:rPr lang="en-US" sz="2400" dirty="0"/>
              <a:t>Chat room: Supports real-time discussions among many people connected to network </a:t>
            </a:r>
          </a:p>
          <a:p>
            <a:r>
              <a:rPr lang="en-US" sz="2400" dirty="0"/>
              <a:t>Instant messaging and chat rooms replacing telephone for many people</a:t>
            </a:r>
          </a:p>
          <a:p>
            <a:r>
              <a:rPr lang="en-US" sz="2400" dirty="0"/>
              <a:t> Some pedophiles meeting children through chat rooms </a:t>
            </a:r>
          </a:p>
          <a:p>
            <a:r>
              <a:rPr lang="en-US" sz="2400" dirty="0"/>
              <a:t>Police countering with “sting” operations </a:t>
            </a:r>
          </a:p>
        </p:txBody>
      </p:sp>
    </p:spTree>
    <p:extLst>
      <p:ext uri="{BB962C8B-B14F-4D97-AF65-F5344CB8AC3E}">
        <p14:creationId xmlns:p14="http://schemas.microsoft.com/office/powerpoint/2010/main" val="3007299126"/>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3BA550B-DD87-57B5-F97F-3459194318CE}"/>
              </a:ext>
            </a:extLst>
          </p:cNvPr>
          <p:cNvSpPr>
            <a:spLocks noGrp="1"/>
          </p:cNvSpPr>
          <p:nvPr>
            <p:ph type="title"/>
          </p:nvPr>
        </p:nvSpPr>
        <p:spPr>
          <a:xfrm>
            <a:off x="530352" y="325120"/>
            <a:ext cx="9692640" cy="1325562"/>
          </a:xfrm>
        </p:spPr>
        <p:txBody>
          <a:bodyPr/>
          <a:lstStyle/>
          <a:p>
            <a:r>
              <a:rPr lang="en-US" dirty="0"/>
              <a:t>Ethical Evaluations of “Stings”</a:t>
            </a:r>
          </a:p>
        </p:txBody>
      </p:sp>
      <p:sp>
        <p:nvSpPr>
          <p:cNvPr id="3" name="Content Placeholder 2">
            <a:extLst>
              <a:ext uri="{FF2B5EF4-FFF2-40B4-BE49-F238E27FC236}">
                <a16:creationId xmlns:a16="http://schemas.microsoft.com/office/drawing/2014/main" id="{CAC91ED3-7C71-363B-A0D1-7CCB3991C119}"/>
              </a:ext>
            </a:extLst>
          </p:cNvPr>
          <p:cNvSpPr>
            <a:spLocks noGrp="1"/>
          </p:cNvSpPr>
          <p:nvPr>
            <p:ph idx="1"/>
          </p:nvPr>
        </p:nvSpPr>
        <p:spPr>
          <a:xfrm>
            <a:off x="1261872" y="2164080"/>
            <a:ext cx="8595360" cy="4016057"/>
          </a:xfrm>
        </p:spPr>
        <p:txBody>
          <a:bodyPr>
            <a:normAutofit/>
          </a:bodyPr>
          <a:lstStyle/>
          <a:p>
            <a:r>
              <a:rPr lang="en-US" sz="2400" dirty="0"/>
              <a:t>Utilitarian evaluation </a:t>
            </a:r>
          </a:p>
          <a:p>
            <a:r>
              <a:rPr lang="en-US" sz="2400" dirty="0"/>
              <a:t>Kantian evaluation </a:t>
            </a:r>
          </a:p>
          <a:p>
            <a:r>
              <a:rPr lang="en-US" sz="2400" dirty="0"/>
              <a:t>Social contract theory evaluation</a:t>
            </a:r>
          </a:p>
        </p:txBody>
      </p:sp>
    </p:spTree>
    <p:extLst>
      <p:ext uri="{BB962C8B-B14F-4D97-AF65-F5344CB8AC3E}">
        <p14:creationId xmlns:p14="http://schemas.microsoft.com/office/powerpoint/2010/main" val="1788866714"/>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51E9802-DB55-E1A5-2E94-7EE1C2F31788}"/>
              </a:ext>
            </a:extLst>
          </p:cNvPr>
          <p:cNvSpPr>
            <a:spLocks noGrp="1"/>
          </p:cNvSpPr>
          <p:nvPr>
            <p:ph type="title"/>
          </p:nvPr>
        </p:nvSpPr>
        <p:spPr>
          <a:xfrm>
            <a:off x="814832" y="467360"/>
            <a:ext cx="9692640" cy="1046480"/>
          </a:xfrm>
        </p:spPr>
        <p:txBody>
          <a:bodyPr/>
          <a:lstStyle/>
          <a:p>
            <a:r>
              <a:rPr lang="en-US" dirty="0"/>
              <a:t>False Information</a:t>
            </a:r>
          </a:p>
        </p:txBody>
      </p:sp>
      <p:sp>
        <p:nvSpPr>
          <p:cNvPr id="3" name="Content Placeholder 2">
            <a:extLst>
              <a:ext uri="{FF2B5EF4-FFF2-40B4-BE49-F238E27FC236}">
                <a16:creationId xmlns:a16="http://schemas.microsoft.com/office/drawing/2014/main" id="{6E03CF57-4CC9-82F6-DB07-DEABB8F3AA29}"/>
              </a:ext>
            </a:extLst>
          </p:cNvPr>
          <p:cNvSpPr>
            <a:spLocks noGrp="1"/>
          </p:cNvSpPr>
          <p:nvPr>
            <p:ph idx="1"/>
          </p:nvPr>
        </p:nvSpPr>
        <p:spPr/>
        <p:txBody>
          <a:bodyPr>
            <a:normAutofit/>
          </a:bodyPr>
          <a:lstStyle/>
          <a:p>
            <a:r>
              <a:rPr lang="en-US" sz="2400" dirty="0"/>
              <a:t>Quality of Web-based information varies widely </a:t>
            </a:r>
          </a:p>
          <a:p>
            <a:r>
              <a:rPr lang="en-US" sz="2400" dirty="0"/>
              <a:t>Other media also have information of varying quality </a:t>
            </a:r>
          </a:p>
          <a:p>
            <a:pPr marL="274320" lvl="1" indent="0">
              <a:buNone/>
            </a:pPr>
            <a:r>
              <a:rPr lang="en-US" sz="2400" dirty="0"/>
              <a:t>– The New York Times v. The National Enquirer </a:t>
            </a:r>
          </a:p>
          <a:p>
            <a:pPr marL="274320" lvl="1" indent="0">
              <a:buNone/>
            </a:pPr>
            <a:r>
              <a:rPr lang="en-US" sz="2400" dirty="0"/>
              <a:t>– 60 Minutes v. Conspiracy Theory </a:t>
            </a:r>
          </a:p>
          <a:p>
            <a:r>
              <a:rPr lang="en-US" sz="2400" dirty="0"/>
              <a:t>Google attempts to reward quality </a:t>
            </a:r>
          </a:p>
          <a:p>
            <a:pPr marL="274320" lvl="1" indent="0">
              <a:buNone/>
            </a:pPr>
            <a:r>
              <a:rPr lang="en-US" sz="2400" dirty="0"/>
              <a:t>– Ranking uses “voting” algorithm</a:t>
            </a:r>
          </a:p>
          <a:p>
            <a:pPr marL="274320" lvl="1" indent="0">
              <a:buNone/>
            </a:pPr>
            <a:r>
              <a:rPr lang="en-US" sz="2400" dirty="0"/>
              <a:t>– If many links point to a page, Google search engine ranks that page higher </a:t>
            </a:r>
          </a:p>
        </p:txBody>
      </p:sp>
    </p:spTree>
    <p:extLst>
      <p:ext uri="{BB962C8B-B14F-4D97-AF65-F5344CB8AC3E}">
        <p14:creationId xmlns:p14="http://schemas.microsoft.com/office/powerpoint/2010/main" val="2469464432"/>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D8FBBCA-E2AB-95ED-2513-EAE19C305CE1}"/>
              </a:ext>
            </a:extLst>
          </p:cNvPr>
          <p:cNvSpPr>
            <a:spLocks noGrp="1"/>
          </p:cNvSpPr>
          <p:nvPr>
            <p:ph type="title"/>
          </p:nvPr>
        </p:nvSpPr>
        <p:spPr>
          <a:xfrm>
            <a:off x="804672" y="264160"/>
            <a:ext cx="9692640" cy="1137920"/>
          </a:xfrm>
        </p:spPr>
        <p:txBody>
          <a:bodyPr/>
          <a:lstStyle/>
          <a:p>
            <a:r>
              <a:rPr lang="en-US" dirty="0"/>
              <a:t>Cyberbullying</a:t>
            </a:r>
          </a:p>
        </p:txBody>
      </p:sp>
      <p:sp>
        <p:nvSpPr>
          <p:cNvPr id="3" name="Content Placeholder 2">
            <a:extLst>
              <a:ext uri="{FF2B5EF4-FFF2-40B4-BE49-F238E27FC236}">
                <a16:creationId xmlns:a16="http://schemas.microsoft.com/office/drawing/2014/main" id="{26EB18C7-1D1E-14E6-8E9C-E03973F85139}"/>
              </a:ext>
            </a:extLst>
          </p:cNvPr>
          <p:cNvSpPr>
            <a:spLocks noGrp="1"/>
          </p:cNvSpPr>
          <p:nvPr>
            <p:ph idx="1"/>
          </p:nvPr>
        </p:nvSpPr>
        <p:spPr/>
        <p:txBody>
          <a:bodyPr>
            <a:normAutofit/>
          </a:bodyPr>
          <a:lstStyle/>
          <a:p>
            <a:r>
              <a:rPr lang="en-US" sz="2400" dirty="0"/>
              <a:t>Cyberbullying: Use of the Internet or phone system to inflict psychological harm </a:t>
            </a:r>
          </a:p>
          <a:p>
            <a:r>
              <a:rPr lang="en-US" sz="2400" dirty="0"/>
              <a:t>In a 2009 survey, 10% admitted to cyberbullying, and 19% said they had been cyberbullied </a:t>
            </a:r>
          </a:p>
          <a:p>
            <a:r>
              <a:rPr lang="en-US" sz="2400" dirty="0"/>
              <a:t>Case of </a:t>
            </a:r>
            <a:r>
              <a:rPr lang="en-US" sz="2400" dirty="0" err="1"/>
              <a:t>Ghyslain</a:t>
            </a:r>
            <a:r>
              <a:rPr lang="en-US" sz="2400" dirty="0"/>
              <a:t> Raza </a:t>
            </a:r>
          </a:p>
          <a:p>
            <a:r>
              <a:rPr lang="en-US" sz="2400" dirty="0"/>
              <a:t>Case of Megan Meier </a:t>
            </a:r>
          </a:p>
          <a:p>
            <a:r>
              <a:rPr lang="en-US" sz="2400" dirty="0"/>
              <a:t>Megan Meier Cyberbullying Prevention Act</a:t>
            </a:r>
          </a:p>
        </p:txBody>
      </p:sp>
    </p:spTree>
    <p:extLst>
      <p:ext uri="{BB962C8B-B14F-4D97-AF65-F5344CB8AC3E}">
        <p14:creationId xmlns:p14="http://schemas.microsoft.com/office/powerpoint/2010/main" val="234692854"/>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B3B7302-F26E-4D7F-E1DC-44125F264F8F}"/>
              </a:ext>
            </a:extLst>
          </p:cNvPr>
          <p:cNvSpPr>
            <a:spLocks noGrp="1"/>
          </p:cNvSpPr>
          <p:nvPr>
            <p:ph type="title"/>
          </p:nvPr>
        </p:nvSpPr>
        <p:spPr>
          <a:xfrm>
            <a:off x="1261872" y="365760"/>
            <a:ext cx="9692640" cy="1076960"/>
          </a:xfrm>
        </p:spPr>
        <p:txBody>
          <a:bodyPr/>
          <a:lstStyle/>
          <a:p>
            <a:r>
              <a:rPr lang="en-US" dirty="0"/>
              <a:t>Internet Addiction</a:t>
            </a:r>
          </a:p>
        </p:txBody>
      </p:sp>
      <p:sp>
        <p:nvSpPr>
          <p:cNvPr id="3" name="Content Placeholder 2">
            <a:extLst>
              <a:ext uri="{FF2B5EF4-FFF2-40B4-BE49-F238E27FC236}">
                <a16:creationId xmlns:a16="http://schemas.microsoft.com/office/drawing/2014/main" id="{ECA2457F-2A25-09BE-227C-BE90D5DCC245}"/>
              </a:ext>
            </a:extLst>
          </p:cNvPr>
          <p:cNvSpPr>
            <a:spLocks noGrp="1"/>
          </p:cNvSpPr>
          <p:nvPr>
            <p:ph idx="1"/>
          </p:nvPr>
        </p:nvSpPr>
        <p:spPr/>
        <p:txBody>
          <a:bodyPr>
            <a:normAutofit/>
          </a:bodyPr>
          <a:lstStyle/>
          <a:p>
            <a:r>
              <a:rPr lang="en-US" sz="2400" dirty="0"/>
              <a:t>Some liken compulsive computer use to pathological gambling</a:t>
            </a:r>
          </a:p>
          <a:p>
            <a:r>
              <a:rPr lang="en-US" sz="2400" dirty="0"/>
              <a:t> Traditional definition of addiction: </a:t>
            </a:r>
          </a:p>
          <a:p>
            <a:pPr marL="274320" lvl="1" indent="0">
              <a:buNone/>
            </a:pPr>
            <a:r>
              <a:rPr lang="en-US" sz="2400" dirty="0"/>
              <a:t>– Compulsive use of harmful substance or drug </a:t>
            </a:r>
          </a:p>
          <a:p>
            <a:pPr marL="274320" lvl="1" indent="0">
              <a:buNone/>
            </a:pPr>
            <a:r>
              <a:rPr lang="en-US" sz="2400" dirty="0"/>
              <a:t>– Knowledge of its long-term harm </a:t>
            </a:r>
          </a:p>
          <a:p>
            <a:pPr marL="0" indent="0">
              <a:buNone/>
            </a:pPr>
            <a:r>
              <a:rPr lang="en-US" sz="2400" dirty="0"/>
              <a:t>• Some people spend 40-80 hours/week on the Internet, with individual sessions lasting up to 20 hours</a:t>
            </a:r>
          </a:p>
        </p:txBody>
      </p:sp>
    </p:spTree>
    <p:extLst>
      <p:ext uri="{BB962C8B-B14F-4D97-AF65-F5344CB8AC3E}">
        <p14:creationId xmlns:p14="http://schemas.microsoft.com/office/powerpoint/2010/main" val="725405716"/>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C966353-1595-1CF0-23A7-56EF969FF69C}"/>
              </a:ext>
            </a:extLst>
          </p:cNvPr>
          <p:cNvSpPr>
            <a:spLocks noGrp="1"/>
          </p:cNvSpPr>
          <p:nvPr>
            <p:ph type="title"/>
          </p:nvPr>
        </p:nvSpPr>
        <p:spPr>
          <a:xfrm>
            <a:off x="804672" y="325120"/>
            <a:ext cx="9692640" cy="1117600"/>
          </a:xfrm>
        </p:spPr>
        <p:txBody>
          <a:bodyPr/>
          <a:lstStyle/>
          <a:p>
            <a:r>
              <a:rPr lang="en-US" dirty="0"/>
              <a:t>Is Internet Addiction Real?</a:t>
            </a:r>
          </a:p>
        </p:txBody>
      </p:sp>
      <p:sp>
        <p:nvSpPr>
          <p:cNvPr id="3" name="Content Placeholder 2">
            <a:extLst>
              <a:ext uri="{FF2B5EF4-FFF2-40B4-BE49-F238E27FC236}">
                <a16:creationId xmlns:a16="http://schemas.microsoft.com/office/drawing/2014/main" id="{B03F5289-BD3F-6A1F-6632-71168997F6D2}"/>
              </a:ext>
            </a:extLst>
          </p:cNvPr>
          <p:cNvSpPr>
            <a:spLocks noGrp="1"/>
          </p:cNvSpPr>
          <p:nvPr>
            <p:ph idx="1"/>
          </p:nvPr>
        </p:nvSpPr>
        <p:spPr/>
        <p:txBody>
          <a:bodyPr>
            <a:normAutofit/>
          </a:bodyPr>
          <a:lstStyle/>
          <a:p>
            <a:r>
              <a:rPr lang="en-US" sz="2400" dirty="0"/>
              <a:t>Kimberly Young created test for Internet addiction </a:t>
            </a:r>
          </a:p>
          <a:p>
            <a:pPr marL="274320" lvl="1" indent="0">
              <a:buNone/>
            </a:pPr>
            <a:r>
              <a:rPr lang="en-US" sz="2400" dirty="0"/>
              <a:t>– Sample question: “Have you repeatedly made unsuccessful efforts to control, cut   back, or stop Internet use?”</a:t>
            </a:r>
          </a:p>
          <a:p>
            <a:pPr marL="274320" lvl="1" indent="0">
              <a:buNone/>
            </a:pPr>
            <a:r>
              <a:rPr lang="en-US" sz="2400" dirty="0"/>
              <a:t> – Patients who answer “yes” to at least 5 of 8 questions may be addicted </a:t>
            </a:r>
          </a:p>
          <a:p>
            <a:r>
              <a:rPr lang="en-US" sz="2400" dirty="0"/>
              <a:t>Others disagree, noting </a:t>
            </a:r>
          </a:p>
          <a:p>
            <a:pPr marL="274320" lvl="1" indent="0">
              <a:buNone/>
            </a:pPr>
            <a:r>
              <a:rPr lang="en-US" sz="2400" dirty="0"/>
              <a:t>– Computer use is generally considered a positive activity</a:t>
            </a:r>
          </a:p>
          <a:p>
            <a:pPr marL="274320" lvl="1" indent="0">
              <a:buNone/>
            </a:pPr>
            <a:r>
              <a:rPr lang="en-US" sz="2400" dirty="0"/>
              <a:t>– Excessive use does not lead to criminal activity</a:t>
            </a:r>
          </a:p>
          <a:p>
            <a:pPr marL="274320" lvl="1" indent="0">
              <a:buNone/>
            </a:pPr>
            <a:r>
              <a:rPr lang="en-US" sz="2400" dirty="0"/>
              <a:t> – More accurate to call excessive use a compulsion </a:t>
            </a:r>
          </a:p>
        </p:txBody>
      </p:sp>
    </p:spTree>
    <p:extLst>
      <p:ext uri="{BB962C8B-B14F-4D97-AF65-F5344CB8AC3E}">
        <p14:creationId xmlns:p14="http://schemas.microsoft.com/office/powerpoint/2010/main" val="2917795221"/>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657A5CD-1D2D-1C3A-DB0C-B7CA880028C5}"/>
              </a:ext>
            </a:extLst>
          </p:cNvPr>
          <p:cNvSpPr>
            <a:spLocks noGrp="1"/>
          </p:cNvSpPr>
          <p:nvPr>
            <p:ph type="title"/>
          </p:nvPr>
        </p:nvSpPr>
        <p:spPr>
          <a:xfrm>
            <a:off x="967232" y="375920"/>
            <a:ext cx="9692640" cy="1178560"/>
          </a:xfrm>
        </p:spPr>
        <p:txBody>
          <a:bodyPr/>
          <a:lstStyle/>
          <a:p>
            <a:r>
              <a:rPr lang="en-US" dirty="0"/>
              <a:t>Contributing Factors</a:t>
            </a:r>
          </a:p>
        </p:txBody>
      </p:sp>
      <p:sp>
        <p:nvSpPr>
          <p:cNvPr id="3" name="Content Placeholder 2">
            <a:extLst>
              <a:ext uri="{FF2B5EF4-FFF2-40B4-BE49-F238E27FC236}">
                <a16:creationId xmlns:a16="http://schemas.microsoft.com/office/drawing/2014/main" id="{CBE3A3FE-A872-5813-D213-A5F30E8A1E6D}"/>
              </a:ext>
            </a:extLst>
          </p:cNvPr>
          <p:cNvSpPr>
            <a:spLocks noGrp="1"/>
          </p:cNvSpPr>
          <p:nvPr>
            <p:ph idx="1"/>
          </p:nvPr>
        </p:nvSpPr>
        <p:spPr/>
        <p:txBody>
          <a:bodyPr>
            <a:noAutofit/>
          </a:bodyPr>
          <a:lstStyle/>
          <a:p>
            <a:r>
              <a:rPr lang="en-US" sz="2400" dirty="0"/>
              <a:t>Social factors </a:t>
            </a:r>
          </a:p>
          <a:p>
            <a:pPr marL="274320" lvl="1" indent="0">
              <a:buNone/>
            </a:pPr>
            <a:r>
              <a:rPr lang="en-US" sz="2400" dirty="0"/>
              <a:t> – Peer groups </a:t>
            </a:r>
          </a:p>
          <a:p>
            <a:r>
              <a:rPr lang="en-US" sz="2400" dirty="0"/>
              <a:t>Situational factors </a:t>
            </a:r>
          </a:p>
          <a:p>
            <a:pPr marL="274320" lvl="1" indent="0">
              <a:buNone/>
            </a:pPr>
            <a:r>
              <a:rPr lang="en-US" sz="2400" dirty="0"/>
              <a:t>– Stress </a:t>
            </a:r>
          </a:p>
          <a:p>
            <a:pPr marL="274320" lvl="1" indent="0">
              <a:buNone/>
            </a:pPr>
            <a:r>
              <a:rPr lang="en-US" sz="2400" dirty="0"/>
              <a:t>– Lack of social support and intimacy </a:t>
            </a:r>
          </a:p>
          <a:p>
            <a:pPr marL="274320" lvl="1" indent="0">
              <a:buNone/>
            </a:pPr>
            <a:r>
              <a:rPr lang="en-US" sz="2400" dirty="0"/>
              <a:t>– Limited opportunities for productive activity </a:t>
            </a:r>
          </a:p>
          <a:p>
            <a:pPr marL="0" indent="0">
              <a:buNone/>
            </a:pPr>
            <a:r>
              <a:rPr lang="en-US" sz="2400" dirty="0"/>
              <a:t>• Individual factors</a:t>
            </a:r>
          </a:p>
          <a:p>
            <a:pPr marL="274320" lvl="1" indent="0">
              <a:buNone/>
            </a:pPr>
            <a:r>
              <a:rPr lang="en-US" sz="2400" dirty="0"/>
              <a:t> – Tendency to pursue activities to excess</a:t>
            </a:r>
          </a:p>
          <a:p>
            <a:pPr marL="274320" lvl="1" indent="0">
              <a:buNone/>
            </a:pPr>
            <a:r>
              <a:rPr lang="en-US" sz="2400" dirty="0"/>
              <a:t> – Lack of achievement </a:t>
            </a:r>
          </a:p>
          <a:p>
            <a:pPr marL="274320" lvl="1" indent="0">
              <a:buNone/>
            </a:pPr>
            <a:r>
              <a:rPr lang="en-US" sz="2400" dirty="0"/>
              <a:t>– Fear of failure </a:t>
            </a:r>
          </a:p>
        </p:txBody>
      </p:sp>
    </p:spTree>
    <p:extLst>
      <p:ext uri="{BB962C8B-B14F-4D97-AF65-F5344CB8AC3E}">
        <p14:creationId xmlns:p14="http://schemas.microsoft.com/office/powerpoint/2010/main" val="90825623"/>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1DE98AE-3448-BA7C-B4E2-7448094370E8}"/>
              </a:ext>
            </a:extLst>
          </p:cNvPr>
          <p:cNvSpPr>
            <a:spLocks noGrp="1"/>
          </p:cNvSpPr>
          <p:nvPr>
            <p:ph type="title"/>
          </p:nvPr>
        </p:nvSpPr>
        <p:spPr>
          <a:xfrm>
            <a:off x="713232" y="335280"/>
            <a:ext cx="9692640" cy="1310640"/>
          </a:xfrm>
        </p:spPr>
        <p:txBody>
          <a:bodyPr/>
          <a:lstStyle/>
          <a:p>
            <a:r>
              <a:rPr lang="en-US" dirty="0"/>
              <a:t>Ethical Evaluation</a:t>
            </a:r>
          </a:p>
        </p:txBody>
      </p:sp>
      <p:sp>
        <p:nvSpPr>
          <p:cNvPr id="3" name="Content Placeholder 2">
            <a:extLst>
              <a:ext uri="{FF2B5EF4-FFF2-40B4-BE49-F238E27FC236}">
                <a16:creationId xmlns:a16="http://schemas.microsoft.com/office/drawing/2014/main" id="{FDEFCC52-4418-B8AB-FE33-BD8A543BB60D}"/>
              </a:ext>
            </a:extLst>
          </p:cNvPr>
          <p:cNvSpPr>
            <a:spLocks noGrp="1"/>
          </p:cNvSpPr>
          <p:nvPr>
            <p:ph idx="1"/>
          </p:nvPr>
        </p:nvSpPr>
        <p:spPr/>
        <p:txBody>
          <a:bodyPr>
            <a:normAutofit/>
          </a:bodyPr>
          <a:lstStyle/>
          <a:p>
            <a:r>
              <a:rPr lang="en-US" sz="2400" dirty="0"/>
              <a:t>Enlightenment view </a:t>
            </a:r>
          </a:p>
          <a:p>
            <a:pPr marL="274320" lvl="1" indent="0">
              <a:buNone/>
            </a:pPr>
            <a:r>
              <a:rPr lang="en-US" sz="2400" dirty="0"/>
              <a:t>– Individuals can and should govern their lives </a:t>
            </a:r>
          </a:p>
          <a:p>
            <a:pPr marL="274320" lvl="1" indent="0">
              <a:buNone/>
            </a:pPr>
            <a:r>
              <a:rPr lang="en-US" sz="2400" dirty="0"/>
              <a:t>– People are responsible for their choices </a:t>
            </a:r>
          </a:p>
          <a:p>
            <a:r>
              <a:rPr lang="en-US" sz="2400" dirty="0"/>
              <a:t>Jeffrey Reiman’s view </a:t>
            </a:r>
          </a:p>
          <a:p>
            <a:pPr marL="274320" lvl="1" indent="0">
              <a:buNone/>
            </a:pPr>
            <a:r>
              <a:rPr lang="en-US" sz="2400" dirty="0"/>
              <a:t>– Addict’s behavior makes sense if addict has no hope for a better future</a:t>
            </a:r>
          </a:p>
          <a:p>
            <a:pPr marL="274320" lvl="1" indent="0">
              <a:buNone/>
            </a:pPr>
            <a:r>
              <a:rPr lang="en-US" sz="2400" dirty="0"/>
              <a:t> – Society bears responsibility for putting people in hopeless situations</a:t>
            </a:r>
          </a:p>
        </p:txBody>
      </p:sp>
    </p:spTree>
    <p:extLst>
      <p:ext uri="{BB962C8B-B14F-4D97-AF65-F5344CB8AC3E}">
        <p14:creationId xmlns:p14="http://schemas.microsoft.com/office/powerpoint/2010/main" val="1574103503"/>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138C0A6-6C3F-F0F7-10B0-506C3D21920E}"/>
              </a:ext>
            </a:extLst>
          </p:cNvPr>
          <p:cNvSpPr>
            <a:spLocks noGrp="1"/>
          </p:cNvSpPr>
          <p:nvPr>
            <p:ph type="title"/>
          </p:nvPr>
        </p:nvSpPr>
        <p:spPr>
          <a:xfrm>
            <a:off x="987552" y="2672080"/>
            <a:ext cx="9692640" cy="1325562"/>
          </a:xfrm>
        </p:spPr>
        <p:txBody>
          <a:bodyPr/>
          <a:lstStyle/>
          <a:p>
            <a:pPr algn="ctr"/>
            <a:r>
              <a:rPr lang="en-US" dirty="0"/>
              <a:t>End of Lecture</a:t>
            </a:r>
          </a:p>
        </p:txBody>
      </p:sp>
    </p:spTree>
    <p:extLst>
      <p:ext uri="{BB962C8B-B14F-4D97-AF65-F5344CB8AC3E}">
        <p14:creationId xmlns:p14="http://schemas.microsoft.com/office/powerpoint/2010/main" val="1429924545"/>
      </p:ext>
    </p:extLst>
  </p:cSld>
  <p:clrMapOvr>
    <a:masterClrMapping/>
  </p:clrMapOvr>
</p:sld>
</file>

<file path=ppt/theme/theme1.xml><?xml version="1.0" encoding="utf-8"?>
<a:theme xmlns:a="http://schemas.openxmlformats.org/drawingml/2006/main" name="View">
  <a:themeElements>
    <a:clrScheme name="View">
      <a:dk1>
        <a:srgbClr val="000000"/>
      </a:dk1>
      <a:lt1>
        <a:srgbClr val="FFFFFF"/>
      </a:lt1>
      <a:dk2>
        <a:srgbClr val="46464A"/>
      </a:dk2>
      <a:lt2>
        <a:srgbClr val="D6D3CC"/>
      </a:lt2>
      <a:accent1>
        <a:srgbClr val="6F6F74"/>
      </a:accent1>
      <a:accent2>
        <a:srgbClr val="92A9B9"/>
      </a:accent2>
      <a:accent3>
        <a:srgbClr val="A7B789"/>
      </a:accent3>
      <a:accent4>
        <a:srgbClr val="B9A489"/>
      </a:accent4>
      <a:accent5>
        <a:srgbClr val="8D6374"/>
      </a:accent5>
      <a:accent6>
        <a:srgbClr val="9B7362"/>
      </a:accent6>
      <a:hlink>
        <a:srgbClr val="67AABF"/>
      </a:hlink>
      <a:folHlink>
        <a:srgbClr val="ABAFA5"/>
      </a:folHlink>
    </a:clrScheme>
    <a:fontScheme name="View">
      <a:majorFont>
        <a:latin typeface="Century Schoolbook" panose="02040604050505020304"/>
        <a:ea typeface=""/>
        <a:cs typeface=""/>
        <a:font script="Jpan" typeface="ＭＳ ゴシック"/>
        <a:font script="Hang" typeface="맑은 고딕"/>
        <a:font script="Hans" typeface="宋体"/>
        <a:font script="Hant" typeface="新細明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entury Schoolbook" panose="02040604050505020304"/>
        <a:ea typeface=""/>
        <a:cs typeface=""/>
        <a:font script="Jpan" typeface="ＭＳ ゴシック"/>
        <a:font script="Hang" typeface="맑은 고딕"/>
        <a:font script="Hans" typeface="宋体"/>
        <a:font script="Hant" typeface="新細明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inorFont>
    </a:fontScheme>
    <a:fmtScheme name="View">
      <a:fillStyleLst>
        <a:solidFill>
          <a:schemeClr val="phClr"/>
        </a:solidFill>
        <a:solidFill>
          <a:schemeClr val="phClr">
            <a:tint val="60000"/>
            <a:satMod val="120000"/>
          </a:schemeClr>
        </a:solidFill>
        <a:solidFill>
          <a:schemeClr val="phClr">
            <a:shade val="75000"/>
            <a:satMod val="160000"/>
          </a:schemeClr>
        </a:solidFill>
      </a:fillStyleLst>
      <a:lnStyleLst>
        <a:ln w="9525" cap="flat" cmpd="sng" algn="ctr">
          <a:solidFill>
            <a:schemeClr val="phClr"/>
          </a:solidFill>
          <a:prstDash val="solid"/>
        </a:ln>
        <a:ln w="13970" cap="flat" cmpd="sng" algn="ctr">
          <a:solidFill>
            <a:schemeClr val="phClr"/>
          </a:solidFill>
          <a:prstDash val="solid"/>
        </a:ln>
        <a:ln w="17145" cap="flat" cmpd="sng" algn="ctr">
          <a:solidFill>
            <a:schemeClr val="phClr">
              <a:shade val="95000"/>
              <a:alpha val="95000"/>
              <a:satMod val="150000"/>
            </a:schemeClr>
          </a:solidFill>
          <a:prstDash val="solid"/>
        </a:ln>
      </a:lnStyleLst>
      <a:effectStyleLst>
        <a:effectStyle>
          <a:effectLst/>
        </a:effectStyle>
        <a:effectStyle>
          <a:effectLst>
            <a:outerShdw blurRad="50800" dist="15240" dir="5400000" algn="tl" rotWithShape="0">
              <a:srgbClr val="000000">
                <a:alpha val="75000"/>
              </a:srgbClr>
            </a:outerShdw>
          </a:effectLst>
          <a:scene3d>
            <a:camera prst="orthographicFront">
              <a:rot lat="0" lon="0" rev="0"/>
            </a:camera>
            <a:lightRig rig="brightRoom" dir="tl"/>
          </a:scene3d>
          <a:sp3d contourW="9525" prstMaterial="flat">
            <a:bevelT w="0" h="0" prst="coolSlant"/>
            <a:contourClr>
              <a:schemeClr val="phClr">
                <a:shade val="35000"/>
                <a:satMod val="130000"/>
              </a:schemeClr>
            </a:contourClr>
          </a:sp3d>
        </a:effectStyle>
        <a:effectStyle>
          <a:effectLst>
            <a:outerShdw blurRad="76200" dist="25400" dir="5400000" algn="tl" rotWithShape="0">
              <a:srgbClr val="000000">
                <a:alpha val="55000"/>
              </a:srgbClr>
            </a:outerShdw>
          </a:effectLst>
          <a:scene3d>
            <a:camera prst="orthographicFront">
              <a:rot lat="0" lon="0" rev="0"/>
            </a:camera>
            <a:lightRig rig="brightRoom" dir="tl"/>
          </a:scene3d>
          <a:sp3d contourW="19050" prstMaterial="flat">
            <a:bevelT w="0" h="0" prst="coolSlant"/>
            <a:contourClr>
              <a:schemeClr val="phClr">
                <a:shade val="25000"/>
                <a:satMod val="140000"/>
              </a:schemeClr>
            </a:contourClr>
          </a:sp3d>
        </a:effectStyle>
      </a:effectStyleLst>
      <a:bgFillStyleLst>
        <a:solidFill>
          <a:schemeClr val="phClr"/>
        </a:solidFill>
        <a:solidFill>
          <a:schemeClr val="phClr">
            <a:tint val="95000"/>
            <a:satMod val="170000"/>
          </a:schemeClr>
        </a:solidFill>
        <a:gradFill rotWithShape="1">
          <a:gsLst>
            <a:gs pos="0">
              <a:schemeClr val="phClr">
                <a:tint val="94000"/>
                <a:shade val="98000"/>
                <a:satMod val="130000"/>
                <a:lumMod val="102000"/>
              </a:schemeClr>
            </a:gs>
            <a:gs pos="100000">
              <a:schemeClr val="phClr">
                <a:tint val="98000"/>
                <a:shade val="78000"/>
                <a:satMod val="140000"/>
              </a:schemeClr>
            </a:gs>
          </a:gsLst>
          <a:path path="circle">
            <a:fillToRect l="100000" t="100000" r="100000" b="100000"/>
          </a:path>
        </a:gradFill>
      </a:bgFillStyleLst>
    </a:fmtScheme>
  </a:themeElements>
  <a:objectDefaults/>
  <a:extraClrSchemeLst/>
  <a:extLst>
    <a:ext uri="{05A4C25C-085E-4340-85A3-A5531E510DB2}">
      <thm15:themeFamily xmlns:thm15="http://schemas.microsoft.com/office/thememl/2012/main" name="View" id="{BA0EB5A6-F2D4-4F82-977B-64ADEE4A2A69}" vid="{3969A8A2-35DB-4E3B-8885-16FD20568674}"/>
    </a:ext>
  </a:extLst>
</a:theme>
</file>

<file path=docProps/app.xml><?xml version="1.0" encoding="utf-8"?>
<Properties xmlns="http://schemas.openxmlformats.org/officeDocument/2006/extended-properties" xmlns:vt="http://schemas.openxmlformats.org/officeDocument/2006/docPropsVTypes">
  <Template>View</Template>
  <TotalTime>1366</TotalTime>
  <Words>1927</Words>
  <Application>Microsoft Office PowerPoint</Application>
  <PresentationFormat>Widescreen</PresentationFormat>
  <Paragraphs>217</Paragraphs>
  <Slides>42</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42</vt:i4>
      </vt:variant>
    </vt:vector>
  </HeadingPairs>
  <TitlesOfParts>
    <vt:vector size="46" baseType="lpstr">
      <vt:lpstr>Arial</vt:lpstr>
      <vt:lpstr>Century Schoolbook</vt:lpstr>
      <vt:lpstr>Wingdings 2</vt:lpstr>
      <vt:lpstr>View</vt:lpstr>
      <vt:lpstr>CSC410 - Professional Practices in IT</vt:lpstr>
      <vt:lpstr>Today Topics</vt:lpstr>
      <vt:lpstr>Censorship</vt:lpstr>
      <vt:lpstr>Censorship</vt:lpstr>
      <vt:lpstr>Forms of Direct Censorship</vt:lpstr>
      <vt:lpstr>Self-censorship</vt:lpstr>
      <vt:lpstr>Challenges Posed by the Internet</vt:lpstr>
      <vt:lpstr>Governmental Filtering and Surveillance </vt:lpstr>
      <vt:lpstr>Ethical Perspectives on Censorship</vt:lpstr>
      <vt:lpstr>Mill’s Principle of Harm</vt:lpstr>
      <vt:lpstr>Freedom of Expression</vt:lpstr>
      <vt:lpstr>Freedom of Expression: History</vt:lpstr>
      <vt:lpstr>1st Amendment to U.S. Constitution</vt:lpstr>
      <vt:lpstr>Freedom of Expression Not an Absolute Right</vt:lpstr>
      <vt:lpstr>FCC v. Pacifica Foundation et al.</vt:lpstr>
      <vt:lpstr> Case Study</vt:lpstr>
      <vt:lpstr>Cont..</vt:lpstr>
      <vt:lpstr>Case Study: Kate’s Blog</vt:lpstr>
      <vt:lpstr>Kantian Analysis</vt:lpstr>
      <vt:lpstr>Social Contract Theory Analysis</vt:lpstr>
      <vt:lpstr>Act Utilitarian Analysis</vt:lpstr>
      <vt:lpstr>Rule Utilitarian Analysis</vt:lpstr>
      <vt:lpstr>Virtue Ethics Analysis</vt:lpstr>
      <vt:lpstr>Summary</vt:lpstr>
      <vt:lpstr>Children and Inappropriate Content</vt:lpstr>
      <vt:lpstr>Web Filters</vt:lpstr>
      <vt:lpstr>PowerPoint Presentation</vt:lpstr>
      <vt:lpstr>Child Internet Protection Act</vt:lpstr>
      <vt:lpstr>Ethical Evaluations of CIPA</vt:lpstr>
      <vt:lpstr>Sexting</vt:lpstr>
      <vt:lpstr>Breaking Trust</vt:lpstr>
      <vt:lpstr>Identity Theft (1/2)</vt:lpstr>
      <vt:lpstr>Identity Theft (2/2)</vt:lpstr>
      <vt:lpstr>Chat-Room Predators</vt:lpstr>
      <vt:lpstr>Ethical Evaluations of “Stings”</vt:lpstr>
      <vt:lpstr>False Information</vt:lpstr>
      <vt:lpstr>Cyberbullying</vt:lpstr>
      <vt:lpstr>Internet Addiction</vt:lpstr>
      <vt:lpstr>Is Internet Addiction Real?</vt:lpstr>
      <vt:lpstr>Contributing Factors</vt:lpstr>
      <vt:lpstr>Ethical Evaluation</vt:lpstr>
      <vt:lpstr>End of Lecture</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DELL7490</dc:creator>
  <cp:lastModifiedBy>DELL7490</cp:lastModifiedBy>
  <cp:revision>80</cp:revision>
  <dcterms:created xsi:type="dcterms:W3CDTF">2024-09-16T10:53:45Z</dcterms:created>
  <dcterms:modified xsi:type="dcterms:W3CDTF">2024-09-24T19:55:47Z</dcterms:modified>
</cp:coreProperties>
</file>