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35"/>
  </p:notesMasterIdLst>
  <p:sldIdLst>
    <p:sldId id="256" r:id="rId2"/>
    <p:sldId id="257" r:id="rId3"/>
    <p:sldId id="298" r:id="rId4"/>
    <p:sldId id="258" r:id="rId5"/>
    <p:sldId id="260" r:id="rId6"/>
    <p:sldId id="259" r:id="rId7"/>
    <p:sldId id="261" r:id="rId8"/>
    <p:sldId id="262" r:id="rId9"/>
    <p:sldId id="299" r:id="rId10"/>
    <p:sldId id="263" r:id="rId11"/>
    <p:sldId id="300" r:id="rId12"/>
    <p:sldId id="265" r:id="rId13"/>
    <p:sldId id="264" r:id="rId14"/>
    <p:sldId id="266" r:id="rId15"/>
    <p:sldId id="301" r:id="rId16"/>
    <p:sldId id="267" r:id="rId17"/>
    <p:sldId id="302" r:id="rId18"/>
    <p:sldId id="268" r:id="rId19"/>
    <p:sldId id="269" r:id="rId20"/>
    <p:sldId id="270" r:id="rId21"/>
    <p:sldId id="271" r:id="rId22"/>
    <p:sldId id="272" r:id="rId23"/>
    <p:sldId id="274" r:id="rId24"/>
    <p:sldId id="275" r:id="rId25"/>
    <p:sldId id="276" r:id="rId26"/>
    <p:sldId id="277" r:id="rId27"/>
    <p:sldId id="278" r:id="rId28"/>
    <p:sldId id="303" r:id="rId29"/>
    <p:sldId id="279" r:id="rId30"/>
    <p:sldId id="280" r:id="rId31"/>
    <p:sldId id="281" r:id="rId32"/>
    <p:sldId id="282" r:id="rId33"/>
    <p:sldId id="273"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191B5F-00AD-4A75-B011-53D7D46A6994}" type="datetimeFigureOut">
              <a:rPr lang="en-US" smtClean="0"/>
              <a:t>9/13/2024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7C1FB-54B6-475A-9C8D-1FFFE97C241A}" type="slidenum">
              <a:rPr lang="en-US" smtClean="0"/>
              <a:t>‹#›</a:t>
            </a:fld>
            <a:endParaRPr lang="en-US"/>
          </a:p>
        </p:txBody>
      </p:sp>
    </p:spTree>
    <p:extLst>
      <p:ext uri="{BB962C8B-B14F-4D97-AF65-F5344CB8AC3E}">
        <p14:creationId xmlns:p14="http://schemas.microsoft.com/office/powerpoint/2010/main" val="2358817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17C1FB-54B6-475A-9C8D-1FFFE97C241A}" type="slidenum">
              <a:rPr lang="en-US" smtClean="0"/>
              <a:t>19</a:t>
            </a:fld>
            <a:endParaRPr lang="en-US"/>
          </a:p>
        </p:txBody>
      </p:sp>
    </p:spTree>
    <p:extLst>
      <p:ext uri="{BB962C8B-B14F-4D97-AF65-F5344CB8AC3E}">
        <p14:creationId xmlns:p14="http://schemas.microsoft.com/office/powerpoint/2010/main" val="145257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F4EC9B8D-1483-48AD-BCFF-AC7BFE1B5568}" type="datetimeFigureOut">
              <a:rPr lang="en-US" smtClean="0"/>
              <a:t>9/13/2024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B38321F-CC7C-4D9D-995A-C96CC77C1D5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1187987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EC9B8D-1483-48AD-BCFF-AC7BFE1B556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2449053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EC9B8D-1483-48AD-BCFF-AC7BFE1B556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31749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EC9B8D-1483-48AD-BCFF-AC7BFE1B5568}" type="datetimeFigureOut">
              <a:rPr lang="en-US" smtClean="0"/>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603109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EC9B8D-1483-48AD-BCFF-AC7BFE1B5568}" type="datetimeFigureOut">
              <a:rPr lang="en-US" smtClean="0"/>
              <a:t>9/13/2024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113859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EC9B8D-1483-48AD-BCFF-AC7BFE1B5568}" type="datetimeFigureOut">
              <a:rPr lang="en-US" smtClean="0"/>
              <a:t>9/13/2024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120662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EC9B8D-1483-48AD-BCFF-AC7BFE1B5568}" type="datetimeFigureOut">
              <a:rPr lang="en-US" smtClean="0"/>
              <a:t>9/13/2024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2114025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EC9B8D-1483-48AD-BCFF-AC7BFE1B5568}" type="datetimeFigureOut">
              <a:rPr lang="en-US" smtClean="0"/>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7547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EC9B8D-1483-48AD-BCFF-AC7BFE1B5568}" type="datetimeFigureOut">
              <a:rPr lang="en-US" smtClean="0"/>
              <a:t>9/13/2024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969556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EC9B8D-1483-48AD-BCFF-AC7BFE1B556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3747803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EC9B8D-1483-48AD-BCFF-AC7BFE1B5568}" type="datetimeFigureOut">
              <a:rPr lang="en-US" smtClean="0"/>
              <a:t>9/13/2024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38321F-CC7C-4D9D-995A-C96CC77C1D57}" type="slidenum">
              <a:rPr lang="en-US" smtClean="0"/>
              <a:t>‹#›</a:t>
            </a:fld>
            <a:endParaRPr lang="en-US"/>
          </a:p>
        </p:txBody>
      </p:sp>
    </p:spTree>
    <p:extLst>
      <p:ext uri="{BB962C8B-B14F-4D97-AF65-F5344CB8AC3E}">
        <p14:creationId xmlns:p14="http://schemas.microsoft.com/office/powerpoint/2010/main" val="2775873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F4EC9B8D-1483-48AD-BCFF-AC7BFE1B5568}" type="datetimeFigureOut">
              <a:rPr lang="en-US" smtClean="0"/>
              <a:t>9/13/2024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B38321F-CC7C-4D9D-995A-C96CC77C1D57}" type="slidenum">
              <a:rPr lang="en-US" smtClean="0"/>
              <a:t>‹#›</a:t>
            </a:fld>
            <a:endParaRPr lang="en-US"/>
          </a:p>
        </p:txBody>
      </p:sp>
    </p:spTree>
    <p:extLst>
      <p:ext uri="{BB962C8B-B14F-4D97-AF65-F5344CB8AC3E}">
        <p14:creationId xmlns:p14="http://schemas.microsoft.com/office/powerpoint/2010/main" val="405816815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FA4D-AD80-2F8D-952C-7A8990B09BEA}"/>
              </a:ext>
            </a:extLst>
          </p:cNvPr>
          <p:cNvSpPr>
            <a:spLocks noGrp="1"/>
          </p:cNvSpPr>
          <p:nvPr>
            <p:ph type="ctrTitle"/>
          </p:nvPr>
        </p:nvSpPr>
        <p:spPr/>
        <p:txBody>
          <a:bodyPr>
            <a:normAutofit fontScale="90000"/>
          </a:bodyPr>
          <a:lstStyle/>
          <a:p>
            <a:br>
              <a:rPr lang="en-US" dirty="0"/>
            </a:br>
            <a:br>
              <a:rPr lang="en-US" dirty="0"/>
            </a:br>
            <a:r>
              <a:rPr lang="en-US" dirty="0"/>
              <a:t>CSC410 - Professional Practices in IT</a:t>
            </a:r>
          </a:p>
        </p:txBody>
      </p:sp>
      <p:sp>
        <p:nvSpPr>
          <p:cNvPr id="3" name="Subtitle 2">
            <a:extLst>
              <a:ext uri="{FF2B5EF4-FFF2-40B4-BE49-F238E27FC236}">
                <a16:creationId xmlns:a16="http://schemas.microsoft.com/office/drawing/2014/main" id="{527C150C-4B3A-3DEE-F5EB-B99ED6862FE0}"/>
              </a:ext>
            </a:extLst>
          </p:cNvPr>
          <p:cNvSpPr>
            <a:spLocks noGrp="1"/>
          </p:cNvSpPr>
          <p:nvPr>
            <p:ph type="subTitle" idx="1"/>
          </p:nvPr>
        </p:nvSpPr>
        <p:spPr/>
        <p:txBody>
          <a:bodyPr/>
          <a:lstStyle/>
          <a:p>
            <a:r>
              <a:rPr lang="en-US" sz="2000" dirty="0"/>
              <a:t>Instructor Name :  Sidra Nasir</a:t>
            </a:r>
            <a:endParaRPr lang="en-US" dirty="0"/>
          </a:p>
          <a:p>
            <a:endParaRPr lang="en-US" dirty="0"/>
          </a:p>
        </p:txBody>
      </p:sp>
    </p:spTree>
    <p:extLst>
      <p:ext uri="{BB962C8B-B14F-4D97-AF65-F5344CB8AC3E}">
        <p14:creationId xmlns:p14="http://schemas.microsoft.com/office/powerpoint/2010/main" val="4158514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E8EC-BF3C-5973-A50A-E0676D3D6CBA}"/>
              </a:ext>
            </a:extLst>
          </p:cNvPr>
          <p:cNvSpPr>
            <a:spLocks noGrp="1"/>
          </p:cNvSpPr>
          <p:nvPr>
            <p:ph type="title"/>
          </p:nvPr>
        </p:nvSpPr>
        <p:spPr>
          <a:xfrm>
            <a:off x="560832" y="426720"/>
            <a:ext cx="9692640" cy="1325562"/>
          </a:xfrm>
        </p:spPr>
        <p:txBody>
          <a:bodyPr/>
          <a:lstStyle/>
          <a:p>
            <a:r>
              <a:rPr lang="en-US" dirty="0"/>
              <a:t>Today Topics</a:t>
            </a:r>
          </a:p>
        </p:txBody>
      </p:sp>
      <p:sp>
        <p:nvSpPr>
          <p:cNvPr id="3" name="Content Placeholder 2">
            <a:extLst>
              <a:ext uri="{FF2B5EF4-FFF2-40B4-BE49-F238E27FC236}">
                <a16:creationId xmlns:a16="http://schemas.microsoft.com/office/drawing/2014/main" id="{404B6D10-33C8-D87F-AFA6-FF07F5E9B762}"/>
              </a:ext>
            </a:extLst>
          </p:cNvPr>
          <p:cNvSpPr>
            <a:spLocks noGrp="1"/>
          </p:cNvSpPr>
          <p:nvPr>
            <p:ph idx="1"/>
          </p:nvPr>
        </p:nvSpPr>
        <p:spPr>
          <a:xfrm>
            <a:off x="1261872" y="2316480"/>
            <a:ext cx="8595360" cy="3863657"/>
          </a:xfrm>
        </p:spPr>
        <p:txBody>
          <a:bodyPr>
            <a:normAutofit/>
          </a:bodyPr>
          <a:lstStyle/>
          <a:p>
            <a:r>
              <a:rPr lang="en-US" sz="2400" dirty="0"/>
              <a:t>Act Utilitarianism</a:t>
            </a:r>
          </a:p>
          <a:p>
            <a:r>
              <a:rPr lang="en-US" sz="2400" dirty="0"/>
              <a:t>Rule Utilitarianism</a:t>
            </a:r>
          </a:p>
          <a:p>
            <a:r>
              <a:rPr lang="en-US" sz="2400" dirty="0"/>
              <a:t>Social </a:t>
            </a:r>
            <a:r>
              <a:rPr lang="en-US" sz="2400"/>
              <a:t>Contract Theory</a:t>
            </a:r>
            <a:endParaRPr lang="en-US" sz="2400" dirty="0"/>
          </a:p>
        </p:txBody>
      </p:sp>
    </p:spTree>
    <p:extLst>
      <p:ext uri="{BB962C8B-B14F-4D97-AF65-F5344CB8AC3E}">
        <p14:creationId xmlns:p14="http://schemas.microsoft.com/office/powerpoint/2010/main" val="3035667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9FA71-4788-BD52-B24E-3D31D283465B}"/>
              </a:ext>
            </a:extLst>
          </p:cNvPr>
          <p:cNvSpPr>
            <a:spLocks noGrp="1"/>
          </p:cNvSpPr>
          <p:nvPr>
            <p:ph type="title"/>
          </p:nvPr>
        </p:nvSpPr>
        <p:spPr>
          <a:xfrm>
            <a:off x="733552" y="2458720"/>
            <a:ext cx="9692640" cy="1325562"/>
          </a:xfrm>
        </p:spPr>
        <p:txBody>
          <a:bodyPr/>
          <a:lstStyle/>
          <a:p>
            <a:pPr algn="ctr"/>
            <a:r>
              <a:rPr lang="en-US" dirty="0"/>
              <a:t>Act Utilitarianism</a:t>
            </a:r>
          </a:p>
        </p:txBody>
      </p:sp>
    </p:spTree>
    <p:extLst>
      <p:ext uri="{BB962C8B-B14F-4D97-AF65-F5344CB8AC3E}">
        <p14:creationId xmlns:p14="http://schemas.microsoft.com/office/powerpoint/2010/main" val="2561423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AA934-909B-B646-52FE-8A72598DA5EB}"/>
              </a:ext>
            </a:extLst>
          </p:cNvPr>
          <p:cNvSpPr>
            <a:spLocks noGrp="1"/>
          </p:cNvSpPr>
          <p:nvPr>
            <p:ph type="title"/>
          </p:nvPr>
        </p:nvSpPr>
        <p:spPr>
          <a:xfrm>
            <a:off x="713232" y="487680"/>
            <a:ext cx="9692640" cy="1325562"/>
          </a:xfrm>
        </p:spPr>
        <p:txBody>
          <a:bodyPr/>
          <a:lstStyle/>
          <a:p>
            <a:r>
              <a:rPr lang="en-US" dirty="0"/>
              <a:t>Principle of Utility</a:t>
            </a:r>
          </a:p>
        </p:txBody>
      </p:sp>
      <p:sp>
        <p:nvSpPr>
          <p:cNvPr id="3" name="Content Placeholder 2">
            <a:extLst>
              <a:ext uri="{FF2B5EF4-FFF2-40B4-BE49-F238E27FC236}">
                <a16:creationId xmlns:a16="http://schemas.microsoft.com/office/drawing/2014/main" id="{43EB3F0B-9C23-6017-3730-E4390868D3F7}"/>
              </a:ext>
            </a:extLst>
          </p:cNvPr>
          <p:cNvSpPr>
            <a:spLocks noGrp="1"/>
          </p:cNvSpPr>
          <p:nvPr>
            <p:ph idx="1"/>
          </p:nvPr>
        </p:nvSpPr>
        <p:spPr>
          <a:xfrm>
            <a:off x="1261872" y="2103121"/>
            <a:ext cx="8595360" cy="3850640"/>
          </a:xfrm>
        </p:spPr>
        <p:txBody>
          <a:bodyPr numCol="1">
            <a:normAutofit/>
          </a:bodyPr>
          <a:lstStyle/>
          <a:p>
            <a:r>
              <a:rPr lang="en-US" sz="2400" dirty="0"/>
              <a:t>Jeremy Bentham and John Stuart Mill </a:t>
            </a:r>
          </a:p>
          <a:p>
            <a:r>
              <a:rPr lang="en-US" sz="2400" dirty="0"/>
              <a:t>An action is good if its benefits exceeds its harms </a:t>
            </a:r>
          </a:p>
          <a:p>
            <a:r>
              <a:rPr lang="en-US" sz="2400" dirty="0"/>
              <a:t>An action is bad if its harms exceed its benefits </a:t>
            </a:r>
          </a:p>
          <a:p>
            <a:r>
              <a:rPr lang="en-US" sz="2400" dirty="0"/>
              <a:t> Utility: tendency of an object to produce happiness or prevent unhappiness for an individual or a community  Happiness = advantage = benefit = good = pleasure </a:t>
            </a:r>
          </a:p>
          <a:p>
            <a:r>
              <a:rPr lang="en-US" sz="2400" dirty="0"/>
              <a:t>Unhappiness = disadvantage = cost = evil = pain </a:t>
            </a:r>
          </a:p>
        </p:txBody>
      </p:sp>
    </p:spTree>
    <p:extLst>
      <p:ext uri="{BB962C8B-B14F-4D97-AF65-F5344CB8AC3E}">
        <p14:creationId xmlns:p14="http://schemas.microsoft.com/office/powerpoint/2010/main" val="1979311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1E77-C02A-6DF4-632B-9AF0129DE11F}"/>
              </a:ext>
            </a:extLst>
          </p:cNvPr>
          <p:cNvSpPr>
            <a:spLocks noGrp="1"/>
          </p:cNvSpPr>
          <p:nvPr>
            <p:ph type="title"/>
          </p:nvPr>
        </p:nvSpPr>
        <p:spPr>
          <a:xfrm>
            <a:off x="1261872" y="812800"/>
            <a:ext cx="9692640" cy="1325562"/>
          </a:xfrm>
        </p:spPr>
        <p:txBody>
          <a:bodyPr/>
          <a:lstStyle/>
          <a:p>
            <a:r>
              <a:rPr lang="en-US" dirty="0"/>
              <a:t>Principle of Utility (Greatest Happiness Principle)</a:t>
            </a:r>
            <a:endParaRPr lang="en-US" sz="4400" dirty="0"/>
          </a:p>
        </p:txBody>
      </p:sp>
      <p:sp>
        <p:nvSpPr>
          <p:cNvPr id="3" name="Content Placeholder 2">
            <a:extLst>
              <a:ext uri="{FF2B5EF4-FFF2-40B4-BE49-F238E27FC236}">
                <a16:creationId xmlns:a16="http://schemas.microsoft.com/office/drawing/2014/main" id="{14E6420F-4B4F-12BE-5E4C-F3B4CE92A756}"/>
              </a:ext>
            </a:extLst>
          </p:cNvPr>
          <p:cNvSpPr>
            <a:spLocks noGrp="1"/>
          </p:cNvSpPr>
          <p:nvPr>
            <p:ph idx="1"/>
          </p:nvPr>
        </p:nvSpPr>
        <p:spPr>
          <a:xfrm>
            <a:off x="1261872" y="2639190"/>
            <a:ext cx="8595360" cy="1579620"/>
          </a:xfrm>
        </p:spPr>
        <p:txBody>
          <a:bodyPr>
            <a:normAutofit/>
          </a:bodyPr>
          <a:lstStyle/>
          <a:p>
            <a:pPr marL="0" indent="0">
              <a:buNone/>
            </a:pPr>
            <a:r>
              <a:rPr lang="en-US" sz="2400" dirty="0"/>
              <a:t>An action is right (or wrong) to the extent that it increases (or decreases) the total happiness of the affected parties.</a:t>
            </a:r>
          </a:p>
        </p:txBody>
      </p:sp>
    </p:spTree>
    <p:extLst>
      <p:ext uri="{BB962C8B-B14F-4D97-AF65-F5344CB8AC3E}">
        <p14:creationId xmlns:p14="http://schemas.microsoft.com/office/powerpoint/2010/main" val="2252290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0AF01-E420-556A-AA70-D43F265AA23F}"/>
              </a:ext>
            </a:extLst>
          </p:cNvPr>
          <p:cNvSpPr>
            <a:spLocks noGrp="1"/>
          </p:cNvSpPr>
          <p:nvPr>
            <p:ph type="title"/>
          </p:nvPr>
        </p:nvSpPr>
        <p:spPr>
          <a:xfrm>
            <a:off x="1261872" y="365760"/>
            <a:ext cx="9692640" cy="1066800"/>
          </a:xfrm>
        </p:spPr>
        <p:txBody>
          <a:bodyPr/>
          <a:lstStyle/>
          <a:p>
            <a:r>
              <a:rPr lang="en-US" dirty="0"/>
              <a:t>Principle of Utility</a:t>
            </a:r>
          </a:p>
        </p:txBody>
      </p:sp>
      <p:pic>
        <p:nvPicPr>
          <p:cNvPr id="7" name="Picture 6">
            <a:extLst>
              <a:ext uri="{FF2B5EF4-FFF2-40B4-BE49-F238E27FC236}">
                <a16:creationId xmlns:a16="http://schemas.microsoft.com/office/drawing/2014/main" id="{D50ADF9B-977B-D02D-0A62-2A928D984220}"/>
              </a:ext>
            </a:extLst>
          </p:cNvPr>
          <p:cNvPicPr>
            <a:picLocks noChangeAspect="1"/>
          </p:cNvPicPr>
          <p:nvPr/>
        </p:nvPicPr>
        <p:blipFill>
          <a:blip r:embed="rId2"/>
          <a:stretch>
            <a:fillRect/>
          </a:stretch>
        </p:blipFill>
        <p:spPr>
          <a:xfrm>
            <a:off x="1757681" y="1645920"/>
            <a:ext cx="7955280" cy="4922489"/>
          </a:xfrm>
          <a:prstGeom prst="rect">
            <a:avLst/>
          </a:prstGeom>
        </p:spPr>
      </p:pic>
    </p:spTree>
    <p:extLst>
      <p:ext uri="{BB962C8B-B14F-4D97-AF65-F5344CB8AC3E}">
        <p14:creationId xmlns:p14="http://schemas.microsoft.com/office/powerpoint/2010/main" val="4086485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96D2-735E-5050-C3E0-1B824AFC2C55}"/>
              </a:ext>
            </a:extLst>
          </p:cNvPr>
          <p:cNvSpPr>
            <a:spLocks noGrp="1"/>
          </p:cNvSpPr>
          <p:nvPr>
            <p:ph type="title"/>
          </p:nvPr>
        </p:nvSpPr>
        <p:spPr>
          <a:xfrm>
            <a:off x="1261872" y="365760"/>
            <a:ext cx="9692640" cy="1066800"/>
          </a:xfrm>
        </p:spPr>
        <p:txBody>
          <a:bodyPr/>
          <a:lstStyle/>
          <a:p>
            <a:r>
              <a:rPr lang="en-US" dirty="0"/>
              <a:t>Act Utilitarianism</a:t>
            </a:r>
          </a:p>
        </p:txBody>
      </p:sp>
      <p:sp>
        <p:nvSpPr>
          <p:cNvPr id="3" name="Content Placeholder 2">
            <a:extLst>
              <a:ext uri="{FF2B5EF4-FFF2-40B4-BE49-F238E27FC236}">
                <a16:creationId xmlns:a16="http://schemas.microsoft.com/office/drawing/2014/main" id="{5271CF1A-80C4-17EA-7A4C-F7ACDFE18E68}"/>
              </a:ext>
            </a:extLst>
          </p:cNvPr>
          <p:cNvSpPr>
            <a:spLocks noGrp="1"/>
          </p:cNvSpPr>
          <p:nvPr>
            <p:ph idx="1"/>
          </p:nvPr>
        </p:nvSpPr>
        <p:spPr/>
        <p:txBody>
          <a:bodyPr>
            <a:normAutofit/>
          </a:bodyPr>
          <a:lstStyle/>
          <a:p>
            <a:r>
              <a:rPr lang="en-US" sz="2400" dirty="0"/>
              <a:t>Utilitarianism </a:t>
            </a:r>
          </a:p>
          <a:p>
            <a:pPr marL="274320" lvl="1" indent="0">
              <a:buNone/>
            </a:pPr>
            <a:r>
              <a:rPr lang="en-US" sz="2400" dirty="0"/>
              <a:t>– Morality of an action has nothing to do with intent </a:t>
            </a:r>
          </a:p>
          <a:p>
            <a:pPr marL="274320" lvl="1" indent="0">
              <a:buNone/>
            </a:pPr>
            <a:r>
              <a:rPr lang="en-US" sz="2400" dirty="0"/>
              <a:t>– Focuses on the consequences </a:t>
            </a:r>
          </a:p>
          <a:p>
            <a:pPr marL="274320" lvl="1" indent="0">
              <a:buNone/>
            </a:pPr>
            <a:r>
              <a:rPr lang="en-US" sz="2400" dirty="0"/>
              <a:t>– A consequentialist theory </a:t>
            </a:r>
          </a:p>
          <a:p>
            <a:pPr marL="0" indent="0">
              <a:buNone/>
            </a:pPr>
            <a:r>
              <a:rPr lang="en-US" sz="2400" dirty="0"/>
              <a:t>• Act utilitarianism </a:t>
            </a:r>
          </a:p>
          <a:p>
            <a:pPr marL="274320" lvl="1" indent="0">
              <a:buNone/>
            </a:pPr>
            <a:r>
              <a:rPr lang="en-US" sz="2400" dirty="0"/>
              <a:t>– Add up change in happiness of all affected beings </a:t>
            </a:r>
          </a:p>
          <a:p>
            <a:pPr marL="274320" lvl="1" indent="0">
              <a:buNone/>
            </a:pPr>
            <a:r>
              <a:rPr lang="en-US" sz="2400" dirty="0"/>
              <a:t>– Sum &gt; 0, action is good</a:t>
            </a:r>
          </a:p>
          <a:p>
            <a:pPr marL="274320" lvl="1" indent="0">
              <a:buNone/>
            </a:pPr>
            <a:r>
              <a:rPr lang="en-US" sz="2400" dirty="0"/>
              <a:t> – Sum &lt; 0, action is bad </a:t>
            </a:r>
          </a:p>
          <a:p>
            <a:pPr marL="274320" lvl="1" indent="0">
              <a:buNone/>
            </a:pPr>
            <a:r>
              <a:rPr lang="en-US" sz="2400" dirty="0"/>
              <a:t>– Right action to take: one that maximizes the sum </a:t>
            </a:r>
          </a:p>
        </p:txBody>
      </p:sp>
    </p:spTree>
    <p:extLst>
      <p:ext uri="{BB962C8B-B14F-4D97-AF65-F5344CB8AC3E}">
        <p14:creationId xmlns:p14="http://schemas.microsoft.com/office/powerpoint/2010/main" val="3330067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2CA1-2A76-F9BA-B696-62C8A19CC456}"/>
              </a:ext>
            </a:extLst>
          </p:cNvPr>
          <p:cNvSpPr>
            <a:spLocks noGrp="1"/>
          </p:cNvSpPr>
          <p:nvPr>
            <p:ph type="title"/>
          </p:nvPr>
        </p:nvSpPr>
        <p:spPr>
          <a:xfrm>
            <a:off x="804672" y="386080"/>
            <a:ext cx="9692640" cy="1270000"/>
          </a:xfrm>
        </p:spPr>
        <p:txBody>
          <a:bodyPr/>
          <a:lstStyle/>
          <a:p>
            <a:r>
              <a:rPr lang="en-US" dirty="0"/>
              <a:t>Bentham: Weighing Pleasure/Pain</a:t>
            </a:r>
          </a:p>
        </p:txBody>
      </p:sp>
      <p:sp>
        <p:nvSpPr>
          <p:cNvPr id="3" name="Content Placeholder 2">
            <a:extLst>
              <a:ext uri="{FF2B5EF4-FFF2-40B4-BE49-F238E27FC236}">
                <a16:creationId xmlns:a16="http://schemas.microsoft.com/office/drawing/2014/main" id="{752637F7-7D14-EE09-F7F1-D0DB85D00FD4}"/>
              </a:ext>
            </a:extLst>
          </p:cNvPr>
          <p:cNvSpPr>
            <a:spLocks noGrp="1"/>
          </p:cNvSpPr>
          <p:nvPr>
            <p:ph idx="1"/>
          </p:nvPr>
        </p:nvSpPr>
        <p:spPr>
          <a:xfrm>
            <a:off x="1007872" y="2275841"/>
            <a:ext cx="8595360" cy="1270000"/>
          </a:xfrm>
        </p:spPr>
        <p:txBody>
          <a:bodyPr>
            <a:normAutofit/>
          </a:bodyPr>
          <a:lstStyle/>
          <a:p>
            <a:r>
              <a:rPr lang="en-US" sz="2400" dirty="0"/>
              <a:t>Not all benefits have equal weight. To measure them, he proposed seven attributes that can be used to increase or decrease the weight of a particular pleasure or pain:</a:t>
            </a:r>
          </a:p>
        </p:txBody>
      </p:sp>
    </p:spTree>
    <p:extLst>
      <p:ext uri="{BB962C8B-B14F-4D97-AF65-F5344CB8AC3E}">
        <p14:creationId xmlns:p14="http://schemas.microsoft.com/office/powerpoint/2010/main" val="2622339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2CA1-2A76-F9BA-B696-62C8A19CC456}"/>
              </a:ext>
            </a:extLst>
          </p:cNvPr>
          <p:cNvSpPr>
            <a:spLocks noGrp="1"/>
          </p:cNvSpPr>
          <p:nvPr>
            <p:ph type="title"/>
          </p:nvPr>
        </p:nvSpPr>
        <p:spPr>
          <a:xfrm>
            <a:off x="804672" y="386080"/>
            <a:ext cx="9692640" cy="934720"/>
          </a:xfrm>
        </p:spPr>
        <p:txBody>
          <a:bodyPr/>
          <a:lstStyle/>
          <a:p>
            <a:r>
              <a:rPr lang="en-US" dirty="0"/>
              <a:t>Bentham: Weighing Pleasure/Pain</a:t>
            </a:r>
          </a:p>
        </p:txBody>
      </p:sp>
      <p:sp>
        <p:nvSpPr>
          <p:cNvPr id="3" name="Content Placeholder 2">
            <a:extLst>
              <a:ext uri="{FF2B5EF4-FFF2-40B4-BE49-F238E27FC236}">
                <a16:creationId xmlns:a16="http://schemas.microsoft.com/office/drawing/2014/main" id="{752637F7-7D14-EE09-F7F1-D0DB85D00FD4}"/>
              </a:ext>
            </a:extLst>
          </p:cNvPr>
          <p:cNvSpPr>
            <a:spLocks noGrp="1"/>
          </p:cNvSpPr>
          <p:nvPr>
            <p:ph idx="1"/>
          </p:nvPr>
        </p:nvSpPr>
        <p:spPr>
          <a:xfrm>
            <a:off x="1007872" y="1696720"/>
            <a:ext cx="8595360" cy="4541519"/>
          </a:xfrm>
        </p:spPr>
        <p:txBody>
          <a:bodyPr>
            <a:normAutofit lnSpcReduction="10000"/>
          </a:bodyPr>
          <a:lstStyle/>
          <a:p>
            <a:r>
              <a:rPr lang="en-US" sz="2400" b="1" dirty="0"/>
              <a:t>Intensity: </a:t>
            </a:r>
            <a:r>
              <a:rPr lang="en-US" sz="2400" dirty="0"/>
              <a:t>magnitude of the experience </a:t>
            </a:r>
          </a:p>
          <a:p>
            <a:r>
              <a:rPr lang="en-US" sz="2400" b="1" dirty="0"/>
              <a:t>Duration: </a:t>
            </a:r>
            <a:r>
              <a:rPr lang="en-US" sz="2400" dirty="0"/>
              <a:t>how long the experience lasts </a:t>
            </a:r>
          </a:p>
          <a:p>
            <a:r>
              <a:rPr lang="en-US" sz="2400" b="1" dirty="0"/>
              <a:t>Certainty: </a:t>
            </a:r>
            <a:r>
              <a:rPr lang="en-US" sz="2400" dirty="0"/>
              <a:t>probability it will actually happen </a:t>
            </a:r>
          </a:p>
          <a:p>
            <a:r>
              <a:rPr lang="en-US" sz="2400" b="1" dirty="0"/>
              <a:t>Propinquity: </a:t>
            </a:r>
            <a:r>
              <a:rPr lang="en-US" sz="2400" dirty="0"/>
              <a:t>how close the experience is in space and time </a:t>
            </a:r>
          </a:p>
          <a:p>
            <a:r>
              <a:rPr lang="en-US" sz="2400" b="1" dirty="0"/>
              <a:t>Fecundity: </a:t>
            </a:r>
            <a:r>
              <a:rPr lang="en-US" sz="2400" dirty="0"/>
              <a:t>its ability to produce more experiences of the same kind </a:t>
            </a:r>
          </a:p>
          <a:p>
            <a:r>
              <a:rPr lang="en-US" sz="2400" b="1" dirty="0"/>
              <a:t>Purity: </a:t>
            </a:r>
            <a:r>
              <a:rPr lang="en-US" sz="2400" dirty="0"/>
              <a:t>extent to which pleasure is not diluted by pain or vice versa </a:t>
            </a:r>
          </a:p>
          <a:p>
            <a:r>
              <a:rPr lang="en-US" sz="2400" b="1" dirty="0"/>
              <a:t>Extent: </a:t>
            </a:r>
            <a:r>
              <a:rPr lang="en-US" sz="2400" dirty="0"/>
              <a:t>number of people affected</a:t>
            </a:r>
          </a:p>
        </p:txBody>
      </p:sp>
    </p:spTree>
    <p:extLst>
      <p:ext uri="{BB962C8B-B14F-4D97-AF65-F5344CB8AC3E}">
        <p14:creationId xmlns:p14="http://schemas.microsoft.com/office/powerpoint/2010/main" val="165596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D280B-D51C-E54D-DB0C-B39341396DA7}"/>
              </a:ext>
            </a:extLst>
          </p:cNvPr>
          <p:cNvSpPr>
            <a:spLocks noGrp="1"/>
          </p:cNvSpPr>
          <p:nvPr>
            <p:ph type="title"/>
          </p:nvPr>
        </p:nvSpPr>
        <p:spPr>
          <a:xfrm>
            <a:off x="875792" y="497840"/>
            <a:ext cx="9692640" cy="1381760"/>
          </a:xfrm>
        </p:spPr>
        <p:txBody>
          <a:bodyPr>
            <a:normAutofit/>
          </a:bodyPr>
          <a:lstStyle/>
          <a:p>
            <a:r>
              <a:rPr lang="en-US" dirty="0"/>
              <a:t>Evaluating a Scenario Using Act Utilitarianism </a:t>
            </a:r>
          </a:p>
        </p:txBody>
      </p:sp>
      <p:sp>
        <p:nvSpPr>
          <p:cNvPr id="3" name="Content Placeholder 2">
            <a:extLst>
              <a:ext uri="{FF2B5EF4-FFF2-40B4-BE49-F238E27FC236}">
                <a16:creationId xmlns:a16="http://schemas.microsoft.com/office/drawing/2014/main" id="{1A8D2732-D0D8-4582-5EBF-B9674BFAD70F}"/>
              </a:ext>
            </a:extLst>
          </p:cNvPr>
          <p:cNvSpPr>
            <a:spLocks noGrp="1"/>
          </p:cNvSpPr>
          <p:nvPr>
            <p:ph idx="1"/>
          </p:nvPr>
        </p:nvSpPr>
        <p:spPr>
          <a:xfrm>
            <a:off x="1261872" y="2306319"/>
            <a:ext cx="8595360" cy="2499361"/>
          </a:xfrm>
        </p:spPr>
        <p:txBody>
          <a:bodyPr>
            <a:normAutofit/>
          </a:bodyPr>
          <a:lstStyle/>
          <a:p>
            <a:r>
              <a:rPr lang="en-US" sz="2400" dirty="0"/>
              <a:t>A state is considering replacing a curvy stretch of highway that passes along the outskirts of a large city. Would building the highway be a good action?</a:t>
            </a:r>
          </a:p>
        </p:txBody>
      </p:sp>
      <p:sp>
        <p:nvSpPr>
          <p:cNvPr id="4" name="Content Placeholder 2">
            <a:extLst>
              <a:ext uri="{FF2B5EF4-FFF2-40B4-BE49-F238E27FC236}">
                <a16:creationId xmlns:a16="http://schemas.microsoft.com/office/drawing/2014/main" id="{4C4C23AC-1560-3F96-4936-9F85233BC824}"/>
              </a:ext>
            </a:extLst>
          </p:cNvPr>
          <p:cNvSpPr txBox="1">
            <a:spLocks/>
          </p:cNvSpPr>
          <p:nvPr/>
        </p:nvSpPr>
        <p:spPr>
          <a:xfrm>
            <a:off x="1261872" y="1788159"/>
            <a:ext cx="8595360" cy="2499361"/>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400" dirty="0"/>
          </a:p>
        </p:txBody>
      </p:sp>
    </p:spTree>
    <p:extLst>
      <p:ext uri="{BB962C8B-B14F-4D97-AF65-F5344CB8AC3E}">
        <p14:creationId xmlns:p14="http://schemas.microsoft.com/office/powerpoint/2010/main" val="1372368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D280B-D51C-E54D-DB0C-B39341396DA7}"/>
              </a:ext>
            </a:extLst>
          </p:cNvPr>
          <p:cNvSpPr>
            <a:spLocks noGrp="1"/>
          </p:cNvSpPr>
          <p:nvPr>
            <p:ph type="title"/>
          </p:nvPr>
        </p:nvSpPr>
        <p:spPr>
          <a:xfrm>
            <a:off x="713232" y="640078"/>
            <a:ext cx="9692640" cy="1148081"/>
          </a:xfrm>
        </p:spPr>
        <p:txBody>
          <a:bodyPr/>
          <a:lstStyle/>
          <a:p>
            <a:r>
              <a:rPr lang="en-US" dirty="0"/>
              <a:t>Highway Routing Scenario</a:t>
            </a:r>
          </a:p>
        </p:txBody>
      </p:sp>
      <p:sp>
        <p:nvSpPr>
          <p:cNvPr id="3" name="Content Placeholder 2">
            <a:extLst>
              <a:ext uri="{FF2B5EF4-FFF2-40B4-BE49-F238E27FC236}">
                <a16:creationId xmlns:a16="http://schemas.microsoft.com/office/drawing/2014/main" id="{1A8D2732-D0D8-4582-5EBF-B9674BFAD70F}"/>
              </a:ext>
            </a:extLst>
          </p:cNvPr>
          <p:cNvSpPr>
            <a:spLocks noGrp="1"/>
          </p:cNvSpPr>
          <p:nvPr>
            <p:ph idx="1"/>
          </p:nvPr>
        </p:nvSpPr>
        <p:spPr>
          <a:xfrm>
            <a:off x="1353312" y="2306319"/>
            <a:ext cx="8595360" cy="2499361"/>
          </a:xfrm>
        </p:spPr>
        <p:txBody>
          <a:bodyPr>
            <a:normAutofit/>
          </a:bodyPr>
          <a:lstStyle/>
          <a:p>
            <a:r>
              <a:rPr lang="en-US" sz="2400" dirty="0"/>
              <a:t> State may replace a curvy stretch of highway </a:t>
            </a:r>
          </a:p>
          <a:p>
            <a:r>
              <a:rPr lang="en-US" sz="2400" dirty="0"/>
              <a:t> New highway segment 1 mile shorter </a:t>
            </a:r>
          </a:p>
          <a:p>
            <a:r>
              <a:rPr lang="en-US" sz="2400" dirty="0"/>
              <a:t> 150 houses would have to be removed </a:t>
            </a:r>
          </a:p>
          <a:p>
            <a:r>
              <a:rPr lang="en-US" sz="2400" dirty="0"/>
              <a:t>Some wildlife habitat would be destroyed</a:t>
            </a:r>
          </a:p>
        </p:txBody>
      </p:sp>
      <p:sp>
        <p:nvSpPr>
          <p:cNvPr id="4" name="Content Placeholder 2">
            <a:extLst>
              <a:ext uri="{FF2B5EF4-FFF2-40B4-BE49-F238E27FC236}">
                <a16:creationId xmlns:a16="http://schemas.microsoft.com/office/drawing/2014/main" id="{4C4C23AC-1560-3F96-4936-9F85233BC824}"/>
              </a:ext>
            </a:extLst>
          </p:cNvPr>
          <p:cNvSpPr txBox="1">
            <a:spLocks/>
          </p:cNvSpPr>
          <p:nvPr/>
        </p:nvSpPr>
        <p:spPr>
          <a:xfrm>
            <a:off x="1261872" y="1788159"/>
            <a:ext cx="8595360" cy="2499361"/>
          </a:xfrm>
          <a:prstGeom prst="rect">
            <a:avLst/>
          </a:prstGeom>
        </p:spPr>
        <p:txBody>
          <a:bodyPr vert="horz" lIns="91440" tIns="45720" rIns="91440" bIns="45720" rtlCol="0">
            <a:normAutofit/>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endParaRPr lang="en-US" sz="2400" dirty="0"/>
          </a:p>
        </p:txBody>
      </p:sp>
    </p:spTree>
    <p:extLst>
      <p:ext uri="{BB962C8B-B14F-4D97-AF65-F5344CB8AC3E}">
        <p14:creationId xmlns:p14="http://schemas.microsoft.com/office/powerpoint/2010/main" val="2458762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30A23-ED85-6CC2-0D48-247450030EF8}"/>
              </a:ext>
            </a:extLst>
          </p:cNvPr>
          <p:cNvSpPr>
            <a:spLocks noGrp="1"/>
          </p:cNvSpPr>
          <p:nvPr>
            <p:ph type="title"/>
          </p:nvPr>
        </p:nvSpPr>
        <p:spPr>
          <a:xfrm>
            <a:off x="713232" y="497840"/>
            <a:ext cx="9692640" cy="944880"/>
          </a:xfrm>
        </p:spPr>
        <p:txBody>
          <a:bodyPr>
            <a:normAutofit/>
          </a:bodyPr>
          <a:lstStyle/>
          <a:p>
            <a:r>
              <a:rPr lang="en-US" dirty="0"/>
              <a:t>Evaluation</a:t>
            </a:r>
          </a:p>
        </p:txBody>
      </p:sp>
      <p:sp>
        <p:nvSpPr>
          <p:cNvPr id="3" name="Content Placeholder 2">
            <a:extLst>
              <a:ext uri="{FF2B5EF4-FFF2-40B4-BE49-F238E27FC236}">
                <a16:creationId xmlns:a16="http://schemas.microsoft.com/office/drawing/2014/main" id="{4854414B-3663-C46C-D666-4B50A4ACB607}"/>
              </a:ext>
            </a:extLst>
          </p:cNvPr>
          <p:cNvSpPr>
            <a:spLocks noGrp="1"/>
          </p:cNvSpPr>
          <p:nvPr>
            <p:ph idx="1"/>
          </p:nvPr>
        </p:nvSpPr>
        <p:spPr>
          <a:xfrm>
            <a:off x="1261872" y="1757680"/>
            <a:ext cx="8595360" cy="4422457"/>
          </a:xfrm>
        </p:spPr>
        <p:txBody>
          <a:bodyPr>
            <a:noAutofit/>
          </a:bodyPr>
          <a:lstStyle/>
          <a:p>
            <a:r>
              <a:rPr lang="en-US" sz="2400" dirty="0"/>
              <a:t>Costs </a:t>
            </a:r>
          </a:p>
          <a:p>
            <a:pPr marL="274320" lvl="1" indent="0">
              <a:buNone/>
            </a:pPr>
            <a:r>
              <a:rPr lang="en-US" sz="2400" dirty="0"/>
              <a:t>– $20 million to compensate homeowners</a:t>
            </a:r>
          </a:p>
          <a:p>
            <a:pPr marL="274320" lvl="1" indent="0">
              <a:buNone/>
            </a:pPr>
            <a:r>
              <a:rPr lang="en-US" sz="2400" dirty="0"/>
              <a:t> – $10 million to construct new highway </a:t>
            </a:r>
          </a:p>
          <a:p>
            <a:pPr marL="274320" lvl="1" indent="0">
              <a:buNone/>
            </a:pPr>
            <a:r>
              <a:rPr lang="en-US" sz="2400" dirty="0"/>
              <a:t>– Lost wildlife habitat worth $1 million </a:t>
            </a:r>
          </a:p>
          <a:p>
            <a:r>
              <a:rPr lang="en-US" sz="2400" dirty="0"/>
              <a:t>Benefits – $39 million savings in automobile driving costs </a:t>
            </a:r>
          </a:p>
          <a:p>
            <a:r>
              <a:rPr lang="en-US" sz="2400" dirty="0"/>
              <a:t> Conclusion</a:t>
            </a:r>
          </a:p>
          <a:p>
            <a:pPr marL="274320" lvl="1" indent="0">
              <a:buNone/>
            </a:pPr>
            <a:r>
              <a:rPr lang="en-US" sz="2400" dirty="0"/>
              <a:t>– Benefits exceed costs </a:t>
            </a:r>
          </a:p>
          <a:p>
            <a:pPr marL="274320" lvl="1" indent="0">
              <a:buNone/>
            </a:pPr>
            <a:r>
              <a:rPr lang="en-US" sz="2400" dirty="0"/>
              <a:t>– Building highway a good action </a:t>
            </a:r>
          </a:p>
        </p:txBody>
      </p:sp>
    </p:spTree>
    <p:extLst>
      <p:ext uri="{BB962C8B-B14F-4D97-AF65-F5344CB8AC3E}">
        <p14:creationId xmlns:p14="http://schemas.microsoft.com/office/powerpoint/2010/main" val="678370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30A23-ED85-6CC2-0D48-247450030EF8}"/>
              </a:ext>
            </a:extLst>
          </p:cNvPr>
          <p:cNvSpPr>
            <a:spLocks noGrp="1"/>
          </p:cNvSpPr>
          <p:nvPr>
            <p:ph type="title"/>
          </p:nvPr>
        </p:nvSpPr>
        <p:spPr>
          <a:xfrm>
            <a:off x="1261872" y="528320"/>
            <a:ext cx="9692640" cy="955040"/>
          </a:xfrm>
        </p:spPr>
        <p:txBody>
          <a:bodyPr>
            <a:normAutofit/>
          </a:bodyPr>
          <a:lstStyle/>
          <a:p>
            <a:r>
              <a:rPr lang="en-US" dirty="0"/>
              <a:t>Case for Act Utilitarianism</a:t>
            </a:r>
          </a:p>
        </p:txBody>
      </p:sp>
      <p:sp>
        <p:nvSpPr>
          <p:cNvPr id="3" name="Content Placeholder 2">
            <a:extLst>
              <a:ext uri="{FF2B5EF4-FFF2-40B4-BE49-F238E27FC236}">
                <a16:creationId xmlns:a16="http://schemas.microsoft.com/office/drawing/2014/main" id="{4854414B-3663-C46C-D666-4B50A4ACB607}"/>
              </a:ext>
            </a:extLst>
          </p:cNvPr>
          <p:cNvSpPr>
            <a:spLocks noGrp="1"/>
          </p:cNvSpPr>
          <p:nvPr>
            <p:ph idx="1"/>
          </p:nvPr>
        </p:nvSpPr>
        <p:spPr>
          <a:xfrm>
            <a:off x="1261872" y="1899920"/>
            <a:ext cx="8595360" cy="4280217"/>
          </a:xfrm>
        </p:spPr>
        <p:txBody>
          <a:bodyPr>
            <a:noAutofit/>
          </a:bodyPr>
          <a:lstStyle/>
          <a:p>
            <a:r>
              <a:rPr lang="en-US" sz="2400" dirty="0"/>
              <a:t>Focuses on happiness </a:t>
            </a:r>
          </a:p>
          <a:p>
            <a:r>
              <a:rPr lang="en-US" sz="2400" dirty="0"/>
              <a:t> Down-to-earth (practical) </a:t>
            </a:r>
          </a:p>
          <a:p>
            <a:r>
              <a:rPr lang="en-US" sz="2400" dirty="0"/>
              <a:t> Comprehensive </a:t>
            </a:r>
          </a:p>
        </p:txBody>
      </p:sp>
    </p:spTree>
    <p:extLst>
      <p:ext uri="{BB962C8B-B14F-4D97-AF65-F5344CB8AC3E}">
        <p14:creationId xmlns:p14="http://schemas.microsoft.com/office/powerpoint/2010/main" val="853523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EA0E9-7E1F-5C00-AC83-F7818F963B18}"/>
              </a:ext>
            </a:extLst>
          </p:cNvPr>
          <p:cNvSpPr>
            <a:spLocks noGrp="1"/>
          </p:cNvSpPr>
          <p:nvPr>
            <p:ph type="title"/>
          </p:nvPr>
        </p:nvSpPr>
        <p:spPr/>
        <p:txBody>
          <a:bodyPr/>
          <a:lstStyle/>
          <a:p>
            <a:r>
              <a:rPr lang="en-US" dirty="0"/>
              <a:t>Case Against Act Utilitarianism </a:t>
            </a:r>
          </a:p>
        </p:txBody>
      </p:sp>
      <p:sp>
        <p:nvSpPr>
          <p:cNvPr id="3" name="Content Placeholder 2">
            <a:extLst>
              <a:ext uri="{FF2B5EF4-FFF2-40B4-BE49-F238E27FC236}">
                <a16:creationId xmlns:a16="http://schemas.microsoft.com/office/drawing/2014/main" id="{C6D37FC4-56E4-DAF2-E9CF-72BA9931075E}"/>
              </a:ext>
            </a:extLst>
          </p:cNvPr>
          <p:cNvSpPr>
            <a:spLocks noGrp="1"/>
          </p:cNvSpPr>
          <p:nvPr>
            <p:ph idx="1"/>
          </p:nvPr>
        </p:nvSpPr>
        <p:spPr>
          <a:xfrm>
            <a:off x="1261872" y="2113279"/>
            <a:ext cx="8595360" cy="3322321"/>
          </a:xfrm>
        </p:spPr>
        <p:txBody>
          <a:bodyPr>
            <a:normAutofit fontScale="92500" lnSpcReduction="20000"/>
          </a:bodyPr>
          <a:lstStyle/>
          <a:p>
            <a:r>
              <a:rPr lang="en-US" sz="2800" dirty="0"/>
              <a:t>Unclear whom to include in calculations and how far out into the future to consider </a:t>
            </a:r>
          </a:p>
          <a:p>
            <a:r>
              <a:rPr lang="en-US" sz="2800" dirty="0"/>
              <a:t>Too much work </a:t>
            </a:r>
          </a:p>
          <a:p>
            <a:r>
              <a:rPr lang="en-US" sz="2800" dirty="0"/>
              <a:t>Ignores our innate sense of duty </a:t>
            </a:r>
          </a:p>
          <a:p>
            <a:r>
              <a:rPr lang="en-US" sz="2800" dirty="0"/>
              <a:t>We cannot predict consequences with certainty </a:t>
            </a:r>
          </a:p>
          <a:p>
            <a:r>
              <a:rPr lang="en-US" sz="2800" dirty="0"/>
              <a:t>Susceptible to the problem of moral luck </a:t>
            </a:r>
          </a:p>
          <a:p>
            <a:r>
              <a:rPr lang="en-US" sz="2800" dirty="0"/>
              <a:t>Overall, a workable ethical theory </a:t>
            </a:r>
            <a:endParaRPr lang="en-US" sz="2400" b="1" dirty="0"/>
          </a:p>
        </p:txBody>
      </p:sp>
    </p:spTree>
    <p:extLst>
      <p:ext uri="{BB962C8B-B14F-4D97-AF65-F5344CB8AC3E}">
        <p14:creationId xmlns:p14="http://schemas.microsoft.com/office/powerpoint/2010/main" val="3514680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74D35-D26F-2ED8-6EBE-F22DA1671ECC}"/>
              </a:ext>
            </a:extLst>
          </p:cNvPr>
          <p:cNvSpPr>
            <a:spLocks noGrp="1"/>
          </p:cNvSpPr>
          <p:nvPr>
            <p:ph type="title"/>
          </p:nvPr>
        </p:nvSpPr>
        <p:spPr>
          <a:xfrm>
            <a:off x="814832" y="2336800"/>
            <a:ext cx="9692640" cy="1325562"/>
          </a:xfrm>
        </p:spPr>
        <p:txBody>
          <a:bodyPr/>
          <a:lstStyle/>
          <a:p>
            <a:pPr algn="ctr"/>
            <a:r>
              <a:rPr lang="en-US" dirty="0"/>
              <a:t>Rule Utilitarianism</a:t>
            </a:r>
          </a:p>
        </p:txBody>
      </p:sp>
    </p:spTree>
    <p:extLst>
      <p:ext uri="{BB962C8B-B14F-4D97-AF65-F5344CB8AC3E}">
        <p14:creationId xmlns:p14="http://schemas.microsoft.com/office/powerpoint/2010/main" val="1885755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BBB8F-75AF-F5D0-B463-38A521BAEDE8}"/>
              </a:ext>
            </a:extLst>
          </p:cNvPr>
          <p:cNvSpPr>
            <a:spLocks noGrp="1"/>
          </p:cNvSpPr>
          <p:nvPr>
            <p:ph type="title"/>
          </p:nvPr>
        </p:nvSpPr>
        <p:spPr>
          <a:xfrm>
            <a:off x="1261872" y="365760"/>
            <a:ext cx="9692640" cy="1127760"/>
          </a:xfrm>
        </p:spPr>
        <p:txBody>
          <a:bodyPr/>
          <a:lstStyle/>
          <a:p>
            <a:r>
              <a:rPr lang="en-US" dirty="0"/>
              <a:t>Rule Utilitarianism</a:t>
            </a:r>
          </a:p>
        </p:txBody>
      </p:sp>
      <p:sp>
        <p:nvSpPr>
          <p:cNvPr id="4" name="Content Placeholder 3">
            <a:extLst>
              <a:ext uri="{FF2B5EF4-FFF2-40B4-BE49-F238E27FC236}">
                <a16:creationId xmlns:a16="http://schemas.microsoft.com/office/drawing/2014/main" id="{539A0C74-D4D5-8786-FE76-F26FD676B16F}"/>
              </a:ext>
            </a:extLst>
          </p:cNvPr>
          <p:cNvSpPr>
            <a:spLocks noGrp="1"/>
          </p:cNvSpPr>
          <p:nvPr>
            <p:ph idx="1"/>
          </p:nvPr>
        </p:nvSpPr>
        <p:spPr>
          <a:xfrm>
            <a:off x="1261872" y="2052319"/>
            <a:ext cx="8595360" cy="3098801"/>
          </a:xfrm>
        </p:spPr>
        <p:txBody>
          <a:bodyPr/>
          <a:lstStyle/>
          <a:p>
            <a:r>
              <a:rPr lang="en-US" sz="2400" b="1" dirty="0"/>
              <a:t>Applying Principle of Utility to Rules</a:t>
            </a:r>
          </a:p>
          <a:p>
            <a:r>
              <a:rPr lang="en-US" sz="2000" dirty="0"/>
              <a:t>We ought to adopt moral rules which, if followed by everyone, will lead to the greatest increase in total happiness </a:t>
            </a:r>
          </a:p>
          <a:p>
            <a:r>
              <a:rPr lang="en-US" sz="2000" dirty="0"/>
              <a:t>Act utilitarianism applies Principle of Utility to individual actions </a:t>
            </a:r>
          </a:p>
          <a:p>
            <a:r>
              <a:rPr lang="en-US" sz="2000" dirty="0"/>
              <a:t>Rule utilitarianism applies Principle of Utility to moral rules </a:t>
            </a:r>
          </a:p>
        </p:txBody>
      </p:sp>
    </p:spTree>
    <p:extLst>
      <p:ext uri="{BB962C8B-B14F-4D97-AF65-F5344CB8AC3E}">
        <p14:creationId xmlns:p14="http://schemas.microsoft.com/office/powerpoint/2010/main" val="2847835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73D22-9154-9586-DD2D-6AE630FA5A0C}"/>
              </a:ext>
            </a:extLst>
          </p:cNvPr>
          <p:cNvSpPr>
            <a:spLocks noGrp="1"/>
          </p:cNvSpPr>
          <p:nvPr>
            <p:ph type="title"/>
          </p:nvPr>
        </p:nvSpPr>
        <p:spPr/>
        <p:txBody>
          <a:bodyPr/>
          <a:lstStyle/>
          <a:p>
            <a:r>
              <a:rPr lang="en-US" dirty="0"/>
              <a:t>Scenario</a:t>
            </a:r>
          </a:p>
        </p:txBody>
      </p:sp>
      <p:sp>
        <p:nvSpPr>
          <p:cNvPr id="3" name="Content Placeholder 2">
            <a:extLst>
              <a:ext uri="{FF2B5EF4-FFF2-40B4-BE49-F238E27FC236}">
                <a16:creationId xmlns:a16="http://schemas.microsoft.com/office/drawing/2014/main" id="{96D93301-EEF5-1A75-0BFF-1157F98D4045}"/>
              </a:ext>
            </a:extLst>
          </p:cNvPr>
          <p:cNvSpPr>
            <a:spLocks noGrp="1"/>
          </p:cNvSpPr>
          <p:nvPr>
            <p:ph idx="1"/>
          </p:nvPr>
        </p:nvSpPr>
        <p:spPr/>
        <p:txBody>
          <a:bodyPr/>
          <a:lstStyle/>
          <a:p>
            <a:r>
              <a:rPr lang="en-US" dirty="0"/>
              <a:t>A worm is a self-contained program that spreads through a computer network by taking advantage of security holes in the computers connected to the network. In August 2003, the Blaster worm infected many computers running the Windows 2000, Windows NT, and Windows XP operating systems. The Blaster worm caused computers it infected to reboot every few minutes. Soon another worm was exploiting the same security hole in Windows to spread through the Internet. However, the purpose of the new worm, named Nachi, was benevolent. Since Nachi took advantage of the same security hole as Blaster, it could not infect computers that were immune to the Blaster worm. Once Nachi gained access to a computer with the security hole, it located and destroyed copies of the Blaster worm. It also automatically downloaded from Microsoft a patch to the operating system software that would fix the security problem. Finally, it used the computer as a launching pad to seek out other Windows PCs with the security hole. Was the action of the person who released the Nachi worm morally right or wrong?</a:t>
            </a:r>
          </a:p>
        </p:txBody>
      </p:sp>
    </p:spTree>
    <p:extLst>
      <p:ext uri="{BB962C8B-B14F-4D97-AF65-F5344CB8AC3E}">
        <p14:creationId xmlns:p14="http://schemas.microsoft.com/office/powerpoint/2010/main" val="3403266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EE8B1-E45E-F786-EAB6-A02775E96E43}"/>
              </a:ext>
            </a:extLst>
          </p:cNvPr>
          <p:cNvSpPr>
            <a:spLocks noGrp="1"/>
          </p:cNvSpPr>
          <p:nvPr>
            <p:ph type="title"/>
          </p:nvPr>
        </p:nvSpPr>
        <p:spPr/>
        <p:txBody>
          <a:bodyPr/>
          <a:lstStyle/>
          <a:p>
            <a:r>
              <a:rPr lang="en-US" dirty="0"/>
              <a:t>Anti-Worm Scenario</a:t>
            </a:r>
          </a:p>
        </p:txBody>
      </p:sp>
      <p:sp>
        <p:nvSpPr>
          <p:cNvPr id="3" name="Content Placeholder 2">
            <a:extLst>
              <a:ext uri="{FF2B5EF4-FFF2-40B4-BE49-F238E27FC236}">
                <a16:creationId xmlns:a16="http://schemas.microsoft.com/office/drawing/2014/main" id="{709AB06A-5EA9-E16A-1E12-2C5F6E1DD8CA}"/>
              </a:ext>
            </a:extLst>
          </p:cNvPr>
          <p:cNvSpPr>
            <a:spLocks noGrp="1"/>
          </p:cNvSpPr>
          <p:nvPr>
            <p:ph idx="1"/>
          </p:nvPr>
        </p:nvSpPr>
        <p:spPr>
          <a:xfrm>
            <a:off x="1261872" y="2103121"/>
            <a:ext cx="8595360" cy="3657600"/>
          </a:xfrm>
        </p:spPr>
        <p:txBody>
          <a:bodyPr>
            <a:normAutofit/>
          </a:bodyPr>
          <a:lstStyle/>
          <a:p>
            <a:r>
              <a:rPr lang="en-US" sz="2400" dirty="0"/>
              <a:t>August 2003: Blaster worm infected thousands of Windows computers </a:t>
            </a:r>
          </a:p>
          <a:p>
            <a:r>
              <a:rPr lang="en-US" sz="2400" dirty="0"/>
              <a:t>Soon after, Nachi worm appeared </a:t>
            </a:r>
          </a:p>
          <a:p>
            <a:pPr marL="274320" lvl="1" indent="0">
              <a:buNone/>
            </a:pPr>
            <a:r>
              <a:rPr lang="en-US" sz="2200" dirty="0"/>
              <a:t>– Took control of vulnerable computer</a:t>
            </a:r>
          </a:p>
          <a:p>
            <a:pPr marL="274320" lvl="1" indent="0">
              <a:buNone/>
            </a:pPr>
            <a:r>
              <a:rPr lang="en-US" sz="2200" dirty="0"/>
              <a:t> – Located and destroyed copies of Blaster</a:t>
            </a:r>
          </a:p>
          <a:p>
            <a:pPr marL="274320" lvl="1" indent="0">
              <a:buNone/>
            </a:pPr>
            <a:r>
              <a:rPr lang="en-US" sz="2200" dirty="0"/>
              <a:t> – Downloaded software patch to fix security problem </a:t>
            </a:r>
          </a:p>
          <a:p>
            <a:pPr marL="274320" lvl="1" indent="0">
              <a:buNone/>
            </a:pPr>
            <a:r>
              <a:rPr lang="en-US" sz="2200" dirty="0"/>
              <a:t>– Used computer as launching pad to try to “infect” other    vulnerable PCs </a:t>
            </a:r>
          </a:p>
        </p:txBody>
      </p:sp>
    </p:spTree>
    <p:extLst>
      <p:ext uri="{BB962C8B-B14F-4D97-AF65-F5344CB8AC3E}">
        <p14:creationId xmlns:p14="http://schemas.microsoft.com/office/powerpoint/2010/main" val="1786525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AD79D-AA7F-F8E7-9B9D-9777B8C1566A}"/>
              </a:ext>
            </a:extLst>
          </p:cNvPr>
          <p:cNvSpPr>
            <a:spLocks noGrp="1"/>
          </p:cNvSpPr>
          <p:nvPr>
            <p:ph type="title"/>
          </p:nvPr>
        </p:nvSpPr>
        <p:spPr>
          <a:xfrm>
            <a:off x="703072" y="365760"/>
            <a:ext cx="9692640" cy="1259840"/>
          </a:xfrm>
        </p:spPr>
        <p:txBody>
          <a:bodyPr/>
          <a:lstStyle/>
          <a:p>
            <a:r>
              <a:rPr lang="en-US" dirty="0"/>
              <a:t>Evaluation using Rule Utilitarianism </a:t>
            </a:r>
          </a:p>
        </p:txBody>
      </p:sp>
      <p:sp>
        <p:nvSpPr>
          <p:cNvPr id="3" name="Content Placeholder 2">
            <a:extLst>
              <a:ext uri="{FF2B5EF4-FFF2-40B4-BE49-F238E27FC236}">
                <a16:creationId xmlns:a16="http://schemas.microsoft.com/office/drawing/2014/main" id="{7CBAE835-0E44-BA51-FBEF-6018FAEE5C46}"/>
              </a:ext>
            </a:extLst>
          </p:cNvPr>
          <p:cNvSpPr>
            <a:spLocks noGrp="1"/>
          </p:cNvSpPr>
          <p:nvPr>
            <p:ph idx="1"/>
          </p:nvPr>
        </p:nvSpPr>
        <p:spPr>
          <a:xfrm>
            <a:off x="1261872" y="1838960"/>
            <a:ext cx="8595360" cy="4341177"/>
          </a:xfrm>
        </p:spPr>
        <p:txBody>
          <a:bodyPr>
            <a:normAutofit fontScale="92500" lnSpcReduction="10000"/>
          </a:bodyPr>
          <a:lstStyle/>
          <a:p>
            <a:pPr marL="0" indent="0">
              <a:buNone/>
            </a:pPr>
            <a:r>
              <a:rPr lang="en-US" sz="2400" dirty="0"/>
              <a:t>• Proposed rule: If I can write a helpful worm that removes a harmful worm from infected computers and shields them from future attacks, I should do so </a:t>
            </a:r>
          </a:p>
          <a:p>
            <a:pPr marL="0" indent="0">
              <a:buNone/>
            </a:pPr>
            <a:r>
              <a:rPr lang="en-US" sz="2400" dirty="0"/>
              <a:t>• Who would benefit</a:t>
            </a:r>
          </a:p>
          <a:p>
            <a:pPr marL="0" indent="0">
              <a:buNone/>
            </a:pPr>
            <a:r>
              <a:rPr lang="en-US" sz="2400" dirty="0"/>
              <a:t>    – People who do not keep their systems updated </a:t>
            </a:r>
          </a:p>
          <a:p>
            <a:pPr marL="0" indent="0">
              <a:buNone/>
            </a:pPr>
            <a:r>
              <a:rPr lang="en-US" sz="2400" dirty="0"/>
              <a:t>• Who would be harmed </a:t>
            </a:r>
          </a:p>
          <a:p>
            <a:pPr marL="274320" lvl="1" indent="0">
              <a:buNone/>
            </a:pPr>
            <a:r>
              <a:rPr lang="en-US" sz="2200" dirty="0"/>
              <a:t>– People who use networks </a:t>
            </a:r>
          </a:p>
          <a:p>
            <a:pPr marL="274320" lvl="1" indent="0">
              <a:buNone/>
            </a:pPr>
            <a:r>
              <a:rPr lang="en-US" sz="2200" dirty="0"/>
              <a:t>– People who’s computers are invaded by buggy </a:t>
            </a:r>
            <a:r>
              <a:rPr lang="en-US" sz="2200" dirty="0" err="1"/>
              <a:t>antiworms</a:t>
            </a:r>
            <a:r>
              <a:rPr lang="en-US" sz="2200" dirty="0"/>
              <a:t> – System administrators </a:t>
            </a:r>
          </a:p>
          <a:p>
            <a:pPr marL="0" indent="0">
              <a:buNone/>
            </a:pPr>
            <a:r>
              <a:rPr lang="en-US" sz="2400" dirty="0"/>
              <a:t>• Conclusion: Harm outweighs benefits. Releasing antiworm is wrong.</a:t>
            </a:r>
          </a:p>
        </p:txBody>
      </p:sp>
    </p:spTree>
    <p:extLst>
      <p:ext uri="{BB962C8B-B14F-4D97-AF65-F5344CB8AC3E}">
        <p14:creationId xmlns:p14="http://schemas.microsoft.com/office/powerpoint/2010/main" val="3238398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CCBA-52B1-5D7D-D566-996B64407AE0}"/>
              </a:ext>
            </a:extLst>
          </p:cNvPr>
          <p:cNvSpPr>
            <a:spLocks noGrp="1"/>
          </p:cNvSpPr>
          <p:nvPr>
            <p:ph type="title"/>
          </p:nvPr>
        </p:nvSpPr>
        <p:spPr>
          <a:xfrm>
            <a:off x="642112" y="416560"/>
            <a:ext cx="9692640" cy="1325562"/>
          </a:xfrm>
        </p:spPr>
        <p:txBody>
          <a:bodyPr/>
          <a:lstStyle/>
          <a:p>
            <a:r>
              <a:rPr lang="en-US" dirty="0"/>
              <a:t>Case for Rule Utilitarianism</a:t>
            </a:r>
          </a:p>
        </p:txBody>
      </p:sp>
      <p:sp>
        <p:nvSpPr>
          <p:cNvPr id="3" name="Content Placeholder 2">
            <a:extLst>
              <a:ext uri="{FF2B5EF4-FFF2-40B4-BE49-F238E27FC236}">
                <a16:creationId xmlns:a16="http://schemas.microsoft.com/office/drawing/2014/main" id="{B97CAD52-C9D9-A5FF-D705-81A341318A32}"/>
              </a:ext>
            </a:extLst>
          </p:cNvPr>
          <p:cNvSpPr>
            <a:spLocks noGrp="1"/>
          </p:cNvSpPr>
          <p:nvPr>
            <p:ph idx="1"/>
          </p:nvPr>
        </p:nvSpPr>
        <p:spPr>
          <a:xfrm>
            <a:off x="1261872" y="2255521"/>
            <a:ext cx="8595360" cy="3657600"/>
          </a:xfrm>
        </p:spPr>
        <p:txBody>
          <a:bodyPr>
            <a:normAutofit/>
          </a:bodyPr>
          <a:lstStyle/>
          <a:p>
            <a:r>
              <a:rPr lang="en-US" sz="2400" dirty="0"/>
              <a:t>Not every moral decision requires performing utilitarian calculus</a:t>
            </a:r>
          </a:p>
          <a:p>
            <a:r>
              <a:rPr lang="en-US" sz="2400" dirty="0"/>
              <a:t> Moral rules survive exceptional situations</a:t>
            </a:r>
          </a:p>
          <a:p>
            <a:r>
              <a:rPr lang="en-US" sz="2400" dirty="0"/>
              <a:t> Avoids the problem of moral luck</a:t>
            </a:r>
          </a:p>
          <a:p>
            <a:r>
              <a:rPr lang="en-US" sz="2400" dirty="0"/>
              <a:t> Reduces the problem of bias </a:t>
            </a:r>
          </a:p>
          <a:p>
            <a:r>
              <a:rPr lang="en-US" sz="2400" dirty="0"/>
              <a:t>Appeals to a wide cross-section of society </a:t>
            </a:r>
          </a:p>
        </p:txBody>
      </p:sp>
    </p:spTree>
    <p:extLst>
      <p:ext uri="{BB962C8B-B14F-4D97-AF65-F5344CB8AC3E}">
        <p14:creationId xmlns:p14="http://schemas.microsoft.com/office/powerpoint/2010/main" val="22964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15F21-1F92-46BA-C45F-23A54E6CC696}"/>
              </a:ext>
            </a:extLst>
          </p:cNvPr>
          <p:cNvSpPr>
            <a:spLocks noGrp="1"/>
          </p:cNvSpPr>
          <p:nvPr>
            <p:ph type="title"/>
          </p:nvPr>
        </p:nvSpPr>
        <p:spPr>
          <a:xfrm>
            <a:off x="794512" y="426720"/>
            <a:ext cx="9692640" cy="894080"/>
          </a:xfrm>
        </p:spPr>
        <p:txBody>
          <a:bodyPr>
            <a:normAutofit fontScale="90000"/>
          </a:bodyPr>
          <a:lstStyle/>
          <a:p>
            <a:r>
              <a:rPr lang="en-US" dirty="0"/>
              <a:t>Case Against Utilitarianism in General</a:t>
            </a:r>
          </a:p>
        </p:txBody>
      </p:sp>
      <p:sp>
        <p:nvSpPr>
          <p:cNvPr id="3" name="Content Placeholder 2">
            <a:extLst>
              <a:ext uri="{FF2B5EF4-FFF2-40B4-BE49-F238E27FC236}">
                <a16:creationId xmlns:a16="http://schemas.microsoft.com/office/drawing/2014/main" id="{D8A4E5A5-02BC-4E53-F3EF-96F5EA4856A2}"/>
              </a:ext>
            </a:extLst>
          </p:cNvPr>
          <p:cNvSpPr>
            <a:spLocks noGrp="1"/>
          </p:cNvSpPr>
          <p:nvPr>
            <p:ph idx="1"/>
          </p:nvPr>
        </p:nvSpPr>
        <p:spPr>
          <a:xfrm>
            <a:off x="1261872" y="1615440"/>
            <a:ext cx="8595360" cy="4378961"/>
          </a:xfrm>
        </p:spPr>
        <p:txBody>
          <a:bodyPr>
            <a:normAutofit fontScale="92500" lnSpcReduction="10000"/>
          </a:bodyPr>
          <a:lstStyle/>
          <a:p>
            <a:r>
              <a:rPr lang="en-US" sz="2400" dirty="0"/>
              <a:t>All consequences must be measured on a single scale.</a:t>
            </a:r>
          </a:p>
          <a:p>
            <a:pPr marL="274320" lvl="1" indent="0">
              <a:buNone/>
            </a:pPr>
            <a:r>
              <a:rPr lang="en-US" sz="2200" dirty="0"/>
              <a:t>– All units must be the same in order to do the sum </a:t>
            </a:r>
          </a:p>
          <a:p>
            <a:pPr marL="274320" lvl="1" indent="0">
              <a:buNone/>
            </a:pPr>
            <a:r>
              <a:rPr lang="en-US" sz="2200" dirty="0"/>
              <a:t>– In certain circumstances utilitarians must quantify the value of a human life </a:t>
            </a:r>
          </a:p>
          <a:p>
            <a:pPr marL="0" indent="0">
              <a:buNone/>
            </a:pPr>
            <a:r>
              <a:rPr lang="en-US" sz="2400" dirty="0"/>
              <a:t>• Utilitarianism ignores the problem of an unjust distribution of good consequences. </a:t>
            </a:r>
          </a:p>
          <a:p>
            <a:pPr marL="274320" lvl="1" indent="0">
              <a:buNone/>
            </a:pPr>
            <a:r>
              <a:rPr lang="en-US" sz="2200" dirty="0"/>
              <a:t>– Utilitarianism does not mean “the greatest good of the greatest number”</a:t>
            </a:r>
          </a:p>
          <a:p>
            <a:pPr marL="274320" lvl="1" indent="0">
              <a:buNone/>
            </a:pPr>
            <a:r>
              <a:rPr lang="en-US" sz="2200" dirty="0"/>
              <a:t>– That requires a principle of justice </a:t>
            </a:r>
          </a:p>
          <a:p>
            <a:pPr marL="274320" lvl="1" indent="0">
              <a:buNone/>
            </a:pPr>
            <a:r>
              <a:rPr lang="en-US" sz="2200" dirty="0"/>
              <a:t>– What happens when a conflict arises between the Principle of Utility and a principle of justice? </a:t>
            </a:r>
          </a:p>
          <a:p>
            <a:r>
              <a:rPr lang="en-US" sz="2400" dirty="0"/>
              <a:t>Despite weaknesses, both act utilitarianism and rule utilitarianism are workable ethical theories </a:t>
            </a:r>
            <a:endParaRPr lang="en-US" sz="2200" dirty="0"/>
          </a:p>
        </p:txBody>
      </p:sp>
    </p:spTree>
    <p:extLst>
      <p:ext uri="{BB962C8B-B14F-4D97-AF65-F5344CB8AC3E}">
        <p14:creationId xmlns:p14="http://schemas.microsoft.com/office/powerpoint/2010/main" val="916390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9D6C-AD78-C496-FF63-E5EBE09C6CE4}"/>
              </a:ext>
            </a:extLst>
          </p:cNvPr>
          <p:cNvSpPr>
            <a:spLocks noGrp="1"/>
          </p:cNvSpPr>
          <p:nvPr>
            <p:ph type="title"/>
          </p:nvPr>
        </p:nvSpPr>
        <p:spPr>
          <a:xfrm>
            <a:off x="601472" y="345440"/>
            <a:ext cx="9692640" cy="863600"/>
          </a:xfrm>
        </p:spPr>
        <p:txBody>
          <a:bodyPr/>
          <a:lstStyle/>
          <a:p>
            <a:r>
              <a:rPr lang="en-US" dirty="0"/>
              <a:t>Social Contract Theory</a:t>
            </a:r>
          </a:p>
        </p:txBody>
      </p:sp>
      <p:sp>
        <p:nvSpPr>
          <p:cNvPr id="3" name="Content Placeholder 2">
            <a:extLst>
              <a:ext uri="{FF2B5EF4-FFF2-40B4-BE49-F238E27FC236}">
                <a16:creationId xmlns:a16="http://schemas.microsoft.com/office/drawing/2014/main" id="{28BFC84C-57A4-6ED4-D784-EE2D25D70B0B}"/>
              </a:ext>
            </a:extLst>
          </p:cNvPr>
          <p:cNvSpPr>
            <a:spLocks noGrp="1"/>
          </p:cNvSpPr>
          <p:nvPr>
            <p:ph idx="1"/>
          </p:nvPr>
        </p:nvSpPr>
        <p:spPr>
          <a:xfrm>
            <a:off x="1261872" y="1503680"/>
            <a:ext cx="8595360" cy="4399281"/>
          </a:xfrm>
        </p:spPr>
        <p:txBody>
          <a:bodyPr>
            <a:noAutofit/>
          </a:bodyPr>
          <a:lstStyle/>
          <a:p>
            <a:pPr marL="274320" lvl="1" indent="0">
              <a:buNone/>
            </a:pPr>
            <a:r>
              <a:rPr lang="en-US" sz="2800" b="1" dirty="0"/>
              <a:t>Basis of Social Contract Theory</a:t>
            </a:r>
          </a:p>
          <a:p>
            <a:pPr marL="274320" lvl="1" indent="0">
              <a:buNone/>
            </a:pPr>
            <a:endParaRPr lang="en-US" sz="2800" dirty="0"/>
          </a:p>
          <a:p>
            <a:pPr lvl="1"/>
            <a:r>
              <a:rPr lang="en-US" sz="2800" dirty="0"/>
              <a:t> Thomas Hobbes </a:t>
            </a:r>
          </a:p>
          <a:p>
            <a:pPr marL="822960" lvl="3" indent="0">
              <a:buNone/>
            </a:pPr>
            <a:r>
              <a:rPr lang="en-US" sz="2400" dirty="0"/>
              <a:t>– In a “state of nature” our lives would be “solitary, </a:t>
            </a:r>
            <a:r>
              <a:rPr lang="en-US" sz="2400" dirty="0" err="1"/>
              <a:t>poore</a:t>
            </a:r>
            <a:r>
              <a:rPr lang="en-US" sz="2400" dirty="0"/>
              <a:t>, nasty, brutish, and short”</a:t>
            </a:r>
          </a:p>
          <a:p>
            <a:pPr marL="822960" lvl="3" indent="0">
              <a:buNone/>
            </a:pPr>
            <a:r>
              <a:rPr lang="en-US" sz="2400" dirty="0"/>
              <a:t>– We implicitly accept a social contract </a:t>
            </a:r>
          </a:p>
          <a:p>
            <a:pPr marL="1417120" lvl="5" indent="0">
              <a:buNone/>
            </a:pPr>
            <a:r>
              <a:rPr lang="en-US" sz="2600" dirty="0"/>
              <a:t>• Establishment of moral rules to govern relations among citizens </a:t>
            </a:r>
          </a:p>
          <a:p>
            <a:pPr marL="1417120" lvl="5" indent="0">
              <a:buNone/>
            </a:pPr>
            <a:r>
              <a:rPr lang="en-US" sz="2600" dirty="0"/>
              <a:t>• Government capable of enforcing these rules</a:t>
            </a:r>
          </a:p>
        </p:txBody>
      </p:sp>
    </p:spTree>
    <p:extLst>
      <p:ext uri="{BB962C8B-B14F-4D97-AF65-F5344CB8AC3E}">
        <p14:creationId xmlns:p14="http://schemas.microsoft.com/office/powerpoint/2010/main" val="2696008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9D6C-AD78-C496-FF63-E5EBE09C6CE4}"/>
              </a:ext>
            </a:extLst>
          </p:cNvPr>
          <p:cNvSpPr>
            <a:spLocks noGrp="1"/>
          </p:cNvSpPr>
          <p:nvPr>
            <p:ph type="title"/>
          </p:nvPr>
        </p:nvSpPr>
        <p:spPr>
          <a:xfrm>
            <a:off x="601472" y="345440"/>
            <a:ext cx="9692640" cy="863600"/>
          </a:xfrm>
        </p:spPr>
        <p:txBody>
          <a:bodyPr/>
          <a:lstStyle/>
          <a:p>
            <a:r>
              <a:rPr lang="en-US" dirty="0"/>
              <a:t>Social Contract Theory</a:t>
            </a:r>
          </a:p>
        </p:txBody>
      </p:sp>
      <p:sp>
        <p:nvSpPr>
          <p:cNvPr id="3" name="Content Placeholder 2">
            <a:extLst>
              <a:ext uri="{FF2B5EF4-FFF2-40B4-BE49-F238E27FC236}">
                <a16:creationId xmlns:a16="http://schemas.microsoft.com/office/drawing/2014/main" id="{28BFC84C-57A4-6ED4-D784-EE2D25D70B0B}"/>
              </a:ext>
            </a:extLst>
          </p:cNvPr>
          <p:cNvSpPr>
            <a:spLocks noGrp="1"/>
          </p:cNvSpPr>
          <p:nvPr>
            <p:ph idx="1"/>
          </p:nvPr>
        </p:nvSpPr>
        <p:spPr>
          <a:xfrm>
            <a:off x="1261872" y="1767840"/>
            <a:ext cx="8595360" cy="4135121"/>
          </a:xfrm>
        </p:spPr>
        <p:txBody>
          <a:bodyPr>
            <a:noAutofit/>
          </a:bodyPr>
          <a:lstStyle/>
          <a:p>
            <a:pPr marL="274320" lvl="1" indent="0">
              <a:buNone/>
            </a:pPr>
            <a:r>
              <a:rPr lang="en-US" sz="3200" dirty="0"/>
              <a:t>• Jean-Jacques Rousseau</a:t>
            </a:r>
          </a:p>
          <a:p>
            <a:pPr marL="822960" lvl="3" indent="0">
              <a:buNone/>
            </a:pPr>
            <a:r>
              <a:rPr lang="en-US" sz="3000" dirty="0"/>
              <a:t> – In ideal society, no one above rules </a:t>
            </a:r>
          </a:p>
          <a:p>
            <a:pPr marL="822960" lvl="3" indent="0">
              <a:buNone/>
            </a:pPr>
            <a:r>
              <a:rPr lang="en-US" sz="3000" dirty="0"/>
              <a:t>– That prevents society from enacting bad rules</a:t>
            </a:r>
            <a:endParaRPr lang="en-US" sz="2200" b="1" dirty="0"/>
          </a:p>
        </p:txBody>
      </p:sp>
    </p:spTree>
    <p:extLst>
      <p:ext uri="{BB962C8B-B14F-4D97-AF65-F5344CB8AC3E}">
        <p14:creationId xmlns:p14="http://schemas.microsoft.com/office/powerpoint/2010/main" val="218752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9D6C-AD78-C496-FF63-E5EBE09C6CE4}"/>
              </a:ext>
            </a:extLst>
          </p:cNvPr>
          <p:cNvSpPr>
            <a:spLocks noGrp="1"/>
          </p:cNvSpPr>
          <p:nvPr>
            <p:ph type="title"/>
          </p:nvPr>
        </p:nvSpPr>
        <p:spPr>
          <a:xfrm>
            <a:off x="601472" y="345440"/>
            <a:ext cx="9692640" cy="863600"/>
          </a:xfrm>
        </p:spPr>
        <p:txBody>
          <a:bodyPr/>
          <a:lstStyle/>
          <a:p>
            <a:r>
              <a:rPr lang="en-US" dirty="0"/>
              <a:t>James Rachels’s Definition</a:t>
            </a:r>
          </a:p>
        </p:txBody>
      </p:sp>
      <p:sp>
        <p:nvSpPr>
          <p:cNvPr id="3" name="Content Placeholder 2">
            <a:extLst>
              <a:ext uri="{FF2B5EF4-FFF2-40B4-BE49-F238E27FC236}">
                <a16:creationId xmlns:a16="http://schemas.microsoft.com/office/drawing/2014/main" id="{28BFC84C-57A4-6ED4-D784-EE2D25D70B0B}"/>
              </a:ext>
            </a:extLst>
          </p:cNvPr>
          <p:cNvSpPr>
            <a:spLocks noGrp="1"/>
          </p:cNvSpPr>
          <p:nvPr>
            <p:ph idx="1"/>
          </p:nvPr>
        </p:nvSpPr>
        <p:spPr>
          <a:xfrm>
            <a:off x="1261872" y="1767840"/>
            <a:ext cx="8595360" cy="4135121"/>
          </a:xfrm>
        </p:spPr>
        <p:txBody>
          <a:bodyPr>
            <a:noAutofit/>
          </a:bodyPr>
          <a:lstStyle/>
          <a:p>
            <a:pPr marL="274320" lvl="1" indent="0">
              <a:buNone/>
            </a:pPr>
            <a:r>
              <a:rPr lang="en-US" sz="2800" dirty="0"/>
              <a:t>“Morality consists in the set of rules, governing how people are to treat one another, that rational people will agree to accept, for their mutual benefit, on the condition that others follow those rules as well.”</a:t>
            </a:r>
            <a:endParaRPr lang="en-US" sz="2800" b="1" dirty="0"/>
          </a:p>
        </p:txBody>
      </p:sp>
    </p:spTree>
    <p:extLst>
      <p:ext uri="{BB962C8B-B14F-4D97-AF65-F5344CB8AC3E}">
        <p14:creationId xmlns:p14="http://schemas.microsoft.com/office/powerpoint/2010/main" val="852676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9D6C-AD78-C496-FF63-E5EBE09C6CE4}"/>
              </a:ext>
            </a:extLst>
          </p:cNvPr>
          <p:cNvSpPr>
            <a:spLocks noGrp="1"/>
          </p:cNvSpPr>
          <p:nvPr>
            <p:ph type="title"/>
          </p:nvPr>
        </p:nvSpPr>
        <p:spPr>
          <a:xfrm>
            <a:off x="601472" y="345440"/>
            <a:ext cx="9692640" cy="863600"/>
          </a:xfrm>
        </p:spPr>
        <p:txBody>
          <a:bodyPr/>
          <a:lstStyle/>
          <a:p>
            <a:r>
              <a:rPr lang="en-US" dirty="0"/>
              <a:t>Kinds of Rights</a:t>
            </a:r>
          </a:p>
        </p:txBody>
      </p:sp>
      <p:sp>
        <p:nvSpPr>
          <p:cNvPr id="3" name="Content Placeholder 2">
            <a:extLst>
              <a:ext uri="{FF2B5EF4-FFF2-40B4-BE49-F238E27FC236}">
                <a16:creationId xmlns:a16="http://schemas.microsoft.com/office/drawing/2014/main" id="{28BFC84C-57A4-6ED4-D784-EE2D25D70B0B}"/>
              </a:ext>
            </a:extLst>
          </p:cNvPr>
          <p:cNvSpPr>
            <a:spLocks noGrp="1"/>
          </p:cNvSpPr>
          <p:nvPr>
            <p:ph idx="1"/>
          </p:nvPr>
        </p:nvSpPr>
        <p:spPr>
          <a:xfrm>
            <a:off x="1261872" y="1767840"/>
            <a:ext cx="8595360" cy="4135121"/>
          </a:xfrm>
        </p:spPr>
        <p:txBody>
          <a:bodyPr>
            <a:noAutofit/>
          </a:bodyPr>
          <a:lstStyle/>
          <a:p>
            <a:pPr marL="274320" lvl="1" indent="0">
              <a:buNone/>
            </a:pPr>
            <a:r>
              <a:rPr lang="en-US" sz="2800" dirty="0"/>
              <a:t>•Negative right: A right that another can guarantee by leaving you alone </a:t>
            </a:r>
          </a:p>
          <a:p>
            <a:pPr marL="274320" lvl="1" indent="0">
              <a:buNone/>
            </a:pPr>
            <a:r>
              <a:rPr lang="en-US" sz="2800" dirty="0"/>
              <a:t>• Positive right: A right obligating others to do something on your behalf </a:t>
            </a:r>
          </a:p>
          <a:p>
            <a:pPr marL="274320" lvl="1" indent="0">
              <a:buNone/>
            </a:pPr>
            <a:r>
              <a:rPr lang="en-US" sz="2800" dirty="0"/>
              <a:t>• </a:t>
            </a:r>
            <a:r>
              <a:rPr lang="en-US" sz="2400" dirty="0"/>
              <a:t>Absolute</a:t>
            </a:r>
            <a:r>
              <a:rPr lang="en-US" sz="2800" dirty="0"/>
              <a:t> right: A right guaranteed without exception </a:t>
            </a:r>
          </a:p>
          <a:p>
            <a:pPr marL="274320" lvl="1" indent="0">
              <a:buNone/>
            </a:pPr>
            <a:r>
              <a:rPr lang="en-US" sz="2800" dirty="0"/>
              <a:t>• Limited right: A right that may be restricted based on the circumstance</a:t>
            </a:r>
            <a:endParaRPr lang="en-US" sz="2800" b="1" dirty="0"/>
          </a:p>
        </p:txBody>
      </p:sp>
    </p:spTree>
    <p:extLst>
      <p:ext uri="{BB962C8B-B14F-4D97-AF65-F5344CB8AC3E}">
        <p14:creationId xmlns:p14="http://schemas.microsoft.com/office/powerpoint/2010/main" val="483441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9D6C-AD78-C496-FF63-E5EBE09C6CE4}"/>
              </a:ext>
            </a:extLst>
          </p:cNvPr>
          <p:cNvSpPr>
            <a:spLocks noGrp="1"/>
          </p:cNvSpPr>
          <p:nvPr>
            <p:ph type="title"/>
          </p:nvPr>
        </p:nvSpPr>
        <p:spPr>
          <a:xfrm>
            <a:off x="601472" y="345440"/>
            <a:ext cx="9692640" cy="1036320"/>
          </a:xfrm>
        </p:spPr>
        <p:txBody>
          <a:bodyPr/>
          <a:lstStyle/>
          <a:p>
            <a:r>
              <a:rPr lang="en-US" dirty="0"/>
              <a:t>Correlation between Types of Rights</a:t>
            </a:r>
          </a:p>
        </p:txBody>
      </p:sp>
      <p:sp>
        <p:nvSpPr>
          <p:cNvPr id="3" name="Content Placeholder 2">
            <a:extLst>
              <a:ext uri="{FF2B5EF4-FFF2-40B4-BE49-F238E27FC236}">
                <a16:creationId xmlns:a16="http://schemas.microsoft.com/office/drawing/2014/main" id="{28BFC84C-57A4-6ED4-D784-EE2D25D70B0B}"/>
              </a:ext>
            </a:extLst>
          </p:cNvPr>
          <p:cNvSpPr>
            <a:spLocks noGrp="1"/>
          </p:cNvSpPr>
          <p:nvPr>
            <p:ph idx="1"/>
          </p:nvPr>
        </p:nvSpPr>
        <p:spPr>
          <a:xfrm>
            <a:off x="1261872" y="2032000"/>
            <a:ext cx="8595360" cy="3870961"/>
          </a:xfrm>
        </p:spPr>
        <p:txBody>
          <a:bodyPr>
            <a:noAutofit/>
          </a:bodyPr>
          <a:lstStyle/>
          <a:p>
            <a:pPr lvl="1"/>
            <a:r>
              <a:rPr lang="en-US" sz="3200" dirty="0"/>
              <a:t>Positive rights tend to be more limited </a:t>
            </a:r>
          </a:p>
          <a:p>
            <a:pPr lvl="1"/>
            <a:r>
              <a:rPr lang="en-US" sz="3200" dirty="0"/>
              <a:t>Negative rights tends to be more absolute</a:t>
            </a:r>
            <a:endParaRPr lang="en-US" sz="2800" b="1" dirty="0"/>
          </a:p>
        </p:txBody>
      </p:sp>
    </p:spTree>
    <p:extLst>
      <p:ext uri="{BB962C8B-B14F-4D97-AF65-F5344CB8AC3E}">
        <p14:creationId xmlns:p14="http://schemas.microsoft.com/office/powerpoint/2010/main" val="725106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04F96-48FC-162E-7AC7-EFEADBBFC4D8}"/>
              </a:ext>
            </a:extLst>
          </p:cNvPr>
          <p:cNvSpPr>
            <a:spLocks noGrp="1"/>
          </p:cNvSpPr>
          <p:nvPr>
            <p:ph type="title"/>
          </p:nvPr>
        </p:nvSpPr>
        <p:spPr>
          <a:xfrm>
            <a:off x="703072" y="487680"/>
            <a:ext cx="9692640" cy="1188720"/>
          </a:xfrm>
        </p:spPr>
        <p:txBody>
          <a:bodyPr/>
          <a:lstStyle/>
          <a:p>
            <a:r>
              <a:rPr lang="en-US" dirty="0"/>
              <a:t>John Rawls’s Principles of Justice</a:t>
            </a:r>
          </a:p>
        </p:txBody>
      </p:sp>
      <p:sp>
        <p:nvSpPr>
          <p:cNvPr id="3" name="Content Placeholder 2">
            <a:extLst>
              <a:ext uri="{FF2B5EF4-FFF2-40B4-BE49-F238E27FC236}">
                <a16:creationId xmlns:a16="http://schemas.microsoft.com/office/drawing/2014/main" id="{DD663ED6-06CC-362C-96FD-BF2793A616C1}"/>
              </a:ext>
            </a:extLst>
          </p:cNvPr>
          <p:cNvSpPr>
            <a:spLocks noGrp="1"/>
          </p:cNvSpPr>
          <p:nvPr>
            <p:ph idx="1"/>
          </p:nvPr>
        </p:nvSpPr>
        <p:spPr>
          <a:xfrm>
            <a:off x="1261872" y="2042160"/>
            <a:ext cx="8595360" cy="4137977"/>
          </a:xfrm>
        </p:spPr>
        <p:txBody>
          <a:bodyPr>
            <a:normAutofit/>
          </a:bodyPr>
          <a:lstStyle/>
          <a:p>
            <a:r>
              <a:rPr lang="en-US" sz="2400" dirty="0"/>
              <a:t>Each person may claim a “fully adequate” number of basic rights and liberties, so long as these claims are consistent with everyone else having a claim to the same rights and liberties </a:t>
            </a:r>
          </a:p>
          <a:p>
            <a:r>
              <a:rPr lang="en-US" sz="2400" dirty="0"/>
              <a:t>Any social and economic inequalities must </a:t>
            </a:r>
          </a:p>
          <a:p>
            <a:pPr marL="274320" lvl="1" indent="0">
              <a:buNone/>
            </a:pPr>
            <a:r>
              <a:rPr lang="en-US" sz="2400" dirty="0"/>
              <a:t>– Be associated with positions that everyone has a fair and equal opportunity to achieve </a:t>
            </a:r>
          </a:p>
          <a:p>
            <a:pPr marL="274320" lvl="1" indent="0">
              <a:buNone/>
            </a:pPr>
            <a:r>
              <a:rPr lang="en-US" sz="2400" dirty="0"/>
              <a:t>– Be to the greatest benefit of the least-advantaged members of society (the difference principle)</a:t>
            </a:r>
          </a:p>
          <a:p>
            <a:endParaRPr lang="en-US" sz="2400" dirty="0"/>
          </a:p>
        </p:txBody>
      </p:sp>
    </p:spTree>
    <p:extLst>
      <p:ext uri="{BB962C8B-B14F-4D97-AF65-F5344CB8AC3E}">
        <p14:creationId xmlns:p14="http://schemas.microsoft.com/office/powerpoint/2010/main" val="32904075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873EF-6240-F2BE-71E9-F68A4EDFE8FA}"/>
              </a:ext>
            </a:extLst>
          </p:cNvPr>
          <p:cNvSpPr>
            <a:spLocks noGrp="1"/>
          </p:cNvSpPr>
          <p:nvPr>
            <p:ph type="title"/>
          </p:nvPr>
        </p:nvSpPr>
        <p:spPr/>
        <p:txBody>
          <a:bodyPr/>
          <a:lstStyle/>
          <a:p>
            <a:r>
              <a:rPr lang="en-US" dirty="0"/>
              <a:t>Scenario</a:t>
            </a:r>
          </a:p>
        </p:txBody>
      </p:sp>
      <p:sp>
        <p:nvSpPr>
          <p:cNvPr id="3" name="Content Placeholder 2">
            <a:extLst>
              <a:ext uri="{FF2B5EF4-FFF2-40B4-BE49-F238E27FC236}">
                <a16:creationId xmlns:a16="http://schemas.microsoft.com/office/drawing/2014/main" id="{2F033130-6832-D006-27DB-007D67B91BCD}"/>
              </a:ext>
            </a:extLst>
          </p:cNvPr>
          <p:cNvSpPr>
            <a:spLocks noGrp="1"/>
          </p:cNvSpPr>
          <p:nvPr>
            <p:ph idx="1"/>
          </p:nvPr>
        </p:nvSpPr>
        <p:spPr/>
        <p:txBody>
          <a:bodyPr>
            <a:normAutofit/>
          </a:bodyPr>
          <a:lstStyle/>
          <a:p>
            <a:r>
              <a:rPr lang="en-US" sz="2400" dirty="0"/>
              <a:t>Bill, the owner of a chain of DVD rental stores in a major metropolitan area, uses a computer to keep track of the DVDs rented by each customer. Using this information, he is able to construct profiles of the customers. For example, a customer who rents a large number of Disney titles is likely to have children. Bill sells these profiles to mail-order companies. The customers begin receiving many unsolicited mail-order catalogs. Some of the customers are happy to receive these catalogs and make use of them to order products. Others are unhappy at the increase in the amount of “junk mail” they are receiving.</a:t>
            </a:r>
          </a:p>
        </p:txBody>
      </p:sp>
    </p:spTree>
    <p:extLst>
      <p:ext uri="{BB962C8B-B14F-4D97-AF65-F5344CB8AC3E}">
        <p14:creationId xmlns:p14="http://schemas.microsoft.com/office/powerpoint/2010/main" val="2337899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3F60F-F7E6-AA1E-04F8-6AF90B9B7562}"/>
              </a:ext>
            </a:extLst>
          </p:cNvPr>
          <p:cNvSpPr>
            <a:spLocks noGrp="1"/>
          </p:cNvSpPr>
          <p:nvPr>
            <p:ph type="title"/>
          </p:nvPr>
        </p:nvSpPr>
        <p:spPr>
          <a:xfrm>
            <a:off x="764032" y="467360"/>
            <a:ext cx="9692640" cy="975360"/>
          </a:xfrm>
        </p:spPr>
        <p:txBody>
          <a:bodyPr/>
          <a:lstStyle/>
          <a:p>
            <a:r>
              <a:rPr lang="en-US" dirty="0"/>
              <a:t>DVD Rental Scenario</a:t>
            </a:r>
          </a:p>
        </p:txBody>
      </p:sp>
      <p:sp>
        <p:nvSpPr>
          <p:cNvPr id="3" name="Content Placeholder 2">
            <a:extLst>
              <a:ext uri="{FF2B5EF4-FFF2-40B4-BE49-F238E27FC236}">
                <a16:creationId xmlns:a16="http://schemas.microsoft.com/office/drawing/2014/main" id="{60D53A06-FB40-08EB-0017-7AFDE027A684}"/>
              </a:ext>
            </a:extLst>
          </p:cNvPr>
          <p:cNvSpPr>
            <a:spLocks noGrp="1"/>
          </p:cNvSpPr>
          <p:nvPr>
            <p:ph idx="1"/>
          </p:nvPr>
        </p:nvSpPr>
        <p:spPr>
          <a:xfrm>
            <a:off x="1261872" y="1899920"/>
            <a:ext cx="8595360" cy="4280217"/>
          </a:xfrm>
        </p:spPr>
        <p:txBody>
          <a:bodyPr>
            <a:normAutofit/>
          </a:bodyPr>
          <a:lstStyle/>
          <a:p>
            <a:r>
              <a:rPr lang="en-US" sz="2400" dirty="0"/>
              <a:t>Bill owns chain of DVD rental stores </a:t>
            </a:r>
          </a:p>
          <a:p>
            <a:pPr marL="0" indent="0">
              <a:buNone/>
            </a:pPr>
            <a:r>
              <a:rPr lang="en-US" sz="2400" dirty="0"/>
              <a:t>• Collects information about rentals from customers</a:t>
            </a:r>
          </a:p>
          <a:p>
            <a:pPr marL="0" indent="0">
              <a:buNone/>
            </a:pPr>
            <a:r>
              <a:rPr lang="en-US" sz="2400" dirty="0"/>
              <a:t> • Constructs profiles of customers</a:t>
            </a:r>
          </a:p>
          <a:p>
            <a:pPr marL="0" indent="0">
              <a:buNone/>
            </a:pPr>
            <a:r>
              <a:rPr lang="en-US" sz="2400" dirty="0"/>
              <a:t> • Sells profiles to direct marketing firms </a:t>
            </a:r>
          </a:p>
          <a:p>
            <a:pPr marL="0" indent="0">
              <a:buNone/>
            </a:pPr>
            <a:r>
              <a:rPr lang="en-US" sz="2400" dirty="0"/>
              <a:t>• Some customers happy to receive more mail order catalogs; others unhappy at increase in “junk mail”</a:t>
            </a:r>
          </a:p>
        </p:txBody>
      </p:sp>
    </p:spTree>
    <p:extLst>
      <p:ext uri="{BB962C8B-B14F-4D97-AF65-F5344CB8AC3E}">
        <p14:creationId xmlns:p14="http://schemas.microsoft.com/office/powerpoint/2010/main" val="1243868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3F60F-F7E6-AA1E-04F8-6AF90B9B7562}"/>
              </a:ext>
            </a:extLst>
          </p:cNvPr>
          <p:cNvSpPr>
            <a:spLocks noGrp="1"/>
          </p:cNvSpPr>
          <p:nvPr>
            <p:ph type="title"/>
          </p:nvPr>
        </p:nvSpPr>
        <p:spPr>
          <a:xfrm>
            <a:off x="581152" y="355600"/>
            <a:ext cx="9692640" cy="914400"/>
          </a:xfrm>
        </p:spPr>
        <p:txBody>
          <a:bodyPr/>
          <a:lstStyle/>
          <a:p>
            <a:r>
              <a:rPr lang="en-US" dirty="0"/>
              <a:t>Evaluation (Social Contract Theory)</a:t>
            </a:r>
          </a:p>
        </p:txBody>
      </p:sp>
      <p:sp>
        <p:nvSpPr>
          <p:cNvPr id="3" name="Content Placeholder 2">
            <a:extLst>
              <a:ext uri="{FF2B5EF4-FFF2-40B4-BE49-F238E27FC236}">
                <a16:creationId xmlns:a16="http://schemas.microsoft.com/office/drawing/2014/main" id="{60D53A06-FB40-08EB-0017-7AFDE027A684}"/>
              </a:ext>
            </a:extLst>
          </p:cNvPr>
          <p:cNvSpPr>
            <a:spLocks noGrp="1"/>
          </p:cNvSpPr>
          <p:nvPr>
            <p:ph idx="1"/>
          </p:nvPr>
        </p:nvSpPr>
        <p:spPr>
          <a:xfrm>
            <a:off x="1261872" y="1727200"/>
            <a:ext cx="8595360" cy="4452937"/>
          </a:xfrm>
        </p:spPr>
        <p:txBody>
          <a:bodyPr>
            <a:normAutofit fontScale="92500"/>
          </a:bodyPr>
          <a:lstStyle/>
          <a:p>
            <a:r>
              <a:rPr lang="en-US" sz="2400" dirty="0"/>
              <a:t>Consider rights of Bill, customers, and mail order companies.</a:t>
            </a:r>
          </a:p>
          <a:p>
            <a:pPr marL="0" indent="0">
              <a:buNone/>
            </a:pPr>
            <a:r>
              <a:rPr lang="en-US" sz="2400" dirty="0"/>
              <a:t>• Does customer have right to expect name, address to be kept confidential? </a:t>
            </a:r>
          </a:p>
          <a:p>
            <a:pPr marL="0" indent="0">
              <a:buNone/>
            </a:pPr>
            <a:r>
              <a:rPr lang="en-US" sz="2400" dirty="0"/>
              <a:t>• If customer rents DVD from bill, who owns information about transaction? </a:t>
            </a:r>
          </a:p>
          <a:p>
            <a:pPr marL="0" indent="0">
              <a:buNone/>
            </a:pPr>
            <a:r>
              <a:rPr lang="en-US" sz="2400" dirty="0"/>
              <a:t>• If Bill and customer have equal rights to information, Bill did nothing wrong to sell information. </a:t>
            </a:r>
          </a:p>
          <a:p>
            <a:pPr marL="0" indent="0">
              <a:buNone/>
            </a:pPr>
            <a:r>
              <a:rPr lang="en-US" sz="2400" dirty="0"/>
              <a:t>• If customers have right to expect name and address or transaction to be confidential without giving permission, then Bill was wrong to sell information without asking for permission.</a:t>
            </a:r>
          </a:p>
        </p:txBody>
      </p:sp>
    </p:spTree>
    <p:extLst>
      <p:ext uri="{BB962C8B-B14F-4D97-AF65-F5344CB8AC3E}">
        <p14:creationId xmlns:p14="http://schemas.microsoft.com/office/powerpoint/2010/main" val="2736997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3F60F-F7E6-AA1E-04F8-6AF90B9B7562}"/>
              </a:ext>
            </a:extLst>
          </p:cNvPr>
          <p:cNvSpPr>
            <a:spLocks noGrp="1"/>
          </p:cNvSpPr>
          <p:nvPr>
            <p:ph type="title"/>
          </p:nvPr>
        </p:nvSpPr>
        <p:spPr>
          <a:xfrm>
            <a:off x="581152" y="355600"/>
            <a:ext cx="9692640" cy="1066800"/>
          </a:xfrm>
        </p:spPr>
        <p:txBody>
          <a:bodyPr/>
          <a:lstStyle/>
          <a:p>
            <a:r>
              <a:rPr lang="en-US" dirty="0"/>
              <a:t>Case for Social Contract Theory</a:t>
            </a:r>
          </a:p>
        </p:txBody>
      </p:sp>
      <p:sp>
        <p:nvSpPr>
          <p:cNvPr id="3" name="Content Placeholder 2">
            <a:extLst>
              <a:ext uri="{FF2B5EF4-FFF2-40B4-BE49-F238E27FC236}">
                <a16:creationId xmlns:a16="http://schemas.microsoft.com/office/drawing/2014/main" id="{60D53A06-FB40-08EB-0017-7AFDE027A684}"/>
              </a:ext>
            </a:extLst>
          </p:cNvPr>
          <p:cNvSpPr>
            <a:spLocks noGrp="1"/>
          </p:cNvSpPr>
          <p:nvPr>
            <p:ph idx="1"/>
          </p:nvPr>
        </p:nvSpPr>
        <p:spPr>
          <a:xfrm>
            <a:off x="1261872" y="1767840"/>
            <a:ext cx="8595360" cy="4412297"/>
          </a:xfrm>
        </p:spPr>
        <p:txBody>
          <a:bodyPr>
            <a:normAutofit/>
          </a:bodyPr>
          <a:lstStyle/>
          <a:p>
            <a:pPr marL="0" indent="0">
              <a:buNone/>
            </a:pPr>
            <a:r>
              <a:rPr lang="en-US" sz="2400" dirty="0"/>
              <a:t>• Framed in language of rights </a:t>
            </a:r>
          </a:p>
          <a:p>
            <a:pPr marL="0" indent="0">
              <a:buNone/>
            </a:pPr>
            <a:r>
              <a:rPr lang="en-US" sz="2400" dirty="0"/>
              <a:t>• Explains why people act in self-interest in absence of common agreement </a:t>
            </a:r>
          </a:p>
          <a:p>
            <a:pPr marL="0" indent="0">
              <a:buNone/>
            </a:pPr>
            <a:r>
              <a:rPr lang="en-US" sz="2400" dirty="0"/>
              <a:t>• Provides clear analysis of certain citizen/ government problems </a:t>
            </a:r>
          </a:p>
          <a:p>
            <a:pPr marL="274320" lvl="1" indent="0">
              <a:buNone/>
            </a:pPr>
            <a:r>
              <a:rPr lang="en-US" sz="2200" dirty="0"/>
              <a:t>– Why okay for government to deprive criminals of certain rights </a:t>
            </a:r>
          </a:p>
          <a:p>
            <a:pPr marL="274320" lvl="1" indent="0">
              <a:buNone/>
            </a:pPr>
            <a:r>
              <a:rPr lang="en-US" sz="2200" dirty="0"/>
              <a:t>– Why civil obedience can be morally right action</a:t>
            </a:r>
          </a:p>
          <a:p>
            <a:pPr marL="0" indent="0">
              <a:buNone/>
            </a:pPr>
            <a:r>
              <a:rPr lang="en-US" sz="2400" dirty="0"/>
              <a:t> • Workable ethical theory</a:t>
            </a:r>
          </a:p>
        </p:txBody>
      </p:sp>
    </p:spTree>
    <p:extLst>
      <p:ext uri="{BB962C8B-B14F-4D97-AF65-F5344CB8AC3E}">
        <p14:creationId xmlns:p14="http://schemas.microsoft.com/office/powerpoint/2010/main" val="22092955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3F60F-F7E6-AA1E-04F8-6AF90B9B7562}"/>
              </a:ext>
            </a:extLst>
          </p:cNvPr>
          <p:cNvSpPr>
            <a:spLocks noGrp="1"/>
          </p:cNvSpPr>
          <p:nvPr>
            <p:ph type="title"/>
          </p:nvPr>
        </p:nvSpPr>
        <p:spPr>
          <a:xfrm>
            <a:off x="581152" y="355600"/>
            <a:ext cx="9692640" cy="1066800"/>
          </a:xfrm>
        </p:spPr>
        <p:txBody>
          <a:bodyPr/>
          <a:lstStyle/>
          <a:p>
            <a:r>
              <a:rPr lang="en-US" dirty="0"/>
              <a:t>Case Against Social Contract Theory</a:t>
            </a:r>
          </a:p>
        </p:txBody>
      </p:sp>
      <p:sp>
        <p:nvSpPr>
          <p:cNvPr id="3" name="Content Placeholder 2">
            <a:extLst>
              <a:ext uri="{FF2B5EF4-FFF2-40B4-BE49-F238E27FC236}">
                <a16:creationId xmlns:a16="http://schemas.microsoft.com/office/drawing/2014/main" id="{60D53A06-FB40-08EB-0017-7AFDE027A684}"/>
              </a:ext>
            </a:extLst>
          </p:cNvPr>
          <p:cNvSpPr>
            <a:spLocks noGrp="1"/>
          </p:cNvSpPr>
          <p:nvPr>
            <p:ph idx="1"/>
          </p:nvPr>
        </p:nvSpPr>
        <p:spPr>
          <a:xfrm>
            <a:off x="1261872" y="1767840"/>
            <a:ext cx="8595360" cy="4412297"/>
          </a:xfrm>
        </p:spPr>
        <p:txBody>
          <a:bodyPr>
            <a:normAutofit/>
          </a:bodyPr>
          <a:lstStyle/>
          <a:p>
            <a:r>
              <a:rPr lang="en-US" sz="2400" dirty="0"/>
              <a:t>No one signed social contract </a:t>
            </a:r>
          </a:p>
          <a:p>
            <a:r>
              <a:rPr lang="en-US" sz="2400" dirty="0"/>
              <a:t>Some actions have multiple characterizations</a:t>
            </a:r>
          </a:p>
          <a:p>
            <a:r>
              <a:rPr lang="en-US" sz="2400" dirty="0"/>
              <a:t> Conflicting rights problem </a:t>
            </a:r>
          </a:p>
          <a:p>
            <a:r>
              <a:rPr lang="en-US" sz="2400" dirty="0"/>
              <a:t>May unjustly treat people incapable of upholding  contract </a:t>
            </a:r>
          </a:p>
          <a:p>
            <a:r>
              <a:rPr lang="en-US" sz="2400" dirty="0"/>
              <a:t>Despite weaknesses, a workable theory</a:t>
            </a:r>
          </a:p>
        </p:txBody>
      </p:sp>
    </p:spTree>
    <p:extLst>
      <p:ext uri="{BB962C8B-B14F-4D97-AF65-F5344CB8AC3E}">
        <p14:creationId xmlns:p14="http://schemas.microsoft.com/office/powerpoint/2010/main" val="3072072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B4294-5C13-6FF8-C3C1-8E65CD3479CB}"/>
              </a:ext>
            </a:extLst>
          </p:cNvPr>
          <p:cNvSpPr>
            <a:spLocks noGrp="1"/>
          </p:cNvSpPr>
          <p:nvPr>
            <p:ph type="title"/>
          </p:nvPr>
        </p:nvSpPr>
        <p:spPr>
          <a:xfrm>
            <a:off x="936752" y="2519680"/>
            <a:ext cx="9692640" cy="1325562"/>
          </a:xfrm>
        </p:spPr>
        <p:txBody>
          <a:bodyPr/>
          <a:lstStyle/>
          <a:p>
            <a:pPr algn="ctr"/>
            <a:r>
              <a:rPr lang="en-US" dirty="0"/>
              <a:t>END OF LECTURE</a:t>
            </a:r>
          </a:p>
        </p:txBody>
      </p:sp>
    </p:spTree>
    <p:extLst>
      <p:ext uri="{BB962C8B-B14F-4D97-AF65-F5344CB8AC3E}">
        <p14:creationId xmlns:p14="http://schemas.microsoft.com/office/powerpoint/2010/main" val="139397411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1714</TotalTime>
  <Words>1648</Words>
  <Application>Microsoft Office PowerPoint</Application>
  <PresentationFormat>Widescreen</PresentationFormat>
  <Paragraphs>157</Paragraphs>
  <Slides>33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Century Schoolbook</vt:lpstr>
      <vt:lpstr>Wingdings 2</vt:lpstr>
      <vt:lpstr>View</vt:lpstr>
      <vt:lpstr>  CSC410 - Professional Practices in IT</vt:lpstr>
      <vt:lpstr>Today Topics</vt:lpstr>
      <vt:lpstr>Act Utilitarianism</vt:lpstr>
      <vt:lpstr>Principle of Utility</vt:lpstr>
      <vt:lpstr>Principle of Utility (Greatest Happiness Principle)</vt:lpstr>
      <vt:lpstr>Principle of Utility</vt:lpstr>
      <vt:lpstr>Act Utilitarianism</vt:lpstr>
      <vt:lpstr>Bentham: Weighing Pleasure/Pain</vt:lpstr>
      <vt:lpstr>Bentham: Weighing Pleasure/Pain</vt:lpstr>
      <vt:lpstr>Evaluating a Scenario Using Act Utilitarianism </vt:lpstr>
      <vt:lpstr>Highway Routing Scenario</vt:lpstr>
      <vt:lpstr>Evaluation</vt:lpstr>
      <vt:lpstr>Case for Act Utilitarianism</vt:lpstr>
      <vt:lpstr>Case Against Act Utilitarianism </vt:lpstr>
      <vt:lpstr>Rule Utilitarianism</vt:lpstr>
      <vt:lpstr>Rule Utilitarianism</vt:lpstr>
      <vt:lpstr>Scenario</vt:lpstr>
      <vt:lpstr>Anti-Worm Scenario</vt:lpstr>
      <vt:lpstr>Evaluation using Rule Utilitarianism </vt:lpstr>
      <vt:lpstr>Case for Rule Utilitarianism</vt:lpstr>
      <vt:lpstr>Case Against Utilitarianism in General</vt:lpstr>
      <vt:lpstr>Social Contract Theory</vt:lpstr>
      <vt:lpstr>Social Contract Theory</vt:lpstr>
      <vt:lpstr>James Rachels’s Definition</vt:lpstr>
      <vt:lpstr>Kinds of Rights</vt:lpstr>
      <vt:lpstr>Correlation between Types of Rights</vt:lpstr>
      <vt:lpstr>John Rawls’s Principles of Justice</vt:lpstr>
      <vt:lpstr>Scenario</vt:lpstr>
      <vt:lpstr>DVD Rental Scenario</vt:lpstr>
      <vt:lpstr>Evaluation (Social Contract Theory)</vt:lpstr>
      <vt:lpstr>Case for Social Contract Theory</vt:lpstr>
      <vt:lpstr>Case Against Social Contract Theory</vt:lpstr>
      <vt:lpstr>END OF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DELL7490</dc:creator>
  <cp:lastModifiedBy>DELL7490</cp:lastModifiedBy>
  <cp:revision>65</cp:revision>
  <dcterms:created xsi:type="dcterms:W3CDTF">2024-09-10T09:11:37Z</dcterms:created>
  <dcterms:modified xsi:type="dcterms:W3CDTF">2024-09-13T10:45:26Z</dcterms:modified>
</cp:coreProperties>
</file>