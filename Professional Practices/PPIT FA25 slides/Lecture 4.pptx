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37"/>
  </p:notesMasterIdLst>
  <p:sldIdLst>
    <p:sldId id="256" r:id="rId2"/>
    <p:sldId id="257" r:id="rId3"/>
    <p:sldId id="302" r:id="rId4"/>
    <p:sldId id="301" r:id="rId5"/>
    <p:sldId id="303" r:id="rId6"/>
    <p:sldId id="304" r:id="rId7"/>
    <p:sldId id="305" r:id="rId8"/>
    <p:sldId id="306" r:id="rId9"/>
    <p:sldId id="307" r:id="rId10"/>
    <p:sldId id="308" r:id="rId11"/>
    <p:sldId id="309" r:id="rId12"/>
    <p:sldId id="310" r:id="rId13"/>
    <p:sldId id="311" r:id="rId14"/>
    <p:sldId id="312" r:id="rId15"/>
    <p:sldId id="313" r:id="rId16"/>
    <p:sldId id="314" r:id="rId17"/>
    <p:sldId id="298" r:id="rId18"/>
    <p:sldId id="283" r:id="rId19"/>
    <p:sldId id="284" r:id="rId20"/>
    <p:sldId id="285" r:id="rId21"/>
    <p:sldId id="286" r:id="rId22"/>
    <p:sldId id="287" r:id="rId23"/>
    <p:sldId id="288" r:id="rId24"/>
    <p:sldId id="289" r:id="rId25"/>
    <p:sldId id="299" r:id="rId26"/>
    <p:sldId id="290" r:id="rId27"/>
    <p:sldId id="291" r:id="rId28"/>
    <p:sldId id="292" r:id="rId29"/>
    <p:sldId id="294" r:id="rId30"/>
    <p:sldId id="293" r:id="rId31"/>
    <p:sldId id="295" r:id="rId32"/>
    <p:sldId id="300" r:id="rId33"/>
    <p:sldId id="296" r:id="rId34"/>
    <p:sldId id="297" r:id="rId35"/>
    <p:sldId id="273"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191B5F-00AD-4A75-B011-53D7D46A6994}" type="datetimeFigureOut">
              <a:rPr lang="en-US" smtClean="0"/>
              <a:t>9/17/2024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17C1FB-54B6-475A-9C8D-1FFFE97C241A}" type="slidenum">
              <a:rPr lang="en-US" smtClean="0"/>
              <a:t>‹#›</a:t>
            </a:fld>
            <a:endParaRPr lang="en-US"/>
          </a:p>
        </p:txBody>
      </p:sp>
    </p:spTree>
    <p:extLst>
      <p:ext uri="{BB962C8B-B14F-4D97-AF65-F5344CB8AC3E}">
        <p14:creationId xmlns:p14="http://schemas.microsoft.com/office/powerpoint/2010/main" val="2358817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F4EC9B8D-1483-48AD-BCFF-AC7BFE1B5568}" type="datetimeFigureOut">
              <a:rPr lang="en-US" smtClean="0"/>
              <a:t>9/17/2024</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B38321F-CC7C-4D9D-995A-C96CC77C1D57}"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1187987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EC9B8D-1483-48AD-BCFF-AC7BFE1B5568}"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38321F-CC7C-4D9D-995A-C96CC77C1D57}" type="slidenum">
              <a:rPr lang="en-US" smtClean="0"/>
              <a:t>‹#›</a:t>
            </a:fld>
            <a:endParaRPr lang="en-US"/>
          </a:p>
        </p:txBody>
      </p:sp>
    </p:spTree>
    <p:extLst>
      <p:ext uri="{BB962C8B-B14F-4D97-AF65-F5344CB8AC3E}">
        <p14:creationId xmlns:p14="http://schemas.microsoft.com/office/powerpoint/2010/main" val="2449053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EC9B8D-1483-48AD-BCFF-AC7BFE1B5568}"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38321F-CC7C-4D9D-995A-C96CC77C1D57}"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31749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4EC9B8D-1483-48AD-BCFF-AC7BFE1B5568}" type="datetimeFigureOut">
              <a:rPr lang="en-US" smtClean="0"/>
              <a:t>9/17/2024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38321F-CC7C-4D9D-995A-C96CC77C1D57}" type="slidenum">
              <a:rPr lang="en-US" smtClean="0"/>
              <a:t>‹#›</a:t>
            </a:fld>
            <a:endParaRPr lang="en-US"/>
          </a:p>
        </p:txBody>
      </p:sp>
    </p:spTree>
    <p:extLst>
      <p:ext uri="{BB962C8B-B14F-4D97-AF65-F5344CB8AC3E}">
        <p14:creationId xmlns:p14="http://schemas.microsoft.com/office/powerpoint/2010/main" val="603109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4EC9B8D-1483-48AD-BCFF-AC7BFE1B5568}" type="datetimeFigureOut">
              <a:rPr lang="en-US" smtClean="0"/>
              <a:t>9/17/2024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38321F-CC7C-4D9D-995A-C96CC77C1D57}" type="slidenum">
              <a:rPr lang="en-US" smtClean="0"/>
              <a:t>‹#›</a:t>
            </a:fld>
            <a:endParaRPr lang="en-US"/>
          </a:p>
        </p:txBody>
      </p:sp>
    </p:spTree>
    <p:extLst>
      <p:ext uri="{BB962C8B-B14F-4D97-AF65-F5344CB8AC3E}">
        <p14:creationId xmlns:p14="http://schemas.microsoft.com/office/powerpoint/2010/main" val="1138597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EC9B8D-1483-48AD-BCFF-AC7BFE1B5568}" type="datetimeFigureOut">
              <a:rPr lang="en-US" smtClean="0"/>
              <a:t>9/17/2024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38321F-CC7C-4D9D-995A-C96CC77C1D57}" type="slidenum">
              <a:rPr lang="en-US" smtClean="0"/>
              <a:t>‹#›</a:t>
            </a:fld>
            <a:endParaRPr lang="en-US"/>
          </a:p>
        </p:txBody>
      </p:sp>
    </p:spTree>
    <p:extLst>
      <p:ext uri="{BB962C8B-B14F-4D97-AF65-F5344CB8AC3E}">
        <p14:creationId xmlns:p14="http://schemas.microsoft.com/office/powerpoint/2010/main" val="3120662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EC9B8D-1483-48AD-BCFF-AC7BFE1B5568}" type="datetimeFigureOut">
              <a:rPr lang="en-US" smtClean="0"/>
              <a:t>9/17/2024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38321F-CC7C-4D9D-995A-C96CC77C1D57}" type="slidenum">
              <a:rPr lang="en-US" smtClean="0"/>
              <a:t>‹#›</a:t>
            </a:fld>
            <a:endParaRPr lang="en-US"/>
          </a:p>
        </p:txBody>
      </p:sp>
    </p:spTree>
    <p:extLst>
      <p:ext uri="{BB962C8B-B14F-4D97-AF65-F5344CB8AC3E}">
        <p14:creationId xmlns:p14="http://schemas.microsoft.com/office/powerpoint/2010/main" val="2114025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EC9B8D-1483-48AD-BCFF-AC7BFE1B5568}" type="datetimeFigureOut">
              <a:rPr lang="en-US" smtClean="0"/>
              <a:t>9/17/2024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38321F-CC7C-4D9D-995A-C96CC77C1D57}" type="slidenum">
              <a:rPr lang="en-US" smtClean="0"/>
              <a:t>‹#›</a:t>
            </a:fld>
            <a:endParaRPr lang="en-US"/>
          </a:p>
        </p:txBody>
      </p:sp>
    </p:spTree>
    <p:extLst>
      <p:ext uri="{BB962C8B-B14F-4D97-AF65-F5344CB8AC3E}">
        <p14:creationId xmlns:p14="http://schemas.microsoft.com/office/powerpoint/2010/main" val="37547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EC9B8D-1483-48AD-BCFF-AC7BFE1B5568}" type="datetimeFigureOut">
              <a:rPr lang="en-US" smtClean="0"/>
              <a:t>9/17/2024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38321F-CC7C-4D9D-995A-C96CC77C1D57}" type="slidenum">
              <a:rPr lang="en-US" smtClean="0"/>
              <a:t>‹#›</a:t>
            </a:fld>
            <a:endParaRPr lang="en-US"/>
          </a:p>
        </p:txBody>
      </p:sp>
    </p:spTree>
    <p:extLst>
      <p:ext uri="{BB962C8B-B14F-4D97-AF65-F5344CB8AC3E}">
        <p14:creationId xmlns:p14="http://schemas.microsoft.com/office/powerpoint/2010/main" val="3969556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EC9B8D-1483-48AD-BCFF-AC7BFE1B5568}"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38321F-CC7C-4D9D-995A-C96CC77C1D57}" type="slidenum">
              <a:rPr lang="en-US" smtClean="0"/>
              <a:t>‹#›</a:t>
            </a:fld>
            <a:endParaRPr lang="en-US"/>
          </a:p>
        </p:txBody>
      </p:sp>
    </p:spTree>
    <p:extLst>
      <p:ext uri="{BB962C8B-B14F-4D97-AF65-F5344CB8AC3E}">
        <p14:creationId xmlns:p14="http://schemas.microsoft.com/office/powerpoint/2010/main" val="3747803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EC9B8D-1483-48AD-BCFF-AC7BFE1B5568}"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38321F-CC7C-4D9D-995A-C96CC77C1D57}" type="slidenum">
              <a:rPr lang="en-US" smtClean="0"/>
              <a:t>‹#›</a:t>
            </a:fld>
            <a:endParaRPr lang="en-US"/>
          </a:p>
        </p:txBody>
      </p:sp>
    </p:spTree>
    <p:extLst>
      <p:ext uri="{BB962C8B-B14F-4D97-AF65-F5344CB8AC3E}">
        <p14:creationId xmlns:p14="http://schemas.microsoft.com/office/powerpoint/2010/main" val="2775873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F4EC9B8D-1483-48AD-BCFF-AC7BFE1B5568}" type="datetimeFigureOut">
              <a:rPr lang="en-US" smtClean="0"/>
              <a:t>9/17/2024</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B38321F-CC7C-4D9D-995A-C96CC77C1D57}" type="slidenum">
              <a:rPr lang="en-US" smtClean="0"/>
              <a:t>‹#›</a:t>
            </a:fld>
            <a:endParaRPr lang="en-US"/>
          </a:p>
        </p:txBody>
      </p:sp>
    </p:spTree>
    <p:extLst>
      <p:ext uri="{BB962C8B-B14F-4D97-AF65-F5344CB8AC3E}">
        <p14:creationId xmlns:p14="http://schemas.microsoft.com/office/powerpoint/2010/main" val="4058168151"/>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1FA4D-AD80-2F8D-952C-7A8990B09BEA}"/>
              </a:ext>
            </a:extLst>
          </p:cNvPr>
          <p:cNvSpPr>
            <a:spLocks noGrp="1"/>
          </p:cNvSpPr>
          <p:nvPr>
            <p:ph type="ctrTitle"/>
          </p:nvPr>
        </p:nvSpPr>
        <p:spPr/>
        <p:txBody>
          <a:bodyPr>
            <a:normAutofit fontScale="90000"/>
          </a:bodyPr>
          <a:lstStyle/>
          <a:p>
            <a:br>
              <a:rPr lang="en-US" dirty="0"/>
            </a:br>
            <a:br>
              <a:rPr lang="en-US" dirty="0"/>
            </a:br>
            <a:r>
              <a:rPr lang="en-US" dirty="0"/>
              <a:t>CSC410 - Professional Practices in IT</a:t>
            </a:r>
          </a:p>
        </p:txBody>
      </p:sp>
      <p:sp>
        <p:nvSpPr>
          <p:cNvPr id="3" name="Subtitle 2">
            <a:extLst>
              <a:ext uri="{FF2B5EF4-FFF2-40B4-BE49-F238E27FC236}">
                <a16:creationId xmlns:a16="http://schemas.microsoft.com/office/drawing/2014/main" id="{527C150C-4B3A-3DEE-F5EB-B99ED6862FE0}"/>
              </a:ext>
            </a:extLst>
          </p:cNvPr>
          <p:cNvSpPr>
            <a:spLocks noGrp="1"/>
          </p:cNvSpPr>
          <p:nvPr>
            <p:ph type="subTitle" idx="1"/>
          </p:nvPr>
        </p:nvSpPr>
        <p:spPr/>
        <p:txBody>
          <a:bodyPr/>
          <a:lstStyle/>
          <a:p>
            <a:r>
              <a:rPr lang="en-US" sz="2000" dirty="0"/>
              <a:t>Instructor Name :  Sidra Nasir</a:t>
            </a:r>
            <a:endParaRPr lang="en-US" dirty="0"/>
          </a:p>
          <a:p>
            <a:endParaRPr lang="en-US" dirty="0"/>
          </a:p>
        </p:txBody>
      </p:sp>
    </p:spTree>
    <p:extLst>
      <p:ext uri="{BB962C8B-B14F-4D97-AF65-F5344CB8AC3E}">
        <p14:creationId xmlns:p14="http://schemas.microsoft.com/office/powerpoint/2010/main" val="4158514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CE8EC-BF3C-5973-A50A-E0676D3D6CBA}"/>
              </a:ext>
            </a:extLst>
          </p:cNvPr>
          <p:cNvSpPr>
            <a:spLocks noGrp="1"/>
          </p:cNvSpPr>
          <p:nvPr>
            <p:ph type="title"/>
          </p:nvPr>
        </p:nvSpPr>
        <p:spPr>
          <a:xfrm>
            <a:off x="560832" y="426720"/>
            <a:ext cx="9692640" cy="1325562"/>
          </a:xfrm>
        </p:spPr>
        <p:txBody>
          <a:bodyPr/>
          <a:lstStyle/>
          <a:p>
            <a:r>
              <a:rPr lang="en-US" dirty="0"/>
              <a:t>Today Topics</a:t>
            </a:r>
          </a:p>
        </p:txBody>
      </p:sp>
      <p:sp>
        <p:nvSpPr>
          <p:cNvPr id="3" name="Content Placeholder 2">
            <a:extLst>
              <a:ext uri="{FF2B5EF4-FFF2-40B4-BE49-F238E27FC236}">
                <a16:creationId xmlns:a16="http://schemas.microsoft.com/office/drawing/2014/main" id="{404B6D10-33C8-D87F-AFA6-FF07F5E9B762}"/>
              </a:ext>
            </a:extLst>
          </p:cNvPr>
          <p:cNvSpPr>
            <a:spLocks noGrp="1"/>
          </p:cNvSpPr>
          <p:nvPr>
            <p:ph idx="1"/>
          </p:nvPr>
        </p:nvSpPr>
        <p:spPr>
          <a:xfrm>
            <a:off x="1261872" y="2316480"/>
            <a:ext cx="8595360" cy="3863657"/>
          </a:xfrm>
        </p:spPr>
        <p:txBody>
          <a:bodyPr>
            <a:normAutofit/>
          </a:bodyPr>
          <a:lstStyle/>
          <a:p>
            <a:r>
              <a:rPr lang="en-US" sz="2400" dirty="0"/>
              <a:t>Kantianism</a:t>
            </a:r>
          </a:p>
          <a:p>
            <a:r>
              <a:rPr lang="en-US" sz="2400" dirty="0"/>
              <a:t>Virtue Ethics</a:t>
            </a:r>
          </a:p>
          <a:p>
            <a:r>
              <a:rPr lang="en-US" sz="2400" dirty="0"/>
              <a:t>Comparing Workable Ethical Theories</a:t>
            </a:r>
          </a:p>
        </p:txBody>
      </p:sp>
    </p:spTree>
    <p:extLst>
      <p:ext uri="{BB962C8B-B14F-4D97-AF65-F5344CB8AC3E}">
        <p14:creationId xmlns:p14="http://schemas.microsoft.com/office/powerpoint/2010/main" val="3035667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2BC75-0F11-B1B0-0915-6FB867D5753C}"/>
              </a:ext>
            </a:extLst>
          </p:cNvPr>
          <p:cNvSpPr>
            <a:spLocks noGrp="1"/>
          </p:cNvSpPr>
          <p:nvPr>
            <p:ph type="title"/>
          </p:nvPr>
        </p:nvSpPr>
        <p:spPr>
          <a:xfrm>
            <a:off x="733552" y="2600960"/>
            <a:ext cx="9692640" cy="1325562"/>
          </a:xfrm>
        </p:spPr>
        <p:txBody>
          <a:bodyPr/>
          <a:lstStyle/>
          <a:p>
            <a:pPr algn="ctr"/>
            <a:r>
              <a:rPr lang="en-US" dirty="0"/>
              <a:t>Kantianism</a:t>
            </a:r>
          </a:p>
        </p:txBody>
      </p:sp>
    </p:spTree>
    <p:extLst>
      <p:ext uri="{BB962C8B-B14F-4D97-AF65-F5344CB8AC3E}">
        <p14:creationId xmlns:p14="http://schemas.microsoft.com/office/powerpoint/2010/main" val="188551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CEC8D-65EA-37BC-6A0D-DAB24B0343EF}"/>
              </a:ext>
            </a:extLst>
          </p:cNvPr>
          <p:cNvSpPr>
            <a:spLocks noGrp="1"/>
          </p:cNvSpPr>
          <p:nvPr>
            <p:ph type="title"/>
          </p:nvPr>
        </p:nvSpPr>
        <p:spPr>
          <a:xfrm>
            <a:off x="957072" y="396240"/>
            <a:ext cx="9692640" cy="1158240"/>
          </a:xfrm>
        </p:spPr>
        <p:txBody>
          <a:bodyPr/>
          <a:lstStyle/>
          <a:p>
            <a:r>
              <a:rPr lang="en-US" dirty="0"/>
              <a:t>Critical Importance of Good Will</a:t>
            </a:r>
          </a:p>
        </p:txBody>
      </p:sp>
      <p:sp>
        <p:nvSpPr>
          <p:cNvPr id="3" name="Content Placeholder 2">
            <a:extLst>
              <a:ext uri="{FF2B5EF4-FFF2-40B4-BE49-F238E27FC236}">
                <a16:creationId xmlns:a16="http://schemas.microsoft.com/office/drawing/2014/main" id="{8E608F72-803B-626E-7607-9BA5CB4553DB}"/>
              </a:ext>
            </a:extLst>
          </p:cNvPr>
          <p:cNvSpPr>
            <a:spLocks noGrp="1"/>
          </p:cNvSpPr>
          <p:nvPr>
            <p:ph idx="1"/>
          </p:nvPr>
        </p:nvSpPr>
        <p:spPr>
          <a:xfrm>
            <a:off x="1261872" y="2377440"/>
            <a:ext cx="8595360" cy="3802697"/>
          </a:xfrm>
        </p:spPr>
        <p:txBody>
          <a:bodyPr/>
          <a:lstStyle/>
          <a:p>
            <a:r>
              <a:rPr lang="en-US" sz="2400" dirty="0"/>
              <a:t>Good will: the desire to do the right thing </a:t>
            </a:r>
          </a:p>
          <a:p>
            <a:r>
              <a:rPr lang="en-US" sz="2400" dirty="0"/>
              <a:t>Immanuel Kant: Only thing in the world that is good without qualification is a good will </a:t>
            </a:r>
          </a:p>
          <a:p>
            <a:r>
              <a:rPr lang="en-US" sz="2400" dirty="0"/>
              <a:t>Reason should cultivate desire to do right thing</a:t>
            </a:r>
          </a:p>
          <a:p>
            <a:endParaRPr lang="en-US" dirty="0"/>
          </a:p>
        </p:txBody>
      </p:sp>
    </p:spTree>
    <p:extLst>
      <p:ext uri="{BB962C8B-B14F-4D97-AF65-F5344CB8AC3E}">
        <p14:creationId xmlns:p14="http://schemas.microsoft.com/office/powerpoint/2010/main" val="4225816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DB73E-CAA7-D412-ADD5-3F3A97953125}"/>
              </a:ext>
            </a:extLst>
          </p:cNvPr>
          <p:cNvSpPr>
            <a:spLocks noGrp="1"/>
          </p:cNvSpPr>
          <p:nvPr>
            <p:ph type="title"/>
          </p:nvPr>
        </p:nvSpPr>
        <p:spPr>
          <a:xfrm>
            <a:off x="906272" y="568960"/>
            <a:ext cx="9528048" cy="1325562"/>
          </a:xfrm>
        </p:spPr>
        <p:txBody>
          <a:bodyPr/>
          <a:lstStyle/>
          <a:p>
            <a:r>
              <a:rPr lang="en-US" dirty="0"/>
              <a:t>Categorical Imperative </a:t>
            </a:r>
            <a:br>
              <a:rPr lang="en-US" dirty="0"/>
            </a:br>
            <a:r>
              <a:rPr lang="en-US" dirty="0"/>
              <a:t>(1</a:t>
            </a:r>
            <a:r>
              <a:rPr lang="en-US" baseline="30000" dirty="0"/>
              <a:t>st</a:t>
            </a:r>
            <a:r>
              <a:rPr lang="en-US" dirty="0"/>
              <a:t> Formulation)</a:t>
            </a:r>
          </a:p>
        </p:txBody>
      </p:sp>
      <p:sp>
        <p:nvSpPr>
          <p:cNvPr id="3" name="Content Placeholder 2">
            <a:extLst>
              <a:ext uri="{FF2B5EF4-FFF2-40B4-BE49-F238E27FC236}">
                <a16:creationId xmlns:a16="http://schemas.microsoft.com/office/drawing/2014/main" id="{0C8AC69F-51C6-ED82-7AA9-87E0F97559D9}"/>
              </a:ext>
            </a:extLst>
          </p:cNvPr>
          <p:cNvSpPr>
            <a:spLocks noGrp="1"/>
          </p:cNvSpPr>
          <p:nvPr>
            <p:ph idx="1"/>
          </p:nvPr>
        </p:nvSpPr>
        <p:spPr>
          <a:xfrm>
            <a:off x="1261872" y="2225040"/>
            <a:ext cx="8595360" cy="3955097"/>
          </a:xfrm>
        </p:spPr>
        <p:txBody>
          <a:bodyPr>
            <a:normAutofit/>
          </a:bodyPr>
          <a:lstStyle/>
          <a:p>
            <a:r>
              <a:rPr lang="en-US" sz="2400" dirty="0"/>
              <a:t>Act only from moral rules that you can at the same time will to be universal moral laws.</a:t>
            </a:r>
          </a:p>
        </p:txBody>
      </p:sp>
    </p:spTree>
    <p:extLst>
      <p:ext uri="{BB962C8B-B14F-4D97-AF65-F5344CB8AC3E}">
        <p14:creationId xmlns:p14="http://schemas.microsoft.com/office/powerpoint/2010/main" val="2723053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B71F5-A1D6-040F-F8E5-743A3E8F016A}"/>
              </a:ext>
            </a:extLst>
          </p:cNvPr>
          <p:cNvSpPr>
            <a:spLocks noGrp="1"/>
          </p:cNvSpPr>
          <p:nvPr>
            <p:ph type="title"/>
          </p:nvPr>
        </p:nvSpPr>
        <p:spPr>
          <a:xfrm>
            <a:off x="936752" y="375920"/>
            <a:ext cx="9692640" cy="792480"/>
          </a:xfrm>
        </p:spPr>
        <p:txBody>
          <a:bodyPr/>
          <a:lstStyle/>
          <a:p>
            <a:r>
              <a:rPr lang="en-US" dirty="0"/>
              <a:t>Illustration of 1st Formulation</a:t>
            </a:r>
          </a:p>
        </p:txBody>
      </p:sp>
      <p:sp>
        <p:nvSpPr>
          <p:cNvPr id="3" name="Content Placeholder 2">
            <a:extLst>
              <a:ext uri="{FF2B5EF4-FFF2-40B4-BE49-F238E27FC236}">
                <a16:creationId xmlns:a16="http://schemas.microsoft.com/office/drawing/2014/main" id="{1F7C6DE4-0BE9-D93A-AD25-C6DF6FCDF873}"/>
              </a:ext>
            </a:extLst>
          </p:cNvPr>
          <p:cNvSpPr>
            <a:spLocks noGrp="1"/>
          </p:cNvSpPr>
          <p:nvPr>
            <p:ph idx="1"/>
          </p:nvPr>
        </p:nvSpPr>
        <p:spPr>
          <a:xfrm>
            <a:off x="1150112" y="1463040"/>
            <a:ext cx="8595360" cy="4351337"/>
          </a:xfrm>
        </p:spPr>
        <p:txBody>
          <a:bodyPr>
            <a:noAutofit/>
          </a:bodyPr>
          <a:lstStyle/>
          <a:p>
            <a:r>
              <a:rPr lang="en-US" sz="2400" dirty="0"/>
              <a:t>Question: Can a person in dire straits make a promise with the intention of breaking it later? </a:t>
            </a:r>
          </a:p>
          <a:p>
            <a:r>
              <a:rPr lang="en-US" sz="2400" dirty="0"/>
              <a:t>Proposed rule: “I may make promises with the intention of later breaking them.” </a:t>
            </a:r>
          </a:p>
          <a:p>
            <a:r>
              <a:rPr lang="en-US" sz="2400" dirty="0"/>
              <a:t>The person in trouble wants his promise to be believed so he can get what he needs. </a:t>
            </a:r>
          </a:p>
          <a:p>
            <a:r>
              <a:rPr lang="en-US" sz="2400" dirty="0"/>
              <a:t>Universalize rule: Everyone may make &amp; break promises</a:t>
            </a:r>
          </a:p>
          <a:p>
            <a:r>
              <a:rPr lang="en-US" sz="2400" dirty="0"/>
              <a:t>Everyone breaking promises would make promises unbelievable, contradicting desire to have promise believed </a:t>
            </a:r>
          </a:p>
          <a:p>
            <a:r>
              <a:rPr lang="en-US" sz="2400" dirty="0"/>
              <a:t>The rule is flawed. The answer is “No.” </a:t>
            </a:r>
          </a:p>
        </p:txBody>
      </p:sp>
    </p:spTree>
    <p:extLst>
      <p:ext uri="{BB962C8B-B14F-4D97-AF65-F5344CB8AC3E}">
        <p14:creationId xmlns:p14="http://schemas.microsoft.com/office/powerpoint/2010/main" val="2033697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6F09A-AECA-C20F-3BC6-C42373E7A25E}"/>
              </a:ext>
            </a:extLst>
          </p:cNvPr>
          <p:cNvSpPr>
            <a:spLocks noGrp="1"/>
          </p:cNvSpPr>
          <p:nvPr>
            <p:ph type="title"/>
          </p:nvPr>
        </p:nvSpPr>
        <p:spPr>
          <a:xfrm>
            <a:off x="713232" y="396240"/>
            <a:ext cx="9692640" cy="1026160"/>
          </a:xfrm>
        </p:spPr>
        <p:txBody>
          <a:bodyPr/>
          <a:lstStyle/>
          <a:p>
            <a:r>
              <a:rPr lang="en-US" dirty="0"/>
              <a:t>A Quick Check</a:t>
            </a:r>
          </a:p>
        </p:txBody>
      </p:sp>
      <p:sp>
        <p:nvSpPr>
          <p:cNvPr id="3" name="Content Placeholder 2">
            <a:extLst>
              <a:ext uri="{FF2B5EF4-FFF2-40B4-BE49-F238E27FC236}">
                <a16:creationId xmlns:a16="http://schemas.microsoft.com/office/drawing/2014/main" id="{AB2E8FA4-1488-5771-5287-F8C9FF8CCE50}"/>
              </a:ext>
            </a:extLst>
          </p:cNvPr>
          <p:cNvSpPr>
            <a:spLocks noGrp="1"/>
          </p:cNvSpPr>
          <p:nvPr>
            <p:ph idx="1"/>
          </p:nvPr>
        </p:nvSpPr>
        <p:spPr/>
        <p:txBody>
          <a:bodyPr>
            <a:normAutofit/>
          </a:bodyPr>
          <a:lstStyle/>
          <a:p>
            <a:r>
              <a:rPr lang="en-US" sz="2400" dirty="0"/>
              <a:t>When evaluating a proposed action, reverse roles </a:t>
            </a:r>
          </a:p>
          <a:p>
            <a:r>
              <a:rPr lang="en-US" sz="2400" dirty="0"/>
              <a:t>What would you think if that person did the same thing to you? </a:t>
            </a:r>
          </a:p>
          <a:p>
            <a:r>
              <a:rPr lang="en-US" sz="2400" dirty="0"/>
              <a:t>Negative reaction → evidence that your will to do that action violates the Categorical Imperative</a:t>
            </a:r>
          </a:p>
        </p:txBody>
      </p:sp>
    </p:spTree>
    <p:extLst>
      <p:ext uri="{BB962C8B-B14F-4D97-AF65-F5344CB8AC3E}">
        <p14:creationId xmlns:p14="http://schemas.microsoft.com/office/powerpoint/2010/main" val="3693304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F100A-8AD5-68CE-3C6E-D724E0B23479}"/>
              </a:ext>
            </a:extLst>
          </p:cNvPr>
          <p:cNvSpPr>
            <a:spLocks noGrp="1"/>
          </p:cNvSpPr>
          <p:nvPr>
            <p:ph type="title"/>
          </p:nvPr>
        </p:nvSpPr>
        <p:spPr>
          <a:xfrm>
            <a:off x="784352" y="416560"/>
            <a:ext cx="9692640" cy="1325562"/>
          </a:xfrm>
        </p:spPr>
        <p:txBody>
          <a:bodyPr/>
          <a:lstStyle/>
          <a:p>
            <a:r>
              <a:rPr lang="en-US" dirty="0"/>
              <a:t>Categorical Imperative (2nd Formulation)</a:t>
            </a:r>
          </a:p>
        </p:txBody>
      </p:sp>
      <p:sp>
        <p:nvSpPr>
          <p:cNvPr id="3" name="Content Placeholder 2">
            <a:extLst>
              <a:ext uri="{FF2B5EF4-FFF2-40B4-BE49-F238E27FC236}">
                <a16:creationId xmlns:a16="http://schemas.microsoft.com/office/drawing/2014/main" id="{DF1C5E44-3B98-B4DB-8D81-54B92B306D79}"/>
              </a:ext>
            </a:extLst>
          </p:cNvPr>
          <p:cNvSpPr>
            <a:spLocks noGrp="1"/>
          </p:cNvSpPr>
          <p:nvPr>
            <p:ph idx="1"/>
          </p:nvPr>
        </p:nvSpPr>
        <p:spPr>
          <a:xfrm>
            <a:off x="1261872" y="2062480"/>
            <a:ext cx="8595360" cy="4117657"/>
          </a:xfrm>
        </p:spPr>
        <p:txBody>
          <a:bodyPr>
            <a:normAutofit/>
          </a:bodyPr>
          <a:lstStyle/>
          <a:p>
            <a:r>
              <a:rPr lang="en-US" sz="2400" dirty="0"/>
              <a:t>Act so that you treat both yourself and other people as ends in themselves and never only as a means to an end.</a:t>
            </a:r>
          </a:p>
          <a:p>
            <a:endParaRPr lang="en-US" sz="2400" dirty="0"/>
          </a:p>
          <a:p>
            <a:r>
              <a:rPr lang="en-US" sz="2400" dirty="0"/>
              <a:t>This is usually an easier formulation to work with than the first formulation of the Categorical Imperative.</a:t>
            </a:r>
          </a:p>
        </p:txBody>
      </p:sp>
    </p:spTree>
    <p:extLst>
      <p:ext uri="{BB962C8B-B14F-4D97-AF65-F5344CB8AC3E}">
        <p14:creationId xmlns:p14="http://schemas.microsoft.com/office/powerpoint/2010/main" val="1561129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FF049-8CA2-47B6-7215-AD0F4F9D055C}"/>
              </a:ext>
            </a:extLst>
          </p:cNvPr>
          <p:cNvSpPr>
            <a:spLocks noGrp="1"/>
          </p:cNvSpPr>
          <p:nvPr>
            <p:ph type="title"/>
          </p:nvPr>
        </p:nvSpPr>
        <p:spPr>
          <a:xfrm>
            <a:off x="804672" y="416560"/>
            <a:ext cx="9692640" cy="1325562"/>
          </a:xfrm>
        </p:spPr>
        <p:txBody>
          <a:bodyPr/>
          <a:lstStyle/>
          <a:p>
            <a:r>
              <a:rPr lang="en-US" dirty="0"/>
              <a:t>Kant: Wrong to Use Another Person Solely as a Means to an End</a:t>
            </a:r>
          </a:p>
        </p:txBody>
      </p:sp>
      <p:pic>
        <p:nvPicPr>
          <p:cNvPr id="5" name="Content Placeholder 4">
            <a:extLst>
              <a:ext uri="{FF2B5EF4-FFF2-40B4-BE49-F238E27FC236}">
                <a16:creationId xmlns:a16="http://schemas.microsoft.com/office/drawing/2014/main" id="{0350E1A5-79C0-102F-9ECF-D57B42DC272F}"/>
              </a:ext>
            </a:extLst>
          </p:cNvPr>
          <p:cNvPicPr>
            <a:picLocks noGrp="1" noChangeAspect="1"/>
          </p:cNvPicPr>
          <p:nvPr>
            <p:ph idx="1"/>
          </p:nvPr>
        </p:nvPicPr>
        <p:blipFill>
          <a:blip r:embed="rId2"/>
          <a:stretch>
            <a:fillRect/>
          </a:stretch>
        </p:blipFill>
        <p:spPr>
          <a:xfrm>
            <a:off x="1616025" y="2042160"/>
            <a:ext cx="7886800" cy="4137978"/>
          </a:xfrm>
        </p:spPr>
      </p:pic>
    </p:spTree>
    <p:extLst>
      <p:ext uri="{BB962C8B-B14F-4D97-AF65-F5344CB8AC3E}">
        <p14:creationId xmlns:p14="http://schemas.microsoft.com/office/powerpoint/2010/main" val="1551572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1B187-3B9C-93DE-5DC1-BFF6E8E14048}"/>
              </a:ext>
            </a:extLst>
          </p:cNvPr>
          <p:cNvSpPr>
            <a:spLocks noGrp="1"/>
          </p:cNvSpPr>
          <p:nvPr>
            <p:ph type="title"/>
          </p:nvPr>
        </p:nvSpPr>
        <p:spPr>
          <a:xfrm>
            <a:off x="743712" y="426720"/>
            <a:ext cx="9692640" cy="721360"/>
          </a:xfrm>
        </p:spPr>
        <p:txBody>
          <a:bodyPr/>
          <a:lstStyle/>
          <a:p>
            <a:r>
              <a:rPr lang="en-US" dirty="0"/>
              <a:t>Scenario</a:t>
            </a:r>
          </a:p>
        </p:txBody>
      </p:sp>
      <p:sp>
        <p:nvSpPr>
          <p:cNvPr id="3" name="Content Placeholder 2">
            <a:extLst>
              <a:ext uri="{FF2B5EF4-FFF2-40B4-BE49-F238E27FC236}">
                <a16:creationId xmlns:a16="http://schemas.microsoft.com/office/drawing/2014/main" id="{067A5AA4-DF53-4879-54BA-71F099F1E2B2}"/>
              </a:ext>
            </a:extLst>
          </p:cNvPr>
          <p:cNvSpPr>
            <a:spLocks noGrp="1"/>
          </p:cNvSpPr>
          <p:nvPr>
            <p:ph idx="1"/>
          </p:nvPr>
        </p:nvSpPr>
        <p:spPr>
          <a:xfrm>
            <a:off x="1292352" y="1239520"/>
            <a:ext cx="8595360" cy="5029200"/>
          </a:xfrm>
        </p:spPr>
        <p:txBody>
          <a:bodyPr>
            <a:noAutofit/>
          </a:bodyPr>
          <a:lstStyle/>
          <a:p>
            <a:r>
              <a:rPr lang="en-US" sz="2000" dirty="0"/>
              <a:t>Carla is a single mother who is working hard to complete her college education while taking care of her daughter. Carla has a full-time job and is taking two evening courses per semester. If she can pass both courses this semester, she will graduate. She knows her child will benefit if she can spend more time at home. One of her required classes is modern European history. In addition to the midterm and final examinations, the professor assigns four lengthy reports, which is far more than the usual amount of work required for a single class. Students must submit all four reports in order to pass the class. Carla earns an A on each of her first three reports. At the end of the term, she is required to put in a lot of overtime where she works. She simply does not have time to research and write the final report. Carla uses the Web to identify a company that sells term papers. She purchases a report from the company and submits it as her own work.</a:t>
            </a:r>
          </a:p>
          <a:p>
            <a:r>
              <a:rPr lang="en-US" sz="2000" dirty="0"/>
              <a:t>Was Carla’s action morally justifiable?</a:t>
            </a:r>
          </a:p>
        </p:txBody>
      </p:sp>
    </p:spTree>
    <p:extLst>
      <p:ext uri="{BB962C8B-B14F-4D97-AF65-F5344CB8AC3E}">
        <p14:creationId xmlns:p14="http://schemas.microsoft.com/office/powerpoint/2010/main" val="1841848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7E6F-2B78-6CDB-9532-54BA02A1B37E}"/>
              </a:ext>
            </a:extLst>
          </p:cNvPr>
          <p:cNvSpPr>
            <a:spLocks noGrp="1"/>
          </p:cNvSpPr>
          <p:nvPr>
            <p:ph type="title"/>
          </p:nvPr>
        </p:nvSpPr>
        <p:spPr>
          <a:xfrm>
            <a:off x="611632" y="503238"/>
            <a:ext cx="9692640" cy="1142682"/>
          </a:xfrm>
        </p:spPr>
        <p:txBody>
          <a:bodyPr/>
          <a:lstStyle/>
          <a:p>
            <a:r>
              <a:rPr lang="en-US" dirty="0"/>
              <a:t>Plagiarism Scenario</a:t>
            </a:r>
          </a:p>
        </p:txBody>
      </p:sp>
      <p:sp>
        <p:nvSpPr>
          <p:cNvPr id="3" name="Content Placeholder 2">
            <a:extLst>
              <a:ext uri="{FF2B5EF4-FFF2-40B4-BE49-F238E27FC236}">
                <a16:creationId xmlns:a16="http://schemas.microsoft.com/office/drawing/2014/main" id="{4619ED5F-69AF-78EA-53C5-7FED4AC1EE0E}"/>
              </a:ext>
            </a:extLst>
          </p:cNvPr>
          <p:cNvSpPr>
            <a:spLocks noGrp="1"/>
          </p:cNvSpPr>
          <p:nvPr>
            <p:ph idx="1"/>
          </p:nvPr>
        </p:nvSpPr>
        <p:spPr/>
        <p:txBody>
          <a:bodyPr>
            <a:normAutofit/>
          </a:bodyPr>
          <a:lstStyle/>
          <a:p>
            <a:r>
              <a:rPr lang="en-US" sz="2400" dirty="0"/>
              <a:t>Carla </a:t>
            </a:r>
          </a:p>
          <a:p>
            <a:pPr marL="274320" lvl="1" indent="0">
              <a:buNone/>
            </a:pPr>
            <a:r>
              <a:rPr lang="en-US" sz="2200" dirty="0"/>
              <a:t>– Single mother</a:t>
            </a:r>
          </a:p>
          <a:p>
            <a:pPr marL="274320" lvl="1" indent="0">
              <a:buNone/>
            </a:pPr>
            <a:r>
              <a:rPr lang="en-US" sz="2200" dirty="0"/>
              <a:t>– Works full time </a:t>
            </a:r>
          </a:p>
          <a:p>
            <a:pPr marL="274320" lvl="1" indent="0">
              <a:buNone/>
            </a:pPr>
            <a:r>
              <a:rPr lang="en-US" sz="2200" dirty="0"/>
              <a:t>– Takes two evening courses/semester</a:t>
            </a:r>
          </a:p>
          <a:p>
            <a:r>
              <a:rPr lang="en-US" sz="2400" dirty="0"/>
              <a:t>History class </a:t>
            </a:r>
          </a:p>
          <a:p>
            <a:pPr marL="274320" lvl="1" indent="0">
              <a:buNone/>
            </a:pPr>
            <a:r>
              <a:rPr lang="en-US" sz="2200" dirty="0"/>
              <a:t>– Requires more work than normal </a:t>
            </a:r>
          </a:p>
          <a:p>
            <a:pPr marL="274320" lvl="1" indent="0">
              <a:buNone/>
            </a:pPr>
            <a:r>
              <a:rPr lang="en-US" sz="2200" dirty="0"/>
              <a:t>– Carla earning an “A” on all work so far </a:t>
            </a:r>
          </a:p>
          <a:p>
            <a:pPr marL="274320" lvl="1" indent="0">
              <a:buNone/>
            </a:pPr>
            <a:r>
              <a:rPr lang="en-US" sz="2200" dirty="0"/>
              <a:t>– Carla doesn’t have time to write final report </a:t>
            </a:r>
          </a:p>
          <a:p>
            <a:r>
              <a:rPr lang="en-US" sz="2400" dirty="0"/>
              <a:t>Carla purchases report; submits it as her own work </a:t>
            </a:r>
          </a:p>
        </p:txBody>
      </p:sp>
    </p:spTree>
    <p:extLst>
      <p:ext uri="{BB962C8B-B14F-4D97-AF65-F5344CB8AC3E}">
        <p14:creationId xmlns:p14="http://schemas.microsoft.com/office/powerpoint/2010/main" val="2129601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5705A-F461-ED74-43EC-A670BBD282C5}"/>
              </a:ext>
            </a:extLst>
          </p:cNvPr>
          <p:cNvSpPr>
            <a:spLocks noGrp="1"/>
          </p:cNvSpPr>
          <p:nvPr>
            <p:ph type="title"/>
          </p:nvPr>
        </p:nvSpPr>
        <p:spPr>
          <a:xfrm>
            <a:off x="713232" y="274320"/>
            <a:ext cx="9692640" cy="1325562"/>
          </a:xfrm>
        </p:spPr>
        <p:txBody>
          <a:bodyPr/>
          <a:lstStyle/>
          <a:p>
            <a:r>
              <a:rPr lang="en-US" dirty="0"/>
              <a:t>Kantian Evaluation (1st Formulation</a:t>
            </a:r>
          </a:p>
        </p:txBody>
      </p:sp>
      <p:sp>
        <p:nvSpPr>
          <p:cNvPr id="3" name="Content Placeholder 2">
            <a:extLst>
              <a:ext uri="{FF2B5EF4-FFF2-40B4-BE49-F238E27FC236}">
                <a16:creationId xmlns:a16="http://schemas.microsoft.com/office/drawing/2014/main" id="{E946F6E9-6075-840C-8221-C4429B71C0FA}"/>
              </a:ext>
            </a:extLst>
          </p:cNvPr>
          <p:cNvSpPr>
            <a:spLocks noGrp="1"/>
          </p:cNvSpPr>
          <p:nvPr>
            <p:ph idx="1"/>
          </p:nvPr>
        </p:nvSpPr>
        <p:spPr/>
        <p:txBody>
          <a:bodyPr>
            <a:normAutofit/>
          </a:bodyPr>
          <a:lstStyle/>
          <a:p>
            <a:r>
              <a:rPr lang="en-US" sz="2400" dirty="0"/>
              <a:t>Carla wants credit for plagiarized report </a:t>
            </a:r>
          </a:p>
          <a:p>
            <a:r>
              <a:rPr lang="en-US" sz="2400" dirty="0"/>
              <a:t>Rule: “You may claim credit for work performed by someone else” </a:t>
            </a:r>
          </a:p>
          <a:p>
            <a:r>
              <a:rPr lang="en-US" sz="2400" dirty="0"/>
              <a:t>If rule universalized, reports would no longer be credible indicator’s of student’s knowledge, and professors would not give credit for reports </a:t>
            </a:r>
          </a:p>
          <a:p>
            <a:r>
              <a:rPr lang="en-US" sz="2400" dirty="0"/>
              <a:t>Proposal moral rule is self-defeating </a:t>
            </a:r>
          </a:p>
          <a:p>
            <a:r>
              <a:rPr lang="en-US" sz="2400" dirty="0"/>
              <a:t>It is wrong for Carla to turn in a purchased report</a:t>
            </a:r>
          </a:p>
        </p:txBody>
      </p:sp>
    </p:spTree>
    <p:extLst>
      <p:ext uri="{BB962C8B-B14F-4D97-AF65-F5344CB8AC3E}">
        <p14:creationId xmlns:p14="http://schemas.microsoft.com/office/powerpoint/2010/main" val="2468562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043B2-3C5F-2C6E-9317-5937DED5A346}"/>
              </a:ext>
            </a:extLst>
          </p:cNvPr>
          <p:cNvSpPr>
            <a:spLocks noGrp="1"/>
          </p:cNvSpPr>
          <p:nvPr>
            <p:ph type="title"/>
          </p:nvPr>
        </p:nvSpPr>
        <p:spPr>
          <a:xfrm>
            <a:off x="365760" y="548640"/>
            <a:ext cx="10212832" cy="1158240"/>
          </a:xfrm>
        </p:spPr>
        <p:txBody>
          <a:bodyPr/>
          <a:lstStyle/>
          <a:p>
            <a:r>
              <a:rPr lang="en-US" dirty="0"/>
              <a:t>Kantian Evaluation (2nd Formulation)</a:t>
            </a:r>
          </a:p>
        </p:txBody>
      </p:sp>
      <p:sp>
        <p:nvSpPr>
          <p:cNvPr id="3" name="Content Placeholder 2">
            <a:extLst>
              <a:ext uri="{FF2B5EF4-FFF2-40B4-BE49-F238E27FC236}">
                <a16:creationId xmlns:a16="http://schemas.microsoft.com/office/drawing/2014/main" id="{5402FF3F-1C39-EB8E-FC8B-D78B6A6FA8A1}"/>
              </a:ext>
            </a:extLst>
          </p:cNvPr>
          <p:cNvSpPr>
            <a:spLocks noGrp="1"/>
          </p:cNvSpPr>
          <p:nvPr>
            <p:ph idx="1"/>
          </p:nvPr>
        </p:nvSpPr>
        <p:spPr>
          <a:xfrm>
            <a:off x="1261872" y="2326640"/>
            <a:ext cx="8595360" cy="3853497"/>
          </a:xfrm>
        </p:spPr>
        <p:txBody>
          <a:bodyPr>
            <a:normAutofit/>
          </a:bodyPr>
          <a:lstStyle/>
          <a:p>
            <a:r>
              <a:rPr lang="en-US" sz="2400" dirty="0"/>
              <a:t>Carla submitted another person’s work as her own </a:t>
            </a:r>
          </a:p>
          <a:p>
            <a:r>
              <a:rPr lang="en-US" sz="2400" dirty="0"/>
              <a:t>She attempted to deceive professor </a:t>
            </a:r>
          </a:p>
          <a:p>
            <a:r>
              <a:rPr lang="en-US" sz="2400" dirty="0"/>
              <a:t>She treated professor as a means to an end – End: passing the course – Means: manipulate professor </a:t>
            </a:r>
          </a:p>
          <a:p>
            <a:r>
              <a:rPr lang="en-US" sz="2400" dirty="0"/>
              <a:t>What Carla did was wrong </a:t>
            </a:r>
          </a:p>
        </p:txBody>
      </p:sp>
    </p:spTree>
    <p:extLst>
      <p:ext uri="{BB962C8B-B14F-4D97-AF65-F5344CB8AC3E}">
        <p14:creationId xmlns:p14="http://schemas.microsoft.com/office/powerpoint/2010/main" val="1579695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C1274-D6D7-D230-CD5E-C02397EAFD4D}"/>
              </a:ext>
            </a:extLst>
          </p:cNvPr>
          <p:cNvSpPr>
            <a:spLocks noGrp="1"/>
          </p:cNvSpPr>
          <p:nvPr>
            <p:ph type="title"/>
          </p:nvPr>
        </p:nvSpPr>
        <p:spPr>
          <a:xfrm>
            <a:off x="713232" y="314960"/>
            <a:ext cx="9692640" cy="1198880"/>
          </a:xfrm>
        </p:spPr>
        <p:txBody>
          <a:bodyPr/>
          <a:lstStyle/>
          <a:p>
            <a:r>
              <a:rPr lang="en-US" dirty="0"/>
              <a:t>Case for Kantianism</a:t>
            </a:r>
          </a:p>
        </p:txBody>
      </p:sp>
      <p:sp>
        <p:nvSpPr>
          <p:cNvPr id="3" name="Content Placeholder 2">
            <a:extLst>
              <a:ext uri="{FF2B5EF4-FFF2-40B4-BE49-F238E27FC236}">
                <a16:creationId xmlns:a16="http://schemas.microsoft.com/office/drawing/2014/main" id="{5D05943C-8798-B9A6-478E-55766B3F6147}"/>
              </a:ext>
            </a:extLst>
          </p:cNvPr>
          <p:cNvSpPr>
            <a:spLocks noGrp="1"/>
          </p:cNvSpPr>
          <p:nvPr>
            <p:ph idx="1"/>
          </p:nvPr>
        </p:nvSpPr>
        <p:spPr/>
        <p:txBody>
          <a:bodyPr>
            <a:normAutofit/>
          </a:bodyPr>
          <a:lstStyle/>
          <a:p>
            <a:r>
              <a:rPr lang="en-US" sz="2400" dirty="0"/>
              <a:t>Aligns with common moral concern: “What if everyone acted that way?” </a:t>
            </a:r>
          </a:p>
          <a:p>
            <a:r>
              <a:rPr lang="en-US" sz="2400" dirty="0"/>
              <a:t>Produces universal moral guidelines </a:t>
            </a:r>
          </a:p>
          <a:p>
            <a:r>
              <a:rPr lang="en-US" sz="2400" dirty="0"/>
              <a:t>Treats all persons as moral equals </a:t>
            </a:r>
          </a:p>
        </p:txBody>
      </p:sp>
    </p:spTree>
    <p:extLst>
      <p:ext uri="{BB962C8B-B14F-4D97-AF65-F5344CB8AC3E}">
        <p14:creationId xmlns:p14="http://schemas.microsoft.com/office/powerpoint/2010/main" val="3241000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93255-4FD3-136E-D380-222C6A7D5DBB}"/>
              </a:ext>
            </a:extLst>
          </p:cNvPr>
          <p:cNvSpPr>
            <a:spLocks noGrp="1"/>
          </p:cNvSpPr>
          <p:nvPr>
            <p:ph type="title"/>
          </p:nvPr>
        </p:nvSpPr>
        <p:spPr/>
        <p:txBody>
          <a:bodyPr/>
          <a:lstStyle/>
          <a:p>
            <a:r>
              <a:rPr lang="en-US" dirty="0"/>
              <a:t>Perfect and Imperfect Duties</a:t>
            </a:r>
          </a:p>
        </p:txBody>
      </p:sp>
      <p:sp>
        <p:nvSpPr>
          <p:cNvPr id="3" name="Content Placeholder 2">
            <a:extLst>
              <a:ext uri="{FF2B5EF4-FFF2-40B4-BE49-F238E27FC236}">
                <a16:creationId xmlns:a16="http://schemas.microsoft.com/office/drawing/2014/main" id="{8C8D6117-1667-0E72-A7BE-8644EC4ABA37}"/>
              </a:ext>
            </a:extLst>
          </p:cNvPr>
          <p:cNvSpPr>
            <a:spLocks noGrp="1"/>
          </p:cNvSpPr>
          <p:nvPr>
            <p:ph idx="1"/>
          </p:nvPr>
        </p:nvSpPr>
        <p:spPr>
          <a:xfrm>
            <a:off x="1261872" y="2336800"/>
            <a:ext cx="8595360" cy="3843337"/>
          </a:xfrm>
        </p:spPr>
        <p:txBody>
          <a:bodyPr>
            <a:normAutofit/>
          </a:bodyPr>
          <a:lstStyle/>
          <a:p>
            <a:r>
              <a:rPr lang="en-US" sz="2400" dirty="0"/>
              <a:t>Perfect duty: duty obliged to fulfill without exception </a:t>
            </a:r>
          </a:p>
          <a:p>
            <a:pPr marL="274320" lvl="1" indent="0">
              <a:buNone/>
            </a:pPr>
            <a:r>
              <a:rPr lang="en-US" sz="2400" dirty="0"/>
              <a:t>– Example: Telling the truth</a:t>
            </a:r>
          </a:p>
          <a:p>
            <a:r>
              <a:rPr lang="en-US" sz="2400" dirty="0"/>
              <a:t> Imperfect duty: duty obliged to fulfill in </a:t>
            </a:r>
          </a:p>
          <a:p>
            <a:r>
              <a:rPr lang="en-US" sz="2400" dirty="0"/>
              <a:t>general but not in every instance </a:t>
            </a:r>
          </a:p>
          <a:p>
            <a:pPr marL="274320" lvl="1" indent="0">
              <a:buNone/>
            </a:pPr>
            <a:r>
              <a:rPr lang="en-US" sz="2400" dirty="0"/>
              <a:t>– Example: Helping others</a:t>
            </a:r>
          </a:p>
        </p:txBody>
      </p:sp>
    </p:spTree>
    <p:extLst>
      <p:ext uri="{BB962C8B-B14F-4D97-AF65-F5344CB8AC3E}">
        <p14:creationId xmlns:p14="http://schemas.microsoft.com/office/powerpoint/2010/main" val="900242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7FCE6-4AB3-6F29-C425-8C3E1C2E00B8}"/>
              </a:ext>
            </a:extLst>
          </p:cNvPr>
          <p:cNvSpPr>
            <a:spLocks noGrp="1"/>
          </p:cNvSpPr>
          <p:nvPr>
            <p:ph type="title"/>
          </p:nvPr>
        </p:nvSpPr>
        <p:spPr>
          <a:xfrm>
            <a:off x="530352" y="447040"/>
            <a:ext cx="9692640" cy="1016000"/>
          </a:xfrm>
        </p:spPr>
        <p:txBody>
          <a:bodyPr/>
          <a:lstStyle/>
          <a:p>
            <a:r>
              <a:rPr lang="en-US" dirty="0"/>
              <a:t>Case Against Kantianism</a:t>
            </a:r>
          </a:p>
        </p:txBody>
      </p:sp>
      <p:sp>
        <p:nvSpPr>
          <p:cNvPr id="3" name="Content Placeholder 2">
            <a:extLst>
              <a:ext uri="{FF2B5EF4-FFF2-40B4-BE49-F238E27FC236}">
                <a16:creationId xmlns:a16="http://schemas.microsoft.com/office/drawing/2014/main" id="{C6AD8013-F240-1698-EE3F-A225D36A1965}"/>
              </a:ext>
            </a:extLst>
          </p:cNvPr>
          <p:cNvSpPr>
            <a:spLocks noGrp="1"/>
          </p:cNvSpPr>
          <p:nvPr>
            <p:ph idx="1"/>
          </p:nvPr>
        </p:nvSpPr>
        <p:spPr/>
        <p:txBody>
          <a:bodyPr>
            <a:normAutofit/>
          </a:bodyPr>
          <a:lstStyle/>
          <a:p>
            <a:r>
              <a:rPr lang="en-US" sz="2400" dirty="0"/>
              <a:t>Sometimes no rule adequately characterizes an action </a:t>
            </a:r>
          </a:p>
          <a:p>
            <a:r>
              <a:rPr lang="en-US" sz="2400" dirty="0"/>
              <a:t>Sometimes there is no way to resolve a conflict between rules</a:t>
            </a:r>
          </a:p>
          <a:p>
            <a:pPr marL="274320" lvl="1" indent="0">
              <a:buNone/>
            </a:pPr>
            <a:r>
              <a:rPr lang="en-US" sz="2400" dirty="0"/>
              <a:t> – In a conflict between a perfect duty and an imperfect duty, perfect duty prevails</a:t>
            </a:r>
          </a:p>
          <a:p>
            <a:pPr marL="274320" lvl="1" indent="0">
              <a:buNone/>
            </a:pPr>
            <a:r>
              <a:rPr lang="en-US" sz="2400" dirty="0"/>
              <a:t> – In a conflict between two perfect duties, no solution </a:t>
            </a:r>
          </a:p>
          <a:p>
            <a:r>
              <a:rPr lang="en-US" sz="2400" dirty="0"/>
              <a:t>Kantianism allows no exceptions to perfect duties </a:t>
            </a:r>
          </a:p>
          <a:p>
            <a:r>
              <a:rPr lang="en-US" sz="2400" dirty="0"/>
              <a:t>Despite weaknesses, a workable ethical theory</a:t>
            </a:r>
          </a:p>
        </p:txBody>
      </p:sp>
    </p:spTree>
    <p:extLst>
      <p:ext uri="{BB962C8B-B14F-4D97-AF65-F5344CB8AC3E}">
        <p14:creationId xmlns:p14="http://schemas.microsoft.com/office/powerpoint/2010/main" val="2875220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05A4F-7D60-9526-D4D9-3DD84FE285AF}"/>
              </a:ext>
            </a:extLst>
          </p:cNvPr>
          <p:cNvSpPr>
            <a:spLocks noGrp="1"/>
          </p:cNvSpPr>
          <p:nvPr>
            <p:ph type="title"/>
          </p:nvPr>
        </p:nvSpPr>
        <p:spPr>
          <a:xfrm>
            <a:off x="662432" y="2570480"/>
            <a:ext cx="9692640" cy="1325562"/>
          </a:xfrm>
        </p:spPr>
        <p:txBody>
          <a:bodyPr/>
          <a:lstStyle/>
          <a:p>
            <a:pPr algn="ctr"/>
            <a:r>
              <a:rPr lang="en-US" dirty="0"/>
              <a:t>Virtue Ethics</a:t>
            </a:r>
          </a:p>
        </p:txBody>
      </p:sp>
    </p:spTree>
    <p:extLst>
      <p:ext uri="{BB962C8B-B14F-4D97-AF65-F5344CB8AC3E}">
        <p14:creationId xmlns:p14="http://schemas.microsoft.com/office/powerpoint/2010/main" val="3138432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0417C-E469-93DA-3C50-620F6D5D5588}"/>
              </a:ext>
            </a:extLst>
          </p:cNvPr>
          <p:cNvSpPr>
            <a:spLocks noGrp="1"/>
          </p:cNvSpPr>
          <p:nvPr>
            <p:ph type="title"/>
          </p:nvPr>
        </p:nvSpPr>
        <p:spPr>
          <a:xfrm>
            <a:off x="713232" y="457200"/>
            <a:ext cx="9692640" cy="1016000"/>
          </a:xfrm>
        </p:spPr>
        <p:txBody>
          <a:bodyPr/>
          <a:lstStyle/>
          <a:p>
            <a:r>
              <a:rPr lang="en-US" dirty="0"/>
              <a:t>Critique of Enlightenment Theories</a:t>
            </a:r>
          </a:p>
        </p:txBody>
      </p:sp>
      <p:sp>
        <p:nvSpPr>
          <p:cNvPr id="3" name="Content Placeholder 2">
            <a:extLst>
              <a:ext uri="{FF2B5EF4-FFF2-40B4-BE49-F238E27FC236}">
                <a16:creationId xmlns:a16="http://schemas.microsoft.com/office/drawing/2014/main" id="{C4837A43-C5E7-B5AE-AD11-C69A4FF0EAFD}"/>
              </a:ext>
            </a:extLst>
          </p:cNvPr>
          <p:cNvSpPr>
            <a:spLocks noGrp="1"/>
          </p:cNvSpPr>
          <p:nvPr>
            <p:ph idx="1"/>
          </p:nvPr>
        </p:nvSpPr>
        <p:spPr/>
        <p:txBody>
          <a:bodyPr>
            <a:normAutofit/>
          </a:bodyPr>
          <a:lstStyle/>
          <a:p>
            <a:r>
              <a:rPr lang="en-US" sz="2400" dirty="0"/>
              <a:t>Utilitarianism, social contract theory ignore important moral considerations </a:t>
            </a:r>
          </a:p>
          <a:p>
            <a:pPr marL="274320" lvl="1" indent="0">
              <a:buNone/>
            </a:pPr>
            <a:r>
              <a:rPr lang="en-US" sz="2200" dirty="0"/>
              <a:t>– moral education</a:t>
            </a:r>
          </a:p>
          <a:p>
            <a:pPr marL="274320" lvl="1" indent="0">
              <a:buNone/>
            </a:pPr>
            <a:r>
              <a:rPr lang="en-US" sz="2200" dirty="0"/>
              <a:t>– moral wisdom</a:t>
            </a:r>
          </a:p>
          <a:p>
            <a:pPr marL="274320" lvl="1" indent="0">
              <a:buNone/>
            </a:pPr>
            <a:r>
              <a:rPr lang="en-US" sz="2200" dirty="0"/>
              <a:t>– family and social relationships </a:t>
            </a:r>
          </a:p>
          <a:p>
            <a:pPr marL="274320" lvl="1" indent="0">
              <a:buNone/>
            </a:pPr>
            <a:r>
              <a:rPr lang="en-US" sz="2200" dirty="0"/>
              <a:t>– role of emotions </a:t>
            </a:r>
          </a:p>
          <a:p>
            <a:pPr marL="0" indent="0">
              <a:buNone/>
            </a:pPr>
            <a:r>
              <a:rPr lang="en-US" sz="2400" dirty="0"/>
              <a:t>• Virtue ethics </a:t>
            </a:r>
          </a:p>
          <a:p>
            <a:pPr marL="274320" lvl="1" indent="0">
              <a:buNone/>
            </a:pPr>
            <a:r>
              <a:rPr lang="en-US" sz="2200" dirty="0"/>
              <a:t>– arete, virtue, excellence: reaching highest potential</a:t>
            </a:r>
          </a:p>
          <a:p>
            <a:pPr marL="274320" lvl="1" indent="0">
              <a:buNone/>
            </a:pPr>
            <a:r>
              <a:rPr lang="en-US" sz="2200" dirty="0"/>
              <a:t> – Aristotle’s Nicomachean Ethics (4th century BC)</a:t>
            </a:r>
            <a:endParaRPr lang="en-US" sz="2200" b="1" dirty="0"/>
          </a:p>
        </p:txBody>
      </p:sp>
    </p:spTree>
    <p:extLst>
      <p:ext uri="{BB962C8B-B14F-4D97-AF65-F5344CB8AC3E}">
        <p14:creationId xmlns:p14="http://schemas.microsoft.com/office/powerpoint/2010/main" val="17075935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0417C-E469-93DA-3C50-620F6D5D5588}"/>
              </a:ext>
            </a:extLst>
          </p:cNvPr>
          <p:cNvSpPr>
            <a:spLocks noGrp="1"/>
          </p:cNvSpPr>
          <p:nvPr>
            <p:ph type="title"/>
          </p:nvPr>
        </p:nvSpPr>
        <p:spPr>
          <a:xfrm>
            <a:off x="713232" y="497840"/>
            <a:ext cx="9692640" cy="1016000"/>
          </a:xfrm>
        </p:spPr>
        <p:txBody>
          <a:bodyPr/>
          <a:lstStyle/>
          <a:p>
            <a:r>
              <a:rPr lang="en-US" dirty="0"/>
              <a:t>Virtues and Vices</a:t>
            </a:r>
          </a:p>
        </p:txBody>
      </p:sp>
      <p:sp>
        <p:nvSpPr>
          <p:cNvPr id="3" name="Content Placeholder 2">
            <a:extLst>
              <a:ext uri="{FF2B5EF4-FFF2-40B4-BE49-F238E27FC236}">
                <a16:creationId xmlns:a16="http://schemas.microsoft.com/office/drawing/2014/main" id="{C4837A43-C5E7-B5AE-AD11-C69A4FF0EAFD}"/>
              </a:ext>
            </a:extLst>
          </p:cNvPr>
          <p:cNvSpPr>
            <a:spLocks noGrp="1"/>
          </p:cNvSpPr>
          <p:nvPr>
            <p:ph idx="1"/>
          </p:nvPr>
        </p:nvSpPr>
        <p:spPr/>
        <p:txBody>
          <a:bodyPr>
            <a:normAutofit/>
          </a:bodyPr>
          <a:lstStyle/>
          <a:p>
            <a:r>
              <a:rPr lang="en-US" sz="2400" dirty="0"/>
              <a:t>Two types of virtue </a:t>
            </a:r>
          </a:p>
          <a:p>
            <a:pPr marL="274320" lvl="1" indent="0">
              <a:buNone/>
            </a:pPr>
            <a:r>
              <a:rPr lang="en-US" sz="2400" dirty="0"/>
              <a:t>– intellectual virtues: virtues associated with reasoning and truth</a:t>
            </a:r>
          </a:p>
          <a:p>
            <a:pPr marL="274320" lvl="1" indent="0">
              <a:buNone/>
            </a:pPr>
            <a:r>
              <a:rPr lang="en-US" sz="2400" dirty="0"/>
              <a:t> – moral virtues: virtues of character (e.g., honesty) </a:t>
            </a:r>
          </a:p>
          <a:p>
            <a:r>
              <a:rPr lang="en-US" sz="2400" dirty="0"/>
              <a:t>Moral virtues</a:t>
            </a:r>
          </a:p>
          <a:p>
            <a:pPr marL="274320" lvl="1" indent="0">
              <a:buNone/>
            </a:pPr>
            <a:r>
              <a:rPr lang="en-US" sz="2400" dirty="0"/>
              <a:t> – developed by habitually performing right action </a:t>
            </a:r>
          </a:p>
          <a:p>
            <a:pPr marL="274320" lvl="1" indent="0">
              <a:buNone/>
            </a:pPr>
            <a:r>
              <a:rPr lang="en-US" sz="2400" dirty="0"/>
              <a:t>– deep-seated character traits</a:t>
            </a:r>
          </a:p>
          <a:p>
            <a:pPr marL="274320" lvl="1" indent="0">
              <a:buNone/>
            </a:pPr>
            <a:r>
              <a:rPr lang="en-US" sz="2400" dirty="0"/>
              <a:t> – disposition to act in a certain way and feel in a certain way</a:t>
            </a:r>
            <a:endParaRPr lang="en-US" sz="2400" b="1" dirty="0"/>
          </a:p>
        </p:txBody>
      </p:sp>
    </p:spTree>
    <p:extLst>
      <p:ext uri="{BB962C8B-B14F-4D97-AF65-F5344CB8AC3E}">
        <p14:creationId xmlns:p14="http://schemas.microsoft.com/office/powerpoint/2010/main" val="3506169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0417C-E469-93DA-3C50-620F6D5D5588}"/>
              </a:ext>
            </a:extLst>
          </p:cNvPr>
          <p:cNvSpPr>
            <a:spLocks noGrp="1"/>
          </p:cNvSpPr>
          <p:nvPr>
            <p:ph type="title"/>
          </p:nvPr>
        </p:nvSpPr>
        <p:spPr>
          <a:xfrm>
            <a:off x="824992" y="497840"/>
            <a:ext cx="9692640" cy="1016000"/>
          </a:xfrm>
        </p:spPr>
        <p:txBody>
          <a:bodyPr>
            <a:normAutofit fontScale="90000"/>
          </a:bodyPr>
          <a:lstStyle/>
          <a:p>
            <a:r>
              <a:rPr lang="en-US" dirty="0"/>
              <a:t>Aristotle: Happiness derives from living a life of virtue.</a:t>
            </a:r>
          </a:p>
        </p:txBody>
      </p:sp>
      <p:pic>
        <p:nvPicPr>
          <p:cNvPr id="5" name="Content Placeholder 4">
            <a:extLst>
              <a:ext uri="{FF2B5EF4-FFF2-40B4-BE49-F238E27FC236}">
                <a16:creationId xmlns:a16="http://schemas.microsoft.com/office/drawing/2014/main" id="{3385275D-99A8-912E-1EF3-F69D10A9177C}"/>
              </a:ext>
            </a:extLst>
          </p:cNvPr>
          <p:cNvPicPr>
            <a:picLocks noGrp="1" noChangeAspect="1"/>
          </p:cNvPicPr>
          <p:nvPr>
            <p:ph idx="1"/>
          </p:nvPr>
        </p:nvPicPr>
        <p:blipFill>
          <a:blip r:embed="rId2"/>
          <a:stretch>
            <a:fillRect/>
          </a:stretch>
        </p:blipFill>
        <p:spPr>
          <a:xfrm>
            <a:off x="3705377" y="1828800"/>
            <a:ext cx="3708096" cy="4351338"/>
          </a:xfrm>
        </p:spPr>
      </p:pic>
    </p:spTree>
    <p:extLst>
      <p:ext uri="{BB962C8B-B14F-4D97-AF65-F5344CB8AC3E}">
        <p14:creationId xmlns:p14="http://schemas.microsoft.com/office/powerpoint/2010/main" val="19236139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0417C-E469-93DA-3C50-620F6D5D5588}"/>
              </a:ext>
            </a:extLst>
          </p:cNvPr>
          <p:cNvSpPr>
            <a:spLocks noGrp="1"/>
          </p:cNvSpPr>
          <p:nvPr>
            <p:ph type="title"/>
          </p:nvPr>
        </p:nvSpPr>
        <p:spPr>
          <a:xfrm>
            <a:off x="824992" y="497840"/>
            <a:ext cx="9692640" cy="1016000"/>
          </a:xfrm>
        </p:spPr>
        <p:txBody>
          <a:bodyPr>
            <a:normAutofit/>
          </a:bodyPr>
          <a:lstStyle/>
          <a:p>
            <a:r>
              <a:rPr lang="en-US" dirty="0"/>
              <a:t>Summary of Virtue Ethics</a:t>
            </a:r>
          </a:p>
        </p:txBody>
      </p:sp>
      <p:sp>
        <p:nvSpPr>
          <p:cNvPr id="4" name="Content Placeholder 3">
            <a:extLst>
              <a:ext uri="{FF2B5EF4-FFF2-40B4-BE49-F238E27FC236}">
                <a16:creationId xmlns:a16="http://schemas.microsoft.com/office/drawing/2014/main" id="{DC6B58B5-D05C-1D83-86DE-0ABBDBB69786}"/>
              </a:ext>
            </a:extLst>
          </p:cNvPr>
          <p:cNvSpPr>
            <a:spLocks noGrp="1"/>
          </p:cNvSpPr>
          <p:nvPr>
            <p:ph idx="1"/>
          </p:nvPr>
        </p:nvSpPr>
        <p:spPr>
          <a:xfrm>
            <a:off x="1261872" y="2103119"/>
            <a:ext cx="8595360" cy="3108961"/>
          </a:xfrm>
        </p:spPr>
        <p:txBody>
          <a:bodyPr>
            <a:normAutofit/>
          </a:bodyPr>
          <a:lstStyle/>
          <a:p>
            <a:r>
              <a:rPr lang="en-US" sz="2400" dirty="0"/>
              <a:t>A right action is an action that a virtuous person, acting in character, would do in the same circumstances.</a:t>
            </a:r>
          </a:p>
          <a:p>
            <a:r>
              <a:rPr lang="en-US" sz="2400" dirty="0"/>
              <a:t> A virtuous person is a person who possesses and lives out the virtues.</a:t>
            </a:r>
          </a:p>
          <a:p>
            <a:r>
              <a:rPr lang="en-US" sz="2400" dirty="0"/>
              <a:t> The virtues are those character traits human beings needs in order to flourish and be truly happy.</a:t>
            </a:r>
          </a:p>
        </p:txBody>
      </p:sp>
    </p:spTree>
    <p:extLst>
      <p:ext uri="{BB962C8B-B14F-4D97-AF65-F5344CB8AC3E}">
        <p14:creationId xmlns:p14="http://schemas.microsoft.com/office/powerpoint/2010/main" val="2736950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0417C-E469-93DA-3C50-620F6D5D5588}"/>
              </a:ext>
            </a:extLst>
          </p:cNvPr>
          <p:cNvSpPr>
            <a:spLocks noGrp="1"/>
          </p:cNvSpPr>
          <p:nvPr>
            <p:ph type="title"/>
          </p:nvPr>
        </p:nvSpPr>
        <p:spPr>
          <a:xfrm>
            <a:off x="824992" y="497840"/>
            <a:ext cx="9692640" cy="1016000"/>
          </a:xfrm>
        </p:spPr>
        <p:txBody>
          <a:bodyPr>
            <a:normAutofit/>
          </a:bodyPr>
          <a:lstStyle/>
          <a:p>
            <a:r>
              <a:rPr lang="en-US" dirty="0"/>
              <a:t>Vices</a:t>
            </a:r>
          </a:p>
        </p:txBody>
      </p:sp>
      <p:sp>
        <p:nvSpPr>
          <p:cNvPr id="4" name="Content Placeholder 3">
            <a:extLst>
              <a:ext uri="{FF2B5EF4-FFF2-40B4-BE49-F238E27FC236}">
                <a16:creationId xmlns:a16="http://schemas.microsoft.com/office/drawing/2014/main" id="{DC6B58B5-D05C-1D83-86DE-0ABBDBB69786}"/>
              </a:ext>
            </a:extLst>
          </p:cNvPr>
          <p:cNvSpPr>
            <a:spLocks noGrp="1"/>
          </p:cNvSpPr>
          <p:nvPr>
            <p:ph idx="1"/>
          </p:nvPr>
        </p:nvSpPr>
        <p:spPr>
          <a:xfrm>
            <a:off x="1261872" y="2103119"/>
            <a:ext cx="8595360" cy="3779521"/>
          </a:xfrm>
        </p:spPr>
        <p:txBody>
          <a:bodyPr>
            <a:normAutofit/>
          </a:bodyPr>
          <a:lstStyle/>
          <a:p>
            <a:r>
              <a:rPr lang="en-US" sz="2400" dirty="0"/>
              <a:t>Vices are opposite of virtues </a:t>
            </a:r>
          </a:p>
          <a:p>
            <a:r>
              <a:rPr lang="en-US" sz="2400" dirty="0"/>
              <a:t>Vice: a character trait that prevents a human being from flourishing or being truly happy </a:t>
            </a:r>
          </a:p>
          <a:p>
            <a:r>
              <a:rPr lang="en-US" sz="2400" dirty="0"/>
              <a:t>Often, a virtue situated between two vices</a:t>
            </a:r>
          </a:p>
          <a:p>
            <a:pPr marL="274320" lvl="1" indent="0">
              <a:buNone/>
            </a:pPr>
            <a:r>
              <a:rPr lang="en-US" sz="2400" dirty="0"/>
              <a:t>– Courage between cowardliness and rashness </a:t>
            </a:r>
          </a:p>
          <a:p>
            <a:pPr marL="274320" lvl="1" indent="0">
              <a:buNone/>
            </a:pPr>
            <a:r>
              <a:rPr lang="en-US" sz="2400" dirty="0"/>
              <a:t>– Generosity between stinginess and prodigality</a:t>
            </a:r>
          </a:p>
        </p:txBody>
      </p:sp>
    </p:spTree>
    <p:extLst>
      <p:ext uri="{BB962C8B-B14F-4D97-AF65-F5344CB8AC3E}">
        <p14:creationId xmlns:p14="http://schemas.microsoft.com/office/powerpoint/2010/main" val="2032123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0417C-E469-93DA-3C50-620F6D5D5588}"/>
              </a:ext>
            </a:extLst>
          </p:cNvPr>
          <p:cNvSpPr>
            <a:spLocks noGrp="1"/>
          </p:cNvSpPr>
          <p:nvPr>
            <p:ph type="title"/>
          </p:nvPr>
        </p:nvSpPr>
        <p:spPr>
          <a:xfrm>
            <a:off x="824992" y="497840"/>
            <a:ext cx="9692640" cy="1016000"/>
          </a:xfrm>
        </p:spPr>
        <p:txBody>
          <a:bodyPr>
            <a:normAutofit/>
          </a:bodyPr>
          <a:lstStyle/>
          <a:p>
            <a:r>
              <a:rPr lang="en-US" dirty="0"/>
              <a:t>Case for Virtue Ethics</a:t>
            </a:r>
          </a:p>
        </p:txBody>
      </p:sp>
      <p:sp>
        <p:nvSpPr>
          <p:cNvPr id="4" name="Content Placeholder 3">
            <a:extLst>
              <a:ext uri="{FF2B5EF4-FFF2-40B4-BE49-F238E27FC236}">
                <a16:creationId xmlns:a16="http://schemas.microsoft.com/office/drawing/2014/main" id="{DC6B58B5-D05C-1D83-86DE-0ABBDBB69786}"/>
              </a:ext>
            </a:extLst>
          </p:cNvPr>
          <p:cNvSpPr>
            <a:spLocks noGrp="1"/>
          </p:cNvSpPr>
          <p:nvPr>
            <p:ph idx="1"/>
          </p:nvPr>
        </p:nvSpPr>
        <p:spPr>
          <a:xfrm>
            <a:off x="1261872" y="1930401"/>
            <a:ext cx="8595360" cy="3952240"/>
          </a:xfrm>
        </p:spPr>
        <p:txBody>
          <a:bodyPr>
            <a:normAutofit/>
          </a:bodyPr>
          <a:lstStyle/>
          <a:p>
            <a:r>
              <a:rPr lang="en-US" sz="2400" dirty="0"/>
              <a:t> It often makes more sense to focus on virtues than obligations, rights, or consequences </a:t>
            </a:r>
          </a:p>
          <a:p>
            <a:r>
              <a:rPr lang="en-US" sz="2400" dirty="0"/>
              <a:t>Personal relationships can be morally relevant to decision making </a:t>
            </a:r>
          </a:p>
          <a:p>
            <a:r>
              <a:rPr lang="en-US" sz="2400" dirty="0"/>
              <a:t>Our moral decision-making skills develop over time </a:t>
            </a:r>
          </a:p>
          <a:p>
            <a:r>
              <a:rPr lang="en-US" sz="2400" dirty="0"/>
              <a:t>With this theory there are no irresolvable moral dilemmas </a:t>
            </a:r>
          </a:p>
          <a:p>
            <a:r>
              <a:rPr lang="en-US" sz="2400" dirty="0"/>
              <a:t>Emotions play an important role in living a moral life</a:t>
            </a:r>
          </a:p>
        </p:txBody>
      </p:sp>
    </p:spTree>
    <p:extLst>
      <p:ext uri="{BB962C8B-B14F-4D97-AF65-F5344CB8AC3E}">
        <p14:creationId xmlns:p14="http://schemas.microsoft.com/office/powerpoint/2010/main" val="17382332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0417C-E469-93DA-3C50-620F6D5D5588}"/>
              </a:ext>
            </a:extLst>
          </p:cNvPr>
          <p:cNvSpPr>
            <a:spLocks noGrp="1"/>
          </p:cNvSpPr>
          <p:nvPr>
            <p:ph type="title"/>
          </p:nvPr>
        </p:nvSpPr>
        <p:spPr>
          <a:xfrm>
            <a:off x="824992" y="497840"/>
            <a:ext cx="9692640" cy="1016000"/>
          </a:xfrm>
        </p:spPr>
        <p:txBody>
          <a:bodyPr>
            <a:normAutofit/>
          </a:bodyPr>
          <a:lstStyle/>
          <a:p>
            <a:r>
              <a:rPr lang="en-US" dirty="0"/>
              <a:t>Case Against Virtue Ethics</a:t>
            </a:r>
          </a:p>
        </p:txBody>
      </p:sp>
      <p:sp>
        <p:nvSpPr>
          <p:cNvPr id="4" name="Content Placeholder 3">
            <a:extLst>
              <a:ext uri="{FF2B5EF4-FFF2-40B4-BE49-F238E27FC236}">
                <a16:creationId xmlns:a16="http://schemas.microsoft.com/office/drawing/2014/main" id="{DC6B58B5-D05C-1D83-86DE-0ABBDBB69786}"/>
              </a:ext>
            </a:extLst>
          </p:cNvPr>
          <p:cNvSpPr>
            <a:spLocks noGrp="1"/>
          </p:cNvSpPr>
          <p:nvPr>
            <p:ph idx="1"/>
          </p:nvPr>
        </p:nvSpPr>
        <p:spPr>
          <a:xfrm>
            <a:off x="1261872" y="1930401"/>
            <a:ext cx="8595360" cy="3952240"/>
          </a:xfrm>
        </p:spPr>
        <p:txBody>
          <a:bodyPr>
            <a:normAutofit/>
          </a:bodyPr>
          <a:lstStyle/>
          <a:p>
            <a:r>
              <a:rPr lang="en-US" sz="2400" dirty="0"/>
              <a:t>Reasonable people may disagree on character traits needed for human flourishing </a:t>
            </a:r>
          </a:p>
          <a:p>
            <a:r>
              <a:rPr lang="en-US" sz="2400" dirty="0"/>
              <a:t>Cannot use virtue ethics to guide government policy</a:t>
            </a:r>
          </a:p>
          <a:p>
            <a:r>
              <a:rPr lang="en-US" sz="2400" dirty="0"/>
              <a:t> Virtue ethics undermines attempts to hold people responsible for their bad actions </a:t>
            </a:r>
          </a:p>
          <a:p>
            <a:r>
              <a:rPr lang="en-US" sz="2400" dirty="0"/>
              <a:t>Despite weaknesses, virtue ethics a workable theory</a:t>
            </a:r>
          </a:p>
        </p:txBody>
      </p:sp>
    </p:spTree>
    <p:extLst>
      <p:ext uri="{BB962C8B-B14F-4D97-AF65-F5344CB8AC3E}">
        <p14:creationId xmlns:p14="http://schemas.microsoft.com/office/powerpoint/2010/main" val="136087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5E75A-C200-10EF-EAF6-A3B6E2164FEE}"/>
              </a:ext>
            </a:extLst>
          </p:cNvPr>
          <p:cNvSpPr>
            <a:spLocks noGrp="1"/>
          </p:cNvSpPr>
          <p:nvPr>
            <p:ph type="title"/>
          </p:nvPr>
        </p:nvSpPr>
        <p:spPr>
          <a:xfrm>
            <a:off x="814832" y="2682240"/>
            <a:ext cx="9692640" cy="1325562"/>
          </a:xfrm>
        </p:spPr>
        <p:txBody>
          <a:bodyPr/>
          <a:lstStyle/>
          <a:p>
            <a:pPr algn="ctr"/>
            <a:r>
              <a:rPr lang="en-US" dirty="0"/>
              <a:t>Comparing Workable Ethical </a:t>
            </a:r>
            <a:br>
              <a:rPr lang="en-US" dirty="0"/>
            </a:br>
            <a:r>
              <a:rPr lang="en-US" dirty="0"/>
              <a:t> Theories</a:t>
            </a:r>
          </a:p>
        </p:txBody>
      </p:sp>
    </p:spTree>
    <p:extLst>
      <p:ext uri="{BB962C8B-B14F-4D97-AF65-F5344CB8AC3E}">
        <p14:creationId xmlns:p14="http://schemas.microsoft.com/office/powerpoint/2010/main" val="38720709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0417C-E469-93DA-3C50-620F6D5D5588}"/>
              </a:ext>
            </a:extLst>
          </p:cNvPr>
          <p:cNvSpPr>
            <a:spLocks noGrp="1"/>
          </p:cNvSpPr>
          <p:nvPr>
            <p:ph type="title"/>
          </p:nvPr>
        </p:nvSpPr>
        <p:spPr>
          <a:xfrm>
            <a:off x="804672" y="629920"/>
            <a:ext cx="9692640" cy="1016000"/>
          </a:xfrm>
        </p:spPr>
        <p:txBody>
          <a:bodyPr>
            <a:normAutofit/>
          </a:bodyPr>
          <a:lstStyle/>
          <a:p>
            <a:pPr marL="0" indent="0">
              <a:buNone/>
            </a:pPr>
            <a:r>
              <a:rPr lang="en-US" sz="4400" b="1" dirty="0"/>
              <a:t>Objectivism vs. Relativism</a:t>
            </a:r>
            <a:endParaRPr lang="en-US" sz="4400" dirty="0"/>
          </a:p>
        </p:txBody>
      </p:sp>
      <p:sp>
        <p:nvSpPr>
          <p:cNvPr id="4" name="Content Placeholder 3">
            <a:extLst>
              <a:ext uri="{FF2B5EF4-FFF2-40B4-BE49-F238E27FC236}">
                <a16:creationId xmlns:a16="http://schemas.microsoft.com/office/drawing/2014/main" id="{DC6B58B5-D05C-1D83-86DE-0ABBDBB69786}"/>
              </a:ext>
            </a:extLst>
          </p:cNvPr>
          <p:cNvSpPr>
            <a:spLocks noGrp="1"/>
          </p:cNvSpPr>
          <p:nvPr>
            <p:ph idx="1"/>
          </p:nvPr>
        </p:nvSpPr>
        <p:spPr>
          <a:xfrm>
            <a:off x="1261872" y="1930401"/>
            <a:ext cx="8595360" cy="3952240"/>
          </a:xfrm>
        </p:spPr>
        <p:txBody>
          <a:bodyPr>
            <a:normAutofit/>
          </a:bodyPr>
          <a:lstStyle/>
          <a:p>
            <a:pPr lvl="1"/>
            <a:endParaRPr lang="en-US" sz="2400" dirty="0"/>
          </a:p>
          <a:p>
            <a:pPr lvl="1"/>
            <a:r>
              <a:rPr lang="en-US" sz="2400" dirty="0"/>
              <a:t>Objectivism: Morality has an existence outside the human mind </a:t>
            </a:r>
          </a:p>
          <a:p>
            <a:pPr lvl="1"/>
            <a:r>
              <a:rPr lang="en-US" sz="2400" dirty="0"/>
              <a:t>Relativism: Morality is a human invention</a:t>
            </a:r>
          </a:p>
          <a:p>
            <a:pPr lvl="1"/>
            <a:r>
              <a:rPr lang="en-US" sz="2400" dirty="0"/>
              <a:t>Divine command theory, ethical egoism, utilitarianism, social contract theory, and virtue ethics examples of objectivism</a:t>
            </a:r>
          </a:p>
        </p:txBody>
      </p:sp>
    </p:spTree>
    <p:extLst>
      <p:ext uri="{BB962C8B-B14F-4D97-AF65-F5344CB8AC3E}">
        <p14:creationId xmlns:p14="http://schemas.microsoft.com/office/powerpoint/2010/main" val="8477852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0417C-E469-93DA-3C50-620F6D5D5588}"/>
              </a:ext>
            </a:extLst>
          </p:cNvPr>
          <p:cNvSpPr>
            <a:spLocks noGrp="1"/>
          </p:cNvSpPr>
          <p:nvPr>
            <p:ph type="title"/>
          </p:nvPr>
        </p:nvSpPr>
        <p:spPr>
          <a:xfrm>
            <a:off x="824992" y="497840"/>
            <a:ext cx="9692640" cy="1016000"/>
          </a:xfrm>
        </p:spPr>
        <p:txBody>
          <a:bodyPr>
            <a:normAutofit/>
          </a:bodyPr>
          <a:lstStyle/>
          <a:p>
            <a:r>
              <a:rPr lang="en-US" dirty="0"/>
              <a:t>Workable Ethical Theories</a:t>
            </a:r>
          </a:p>
        </p:txBody>
      </p:sp>
      <p:sp>
        <p:nvSpPr>
          <p:cNvPr id="4" name="Content Placeholder 3">
            <a:extLst>
              <a:ext uri="{FF2B5EF4-FFF2-40B4-BE49-F238E27FC236}">
                <a16:creationId xmlns:a16="http://schemas.microsoft.com/office/drawing/2014/main" id="{DC6B58B5-D05C-1D83-86DE-0ABBDBB69786}"/>
              </a:ext>
            </a:extLst>
          </p:cNvPr>
          <p:cNvSpPr>
            <a:spLocks noGrp="1"/>
          </p:cNvSpPr>
          <p:nvPr>
            <p:ph idx="1"/>
          </p:nvPr>
        </p:nvSpPr>
        <p:spPr>
          <a:xfrm>
            <a:off x="1261872" y="1930401"/>
            <a:ext cx="8595360" cy="3952240"/>
          </a:xfrm>
        </p:spPr>
        <p:txBody>
          <a:bodyPr>
            <a:normAutofit/>
          </a:bodyPr>
          <a:lstStyle/>
          <a:p>
            <a:pPr marL="0" indent="0">
              <a:buNone/>
            </a:pPr>
            <a:r>
              <a:rPr lang="en-US" sz="2400" dirty="0"/>
              <a:t>• We seek theories with these characteristics:</a:t>
            </a:r>
          </a:p>
          <a:p>
            <a:pPr marL="274320" lvl="1" indent="0">
              <a:buNone/>
            </a:pPr>
            <a:r>
              <a:rPr lang="en-US" sz="2200" dirty="0"/>
              <a:t> – Based on the ethical point of view </a:t>
            </a:r>
          </a:p>
          <a:p>
            <a:pPr marL="274320" lvl="1" indent="0">
              <a:buNone/>
            </a:pPr>
            <a:r>
              <a:rPr lang="en-US" sz="2200" dirty="0"/>
              <a:t>– Objective moral principles developed using logical reasoning based on facts and commonly held values</a:t>
            </a:r>
          </a:p>
          <a:p>
            <a:pPr marL="274320" lvl="1" indent="0">
              <a:buNone/>
            </a:pPr>
            <a:endParaRPr lang="en-US" sz="2200" dirty="0"/>
          </a:p>
          <a:p>
            <a:pPr marL="274320" lvl="1" indent="0">
              <a:buNone/>
            </a:pPr>
            <a:r>
              <a:rPr lang="en-US" sz="2400" dirty="0"/>
              <a:t>Workable ethical theories </a:t>
            </a:r>
          </a:p>
          <a:p>
            <a:pPr marL="548640" lvl="2" indent="0">
              <a:buNone/>
            </a:pPr>
            <a:r>
              <a:rPr lang="en-US" sz="2400" dirty="0"/>
              <a:t>– Kantianism </a:t>
            </a:r>
          </a:p>
          <a:p>
            <a:pPr marL="548640" lvl="2" indent="0">
              <a:buNone/>
            </a:pPr>
            <a:r>
              <a:rPr lang="en-US" sz="2400" dirty="0"/>
              <a:t>– Act and rule utilitarianism</a:t>
            </a:r>
          </a:p>
          <a:p>
            <a:pPr marL="548640" lvl="2" indent="0">
              <a:buNone/>
            </a:pPr>
            <a:r>
              <a:rPr lang="en-US" sz="2400" dirty="0"/>
              <a:t>– Social contract theory </a:t>
            </a:r>
          </a:p>
          <a:p>
            <a:pPr marL="548640" lvl="2" indent="0">
              <a:buNone/>
            </a:pPr>
            <a:r>
              <a:rPr lang="en-US" sz="2400" dirty="0"/>
              <a:t>– Virtue ethics</a:t>
            </a:r>
          </a:p>
        </p:txBody>
      </p:sp>
    </p:spTree>
    <p:extLst>
      <p:ext uri="{BB962C8B-B14F-4D97-AF65-F5344CB8AC3E}">
        <p14:creationId xmlns:p14="http://schemas.microsoft.com/office/powerpoint/2010/main" val="40267599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0417C-E469-93DA-3C50-620F6D5D5588}"/>
              </a:ext>
            </a:extLst>
          </p:cNvPr>
          <p:cNvSpPr>
            <a:spLocks noGrp="1"/>
          </p:cNvSpPr>
          <p:nvPr>
            <p:ph type="title"/>
          </p:nvPr>
        </p:nvSpPr>
        <p:spPr>
          <a:xfrm>
            <a:off x="824992" y="497840"/>
            <a:ext cx="9692640" cy="812800"/>
          </a:xfrm>
        </p:spPr>
        <p:txBody>
          <a:bodyPr>
            <a:normAutofit fontScale="90000"/>
          </a:bodyPr>
          <a:lstStyle/>
          <a:p>
            <a:r>
              <a:rPr lang="en-US" dirty="0"/>
              <a:t>Comparing Workable Ethical Theories</a:t>
            </a:r>
          </a:p>
        </p:txBody>
      </p:sp>
      <p:pic>
        <p:nvPicPr>
          <p:cNvPr id="5" name="Content Placeholder 4">
            <a:extLst>
              <a:ext uri="{FF2B5EF4-FFF2-40B4-BE49-F238E27FC236}">
                <a16:creationId xmlns:a16="http://schemas.microsoft.com/office/drawing/2014/main" id="{5A001103-DB3A-BEBD-A6D2-4F21035DADCA}"/>
              </a:ext>
            </a:extLst>
          </p:cNvPr>
          <p:cNvPicPr>
            <a:picLocks noGrp="1" noChangeAspect="1"/>
          </p:cNvPicPr>
          <p:nvPr>
            <p:ph idx="1"/>
          </p:nvPr>
        </p:nvPicPr>
        <p:blipFill>
          <a:blip r:embed="rId2"/>
          <a:stretch>
            <a:fillRect/>
          </a:stretch>
        </p:blipFill>
        <p:spPr>
          <a:xfrm>
            <a:off x="2032001" y="1595120"/>
            <a:ext cx="6878320" cy="4917440"/>
          </a:xfrm>
        </p:spPr>
      </p:pic>
    </p:spTree>
    <p:extLst>
      <p:ext uri="{BB962C8B-B14F-4D97-AF65-F5344CB8AC3E}">
        <p14:creationId xmlns:p14="http://schemas.microsoft.com/office/powerpoint/2010/main" val="1150280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34D7A-DDB9-DD02-911C-FBDC08DB9C1B}"/>
              </a:ext>
            </a:extLst>
          </p:cNvPr>
          <p:cNvSpPr>
            <a:spLocks noGrp="1"/>
          </p:cNvSpPr>
          <p:nvPr>
            <p:ph type="title"/>
          </p:nvPr>
        </p:nvSpPr>
        <p:spPr>
          <a:xfrm>
            <a:off x="652272" y="2489518"/>
            <a:ext cx="9692640" cy="1325562"/>
          </a:xfrm>
        </p:spPr>
        <p:txBody>
          <a:bodyPr/>
          <a:lstStyle/>
          <a:p>
            <a:pPr algn="ctr"/>
            <a:r>
              <a:rPr lang="en-US" dirty="0"/>
              <a:t>Morality of Breaking the Law</a:t>
            </a:r>
          </a:p>
        </p:txBody>
      </p:sp>
    </p:spTree>
    <p:extLst>
      <p:ext uri="{BB962C8B-B14F-4D97-AF65-F5344CB8AC3E}">
        <p14:creationId xmlns:p14="http://schemas.microsoft.com/office/powerpoint/2010/main" val="12408095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7F883-EAF7-612E-32DE-943CD46F24F2}"/>
              </a:ext>
            </a:extLst>
          </p:cNvPr>
          <p:cNvSpPr>
            <a:spLocks noGrp="1"/>
          </p:cNvSpPr>
          <p:nvPr>
            <p:ph type="title"/>
          </p:nvPr>
        </p:nvSpPr>
        <p:spPr>
          <a:xfrm>
            <a:off x="774192" y="467360"/>
            <a:ext cx="9692640" cy="782320"/>
          </a:xfrm>
        </p:spPr>
        <p:txBody>
          <a:bodyPr>
            <a:normAutofit fontScale="90000"/>
          </a:bodyPr>
          <a:lstStyle/>
          <a:p>
            <a:r>
              <a:rPr lang="en-US" sz="4400" b="1" dirty="0"/>
              <a:t>Social Contract Theory Perspective</a:t>
            </a:r>
          </a:p>
        </p:txBody>
      </p:sp>
      <p:sp>
        <p:nvSpPr>
          <p:cNvPr id="3" name="Content Placeholder 2">
            <a:extLst>
              <a:ext uri="{FF2B5EF4-FFF2-40B4-BE49-F238E27FC236}">
                <a16:creationId xmlns:a16="http://schemas.microsoft.com/office/drawing/2014/main" id="{EDEDF26B-0751-139A-1FE7-C0E30BBA7821}"/>
              </a:ext>
            </a:extLst>
          </p:cNvPr>
          <p:cNvSpPr>
            <a:spLocks noGrp="1"/>
          </p:cNvSpPr>
          <p:nvPr>
            <p:ph idx="1"/>
          </p:nvPr>
        </p:nvSpPr>
        <p:spPr>
          <a:xfrm>
            <a:off x="1190752" y="1717040"/>
            <a:ext cx="8595360" cy="4351337"/>
          </a:xfrm>
        </p:spPr>
        <p:txBody>
          <a:bodyPr>
            <a:normAutofit/>
          </a:bodyPr>
          <a:lstStyle/>
          <a:p>
            <a:r>
              <a:rPr lang="en-US" sz="2400" dirty="0"/>
              <a:t>Everyone in society bears certain burdens in order to receive certain benefits </a:t>
            </a:r>
          </a:p>
          <a:p>
            <a:r>
              <a:rPr lang="en-US" sz="2400" dirty="0"/>
              <a:t> Legal system supposed to guarantee people’s rights are protected </a:t>
            </a:r>
          </a:p>
          <a:p>
            <a:r>
              <a:rPr lang="en-US" sz="2400" dirty="0"/>
              <a:t> Everything else being equal, we should be law-abiding </a:t>
            </a:r>
          </a:p>
          <a:p>
            <a:r>
              <a:rPr lang="en-US" sz="2400" dirty="0"/>
              <a:t>Should only break law if compelled to follow a higher-order moral obligation</a:t>
            </a:r>
            <a:endParaRPr lang="en-US" sz="2400" b="1" dirty="0"/>
          </a:p>
        </p:txBody>
      </p:sp>
    </p:spTree>
    <p:extLst>
      <p:ext uri="{BB962C8B-B14F-4D97-AF65-F5344CB8AC3E}">
        <p14:creationId xmlns:p14="http://schemas.microsoft.com/office/powerpoint/2010/main" val="42498929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7F883-EAF7-612E-32DE-943CD46F24F2}"/>
              </a:ext>
            </a:extLst>
          </p:cNvPr>
          <p:cNvSpPr>
            <a:spLocks noGrp="1"/>
          </p:cNvSpPr>
          <p:nvPr>
            <p:ph type="title"/>
          </p:nvPr>
        </p:nvSpPr>
        <p:spPr>
          <a:xfrm>
            <a:off x="804672" y="345440"/>
            <a:ext cx="9692640" cy="1452880"/>
          </a:xfrm>
        </p:spPr>
        <p:txBody>
          <a:bodyPr>
            <a:normAutofit/>
          </a:bodyPr>
          <a:lstStyle/>
          <a:p>
            <a:r>
              <a:rPr lang="en-US" dirty="0"/>
              <a:t>Social Contract: A Prima Facie Obligation to Obey the Law</a:t>
            </a:r>
            <a:endParaRPr lang="en-US" sz="4400" b="1" dirty="0"/>
          </a:p>
        </p:txBody>
      </p:sp>
      <p:pic>
        <p:nvPicPr>
          <p:cNvPr id="7" name="Picture 6">
            <a:extLst>
              <a:ext uri="{FF2B5EF4-FFF2-40B4-BE49-F238E27FC236}">
                <a16:creationId xmlns:a16="http://schemas.microsoft.com/office/drawing/2014/main" id="{4D85B2F2-AAFE-1626-CAD1-23E1E4CF5CAD}"/>
              </a:ext>
            </a:extLst>
          </p:cNvPr>
          <p:cNvPicPr>
            <a:picLocks noChangeAspect="1"/>
          </p:cNvPicPr>
          <p:nvPr/>
        </p:nvPicPr>
        <p:blipFill>
          <a:blip r:embed="rId2"/>
          <a:stretch>
            <a:fillRect/>
          </a:stretch>
        </p:blipFill>
        <p:spPr>
          <a:xfrm>
            <a:off x="2626804" y="1949132"/>
            <a:ext cx="6048375" cy="4829175"/>
          </a:xfrm>
          <a:prstGeom prst="rect">
            <a:avLst/>
          </a:prstGeom>
        </p:spPr>
      </p:pic>
    </p:spTree>
    <p:extLst>
      <p:ext uri="{BB962C8B-B14F-4D97-AF65-F5344CB8AC3E}">
        <p14:creationId xmlns:p14="http://schemas.microsoft.com/office/powerpoint/2010/main" val="22606631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A5771-9764-5CC5-65CB-CAA1C46EA1B7}"/>
              </a:ext>
            </a:extLst>
          </p:cNvPr>
          <p:cNvSpPr>
            <a:spLocks noGrp="1"/>
          </p:cNvSpPr>
          <p:nvPr>
            <p:ph type="title"/>
          </p:nvPr>
        </p:nvSpPr>
        <p:spPr>
          <a:xfrm>
            <a:off x="642112" y="396240"/>
            <a:ext cx="9692640" cy="1087120"/>
          </a:xfrm>
        </p:spPr>
        <p:txBody>
          <a:bodyPr/>
          <a:lstStyle/>
          <a:p>
            <a:r>
              <a:rPr lang="en-US" dirty="0"/>
              <a:t>Kantian Perspective</a:t>
            </a:r>
          </a:p>
        </p:txBody>
      </p:sp>
      <p:sp>
        <p:nvSpPr>
          <p:cNvPr id="3" name="Content Placeholder 2">
            <a:extLst>
              <a:ext uri="{FF2B5EF4-FFF2-40B4-BE49-F238E27FC236}">
                <a16:creationId xmlns:a16="http://schemas.microsoft.com/office/drawing/2014/main" id="{305C6FAF-2123-5443-482D-A4644253A67D}"/>
              </a:ext>
            </a:extLst>
          </p:cNvPr>
          <p:cNvSpPr>
            <a:spLocks noGrp="1"/>
          </p:cNvSpPr>
          <p:nvPr>
            <p:ph idx="1"/>
          </p:nvPr>
        </p:nvSpPr>
        <p:spPr>
          <a:xfrm>
            <a:off x="1261872" y="1981200"/>
            <a:ext cx="8595360" cy="4198937"/>
          </a:xfrm>
        </p:spPr>
        <p:txBody>
          <a:bodyPr>
            <a:normAutofit/>
          </a:bodyPr>
          <a:lstStyle/>
          <a:p>
            <a:r>
              <a:rPr lang="en-US" sz="2400" dirty="0"/>
              <a:t>Everyone wants to be treated justly</a:t>
            </a:r>
          </a:p>
          <a:p>
            <a:r>
              <a:rPr lang="en-US" sz="2400" dirty="0"/>
              <a:t>Imagine rule: “I may break a law I believe to be unjust” </a:t>
            </a:r>
          </a:p>
          <a:p>
            <a:r>
              <a:rPr lang="en-US" sz="2400" dirty="0"/>
              <a:t>If everyone acted according to this rule, then laws would be subverted </a:t>
            </a:r>
          </a:p>
          <a:p>
            <a:r>
              <a:rPr lang="en-US" sz="2400" dirty="0"/>
              <a:t>Contradiction: Cannot both wish to be treated justly and allow laws to be subverted</a:t>
            </a:r>
          </a:p>
        </p:txBody>
      </p:sp>
    </p:spTree>
    <p:extLst>
      <p:ext uri="{BB962C8B-B14F-4D97-AF65-F5344CB8AC3E}">
        <p14:creationId xmlns:p14="http://schemas.microsoft.com/office/powerpoint/2010/main" val="30291475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5E493-5425-2983-AAE3-D491DEFF2BE6}"/>
              </a:ext>
            </a:extLst>
          </p:cNvPr>
          <p:cNvSpPr>
            <a:spLocks noGrp="1"/>
          </p:cNvSpPr>
          <p:nvPr>
            <p:ph type="title"/>
          </p:nvPr>
        </p:nvSpPr>
        <p:spPr>
          <a:xfrm>
            <a:off x="703072" y="325120"/>
            <a:ext cx="9692640" cy="1066800"/>
          </a:xfrm>
        </p:spPr>
        <p:txBody>
          <a:bodyPr/>
          <a:lstStyle/>
          <a:p>
            <a:r>
              <a:rPr lang="en-US" dirty="0"/>
              <a:t>Rule Utilitarian Perspective</a:t>
            </a:r>
          </a:p>
        </p:txBody>
      </p:sp>
      <p:sp>
        <p:nvSpPr>
          <p:cNvPr id="3" name="Content Placeholder 2">
            <a:extLst>
              <a:ext uri="{FF2B5EF4-FFF2-40B4-BE49-F238E27FC236}">
                <a16:creationId xmlns:a16="http://schemas.microsoft.com/office/drawing/2014/main" id="{B01CB2AA-B113-E47B-B396-6DC5D1D01FD4}"/>
              </a:ext>
            </a:extLst>
          </p:cNvPr>
          <p:cNvSpPr>
            <a:spLocks noGrp="1"/>
          </p:cNvSpPr>
          <p:nvPr>
            <p:ph idx="1"/>
          </p:nvPr>
        </p:nvSpPr>
        <p:spPr>
          <a:xfrm>
            <a:off x="1261872" y="1838960"/>
            <a:ext cx="8595360" cy="4341177"/>
          </a:xfrm>
        </p:spPr>
        <p:txBody>
          <a:bodyPr>
            <a:normAutofit/>
          </a:bodyPr>
          <a:lstStyle/>
          <a:p>
            <a:r>
              <a:rPr lang="en-US" sz="2400" dirty="0"/>
              <a:t>What would be consequences of people ignoring laws they felt to be unjust?</a:t>
            </a:r>
          </a:p>
          <a:p>
            <a:r>
              <a:rPr lang="en-US" sz="2400" dirty="0"/>
              <a:t>Beneficial consequence: Happiness of people who are doing what they please </a:t>
            </a:r>
          </a:p>
          <a:p>
            <a:r>
              <a:rPr lang="en-US" sz="2400" dirty="0"/>
              <a:t>Harmful consequences: Harm to people directly affected by lawless actions, general loss of respect for laws, increased burden on criminal justice system </a:t>
            </a:r>
          </a:p>
          <a:p>
            <a:r>
              <a:rPr lang="en-US" sz="2400" dirty="0"/>
              <a:t>Harms greater than benefits</a:t>
            </a:r>
          </a:p>
        </p:txBody>
      </p:sp>
    </p:spTree>
    <p:extLst>
      <p:ext uri="{BB962C8B-B14F-4D97-AF65-F5344CB8AC3E}">
        <p14:creationId xmlns:p14="http://schemas.microsoft.com/office/powerpoint/2010/main" val="32607127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5E493-5425-2983-AAE3-D491DEFF2BE6}"/>
              </a:ext>
            </a:extLst>
          </p:cNvPr>
          <p:cNvSpPr>
            <a:spLocks noGrp="1"/>
          </p:cNvSpPr>
          <p:nvPr>
            <p:ph type="title"/>
          </p:nvPr>
        </p:nvSpPr>
        <p:spPr>
          <a:xfrm>
            <a:off x="703072" y="325120"/>
            <a:ext cx="9692640" cy="1066800"/>
          </a:xfrm>
        </p:spPr>
        <p:txBody>
          <a:bodyPr/>
          <a:lstStyle/>
          <a:p>
            <a:r>
              <a:rPr lang="en-US" dirty="0"/>
              <a:t>Act Utilitarian Perspective </a:t>
            </a:r>
          </a:p>
        </p:txBody>
      </p:sp>
      <p:sp>
        <p:nvSpPr>
          <p:cNvPr id="3" name="Content Placeholder 2">
            <a:extLst>
              <a:ext uri="{FF2B5EF4-FFF2-40B4-BE49-F238E27FC236}">
                <a16:creationId xmlns:a16="http://schemas.microsoft.com/office/drawing/2014/main" id="{B01CB2AA-B113-E47B-B396-6DC5D1D01FD4}"/>
              </a:ext>
            </a:extLst>
          </p:cNvPr>
          <p:cNvSpPr>
            <a:spLocks noGrp="1"/>
          </p:cNvSpPr>
          <p:nvPr>
            <p:ph idx="1"/>
          </p:nvPr>
        </p:nvSpPr>
        <p:spPr>
          <a:xfrm>
            <a:off x="1261872" y="1838960"/>
            <a:ext cx="8595360" cy="4341177"/>
          </a:xfrm>
        </p:spPr>
        <p:txBody>
          <a:bodyPr>
            <a:normAutofit/>
          </a:bodyPr>
          <a:lstStyle/>
          <a:p>
            <a:r>
              <a:rPr lang="en-US" sz="2400" dirty="0"/>
              <a:t>Possible to conceive of situations where benefits of breaking law exceed harms </a:t>
            </a:r>
          </a:p>
          <a:p>
            <a:r>
              <a:rPr lang="en-US" sz="2400" dirty="0"/>
              <a:t>Suppose give penniless, bedridden friend copy of CD </a:t>
            </a:r>
          </a:p>
          <a:p>
            <a:r>
              <a:rPr lang="en-US" sz="2400" dirty="0"/>
              <a:t>Friend benefits by $15 (value of CD) </a:t>
            </a:r>
          </a:p>
          <a:p>
            <a:r>
              <a:rPr lang="en-US" sz="2400" dirty="0"/>
              <a:t>I benefit by $10 (satisfaction of helping friend) </a:t>
            </a:r>
          </a:p>
          <a:p>
            <a:r>
              <a:rPr lang="en-US" sz="2400" dirty="0"/>
              <a:t>Harms of $0 (no lost sale, no police involvement) </a:t>
            </a:r>
          </a:p>
          <a:p>
            <a:r>
              <a:rPr lang="en-US" sz="2400" dirty="0"/>
              <a:t>With $25 of benefit and $0 of harm, action is determined to be good</a:t>
            </a:r>
          </a:p>
        </p:txBody>
      </p:sp>
    </p:spTree>
    <p:extLst>
      <p:ext uri="{BB962C8B-B14F-4D97-AF65-F5344CB8AC3E}">
        <p14:creationId xmlns:p14="http://schemas.microsoft.com/office/powerpoint/2010/main" val="41104798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B4294-5C13-6FF8-C3C1-8E65CD3479CB}"/>
              </a:ext>
            </a:extLst>
          </p:cNvPr>
          <p:cNvSpPr>
            <a:spLocks noGrp="1"/>
          </p:cNvSpPr>
          <p:nvPr>
            <p:ph type="title"/>
          </p:nvPr>
        </p:nvSpPr>
        <p:spPr>
          <a:xfrm>
            <a:off x="936752" y="2519680"/>
            <a:ext cx="9692640" cy="1325562"/>
          </a:xfrm>
        </p:spPr>
        <p:txBody>
          <a:bodyPr/>
          <a:lstStyle/>
          <a:p>
            <a:pPr algn="ctr"/>
            <a:r>
              <a:rPr lang="en-US" dirty="0"/>
              <a:t>END OF LECTURE</a:t>
            </a:r>
          </a:p>
        </p:txBody>
      </p:sp>
    </p:spTree>
    <p:extLst>
      <p:ext uri="{BB962C8B-B14F-4D97-AF65-F5344CB8AC3E}">
        <p14:creationId xmlns:p14="http://schemas.microsoft.com/office/powerpoint/2010/main" val="1393974112"/>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1785</TotalTime>
  <Words>1456</Words>
  <Application>Microsoft Office PowerPoint</Application>
  <PresentationFormat>Widescreen</PresentationFormat>
  <Paragraphs>152</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Century Schoolbook</vt:lpstr>
      <vt:lpstr>Wingdings 2</vt:lpstr>
      <vt:lpstr>View</vt:lpstr>
      <vt:lpstr>  CSC410 - Professional Practices in IT</vt:lpstr>
      <vt:lpstr>Today Topics</vt:lpstr>
      <vt:lpstr>Kantianism</vt:lpstr>
      <vt:lpstr>Critical Importance of Good Will</vt:lpstr>
      <vt:lpstr>Categorical Imperative  (1st Formulation)</vt:lpstr>
      <vt:lpstr>Illustration of 1st Formulation</vt:lpstr>
      <vt:lpstr>A Quick Check</vt:lpstr>
      <vt:lpstr>Categorical Imperative (2nd Formulation)</vt:lpstr>
      <vt:lpstr>Kant: Wrong to Use Another Person Solely as a Means to an End</vt:lpstr>
      <vt:lpstr>Scenario</vt:lpstr>
      <vt:lpstr>Plagiarism Scenario</vt:lpstr>
      <vt:lpstr>Kantian Evaluation (1st Formulation</vt:lpstr>
      <vt:lpstr>Kantian Evaluation (2nd Formulation)</vt:lpstr>
      <vt:lpstr>Case for Kantianism</vt:lpstr>
      <vt:lpstr>Perfect and Imperfect Duties</vt:lpstr>
      <vt:lpstr>Case Against Kantianism</vt:lpstr>
      <vt:lpstr>Virtue Ethics</vt:lpstr>
      <vt:lpstr>Critique of Enlightenment Theories</vt:lpstr>
      <vt:lpstr>Virtues and Vices</vt:lpstr>
      <vt:lpstr>Aristotle: Happiness derives from living a life of virtue.</vt:lpstr>
      <vt:lpstr>Summary of Virtue Ethics</vt:lpstr>
      <vt:lpstr>Vices</vt:lpstr>
      <vt:lpstr>Case for Virtue Ethics</vt:lpstr>
      <vt:lpstr>Case Against Virtue Ethics</vt:lpstr>
      <vt:lpstr>Comparing Workable Ethical   Theories</vt:lpstr>
      <vt:lpstr>Objectivism vs. Relativism</vt:lpstr>
      <vt:lpstr>Workable Ethical Theories</vt:lpstr>
      <vt:lpstr>Comparing Workable Ethical Theories</vt:lpstr>
      <vt:lpstr>Morality of Breaking the Law</vt:lpstr>
      <vt:lpstr>Social Contract Theory Perspective</vt:lpstr>
      <vt:lpstr>Social Contract: A Prima Facie Obligation to Obey the Law</vt:lpstr>
      <vt:lpstr>Kantian Perspective</vt:lpstr>
      <vt:lpstr>Rule Utilitarian Perspective</vt:lpstr>
      <vt:lpstr>Act Utilitarian Perspective </vt:lpstr>
      <vt:lpstr>END OF LECTURE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DELL7490</dc:creator>
  <cp:lastModifiedBy>DELL7490</cp:lastModifiedBy>
  <cp:revision>79</cp:revision>
  <dcterms:created xsi:type="dcterms:W3CDTF">2024-09-10T09:11:37Z</dcterms:created>
  <dcterms:modified xsi:type="dcterms:W3CDTF">2024-09-17T16:41:27Z</dcterms:modified>
</cp:coreProperties>
</file>