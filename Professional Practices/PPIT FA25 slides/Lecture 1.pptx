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3" r:id="rId1"/>
  </p:sldMasterIdLst>
  <p:notesMasterIdLst>
    <p:notesMasterId r:id="rId39"/>
  </p:notesMasterIdLst>
  <p:sldIdLst>
    <p:sldId id="331" r:id="rId2"/>
    <p:sldId id="319" r:id="rId3"/>
    <p:sldId id="332" r:id="rId4"/>
    <p:sldId id="339" r:id="rId5"/>
    <p:sldId id="261" r:id="rId6"/>
    <p:sldId id="264" r:id="rId7"/>
    <p:sldId id="258" r:id="rId8"/>
    <p:sldId id="265" r:id="rId9"/>
    <p:sldId id="259" r:id="rId10"/>
    <p:sldId id="262" r:id="rId11"/>
    <p:sldId id="263" r:id="rId12"/>
    <p:sldId id="347" r:id="rId13"/>
    <p:sldId id="348" r:id="rId14"/>
    <p:sldId id="349" r:id="rId15"/>
    <p:sldId id="350" r:id="rId16"/>
    <p:sldId id="267" r:id="rId17"/>
    <p:sldId id="351" r:id="rId18"/>
    <p:sldId id="266" r:id="rId19"/>
    <p:sldId id="276" r:id="rId20"/>
    <p:sldId id="278" r:id="rId21"/>
    <p:sldId id="268" r:id="rId22"/>
    <p:sldId id="270" r:id="rId23"/>
    <p:sldId id="272" r:id="rId24"/>
    <p:sldId id="271" r:id="rId25"/>
    <p:sldId id="273" r:id="rId26"/>
    <p:sldId id="274" r:id="rId27"/>
    <p:sldId id="275" r:id="rId28"/>
    <p:sldId id="279" r:id="rId29"/>
    <p:sldId id="280" r:id="rId30"/>
    <p:sldId id="352" r:id="rId31"/>
    <p:sldId id="341" r:id="rId32"/>
    <p:sldId id="342" r:id="rId33"/>
    <p:sldId id="343" r:id="rId34"/>
    <p:sldId id="344" r:id="rId35"/>
    <p:sldId id="353" r:id="rId36"/>
    <p:sldId id="354" r:id="rId37"/>
    <p:sldId id="338"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66" autoAdjust="0"/>
    <p:restoredTop sz="94660"/>
  </p:normalViewPr>
  <p:slideViewPr>
    <p:cSldViewPr snapToGrid="0">
      <p:cViewPr varScale="1">
        <p:scale>
          <a:sx n="67" d="100"/>
          <a:sy n="67" d="100"/>
        </p:scale>
        <p:origin x="492" y="56"/>
      </p:cViewPr>
      <p:guideLst>
        <p:guide orient="horz" pos="2160"/>
        <p:guide pos="3840"/>
      </p:guideLst>
    </p:cSldViewPr>
  </p:slideViewPr>
  <p:notesTextViewPr>
    <p:cViewPr>
      <p:scale>
        <a:sx n="1" d="1"/>
        <a:sy n="1" d="1"/>
      </p:scale>
      <p:origin x="0" y="0"/>
    </p:cViewPr>
  </p:notesTextViewPr>
  <p:sorterViewPr>
    <p:cViewPr varScale="1">
      <p:scale>
        <a:sx n="1" d="1"/>
        <a:sy n="1" d="1"/>
      </p:scale>
      <p:origin x="0" y="-804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C096A1-65E6-41CF-B65E-A7AB445E1F1F}" type="datetimeFigureOut">
              <a:rPr lang="en-US" smtClean="0"/>
              <a:t>9/5/2024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DCD027F-432B-405E-8471-43FBCB4EE98C}" type="slidenum">
              <a:rPr lang="en-US" smtClean="0"/>
              <a:t>‹#›</a:t>
            </a:fld>
            <a:endParaRPr lang="en-US"/>
          </a:p>
        </p:txBody>
      </p:sp>
    </p:spTree>
    <p:extLst>
      <p:ext uri="{BB962C8B-B14F-4D97-AF65-F5344CB8AC3E}">
        <p14:creationId xmlns:p14="http://schemas.microsoft.com/office/powerpoint/2010/main" val="332339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7"/>
          <p:cNvSpPr>
            <a:spLocks noGrp="1" noChangeArrowheads="1"/>
          </p:cNvSpPr>
          <p:nvPr>
            <p:ph type="sldNum" sz="quarter" idx="5"/>
          </p:nvPr>
        </p:nvSpPr>
        <p:spPr>
          <a:noFill/>
        </p:spPr>
        <p:txBody>
          <a:bodyPr/>
          <a:lstStyle/>
          <a:p>
            <a:fld id="{B3203B87-6462-433C-8634-6A42624B638D}" type="slidenum">
              <a:rPr lang="en-US" smtClean="0"/>
              <a:pPr/>
              <a:t>5</a:t>
            </a:fld>
            <a:endParaRPr lang="en-US"/>
          </a:p>
        </p:txBody>
      </p:sp>
      <p:sp>
        <p:nvSpPr>
          <p:cNvPr id="67587" name="Rectangle 2"/>
          <p:cNvSpPr>
            <a:spLocks noGrp="1" noRot="1" noChangeAspect="1" noChangeArrowheads="1" noTextEdit="1"/>
          </p:cNvSpPr>
          <p:nvPr>
            <p:ph type="sldImg"/>
          </p:nvPr>
        </p:nvSpPr>
        <p:spPr>
          <a:ln/>
        </p:spPr>
      </p:sp>
      <p:sp>
        <p:nvSpPr>
          <p:cNvPr id="67588" name="Rectangle 3"/>
          <p:cNvSpPr>
            <a:spLocks noGrp="1" noChangeArrowheads="1"/>
          </p:cNvSpPr>
          <p:nvPr>
            <p:ph type="body" idx="1"/>
          </p:nvPr>
        </p:nvSpPr>
        <p:spPr>
          <a:xfrm>
            <a:off x="914400" y="4343400"/>
            <a:ext cx="5029200" cy="4114800"/>
          </a:xfrm>
          <a:noFill/>
          <a:ln/>
        </p:spPr>
        <p:txBody>
          <a:bodyPr/>
          <a:lstStyle/>
          <a:p>
            <a:pPr eaLnBrk="1" hangingPunct="1"/>
            <a:endParaRPr lang="en-US"/>
          </a:p>
        </p:txBody>
      </p:sp>
    </p:spTree>
    <p:extLst>
      <p:ext uri="{BB962C8B-B14F-4D97-AF65-F5344CB8AC3E}">
        <p14:creationId xmlns:p14="http://schemas.microsoft.com/office/powerpoint/2010/main" val="26656961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455034E5-AE91-4F3F-A861-CD27F6C5E5FA}"/>
              </a:ext>
            </a:extLst>
          </p:cNvPr>
          <p:cNvSpPr txBox="1">
            <a:spLocks noGrp="1"/>
          </p:cNvSpPr>
          <p:nvPr>
            <p:ph type="sldNum" sz="quarter" idx="5"/>
          </p:nvPr>
        </p:nvSpPr>
        <p:spPr>
          <a:ln/>
        </p:spPr>
        <p:txBody>
          <a:bodyPr lIns="0" tIns="0" rIns="0" bIns="0" anchor="b" anchorCtr="0">
            <a:noAutofit/>
          </a:bodyPr>
          <a:lstStyle/>
          <a:p>
            <a:pPr lvl="0"/>
            <a:fld id="{47F3D3E7-031F-4C0D-91CF-71863A8BDFA6}" type="slidenum">
              <a:t>19</a:t>
            </a:fld>
            <a:endParaRPr lang="en-US"/>
          </a:p>
        </p:txBody>
      </p:sp>
      <p:sp>
        <p:nvSpPr>
          <p:cNvPr id="2" name="Slide Image Placeholder 1">
            <a:extLst>
              <a:ext uri="{FF2B5EF4-FFF2-40B4-BE49-F238E27FC236}">
                <a16:creationId xmlns:a16="http://schemas.microsoft.com/office/drawing/2014/main" id="{D73C2D20-EDFE-4820-AF72-5A0ACD0647D2}"/>
              </a:ext>
            </a:extLst>
          </p:cNvPr>
          <p:cNvSpPr>
            <a:spLocks noGrp="1" noRot="1" noChangeAspect="1" noResize="1"/>
          </p:cNvSpPr>
          <p:nvPr>
            <p:ph type="sldImg"/>
          </p:nvPr>
        </p:nvSpPr>
        <p:spPr>
          <a:xfrm>
            <a:off x="217488" y="812800"/>
            <a:ext cx="7123112" cy="4008438"/>
          </a:xfrm>
          <a:solidFill>
            <a:srgbClr val="CFE7F5"/>
          </a:solidFill>
          <a:ln w="25400">
            <a:solidFill>
              <a:srgbClr val="808080"/>
            </a:solidFill>
            <a:prstDash val="solid"/>
          </a:ln>
        </p:spPr>
      </p:sp>
      <p:sp>
        <p:nvSpPr>
          <p:cNvPr id="3" name="Notes Placeholder 2">
            <a:extLst>
              <a:ext uri="{FF2B5EF4-FFF2-40B4-BE49-F238E27FC236}">
                <a16:creationId xmlns:a16="http://schemas.microsoft.com/office/drawing/2014/main" id="{B5058A2F-1470-41C3-A6C2-CA286BDABAA0}"/>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01131022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67D1E14-C8D1-4488-BE75-1133458DD8AD}"/>
              </a:ext>
            </a:extLst>
          </p:cNvPr>
          <p:cNvSpPr txBox="1">
            <a:spLocks noGrp="1"/>
          </p:cNvSpPr>
          <p:nvPr>
            <p:ph type="sldNum" sz="quarter" idx="5"/>
          </p:nvPr>
        </p:nvSpPr>
        <p:spPr>
          <a:ln/>
        </p:spPr>
        <p:txBody>
          <a:bodyPr lIns="0" tIns="0" rIns="0" bIns="0" anchor="b" anchorCtr="0">
            <a:noAutofit/>
          </a:bodyPr>
          <a:lstStyle/>
          <a:p>
            <a:pPr lvl="0"/>
            <a:fld id="{C5048787-1CC3-4A1E-8472-E07B09FB7A54}" type="slidenum">
              <a:t>20</a:t>
            </a:fld>
            <a:endParaRPr lang="en-US"/>
          </a:p>
        </p:txBody>
      </p:sp>
      <p:sp>
        <p:nvSpPr>
          <p:cNvPr id="2" name="Slide Image Placeholder 1">
            <a:extLst>
              <a:ext uri="{FF2B5EF4-FFF2-40B4-BE49-F238E27FC236}">
                <a16:creationId xmlns:a16="http://schemas.microsoft.com/office/drawing/2014/main" id="{AC96D40B-1AEA-4E06-BAC9-4EC8F4935FA5}"/>
              </a:ext>
            </a:extLst>
          </p:cNvPr>
          <p:cNvSpPr>
            <a:spLocks noGrp="1" noRot="1" noChangeAspect="1" noResize="1"/>
          </p:cNvSpPr>
          <p:nvPr>
            <p:ph type="sldImg"/>
          </p:nvPr>
        </p:nvSpPr>
        <p:spPr>
          <a:xfrm>
            <a:off x="217488" y="812800"/>
            <a:ext cx="7123112" cy="4008438"/>
          </a:xfrm>
          <a:solidFill>
            <a:srgbClr val="CFE7F5"/>
          </a:solidFill>
          <a:ln w="25400">
            <a:solidFill>
              <a:srgbClr val="808080"/>
            </a:solidFill>
            <a:prstDash val="solid"/>
          </a:ln>
        </p:spPr>
      </p:sp>
      <p:sp>
        <p:nvSpPr>
          <p:cNvPr id="3" name="Notes Placeholder 2">
            <a:extLst>
              <a:ext uri="{FF2B5EF4-FFF2-40B4-BE49-F238E27FC236}">
                <a16:creationId xmlns:a16="http://schemas.microsoft.com/office/drawing/2014/main" id="{90866645-DB0C-4301-8DC4-F4C114AF8AD4}"/>
              </a:ext>
            </a:extLst>
          </p:cNvPr>
          <p:cNvSpPr txBox="1">
            <a:spLocks noGrp="1"/>
          </p:cNvSpPr>
          <p:nvPr>
            <p:ph type="body" sz="quarter" idx="1"/>
          </p:nvPr>
        </p:nvSpPr>
        <p:spPr/>
        <p:txBody>
          <a:bodyPr/>
          <a:lstStyle/>
          <a:p>
            <a:endParaRPr lang="en-US"/>
          </a:p>
        </p:txBody>
      </p:sp>
    </p:spTree>
    <p:extLst>
      <p:ext uri="{BB962C8B-B14F-4D97-AF65-F5344CB8AC3E}">
        <p14:creationId xmlns:p14="http://schemas.microsoft.com/office/powerpoint/2010/main" val="204025262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EE206318-8874-4990-B123-6DAE74CCD5FF}" type="datetimeFigureOut">
              <a:rPr lang="en-US" smtClean="0"/>
              <a:t>9/5/2024</a:t>
            </a:fld>
            <a:endParaRPr lang="en-US"/>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0439A32B-4445-433B-8ECF-6C13BF429FA8}"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8982904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06318-8874-4990-B123-6DAE74CCD5FF}"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755769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E206318-8874-4990-B123-6DAE74CCD5FF}"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39A32B-4445-433B-8ECF-6C13BF429FA8}" type="slidenum">
              <a:rPr lang="en-US" smtClean="0"/>
              <a:t>‹#›</a:t>
            </a:fld>
            <a:endParaRPr lang="en-US"/>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117169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E206318-8874-4990-B123-6DAE74CCD5FF}"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12425861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a:t>Click to 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E206318-8874-4990-B123-6DAE74CCD5FF}" type="datetimeFigureOut">
              <a:rPr lang="en-US" smtClean="0"/>
              <a:t>9/5/2024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6482123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E206318-8874-4990-B123-6DAE74CCD5FF}" type="datetimeFigureOut">
              <a:rPr lang="en-US" smtClean="0"/>
              <a:t>9/5/2024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1170268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E206318-8874-4990-B123-6DAE74CCD5FF}" type="datetimeFigureOut">
              <a:rPr lang="en-US" smtClean="0"/>
              <a:t>9/5/2024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478322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206318-8874-4990-B123-6DAE74CCD5FF}"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10815287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E206318-8874-4990-B123-6DAE74CCD5FF}" type="datetimeFigureOut">
              <a:rPr lang="en-US" smtClean="0"/>
              <a:t>9/5/2024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4500411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06318-8874-4990-B123-6DAE74CCD5FF}"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1737857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E206318-8874-4990-B123-6DAE74CCD5FF}" type="datetimeFigureOut">
              <a:rPr lang="en-US" smtClean="0"/>
              <a:t>9/5/2024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439A32B-4445-433B-8ECF-6C13BF429FA8}" type="slidenum">
              <a:rPr lang="en-US" smtClean="0"/>
              <a:t>‹#›</a:t>
            </a:fld>
            <a:endParaRPr lang="en-US"/>
          </a:p>
        </p:txBody>
      </p:sp>
    </p:spTree>
    <p:extLst>
      <p:ext uri="{BB962C8B-B14F-4D97-AF65-F5344CB8AC3E}">
        <p14:creationId xmlns:p14="http://schemas.microsoft.com/office/powerpoint/2010/main" val="2605192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EE206318-8874-4990-B123-6DAE74CCD5FF}" type="datetimeFigureOut">
              <a:rPr lang="en-US" smtClean="0"/>
              <a:t>9/5/2024</a:t>
            </a:fld>
            <a:endParaRPr lang="en-US"/>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US"/>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0439A32B-4445-433B-8ECF-6C13BF429FA8}" type="slidenum">
              <a:rPr lang="en-US" smtClean="0"/>
              <a:t>‹#›</a:t>
            </a:fld>
            <a:endParaRPr lang="en-US"/>
          </a:p>
        </p:txBody>
      </p:sp>
    </p:spTree>
    <p:extLst>
      <p:ext uri="{BB962C8B-B14F-4D97-AF65-F5344CB8AC3E}">
        <p14:creationId xmlns:p14="http://schemas.microsoft.com/office/powerpoint/2010/main" val="3757167653"/>
      </p:ext>
    </p:extLst>
  </p:cSld>
  <p:clrMap bg1="lt1" tx1="dk1" bg2="lt2" tx2="dk2" accent1="accent1" accent2="accent2" accent3="accent3" accent4="accent4" accent5="accent5" accent6="accent6" hlink="hlink" folHlink="folHlink"/>
  <p:sldLayoutIdLst>
    <p:sldLayoutId id="2147483784" r:id="rId1"/>
    <p:sldLayoutId id="2147483785" r:id="rId2"/>
    <p:sldLayoutId id="2147483786" r:id="rId3"/>
    <p:sldLayoutId id="2147483787" r:id="rId4"/>
    <p:sldLayoutId id="2147483788" r:id="rId5"/>
    <p:sldLayoutId id="2147483789" r:id="rId6"/>
    <p:sldLayoutId id="2147483790" r:id="rId7"/>
    <p:sldLayoutId id="2147483791" r:id="rId8"/>
    <p:sldLayoutId id="2147483792" r:id="rId9"/>
    <p:sldLayoutId id="2147483793" r:id="rId10"/>
    <p:sldLayoutId id="2147483794"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D7516-F93F-49B4-B5B6-373E6F190658}"/>
              </a:ext>
            </a:extLst>
          </p:cNvPr>
          <p:cNvSpPr>
            <a:spLocks noGrp="1"/>
          </p:cNvSpPr>
          <p:nvPr>
            <p:ph type="title"/>
          </p:nvPr>
        </p:nvSpPr>
        <p:spPr>
          <a:xfrm>
            <a:off x="535194" y="1736726"/>
            <a:ext cx="11121611" cy="2852737"/>
          </a:xfrm>
        </p:spPr>
        <p:txBody>
          <a:bodyPr>
            <a:normAutofit fontScale="90000"/>
          </a:bodyPr>
          <a:lstStyle/>
          <a:p>
            <a:pPr algn="ctr"/>
            <a:r>
              <a:rPr lang="en-US" dirty="0"/>
              <a:t>CSC410 - Professional Practices in IT</a:t>
            </a:r>
            <a:br>
              <a:rPr lang="en-US" dirty="0"/>
            </a:br>
            <a:br>
              <a:rPr lang="en-US" dirty="0"/>
            </a:br>
            <a:r>
              <a:rPr lang="en-US" sz="2400" dirty="0"/>
              <a:t>Instructor Name :  Sidra Nasir</a:t>
            </a:r>
            <a:endParaRPr lang="en-US" dirty="0"/>
          </a:p>
        </p:txBody>
      </p:sp>
    </p:spTree>
    <p:extLst>
      <p:ext uri="{BB962C8B-B14F-4D97-AF65-F5344CB8AC3E}">
        <p14:creationId xmlns:p14="http://schemas.microsoft.com/office/powerpoint/2010/main" val="16321521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19175" y="1895475"/>
            <a:ext cx="9677400" cy="2786684"/>
          </a:xfrm>
        </p:spPr>
        <p:txBody>
          <a:bodyPr>
            <a:normAutofit fontScale="90000"/>
          </a:bodyPr>
          <a:lstStyle/>
          <a:p>
            <a:pPr algn="ctr"/>
            <a:br>
              <a:rPr lang="en-US" dirty="0"/>
            </a:br>
            <a:r>
              <a:rPr lang="en-US" dirty="0"/>
              <a:t> </a:t>
            </a:r>
            <a:br>
              <a:rPr lang="en-US" dirty="0"/>
            </a:br>
            <a:br>
              <a:rPr lang="en-US" dirty="0"/>
            </a:br>
            <a:br>
              <a:rPr lang="en-US" dirty="0"/>
            </a:br>
            <a:r>
              <a:rPr lang="en-US" dirty="0"/>
              <a:t>Introduction to Ethics and Its Principles</a:t>
            </a:r>
          </a:p>
        </p:txBody>
      </p:sp>
      <p:sp>
        <p:nvSpPr>
          <p:cNvPr id="3" name="Date Placeholder 2"/>
          <p:cNvSpPr>
            <a:spLocks noGrp="1"/>
          </p:cNvSpPr>
          <p:nvPr>
            <p:ph type="dt" sz="half" idx="10"/>
          </p:nvPr>
        </p:nvSpPr>
        <p:spPr/>
        <p:txBody>
          <a:bodyPr/>
          <a:lstStyle/>
          <a:p>
            <a:pPr>
              <a:defRPr/>
            </a:pPr>
            <a:fld id="{F4208A14-4703-4480-B93D-E48CFC7CAD3E}" type="datetime1">
              <a:rPr lang="en-US" smtClean="0"/>
              <a:pPr>
                <a:defRPr/>
              </a:pPr>
              <a:t>9/5/2024</a:t>
            </a:fld>
            <a:endParaRPr lang="en-US"/>
          </a:p>
        </p:txBody>
      </p:sp>
      <p:sp>
        <p:nvSpPr>
          <p:cNvPr id="4" name="Slide Number Placeholder 3"/>
          <p:cNvSpPr>
            <a:spLocks noGrp="1"/>
          </p:cNvSpPr>
          <p:nvPr>
            <p:ph type="sldNum" sz="quarter" idx="12"/>
          </p:nvPr>
        </p:nvSpPr>
        <p:spPr/>
        <p:txBody>
          <a:bodyPr>
            <a:normAutofit lnSpcReduction="10000"/>
          </a:bodyPr>
          <a:lstStyle/>
          <a:p>
            <a:fld id="{B59C2F3A-E23F-4F62-A3BB-4D5D29472E8D}" type="slidenum">
              <a:rPr lang="en-US" altLang="en-US" smtClean="0"/>
              <a:pPr/>
              <a:t>2</a:t>
            </a:fld>
            <a:endParaRPr lang="en-US" altLang="en-US"/>
          </a:p>
        </p:txBody>
      </p:sp>
    </p:spTree>
    <p:extLst>
      <p:ext uri="{BB962C8B-B14F-4D97-AF65-F5344CB8AC3E}">
        <p14:creationId xmlns:p14="http://schemas.microsoft.com/office/powerpoint/2010/main" val="34040322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8A9119-7B49-43D9-904C-CF78B7059696}"/>
              </a:ext>
            </a:extLst>
          </p:cNvPr>
          <p:cNvSpPr>
            <a:spLocks noGrp="1"/>
          </p:cNvSpPr>
          <p:nvPr>
            <p:ph type="title"/>
          </p:nvPr>
        </p:nvSpPr>
        <p:spPr>
          <a:xfrm>
            <a:off x="1991139" y="881960"/>
            <a:ext cx="7523922" cy="1325563"/>
          </a:xfrm>
        </p:spPr>
        <p:txBody>
          <a:bodyPr/>
          <a:lstStyle/>
          <a:p>
            <a:r>
              <a:rPr lang="en-US" dirty="0"/>
              <a:t>Topics Covered in this Lecture</a:t>
            </a:r>
          </a:p>
        </p:txBody>
      </p:sp>
      <p:sp>
        <p:nvSpPr>
          <p:cNvPr id="3" name="Content Placeholder 2">
            <a:extLst>
              <a:ext uri="{FF2B5EF4-FFF2-40B4-BE49-F238E27FC236}">
                <a16:creationId xmlns:a16="http://schemas.microsoft.com/office/drawing/2014/main" id="{28E843CF-7AAE-4644-ACA7-4888923C30E5}"/>
              </a:ext>
            </a:extLst>
          </p:cNvPr>
          <p:cNvSpPr>
            <a:spLocks noGrp="1"/>
          </p:cNvSpPr>
          <p:nvPr>
            <p:ph idx="1"/>
          </p:nvPr>
        </p:nvSpPr>
        <p:spPr>
          <a:xfrm>
            <a:off x="2786270" y="2793034"/>
            <a:ext cx="6927574" cy="2057262"/>
          </a:xfrm>
        </p:spPr>
        <p:txBody>
          <a:bodyPr>
            <a:normAutofit lnSpcReduction="10000"/>
          </a:bodyPr>
          <a:lstStyle/>
          <a:p>
            <a:r>
              <a:rPr lang="en-US" sz="2400" dirty="0"/>
              <a:t>Introduction to Course </a:t>
            </a:r>
          </a:p>
          <a:p>
            <a:r>
              <a:rPr lang="en-US" sz="2400" dirty="0"/>
              <a:t>Ethics , Definition and concept</a:t>
            </a:r>
          </a:p>
          <a:p>
            <a:r>
              <a:rPr lang="en-US" sz="2400" dirty="0"/>
              <a:t>Morality in Islam</a:t>
            </a:r>
          </a:p>
          <a:p>
            <a:r>
              <a:rPr lang="en-US" sz="2400" dirty="0"/>
              <a:t>Professional and Social Ethics</a:t>
            </a:r>
            <a:endParaRPr lang="en-US" dirty="0"/>
          </a:p>
        </p:txBody>
      </p:sp>
    </p:spTree>
    <p:extLst>
      <p:ext uri="{BB962C8B-B14F-4D97-AF65-F5344CB8AC3E}">
        <p14:creationId xmlns:p14="http://schemas.microsoft.com/office/powerpoint/2010/main" val="2224056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FE7252-85CC-45B1-8DE9-10CE24A889FF}"/>
              </a:ext>
            </a:extLst>
          </p:cNvPr>
          <p:cNvSpPr>
            <a:spLocks noGrp="1"/>
          </p:cNvSpPr>
          <p:nvPr>
            <p:ph type="title"/>
          </p:nvPr>
        </p:nvSpPr>
        <p:spPr>
          <a:xfrm>
            <a:off x="942975" y="579437"/>
            <a:ext cx="10144125" cy="1325563"/>
          </a:xfrm>
        </p:spPr>
        <p:txBody>
          <a:bodyPr/>
          <a:lstStyle/>
          <a:p>
            <a:r>
              <a:rPr lang="en-US" dirty="0"/>
              <a:t>Learning outcomes of this Lecture</a:t>
            </a:r>
          </a:p>
        </p:txBody>
      </p:sp>
      <p:sp>
        <p:nvSpPr>
          <p:cNvPr id="3" name="Content Placeholder 2">
            <a:extLst>
              <a:ext uri="{FF2B5EF4-FFF2-40B4-BE49-F238E27FC236}">
                <a16:creationId xmlns:a16="http://schemas.microsoft.com/office/drawing/2014/main" id="{F792DB88-F5F2-4806-89E8-1BE44BAFFDA5}"/>
              </a:ext>
            </a:extLst>
          </p:cNvPr>
          <p:cNvSpPr>
            <a:spLocks noGrp="1"/>
          </p:cNvSpPr>
          <p:nvPr>
            <p:ph idx="1"/>
          </p:nvPr>
        </p:nvSpPr>
        <p:spPr>
          <a:xfrm>
            <a:off x="942975" y="2439987"/>
            <a:ext cx="9591676" cy="2846388"/>
          </a:xfrm>
        </p:spPr>
        <p:txBody>
          <a:bodyPr/>
          <a:lstStyle/>
          <a:p>
            <a:r>
              <a:rPr lang="en-US" dirty="0"/>
              <a:t>To understand the concept of Morality and Ethics </a:t>
            </a:r>
          </a:p>
          <a:p>
            <a:r>
              <a:rPr lang="en-US" dirty="0"/>
              <a:t>Learning Ethics Concept in Islam and daily life. </a:t>
            </a:r>
          </a:p>
          <a:p>
            <a:r>
              <a:rPr lang="en-US" dirty="0"/>
              <a:t>To know different types of Ethical challenges new era.</a:t>
            </a:r>
          </a:p>
          <a:p>
            <a:r>
              <a:rPr lang="en-US" dirty="0"/>
              <a:t>How to manage personal Ethics in Society and Profession </a:t>
            </a:r>
          </a:p>
        </p:txBody>
      </p:sp>
    </p:spTree>
    <p:extLst>
      <p:ext uri="{BB962C8B-B14F-4D97-AF65-F5344CB8AC3E}">
        <p14:creationId xmlns:p14="http://schemas.microsoft.com/office/powerpoint/2010/main" val="33967544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ctrTitle"/>
          </p:nvPr>
        </p:nvSpPr>
        <p:spPr>
          <a:xfrm>
            <a:off x="1762125" y="2274887"/>
            <a:ext cx="9105900" cy="2308225"/>
          </a:xfrm>
        </p:spPr>
        <p:txBody>
          <a:bodyPr>
            <a:normAutofit/>
          </a:bodyPr>
          <a:lstStyle/>
          <a:p>
            <a:pPr>
              <a:defRPr/>
            </a:pPr>
            <a:r>
              <a:rPr lang="en-US" sz="6400" dirty="0"/>
              <a:t>What does Professional Practices mean to you?</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4FE6CA-3FE2-4A93-BA40-81B0F56C67A1}"/>
              </a:ext>
            </a:extLst>
          </p:cNvPr>
          <p:cNvSpPr>
            <a:spLocks noGrp="1"/>
          </p:cNvSpPr>
          <p:nvPr>
            <p:ph type="title"/>
          </p:nvPr>
        </p:nvSpPr>
        <p:spPr>
          <a:xfrm>
            <a:off x="661797" y="413385"/>
            <a:ext cx="9692640" cy="920115"/>
          </a:xfrm>
        </p:spPr>
        <p:txBody>
          <a:bodyPr/>
          <a:lstStyle/>
          <a:p>
            <a:pPr algn="ctr"/>
            <a:r>
              <a:rPr lang="en-US" b="1" dirty="0"/>
              <a:t>Ethics</a:t>
            </a:r>
          </a:p>
        </p:txBody>
      </p:sp>
      <p:sp>
        <p:nvSpPr>
          <p:cNvPr id="3" name="Content Placeholder 2">
            <a:extLst>
              <a:ext uri="{FF2B5EF4-FFF2-40B4-BE49-F238E27FC236}">
                <a16:creationId xmlns:a16="http://schemas.microsoft.com/office/drawing/2014/main" id="{CCFAEE89-712E-4541-8D9B-9B7E64831C6E}"/>
              </a:ext>
            </a:extLst>
          </p:cNvPr>
          <p:cNvSpPr>
            <a:spLocks noGrp="1"/>
          </p:cNvSpPr>
          <p:nvPr>
            <p:ph idx="1"/>
          </p:nvPr>
        </p:nvSpPr>
        <p:spPr>
          <a:xfrm>
            <a:off x="838200" y="1491175"/>
            <a:ext cx="10201275" cy="4685788"/>
          </a:xfrm>
        </p:spPr>
        <p:txBody>
          <a:bodyPr>
            <a:normAutofit fontScale="85000" lnSpcReduction="20000"/>
          </a:bodyPr>
          <a:lstStyle/>
          <a:p>
            <a:r>
              <a:rPr lang="en-US" sz="3600" b="1" dirty="0"/>
              <a:t>Ethics</a:t>
            </a:r>
          </a:p>
          <a:p>
            <a:pPr marL="688975" indent="-407988">
              <a:tabLst>
                <a:tab pos="633413" algn="l"/>
              </a:tabLst>
            </a:pPr>
            <a:r>
              <a:rPr lang="en-US" dirty="0"/>
              <a:t>Set of beliefs about right and wrong behavior within a society</a:t>
            </a:r>
          </a:p>
          <a:p>
            <a:pPr marL="688975" indent="-407988">
              <a:tabLst>
                <a:tab pos="633413" algn="l"/>
              </a:tabLst>
            </a:pPr>
            <a:r>
              <a:rPr lang="en-US" dirty="0"/>
              <a:t>Ethical behavior conforms to generally accepted norms; many of which are almost universal</a:t>
            </a:r>
          </a:p>
          <a:p>
            <a:pPr marL="688975" indent="-407988">
              <a:tabLst>
                <a:tab pos="633413" algn="l"/>
              </a:tabLst>
            </a:pPr>
            <a:r>
              <a:rPr lang="en-US" dirty="0"/>
              <a:t>Guiding principals of conduct for an individual/group</a:t>
            </a:r>
          </a:p>
          <a:p>
            <a:pPr marL="688975" indent="-407988">
              <a:tabLst>
                <a:tab pos="633413" algn="l"/>
              </a:tabLst>
            </a:pPr>
            <a:r>
              <a:rPr lang="en-US" dirty="0"/>
              <a:t>Influenced by Profession, field, organization</a:t>
            </a:r>
          </a:p>
          <a:p>
            <a:pPr marL="688975" indent="-407988">
              <a:tabLst>
                <a:tab pos="633413" algn="l"/>
              </a:tabLst>
            </a:pPr>
            <a:r>
              <a:rPr lang="en-US" dirty="0"/>
              <a:t>Related to professional work</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600" b="1" dirty="0"/>
              <a:t>Virtues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that incline people to do what is acceptable (fairness, generosity, Loyalty etc)</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500" b="1" dirty="0"/>
              <a:t>Vices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Habits of unacceptable </a:t>
            </a:r>
            <a:r>
              <a:rPr lang="en-US" dirty="0"/>
              <a:t>behavior (vanity, Greed, anger, envy etc.)</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Virtues and vices define a personal value system</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Scheme of moral values</a:t>
            </a:r>
          </a:p>
          <a:p>
            <a:pPr marL="688975" indent="-407988">
              <a:tabLst>
                <a:tab pos="633413" algn="l"/>
              </a:tabLst>
            </a:pPr>
            <a:endParaRPr lang="en-US" dirty="0"/>
          </a:p>
        </p:txBody>
      </p:sp>
    </p:spTree>
    <p:extLst>
      <p:ext uri="{BB962C8B-B14F-4D97-AF65-F5344CB8AC3E}">
        <p14:creationId xmlns:p14="http://schemas.microsoft.com/office/powerpoint/2010/main" val="24947791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0300FD06-DC61-4019-8D22-52B19B272DA5}"/>
              </a:ext>
            </a:extLst>
          </p:cNvPr>
          <p:cNvSpPr>
            <a:spLocks noGrp="1" noChangeArrowheads="1"/>
          </p:cNvSpPr>
          <p:nvPr>
            <p:ph type="title"/>
          </p:nvPr>
        </p:nvSpPr>
        <p:spPr>
          <a:xfrm>
            <a:off x="1246188" y="1108075"/>
            <a:ext cx="7772400" cy="593725"/>
          </a:xfrm>
        </p:spPr>
        <p:txBody>
          <a:bodyPr>
            <a:normAutofit fontScale="90000"/>
          </a:bodyPr>
          <a:lstStyle/>
          <a:p>
            <a:r>
              <a:rPr lang="en-US" altLang="en-US" dirty="0"/>
              <a:t>Definitions</a:t>
            </a:r>
          </a:p>
        </p:txBody>
      </p:sp>
      <p:sp>
        <p:nvSpPr>
          <p:cNvPr id="69635" name="Rectangle 3">
            <a:extLst>
              <a:ext uri="{FF2B5EF4-FFF2-40B4-BE49-F238E27FC236}">
                <a16:creationId xmlns:a16="http://schemas.microsoft.com/office/drawing/2014/main" id="{3F0AFD62-991A-4E43-9F4E-CF4071F2BD58}"/>
              </a:ext>
            </a:extLst>
          </p:cNvPr>
          <p:cNvSpPr>
            <a:spLocks noGrp="1" noChangeArrowheads="1"/>
          </p:cNvSpPr>
          <p:nvPr>
            <p:ph idx="1"/>
          </p:nvPr>
        </p:nvSpPr>
        <p:spPr>
          <a:xfrm>
            <a:off x="1409700" y="2127250"/>
            <a:ext cx="7772400" cy="3048000"/>
          </a:xfrm>
        </p:spPr>
        <p:txBody>
          <a:bodyPr/>
          <a:lstStyle/>
          <a:p>
            <a:r>
              <a:rPr lang="en-US" altLang="en-US" dirty="0"/>
              <a:t>Ethics – A branch of philosophy concerned with ways of thinking philosophically about morality, and moral judgment.</a:t>
            </a:r>
          </a:p>
          <a:p>
            <a:r>
              <a:rPr lang="en-US" altLang="en-US" dirty="0"/>
              <a:t>Morality – Human conduct and character referring to “those acts which it makes sense to describe as right or wrong, good or bad.”</a:t>
            </a:r>
          </a:p>
          <a:p>
            <a:r>
              <a:rPr lang="en-US" altLang="en-US" dirty="0"/>
              <a:t>Moral Judgment – Judgments based on considerations of how other people are to be treated, and how others interests are to weigh against their own.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745EBE-2932-4861-9587-7A91CF1E5961}"/>
              </a:ext>
            </a:extLst>
          </p:cNvPr>
          <p:cNvSpPr>
            <a:spLocks noGrp="1"/>
          </p:cNvSpPr>
          <p:nvPr>
            <p:ph type="title"/>
          </p:nvPr>
        </p:nvSpPr>
        <p:spPr>
          <a:xfrm>
            <a:off x="713232" y="375285"/>
            <a:ext cx="9692640" cy="1005840"/>
          </a:xfrm>
        </p:spPr>
        <p:txBody>
          <a:bodyPr/>
          <a:lstStyle/>
          <a:p>
            <a:pPr algn="ctr"/>
            <a:r>
              <a:rPr lang="en-US" b="1" dirty="0"/>
              <a:t>Integrity</a:t>
            </a:r>
          </a:p>
        </p:txBody>
      </p:sp>
      <p:sp>
        <p:nvSpPr>
          <p:cNvPr id="3" name="Content Placeholder 2">
            <a:extLst>
              <a:ext uri="{FF2B5EF4-FFF2-40B4-BE49-F238E27FC236}">
                <a16:creationId xmlns:a16="http://schemas.microsoft.com/office/drawing/2014/main" id="{6D4DD45F-6656-4201-A725-51BB3B918899}"/>
              </a:ext>
            </a:extLst>
          </p:cNvPr>
          <p:cNvSpPr>
            <a:spLocks noGrp="1"/>
          </p:cNvSpPr>
          <p:nvPr>
            <p:ph idx="1"/>
          </p:nvPr>
        </p:nvSpPr>
        <p:spPr/>
        <p:txBody>
          <a:bodyPr>
            <a:normAutofit/>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Integrity is a cornerstone of ethical behaviour</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People with integrity: </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Act in accordance with a personal code of principles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Extend to all the same respect and consideration</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Apply the same moral standards in all situations</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Lack of integrity emerges if you apply moral standards differently according to situation or people involved</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Many ethical dilemmas are not as simple as right versus wrong</a:t>
            </a:r>
          </a:p>
          <a:p>
            <a:endParaRPr lang="en-US" dirty="0"/>
          </a:p>
        </p:txBody>
      </p:sp>
    </p:spTree>
    <p:extLst>
      <p:ext uri="{BB962C8B-B14F-4D97-AF65-F5344CB8AC3E}">
        <p14:creationId xmlns:p14="http://schemas.microsoft.com/office/powerpoint/2010/main" val="28410111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026">
            <a:extLst>
              <a:ext uri="{FF2B5EF4-FFF2-40B4-BE49-F238E27FC236}">
                <a16:creationId xmlns:a16="http://schemas.microsoft.com/office/drawing/2014/main" id="{B39AAE28-FFAA-4455-BFDB-4291ACD5360E}"/>
              </a:ext>
            </a:extLst>
          </p:cNvPr>
          <p:cNvSpPr>
            <a:spLocks noGrp="1" noChangeArrowheads="1"/>
          </p:cNvSpPr>
          <p:nvPr>
            <p:ph type="title"/>
          </p:nvPr>
        </p:nvSpPr>
        <p:spPr/>
        <p:txBody>
          <a:bodyPr/>
          <a:lstStyle/>
          <a:p>
            <a:r>
              <a:rPr lang="en-US" altLang="en-US" dirty="0"/>
              <a:t>Open-Ended Questions?</a:t>
            </a:r>
          </a:p>
        </p:txBody>
      </p:sp>
      <p:sp>
        <p:nvSpPr>
          <p:cNvPr id="70659" name="Rectangle 1027">
            <a:extLst>
              <a:ext uri="{FF2B5EF4-FFF2-40B4-BE49-F238E27FC236}">
                <a16:creationId xmlns:a16="http://schemas.microsoft.com/office/drawing/2014/main" id="{9BA3ADF0-23E3-45E1-B505-36BF00FB1E4C}"/>
              </a:ext>
            </a:extLst>
          </p:cNvPr>
          <p:cNvSpPr>
            <a:spLocks noGrp="1" noChangeArrowheads="1"/>
          </p:cNvSpPr>
          <p:nvPr>
            <p:ph idx="1"/>
          </p:nvPr>
        </p:nvSpPr>
        <p:spPr/>
        <p:txBody>
          <a:bodyPr/>
          <a:lstStyle/>
          <a:p>
            <a:r>
              <a:rPr lang="en-US" altLang="en-US" dirty="0"/>
              <a:t>What are ethics?</a:t>
            </a:r>
          </a:p>
          <a:p>
            <a:r>
              <a:rPr lang="en-US" altLang="en-US" dirty="0"/>
              <a:t>Are ethical decisions important?</a:t>
            </a:r>
          </a:p>
          <a:p>
            <a:r>
              <a:rPr lang="en-US" altLang="en-US" dirty="0"/>
              <a:t>What happens without ethics?</a:t>
            </a:r>
          </a:p>
          <a:p>
            <a:r>
              <a:rPr lang="en-US" altLang="en-US" dirty="0"/>
              <a:t>What is the relation between society – ethics – morals – moral judgment?</a:t>
            </a:r>
          </a:p>
          <a:p>
            <a:pPr>
              <a:buFontTx/>
              <a:buNone/>
            </a:pPr>
            <a:endParaRPr lang="en-US"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4E09B8-5750-4F50-BB97-F7760CFFE241}"/>
              </a:ext>
            </a:extLst>
          </p:cNvPr>
          <p:cNvSpPr>
            <a:spLocks noGrp="1"/>
          </p:cNvSpPr>
          <p:nvPr>
            <p:ph type="title"/>
          </p:nvPr>
        </p:nvSpPr>
        <p:spPr>
          <a:xfrm>
            <a:off x="838200" y="365126"/>
            <a:ext cx="9692640" cy="1044574"/>
          </a:xfrm>
        </p:spPr>
        <p:txBody>
          <a:bodyPr/>
          <a:lstStyle/>
          <a:p>
            <a:pPr algn="ctr"/>
            <a:r>
              <a:rPr lang="en-US" b="1" dirty="0"/>
              <a:t>Morals</a:t>
            </a:r>
          </a:p>
        </p:txBody>
      </p:sp>
      <p:sp>
        <p:nvSpPr>
          <p:cNvPr id="3" name="Content Placeholder 2">
            <a:extLst>
              <a:ext uri="{FF2B5EF4-FFF2-40B4-BE49-F238E27FC236}">
                <a16:creationId xmlns:a16="http://schemas.microsoft.com/office/drawing/2014/main" id="{CF6BDE7D-C10B-4164-A1C7-F93833364392}"/>
              </a:ext>
            </a:extLst>
          </p:cNvPr>
          <p:cNvSpPr>
            <a:spLocks noGrp="1"/>
          </p:cNvSpPr>
          <p:nvPr>
            <p:ph idx="1"/>
          </p:nvPr>
        </p:nvSpPr>
        <p:spPr>
          <a:xfrm>
            <a:off x="590550" y="1690688"/>
            <a:ext cx="9839325" cy="4486275"/>
          </a:xfrm>
        </p:spPr>
        <p:txBody>
          <a:bodyPr>
            <a:normAutofit/>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b="1" dirty="0"/>
              <a:t>Moral code</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Set of rules </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Establishes boundaries of generally accepted behaviour</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Different rules often have contradictions </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E.g. Caught friend cheating? Personal privacy?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b="1" dirty="0"/>
              <a:t>Morality</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Social conventions about right and wrong</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Widely shared</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Form basis for an established consensus</a:t>
            </a:r>
          </a:p>
          <a:p>
            <a:pPr marL="280988" lvl="1" indent="-225425">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3200" b="1" dirty="0"/>
              <a:t>Morals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Principles on which one’s judgement of right and wrong are based</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Not related to professional work </a:t>
            </a:r>
          </a:p>
          <a:p>
            <a:pPr marL="457200" lvl="1" indent="0">
              <a:buNone/>
              <a:tabLst>
                <a:tab pos="911225" algn="l"/>
                <a:tab pos="1825625" algn="l"/>
                <a:tab pos="2740025" algn="l"/>
                <a:tab pos="3654425" algn="l"/>
                <a:tab pos="4568825" algn="l"/>
                <a:tab pos="5483225" algn="l"/>
                <a:tab pos="6397625" algn="l"/>
                <a:tab pos="7312025" algn="l"/>
                <a:tab pos="8226425" algn="l"/>
                <a:tab pos="9140825" algn="l"/>
                <a:tab pos="10055225" algn="l"/>
              </a:tabLst>
            </a:pPr>
            <a:endParaRPr lang="en-GB" dirty="0"/>
          </a:p>
          <a:p>
            <a:endParaRPr lang="en-US" dirty="0"/>
          </a:p>
        </p:txBody>
      </p:sp>
    </p:spTree>
    <p:extLst>
      <p:ext uri="{BB962C8B-B14F-4D97-AF65-F5344CB8AC3E}">
        <p14:creationId xmlns:p14="http://schemas.microsoft.com/office/powerpoint/2010/main" val="2035415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0A898-FACB-4332-9D26-75299F2733C8}"/>
              </a:ext>
            </a:extLst>
          </p:cNvPr>
          <p:cNvSpPr>
            <a:spLocks noGrp="1"/>
          </p:cNvSpPr>
          <p:nvPr>
            <p:ph type="title"/>
          </p:nvPr>
        </p:nvSpPr>
        <p:spPr/>
        <p:txBody>
          <a:bodyPr/>
          <a:lstStyle/>
          <a:p>
            <a:pPr algn="ctr"/>
            <a:r>
              <a:rPr lang="en-US" b="1" dirty="0"/>
              <a:t>Morality</a:t>
            </a:r>
          </a:p>
        </p:txBody>
      </p:sp>
      <p:sp>
        <p:nvSpPr>
          <p:cNvPr id="3" name="Content Placeholder 2">
            <a:extLst>
              <a:ext uri="{FF2B5EF4-FFF2-40B4-BE49-F238E27FC236}">
                <a16:creationId xmlns:a16="http://schemas.microsoft.com/office/drawing/2014/main" id="{444F3290-0FA3-410A-8B78-FAC169084E08}"/>
              </a:ext>
            </a:extLst>
          </p:cNvPr>
          <p:cNvSpPr>
            <a:spLocks noGrp="1"/>
          </p:cNvSpPr>
          <p:nvPr>
            <p:ph idx="1"/>
          </p:nvPr>
        </p:nvSpPr>
        <p:spPr/>
        <p:txBody>
          <a:bodyPr>
            <a:normAutofit/>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Morality may vary by:</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Age</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Cultural group</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Ethnic background</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Religion</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Life experiences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Education</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dirty="0"/>
              <a:t>Gender</a:t>
            </a:r>
          </a:p>
          <a:p>
            <a:endParaRPr lang="en-US" dirty="0"/>
          </a:p>
        </p:txBody>
      </p:sp>
    </p:spTree>
    <p:extLst>
      <p:ext uri="{BB962C8B-B14F-4D97-AF65-F5344CB8AC3E}">
        <p14:creationId xmlns:p14="http://schemas.microsoft.com/office/powerpoint/2010/main" val="31217743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4754" name="Rectangle 2">
            <a:extLst>
              <a:ext uri="{FF2B5EF4-FFF2-40B4-BE49-F238E27FC236}">
                <a16:creationId xmlns:a16="http://schemas.microsoft.com/office/drawing/2014/main" id="{9C21AF43-BEE7-4474-B787-8438617089D6}"/>
              </a:ext>
            </a:extLst>
          </p:cNvPr>
          <p:cNvSpPr>
            <a:spLocks noGrp="1" noChangeArrowheads="1"/>
          </p:cNvSpPr>
          <p:nvPr>
            <p:ph type="title"/>
          </p:nvPr>
        </p:nvSpPr>
        <p:spPr>
          <a:xfrm>
            <a:off x="785622" y="503238"/>
            <a:ext cx="9692640" cy="1325562"/>
          </a:xfrm>
        </p:spPr>
        <p:txBody>
          <a:bodyPr/>
          <a:lstStyle/>
          <a:p>
            <a:r>
              <a:rPr lang="en-US" altLang="en-US" dirty="0"/>
              <a:t>Where does morality come from?</a:t>
            </a:r>
          </a:p>
        </p:txBody>
      </p:sp>
      <p:sp>
        <p:nvSpPr>
          <p:cNvPr id="74755" name="Rectangle 3">
            <a:extLst>
              <a:ext uri="{FF2B5EF4-FFF2-40B4-BE49-F238E27FC236}">
                <a16:creationId xmlns:a16="http://schemas.microsoft.com/office/drawing/2014/main" id="{5DCE377D-02B6-4D75-9481-F13B9D2DD893}"/>
              </a:ext>
            </a:extLst>
          </p:cNvPr>
          <p:cNvSpPr>
            <a:spLocks noGrp="1" noChangeArrowheads="1"/>
          </p:cNvSpPr>
          <p:nvPr>
            <p:ph idx="1"/>
          </p:nvPr>
        </p:nvSpPr>
        <p:spPr>
          <a:xfrm>
            <a:off x="1285874" y="2038350"/>
            <a:ext cx="8571357" cy="4141787"/>
          </a:xfrm>
        </p:spPr>
        <p:txBody>
          <a:bodyPr/>
          <a:lstStyle/>
          <a:p>
            <a:r>
              <a:rPr lang="en-US" altLang="en-US" dirty="0"/>
              <a:t>Parents</a:t>
            </a:r>
          </a:p>
          <a:p>
            <a:r>
              <a:rPr lang="en-US" altLang="en-US" dirty="0"/>
              <a:t>Religion</a:t>
            </a:r>
          </a:p>
          <a:p>
            <a:r>
              <a:rPr lang="en-US" altLang="en-US" dirty="0"/>
              <a:t>Peers</a:t>
            </a:r>
          </a:p>
          <a:p>
            <a:r>
              <a:rPr lang="en-US" altLang="en-US" dirty="0"/>
              <a:t>Technology</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4755">
                                            <p:txEl>
                                              <p:pRg st="0" end="0"/>
                                            </p:txEl>
                                          </p:spTgt>
                                        </p:tgtEl>
                                        <p:attrNameLst>
                                          <p:attrName>style.visibility</p:attrName>
                                        </p:attrNameLst>
                                      </p:cBhvr>
                                      <p:to>
                                        <p:strVal val="visible"/>
                                      </p:to>
                                    </p:set>
                                    <p:animEffect transition="in" filter="blinds(horizontal)">
                                      <p:cBhvr>
                                        <p:cTn id="7" dur="500"/>
                                        <p:tgtEl>
                                          <p:spTgt spid="7475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755">
                                            <p:txEl>
                                              <p:pRg st="1" end="1"/>
                                            </p:txEl>
                                          </p:spTgt>
                                        </p:tgtEl>
                                        <p:attrNameLst>
                                          <p:attrName>style.visibility</p:attrName>
                                        </p:attrNameLst>
                                      </p:cBhvr>
                                      <p:to>
                                        <p:strVal val="visible"/>
                                      </p:to>
                                    </p:set>
                                    <p:animEffect transition="in" filter="blinds(horizontal)">
                                      <p:cBhvr>
                                        <p:cTn id="12" dur="500"/>
                                        <p:tgtEl>
                                          <p:spTgt spid="7475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4755">
                                            <p:txEl>
                                              <p:pRg st="2" end="2"/>
                                            </p:txEl>
                                          </p:spTgt>
                                        </p:tgtEl>
                                        <p:attrNameLst>
                                          <p:attrName>style.visibility</p:attrName>
                                        </p:attrNameLst>
                                      </p:cBhvr>
                                      <p:to>
                                        <p:strVal val="visible"/>
                                      </p:to>
                                    </p:set>
                                    <p:animEffect transition="in" filter="blinds(horizontal)">
                                      <p:cBhvr>
                                        <p:cTn id="17" dur="500"/>
                                        <p:tgtEl>
                                          <p:spTgt spid="7475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4755">
                                            <p:txEl>
                                              <p:pRg st="3" end="3"/>
                                            </p:txEl>
                                          </p:spTgt>
                                        </p:tgtEl>
                                        <p:attrNameLst>
                                          <p:attrName>style.visibility</p:attrName>
                                        </p:attrNameLst>
                                      </p:cBhvr>
                                      <p:to>
                                        <p:strVal val="visible"/>
                                      </p:to>
                                    </p:set>
                                    <p:animEffect transition="in" filter="blinds(horizontal)">
                                      <p:cBhvr>
                                        <p:cTn id="22" dur="500"/>
                                        <p:tgtEl>
                                          <p:spTgt spid="7475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5" grpId="0" build="p" autoUpdateAnimBg="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a:extLst>
              <a:ext uri="{FF2B5EF4-FFF2-40B4-BE49-F238E27FC236}">
                <a16:creationId xmlns:a16="http://schemas.microsoft.com/office/drawing/2014/main" id="{F27F9778-5B4F-485D-B3E1-D50743B83F97}"/>
              </a:ext>
            </a:extLst>
          </p:cNvPr>
          <p:cNvSpPr>
            <a:spLocks noGrp="1" noChangeArrowheads="1"/>
          </p:cNvSpPr>
          <p:nvPr>
            <p:ph type="title"/>
          </p:nvPr>
        </p:nvSpPr>
        <p:spPr/>
        <p:txBody>
          <a:bodyPr/>
          <a:lstStyle/>
          <a:p>
            <a:r>
              <a:rPr lang="en-US" altLang="en-US"/>
              <a:t>Parents</a:t>
            </a:r>
          </a:p>
        </p:txBody>
      </p:sp>
      <p:sp>
        <p:nvSpPr>
          <p:cNvPr id="75779" name="Rectangle 3">
            <a:extLst>
              <a:ext uri="{FF2B5EF4-FFF2-40B4-BE49-F238E27FC236}">
                <a16:creationId xmlns:a16="http://schemas.microsoft.com/office/drawing/2014/main" id="{C3E459EB-EF8A-47EB-9630-E9AFD2A279E0}"/>
              </a:ext>
            </a:extLst>
          </p:cNvPr>
          <p:cNvSpPr>
            <a:spLocks noGrp="1" noChangeArrowheads="1"/>
          </p:cNvSpPr>
          <p:nvPr>
            <p:ph idx="1"/>
          </p:nvPr>
        </p:nvSpPr>
        <p:spPr/>
        <p:txBody>
          <a:bodyPr/>
          <a:lstStyle/>
          <a:p>
            <a:r>
              <a:rPr lang="en-US" altLang="en-US" dirty="0"/>
              <a:t>Parents instill ethics and morals in children.  Example: A child yells at their friend – calling them a name.  </a:t>
            </a:r>
          </a:p>
          <a:p>
            <a:r>
              <a:rPr lang="en-US" altLang="en-US" dirty="0"/>
              <a:t>How does the parent respond?</a:t>
            </a:r>
          </a:p>
          <a:p>
            <a:r>
              <a:rPr lang="en-US" altLang="en-US" dirty="0"/>
              <a:t>Other ways?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0267F1D9-97D1-4846-A31E-90A5D976D3D3}"/>
              </a:ext>
            </a:extLst>
          </p:cNvPr>
          <p:cNvSpPr>
            <a:spLocks noGrp="1" noChangeArrowheads="1"/>
          </p:cNvSpPr>
          <p:nvPr>
            <p:ph type="title"/>
          </p:nvPr>
        </p:nvSpPr>
        <p:spPr/>
        <p:txBody>
          <a:bodyPr/>
          <a:lstStyle/>
          <a:p>
            <a:r>
              <a:rPr lang="en-US" altLang="en-US" dirty="0"/>
              <a:t>Religion</a:t>
            </a:r>
          </a:p>
        </p:txBody>
      </p:sp>
      <p:sp>
        <p:nvSpPr>
          <p:cNvPr id="76803" name="Rectangle 3">
            <a:extLst>
              <a:ext uri="{FF2B5EF4-FFF2-40B4-BE49-F238E27FC236}">
                <a16:creationId xmlns:a16="http://schemas.microsoft.com/office/drawing/2014/main" id="{F5E260C4-F10E-41B7-AA3D-3E93A1EABA74}"/>
              </a:ext>
            </a:extLst>
          </p:cNvPr>
          <p:cNvSpPr>
            <a:spLocks noGrp="1" noChangeArrowheads="1"/>
          </p:cNvSpPr>
          <p:nvPr>
            <p:ph idx="1"/>
          </p:nvPr>
        </p:nvSpPr>
        <p:spPr>
          <a:xfrm>
            <a:off x="1457325" y="2157413"/>
            <a:ext cx="8001000" cy="4114800"/>
          </a:xfrm>
        </p:spPr>
        <p:txBody>
          <a:bodyPr/>
          <a:lstStyle/>
          <a:p>
            <a:r>
              <a:rPr lang="en-US" altLang="en-US" dirty="0"/>
              <a:t>Most religions set guidelines on how to make moral judgments. Example: In the Christian religion the ten commandments serve as guidelines for making ethical and moral judgments.</a:t>
            </a:r>
          </a:p>
          <a:p>
            <a:r>
              <a:rPr lang="en-US" altLang="en-US" dirty="0"/>
              <a:t>What do Muslims, Hebrews, and other religions use?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2">
            <a:extLst>
              <a:ext uri="{FF2B5EF4-FFF2-40B4-BE49-F238E27FC236}">
                <a16:creationId xmlns:a16="http://schemas.microsoft.com/office/drawing/2014/main" id="{985A7668-210E-4EAE-8FD7-6758C20EAA9B}"/>
              </a:ext>
            </a:extLst>
          </p:cNvPr>
          <p:cNvSpPr>
            <a:spLocks noGrp="1" noChangeArrowheads="1"/>
          </p:cNvSpPr>
          <p:nvPr>
            <p:ph type="title"/>
          </p:nvPr>
        </p:nvSpPr>
        <p:spPr/>
        <p:txBody>
          <a:bodyPr/>
          <a:lstStyle/>
          <a:p>
            <a:r>
              <a:rPr lang="en-US" altLang="en-US"/>
              <a:t>Peers</a:t>
            </a:r>
          </a:p>
        </p:txBody>
      </p:sp>
      <p:sp>
        <p:nvSpPr>
          <p:cNvPr id="77827" name="Rectangle 3">
            <a:extLst>
              <a:ext uri="{FF2B5EF4-FFF2-40B4-BE49-F238E27FC236}">
                <a16:creationId xmlns:a16="http://schemas.microsoft.com/office/drawing/2014/main" id="{8EF46531-8CF7-40D3-B0CC-BFD155ACA60A}"/>
              </a:ext>
            </a:extLst>
          </p:cNvPr>
          <p:cNvSpPr>
            <a:spLocks noGrp="1" noChangeArrowheads="1"/>
          </p:cNvSpPr>
          <p:nvPr>
            <p:ph idx="1"/>
          </p:nvPr>
        </p:nvSpPr>
        <p:spPr/>
        <p:txBody>
          <a:bodyPr/>
          <a:lstStyle/>
          <a:p>
            <a:r>
              <a:rPr lang="en-US" altLang="en-US" dirty="0"/>
              <a:t>Friends effect your moral judgments.  Example: A friend or colleague might coax you to use drugs.</a:t>
            </a:r>
          </a:p>
          <a:p>
            <a:r>
              <a:rPr lang="en-US" altLang="en-US" dirty="0"/>
              <a:t>Peer pressure can sometimes cause people to make moral and ethical decisions.</a:t>
            </a:r>
          </a:p>
          <a:p>
            <a:r>
              <a:rPr lang="en-US" altLang="en-US" dirty="0"/>
              <a:t>Others?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A42A80EE-850B-45E8-BF8B-9F112A6DC218}"/>
              </a:ext>
            </a:extLst>
          </p:cNvPr>
          <p:cNvSpPr>
            <a:spLocks noGrp="1" noChangeArrowheads="1"/>
          </p:cNvSpPr>
          <p:nvPr>
            <p:ph type="title"/>
          </p:nvPr>
        </p:nvSpPr>
        <p:spPr/>
        <p:txBody>
          <a:bodyPr/>
          <a:lstStyle/>
          <a:p>
            <a:r>
              <a:rPr lang="en-US" altLang="en-US"/>
              <a:t>Technology</a:t>
            </a:r>
          </a:p>
        </p:txBody>
      </p:sp>
      <p:sp>
        <p:nvSpPr>
          <p:cNvPr id="78851" name="Rectangle 3">
            <a:extLst>
              <a:ext uri="{FF2B5EF4-FFF2-40B4-BE49-F238E27FC236}">
                <a16:creationId xmlns:a16="http://schemas.microsoft.com/office/drawing/2014/main" id="{DB17E4EF-3E45-48B0-B850-F181C1F7BFE6}"/>
              </a:ext>
            </a:extLst>
          </p:cNvPr>
          <p:cNvSpPr>
            <a:spLocks noGrp="1" noChangeArrowheads="1"/>
          </p:cNvSpPr>
          <p:nvPr>
            <p:ph idx="1"/>
          </p:nvPr>
        </p:nvSpPr>
        <p:spPr>
          <a:xfrm>
            <a:off x="1628775" y="2200275"/>
            <a:ext cx="7772400" cy="4114800"/>
          </a:xfrm>
        </p:spPr>
        <p:txBody>
          <a:bodyPr>
            <a:normAutofit/>
          </a:bodyPr>
          <a:lstStyle/>
          <a:p>
            <a:pPr marL="0" indent="0">
              <a:buNone/>
            </a:pPr>
            <a:r>
              <a:rPr lang="en-US" altLang="en-US" dirty="0"/>
              <a:t>Technology provides many opportunities to make moral and ethical decisions. Example: Copying computer games and violating copyright laws.</a:t>
            </a:r>
          </a:p>
          <a:p>
            <a:pPr marL="533400" indent="-533400">
              <a:buFontTx/>
              <a:buAutoNum type="arabicPeriod"/>
            </a:pPr>
            <a:r>
              <a:rPr lang="en-US" altLang="en-US" dirty="0"/>
              <a:t>Does having a radar detector give you the right to break the law and speed?</a:t>
            </a:r>
          </a:p>
          <a:p>
            <a:pPr marL="533400" indent="-533400">
              <a:buFontTx/>
              <a:buAutoNum type="arabicPeriod"/>
            </a:pPr>
            <a:r>
              <a:rPr lang="en-US" altLang="en-US" dirty="0"/>
              <a:t>Is it ethical to slash and burn the rain forests to feed more people?</a:t>
            </a:r>
          </a:p>
          <a:p>
            <a:pPr marL="533400" indent="-533400">
              <a:buFontTx/>
              <a:buAutoNum type="arabicPeriod"/>
            </a:pPr>
            <a:r>
              <a:rPr lang="en-US" altLang="en-US" dirty="0"/>
              <a:t>Should you drive your car to work or school when it is in within waling distance?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a:extLst>
              <a:ext uri="{FF2B5EF4-FFF2-40B4-BE49-F238E27FC236}">
                <a16:creationId xmlns:a16="http://schemas.microsoft.com/office/drawing/2014/main" id="{433ECD31-DC0F-4EA3-9F97-47362DA3BD1A}"/>
              </a:ext>
            </a:extLst>
          </p:cNvPr>
          <p:cNvSpPr>
            <a:spLocks noGrp="1" noChangeArrowheads="1"/>
          </p:cNvSpPr>
          <p:nvPr>
            <p:ph type="title"/>
          </p:nvPr>
        </p:nvSpPr>
        <p:spPr/>
        <p:txBody>
          <a:bodyPr/>
          <a:lstStyle/>
          <a:p>
            <a:r>
              <a:rPr lang="en-US" altLang="en-US"/>
              <a:t>Right, Wrong and Grey areas?</a:t>
            </a:r>
          </a:p>
        </p:txBody>
      </p:sp>
      <p:sp>
        <p:nvSpPr>
          <p:cNvPr id="79875" name="Rectangle 3">
            <a:extLst>
              <a:ext uri="{FF2B5EF4-FFF2-40B4-BE49-F238E27FC236}">
                <a16:creationId xmlns:a16="http://schemas.microsoft.com/office/drawing/2014/main" id="{12480658-FC76-4435-9297-B2C634030D14}"/>
              </a:ext>
            </a:extLst>
          </p:cNvPr>
          <p:cNvSpPr>
            <a:spLocks noGrp="1" noChangeArrowheads="1"/>
          </p:cNvSpPr>
          <p:nvPr>
            <p:ph idx="1"/>
          </p:nvPr>
        </p:nvSpPr>
        <p:spPr>
          <a:xfrm>
            <a:off x="1261872" y="2143125"/>
            <a:ext cx="8595360" cy="4037012"/>
          </a:xfrm>
        </p:spPr>
        <p:txBody>
          <a:bodyPr/>
          <a:lstStyle/>
          <a:p>
            <a:pPr>
              <a:lnSpc>
                <a:spcPct val="90000"/>
              </a:lnSpc>
            </a:pPr>
            <a:r>
              <a:rPr lang="en-US" altLang="en-US" dirty="0"/>
              <a:t>Unclear situations in ethics, many times they are personal and hotly debated in politics.</a:t>
            </a:r>
          </a:p>
          <a:p>
            <a:pPr>
              <a:lnSpc>
                <a:spcPct val="90000"/>
              </a:lnSpc>
            </a:pPr>
            <a:r>
              <a:rPr lang="en-US" altLang="en-US" dirty="0"/>
              <a:t>Black and white – Fairly clear – straight forward, most people feel the same way about: stealing, murder, honesty, charity.</a:t>
            </a:r>
          </a:p>
          <a:p>
            <a:pPr>
              <a:lnSpc>
                <a:spcPct val="90000"/>
              </a:lnSpc>
            </a:pPr>
            <a:r>
              <a:rPr lang="en-US" altLang="en-US" dirty="0"/>
              <a:t>Others?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C3948-FEEA-4285-BAF9-1E2528E66D24}"/>
              </a:ext>
            </a:extLst>
          </p:cNvPr>
          <p:cNvSpPr>
            <a:spLocks noGrp="1"/>
          </p:cNvSpPr>
          <p:nvPr>
            <p:ph type="title"/>
          </p:nvPr>
        </p:nvSpPr>
        <p:spPr>
          <a:xfrm>
            <a:off x="713232" y="365760"/>
            <a:ext cx="9692640" cy="1101090"/>
          </a:xfrm>
        </p:spPr>
        <p:txBody>
          <a:bodyPr/>
          <a:lstStyle/>
          <a:p>
            <a:pPr algn="ctr"/>
            <a:r>
              <a:rPr lang="en-US" b="1" dirty="0"/>
              <a:t>Law</a:t>
            </a:r>
          </a:p>
        </p:txBody>
      </p:sp>
      <p:sp>
        <p:nvSpPr>
          <p:cNvPr id="3" name="Content Placeholder 2">
            <a:extLst>
              <a:ext uri="{FF2B5EF4-FFF2-40B4-BE49-F238E27FC236}">
                <a16:creationId xmlns:a16="http://schemas.microsoft.com/office/drawing/2014/main" id="{C470D116-D7CD-4955-8034-9C07015EBC29}"/>
              </a:ext>
            </a:extLst>
          </p:cNvPr>
          <p:cNvSpPr>
            <a:spLocks noGrp="1"/>
          </p:cNvSpPr>
          <p:nvPr>
            <p:ph idx="1"/>
          </p:nvPr>
        </p:nvSpPr>
        <p:spPr/>
        <p:txBody>
          <a:bodyPr>
            <a:normAutofit/>
          </a:bodyPr>
          <a:lstStyle/>
          <a:p>
            <a:r>
              <a:rPr lang="en-US" dirty="0"/>
              <a:t>A system of rules that tells us what we can and cannot do</a:t>
            </a:r>
          </a:p>
          <a:p>
            <a:r>
              <a:rPr lang="en-US" dirty="0"/>
              <a:t>Enforced by a set of institutions (the police, courts, law-making bodies). </a:t>
            </a:r>
          </a:p>
          <a:p>
            <a:r>
              <a:rPr lang="en-US" dirty="0"/>
              <a:t>Legal acts are acts that conform to the law. </a:t>
            </a:r>
          </a:p>
          <a:p>
            <a:r>
              <a:rPr lang="en-US" dirty="0"/>
              <a:t>Moral acts conform with what an individual believes to be the right thing to do.</a:t>
            </a:r>
          </a:p>
          <a:p>
            <a:r>
              <a:rPr lang="en-US" dirty="0"/>
              <a:t> Laws can proclaim an act as legal, although many people may consider the act immoral</a:t>
            </a:r>
          </a:p>
        </p:txBody>
      </p:sp>
    </p:spTree>
    <p:extLst>
      <p:ext uri="{BB962C8B-B14F-4D97-AF65-F5344CB8AC3E}">
        <p14:creationId xmlns:p14="http://schemas.microsoft.com/office/powerpoint/2010/main" val="30529277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E5BF3E1F-18BE-4C6D-B115-0392CE57BEAF}"/>
              </a:ext>
            </a:extLst>
          </p:cNvPr>
          <p:cNvSpPr>
            <a:spLocks noGrp="1"/>
          </p:cNvSpPr>
          <p:nvPr>
            <p:ph type="sldNum" sz="quarter" idx="12"/>
          </p:nvPr>
        </p:nvSpPr>
        <p:spPr/>
        <p:txBody>
          <a:bodyPr>
            <a:normAutofit lnSpcReduction="10000"/>
          </a:bodyPr>
          <a:lstStyle/>
          <a:p>
            <a:pPr lvl="0"/>
            <a:fld id="{59786604-2227-40A1-90CB-7DDB33B83AC5}" type="slidenum">
              <a:rPr/>
              <a:t>19</a:t>
            </a:fld>
            <a:endParaRPr lang="en-US"/>
          </a:p>
        </p:txBody>
      </p:sp>
      <p:sp>
        <p:nvSpPr>
          <p:cNvPr id="2" name="Title 1">
            <a:extLst>
              <a:ext uri="{FF2B5EF4-FFF2-40B4-BE49-F238E27FC236}">
                <a16:creationId xmlns:a16="http://schemas.microsoft.com/office/drawing/2014/main" id="{932B64B0-EEDC-4F6E-8D86-954A9CB6A192}"/>
              </a:ext>
            </a:extLst>
          </p:cNvPr>
          <p:cNvSpPr txBox="1">
            <a:spLocks noGrp="1"/>
          </p:cNvSpPr>
          <p:nvPr>
            <p:ph type="title" idx="4294967295"/>
          </p:nvPr>
        </p:nvSpPr>
        <p:spPr>
          <a:xfrm>
            <a:off x="0" y="365125"/>
            <a:ext cx="10515600" cy="1325563"/>
          </a:xfrm>
        </p:spPr>
        <p:txBody>
          <a:bodyPr/>
          <a:lstStyle/>
          <a:p>
            <a:pPr lvl="0" algn="ctr"/>
            <a:r>
              <a:rPr lang="en-US" b="1" dirty="0"/>
              <a:t>Why Professional Issues in IT?</a:t>
            </a:r>
          </a:p>
        </p:txBody>
      </p:sp>
      <p:sp>
        <p:nvSpPr>
          <p:cNvPr id="3" name="Text Placeholder 2">
            <a:extLst>
              <a:ext uri="{FF2B5EF4-FFF2-40B4-BE49-F238E27FC236}">
                <a16:creationId xmlns:a16="http://schemas.microsoft.com/office/drawing/2014/main" id="{29A8EF06-69DB-4255-8407-39285F488DC2}"/>
              </a:ext>
            </a:extLst>
          </p:cNvPr>
          <p:cNvSpPr txBox="1">
            <a:spLocks noGrp="1"/>
          </p:cNvSpPr>
          <p:nvPr>
            <p:ph type="body" idx="4294967295"/>
          </p:nvPr>
        </p:nvSpPr>
        <p:spPr>
          <a:xfrm>
            <a:off x="962025" y="2117724"/>
            <a:ext cx="9426575" cy="4351338"/>
          </a:xfrm>
        </p:spPr>
        <p:txBody>
          <a:bodyPr/>
          <a:lstStyle/>
          <a:p>
            <a:pPr lvl="0" algn="just">
              <a:buSzPct val="45000"/>
              <a:buFont typeface="StarSymbol"/>
              <a:buChar char="●"/>
            </a:pPr>
            <a:r>
              <a:rPr lang="en-US" dirty="0"/>
              <a:t>Computing is one of the key factors for progress in various areas nowadays</a:t>
            </a:r>
          </a:p>
          <a:p>
            <a:pPr lvl="0" algn="just">
              <a:buSzPct val="45000"/>
              <a:buFont typeface="StarSymbol"/>
              <a:buChar char="●"/>
            </a:pPr>
            <a:r>
              <a:rPr lang="en-US" dirty="0"/>
              <a:t>It has transformed the way we live, learn, work, and play.</a:t>
            </a:r>
          </a:p>
          <a:p>
            <a:pPr lvl="0" algn="just">
              <a:buSzPct val="45000"/>
              <a:buFont typeface="StarSymbol"/>
              <a:buChar char="●"/>
            </a:pPr>
            <a:r>
              <a:rPr lang="en-US" dirty="0"/>
              <a:t>Advances in computing &amp; related technologies will help improve business, commerce, manufacturing, communication, research, education, and social interaction.</a:t>
            </a:r>
          </a:p>
          <a:p>
            <a:pPr lvl="0" algn="just">
              <a:buSzPct val="45000"/>
              <a:buFont typeface="StarSymbol"/>
              <a:buChar char="●"/>
            </a:pPr>
            <a:r>
              <a:rPr lang="en-US" dirty="0"/>
              <a:t>This improvement will provide us with new tools which will definitely be a vehicle for economic growth</a:t>
            </a:r>
          </a:p>
        </p:txBody>
      </p:sp>
    </p:spTree>
    <p:extLst>
      <p:ext uri="{BB962C8B-B14F-4D97-AF65-F5344CB8AC3E}">
        <p14:creationId xmlns:p14="http://schemas.microsoft.com/office/powerpoint/2010/main" val="3618006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3">
            <a:extLst>
              <a:ext uri="{FF2B5EF4-FFF2-40B4-BE49-F238E27FC236}">
                <a16:creationId xmlns:a16="http://schemas.microsoft.com/office/drawing/2014/main" id="{582FAB2D-7288-4DA9-8680-11635D4815BB}"/>
              </a:ext>
            </a:extLst>
          </p:cNvPr>
          <p:cNvSpPr>
            <a:spLocks noGrp="1"/>
          </p:cNvSpPr>
          <p:nvPr>
            <p:ph type="sldNum" sz="quarter" idx="12"/>
          </p:nvPr>
        </p:nvSpPr>
        <p:spPr>
          <a:xfrm>
            <a:off x="10571516" y="6033479"/>
            <a:ext cx="782283" cy="365125"/>
          </a:xfrm>
        </p:spPr>
        <p:txBody>
          <a:bodyPr vert="horz" lIns="91440" tIns="45720" rIns="91440" bIns="45720" rtlCol="0" anchor="ctr">
            <a:normAutofit/>
          </a:bodyPr>
          <a:lstStyle/>
          <a:p>
            <a:pPr lvl="0">
              <a:spcAft>
                <a:spcPts val="600"/>
              </a:spcAft>
            </a:pPr>
            <a:fld id="{E1B30BC3-532B-4679-B206-0F5ED8533000}" type="slidenum">
              <a:rPr lang="en-US" sz="1050">
                <a:solidFill>
                  <a:schemeClr val="tx1">
                    <a:alpha val="80000"/>
                  </a:schemeClr>
                </a:solidFill>
              </a:rPr>
              <a:pPr lvl="0">
                <a:spcAft>
                  <a:spcPts val="600"/>
                </a:spcAft>
              </a:pPr>
              <a:t>20</a:t>
            </a:fld>
            <a:endParaRPr lang="en-US" sz="1050">
              <a:solidFill>
                <a:schemeClr val="tx1">
                  <a:alpha val="80000"/>
                </a:schemeClr>
              </a:solidFill>
            </a:endParaRPr>
          </a:p>
        </p:txBody>
      </p:sp>
      <p:sp>
        <p:nvSpPr>
          <p:cNvPr id="2" name="Title 1">
            <a:extLst>
              <a:ext uri="{FF2B5EF4-FFF2-40B4-BE49-F238E27FC236}">
                <a16:creationId xmlns:a16="http://schemas.microsoft.com/office/drawing/2014/main" id="{4DD469C1-C1F3-4618-994E-4A8FF41770EE}"/>
              </a:ext>
            </a:extLst>
          </p:cNvPr>
          <p:cNvSpPr txBox="1">
            <a:spLocks noGrp="1"/>
          </p:cNvSpPr>
          <p:nvPr>
            <p:ph type="title" idx="4294967295"/>
          </p:nvPr>
        </p:nvSpPr>
        <p:spPr>
          <a:xfrm>
            <a:off x="962024" y="382588"/>
            <a:ext cx="9163051" cy="1779587"/>
          </a:xfrm>
        </p:spPr>
        <p:txBody>
          <a:bodyPr vert="horz" lIns="91440" tIns="45720" rIns="91440" bIns="45720" rtlCol="0" anchor="ctr">
            <a:normAutofit/>
          </a:bodyPr>
          <a:lstStyle/>
          <a:p>
            <a:pPr lvl="0" algn="ctr"/>
            <a:r>
              <a:rPr lang="en-US" sz="4000" b="1" dirty="0"/>
              <a:t>Why Professional Issues in IT?</a:t>
            </a:r>
            <a:endParaRPr lang="en-US" sz="4100" b="0" i="0" kern="1200" cap="all" dirty="0">
              <a:effectLst/>
              <a:latin typeface="+mj-lt"/>
              <a:ea typeface="+mj-ea"/>
              <a:cs typeface="+mj-cs"/>
            </a:endParaRPr>
          </a:p>
        </p:txBody>
      </p:sp>
      <p:sp>
        <p:nvSpPr>
          <p:cNvPr id="3" name="Text Placeholder 2">
            <a:extLst>
              <a:ext uri="{FF2B5EF4-FFF2-40B4-BE49-F238E27FC236}">
                <a16:creationId xmlns:a16="http://schemas.microsoft.com/office/drawing/2014/main" id="{D2F872BB-1E4C-436C-8C89-5AB4F1DD1CB3}"/>
              </a:ext>
            </a:extLst>
          </p:cNvPr>
          <p:cNvSpPr txBox="1">
            <a:spLocks noGrp="1"/>
          </p:cNvSpPr>
          <p:nvPr>
            <p:ph type="body" idx="4294967295"/>
          </p:nvPr>
        </p:nvSpPr>
        <p:spPr>
          <a:xfrm>
            <a:off x="1371600" y="1876425"/>
            <a:ext cx="8648700" cy="4157054"/>
          </a:xfrm>
        </p:spPr>
        <p:txBody>
          <a:bodyPr vert="horz" lIns="91440" tIns="45720" rIns="91440" bIns="45720" rtlCol="0" anchor="ctr">
            <a:normAutofit/>
          </a:bodyPr>
          <a:lstStyle/>
          <a:p>
            <a:pPr lvl="0"/>
            <a:r>
              <a:rPr lang="en-US" sz="2400" dirty="0"/>
              <a:t>Computers/IT/Software sector important for mission-critical applications </a:t>
            </a:r>
            <a:br>
              <a:rPr lang="en-US" sz="2400" dirty="0"/>
            </a:br>
            <a:r>
              <a:rPr lang="en-US" sz="2400" dirty="0"/>
              <a:t>($$$ + Life/Death involved here)</a:t>
            </a:r>
          </a:p>
          <a:p>
            <a:pPr lvl="0"/>
            <a:r>
              <a:rPr lang="en-US" sz="2400" dirty="0"/>
              <a:t>Something goes wrong, who to blame ???</a:t>
            </a:r>
          </a:p>
          <a:p>
            <a:pPr lvl="0"/>
            <a:r>
              <a:rPr lang="en-US" sz="2400" dirty="0"/>
              <a:t>Developed countries vigorously follow  Laws/Standards/Ethics, etc. related to computing</a:t>
            </a:r>
          </a:p>
          <a:p>
            <a:pPr lvl="0"/>
            <a:r>
              <a:rPr lang="en-US" sz="2400" dirty="0"/>
              <a:t>Professionals working in CS/IT with no knowledge of these aspects risk the chance of jobs, or procurement of contracts in developed countries.</a:t>
            </a:r>
          </a:p>
        </p:txBody>
      </p:sp>
    </p:spTree>
    <p:extLst>
      <p:ext uri="{BB962C8B-B14F-4D97-AF65-F5344CB8AC3E}">
        <p14:creationId xmlns:p14="http://schemas.microsoft.com/office/powerpoint/2010/main" val="20864717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9139F9-92A1-4E34-A9B2-12697CFE7885}"/>
              </a:ext>
            </a:extLst>
          </p:cNvPr>
          <p:cNvSpPr>
            <a:spLocks noGrp="1"/>
          </p:cNvSpPr>
          <p:nvPr>
            <p:ph type="title"/>
          </p:nvPr>
        </p:nvSpPr>
        <p:spPr>
          <a:xfrm>
            <a:off x="652272" y="746760"/>
            <a:ext cx="9692640" cy="1325562"/>
          </a:xfrm>
        </p:spPr>
        <p:txBody>
          <a:bodyPr>
            <a:normAutofit/>
          </a:bodyPr>
          <a:lstStyle/>
          <a:p>
            <a:pPr algn="ctr"/>
            <a:r>
              <a:rPr lang="en-GB" b="1" dirty="0"/>
              <a:t>Recent scandals in IT companies</a:t>
            </a:r>
            <a:br>
              <a:rPr lang="en-GB" b="1" dirty="0"/>
            </a:br>
            <a:endParaRPr lang="en-US" b="1" dirty="0"/>
          </a:p>
        </p:txBody>
      </p:sp>
      <p:sp>
        <p:nvSpPr>
          <p:cNvPr id="3" name="Content Placeholder 2">
            <a:extLst>
              <a:ext uri="{FF2B5EF4-FFF2-40B4-BE49-F238E27FC236}">
                <a16:creationId xmlns:a16="http://schemas.microsoft.com/office/drawing/2014/main" id="{69C70DBD-1789-45B0-ADAE-BF5D3B5EF6D9}"/>
              </a:ext>
            </a:extLst>
          </p:cNvPr>
          <p:cNvSpPr>
            <a:spLocks noGrp="1"/>
          </p:cNvSpPr>
          <p:nvPr>
            <p:ph idx="1"/>
          </p:nvPr>
        </p:nvSpPr>
        <p:spPr>
          <a:xfrm>
            <a:off x="1261872" y="2152650"/>
            <a:ext cx="8595360" cy="4027487"/>
          </a:xfrm>
        </p:spPr>
        <p:txBody>
          <a:bodyPr/>
          <a:lstStyle/>
          <a:p>
            <a:pPr lvl="1"/>
            <a:r>
              <a:rPr lang="en-GB" sz="2000" dirty="0"/>
              <a:t>Satyam Computer Services (India)</a:t>
            </a:r>
          </a:p>
          <a:p>
            <a:pPr lvl="1"/>
            <a:r>
              <a:rPr lang="en-GB" sz="2000" dirty="0"/>
              <a:t>Hewlett Packard</a:t>
            </a:r>
          </a:p>
          <a:p>
            <a:pPr lvl="1"/>
            <a:r>
              <a:rPr lang="en-GB" sz="2000" dirty="0"/>
              <a:t>Computer Associates International</a:t>
            </a:r>
          </a:p>
          <a:p>
            <a:pPr lvl="1"/>
            <a:r>
              <a:rPr lang="en-GB" sz="2000" dirty="0"/>
              <a:t>IBM</a:t>
            </a:r>
          </a:p>
          <a:p>
            <a:pPr lvl="1"/>
            <a:r>
              <a:rPr lang="en-GB" sz="2000" dirty="0"/>
              <a:t>Enron Accounting Scandal</a:t>
            </a:r>
          </a:p>
          <a:p>
            <a:pPr lvl="1"/>
            <a:endParaRPr lang="en-GB" dirty="0"/>
          </a:p>
          <a:p>
            <a:pPr lvl="1"/>
            <a:r>
              <a:rPr lang="en-GB" i="1" dirty="0"/>
              <a:t>Read it by yourself</a:t>
            </a:r>
          </a:p>
          <a:p>
            <a:endParaRPr lang="en-US" dirty="0"/>
          </a:p>
        </p:txBody>
      </p:sp>
    </p:spTree>
    <p:extLst>
      <p:ext uri="{BB962C8B-B14F-4D97-AF65-F5344CB8AC3E}">
        <p14:creationId xmlns:p14="http://schemas.microsoft.com/office/powerpoint/2010/main" val="13115381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A48E0-979D-42DA-87BB-C36A3C0DDC29}"/>
              </a:ext>
            </a:extLst>
          </p:cNvPr>
          <p:cNvSpPr>
            <a:spLocks noGrp="1"/>
          </p:cNvSpPr>
          <p:nvPr>
            <p:ph type="title"/>
          </p:nvPr>
        </p:nvSpPr>
        <p:spPr>
          <a:xfrm>
            <a:off x="661797" y="537210"/>
            <a:ext cx="9692640" cy="1325562"/>
          </a:xfrm>
        </p:spPr>
        <p:txBody>
          <a:bodyPr>
            <a:normAutofit fontScale="90000"/>
          </a:bodyPr>
          <a:lstStyle/>
          <a:p>
            <a:pPr algn="ctr"/>
            <a:r>
              <a:rPr lang="en-GB" b="1" dirty="0"/>
              <a:t>Why Fostering Good Business Ethics </a:t>
            </a:r>
            <a:br>
              <a:rPr lang="en-GB" b="1" dirty="0"/>
            </a:br>
            <a:r>
              <a:rPr lang="en-GB" b="1" dirty="0"/>
              <a:t>Is Important?</a:t>
            </a:r>
            <a:endParaRPr lang="en-US" b="1" dirty="0"/>
          </a:p>
        </p:txBody>
      </p:sp>
      <p:sp>
        <p:nvSpPr>
          <p:cNvPr id="3" name="Content Placeholder 2">
            <a:extLst>
              <a:ext uri="{FF2B5EF4-FFF2-40B4-BE49-F238E27FC236}">
                <a16:creationId xmlns:a16="http://schemas.microsoft.com/office/drawing/2014/main" id="{BE38CF25-88C3-4176-ABD7-5E1608BF1172}"/>
              </a:ext>
            </a:extLst>
          </p:cNvPr>
          <p:cNvSpPr>
            <a:spLocks noGrp="1"/>
          </p:cNvSpPr>
          <p:nvPr>
            <p:ph idx="1"/>
          </p:nvPr>
        </p:nvSpPr>
        <p:spPr>
          <a:xfrm>
            <a:off x="1261872" y="2228850"/>
            <a:ext cx="8595360" cy="3951287"/>
          </a:xfrm>
        </p:spPr>
        <p:txBody>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To gain the good will of the community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To create an organization that operates consistently</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To foster good business practices</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To protect organization/employees from legal action</a:t>
            </a:r>
          </a:p>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To avoid </a:t>
            </a:r>
            <a:r>
              <a:rPr lang="en-US" sz="2000" dirty="0"/>
              <a:t>unfavorable</a:t>
            </a:r>
            <a:r>
              <a:rPr lang="en-GB" sz="2000" dirty="0"/>
              <a:t> publicity</a:t>
            </a:r>
          </a:p>
          <a:p>
            <a:endParaRPr lang="en-US" dirty="0"/>
          </a:p>
        </p:txBody>
      </p:sp>
    </p:spTree>
    <p:extLst>
      <p:ext uri="{BB962C8B-B14F-4D97-AF65-F5344CB8AC3E}">
        <p14:creationId xmlns:p14="http://schemas.microsoft.com/office/powerpoint/2010/main" val="2050749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6D8DC-8D5D-42C9-856F-88CAF84C743A}"/>
              </a:ext>
            </a:extLst>
          </p:cNvPr>
          <p:cNvSpPr>
            <a:spLocks noGrp="1"/>
          </p:cNvSpPr>
          <p:nvPr>
            <p:ph type="title"/>
          </p:nvPr>
        </p:nvSpPr>
        <p:spPr>
          <a:xfrm>
            <a:off x="871347" y="594360"/>
            <a:ext cx="9692640" cy="1325562"/>
          </a:xfrm>
        </p:spPr>
        <p:txBody>
          <a:bodyPr/>
          <a:lstStyle/>
          <a:p>
            <a:pPr algn="ctr"/>
            <a:r>
              <a:rPr lang="en-US" b="1" dirty="0"/>
              <a:t>Microsoft’s statement of values</a:t>
            </a:r>
          </a:p>
        </p:txBody>
      </p:sp>
      <p:pic>
        <p:nvPicPr>
          <p:cNvPr id="4" name="Picture 2">
            <a:extLst>
              <a:ext uri="{FF2B5EF4-FFF2-40B4-BE49-F238E27FC236}">
                <a16:creationId xmlns:a16="http://schemas.microsoft.com/office/drawing/2014/main" id="{A1BED20E-9E3E-44F8-BD0A-CA193F2163D0}"/>
              </a:ext>
            </a:extLst>
          </p:cNvPr>
          <p:cNvPicPr>
            <a:picLocks noGrp="1" noChangeAspect="1" noChangeArrowheads="1"/>
          </p:cNvPicPr>
          <p:nvPr>
            <p:ph idx="1"/>
          </p:nvPr>
        </p:nvPicPr>
        <p:blipFill>
          <a:blip r:embed="rId2"/>
          <a:stretch>
            <a:fillRect/>
          </a:stretch>
        </p:blipFill>
        <p:spPr bwMode="auto">
          <a:xfrm>
            <a:off x="2187575" y="2971006"/>
            <a:ext cx="6743700" cy="2066925"/>
          </a:xfrm>
          <a:prstGeom prst="rect">
            <a:avLst/>
          </a:prstGeom>
          <a:noFill/>
          <a:ln w="9525">
            <a:noFill/>
            <a:miter lim="800000"/>
            <a:headEnd/>
            <a:tailEnd/>
          </a:ln>
          <a:effectLst/>
        </p:spPr>
      </p:pic>
    </p:spTree>
    <p:extLst>
      <p:ext uri="{BB962C8B-B14F-4D97-AF65-F5344CB8AC3E}">
        <p14:creationId xmlns:p14="http://schemas.microsoft.com/office/powerpoint/2010/main" val="35986048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8A807A-5921-4DAA-8B50-669EF7EB6A28}"/>
              </a:ext>
            </a:extLst>
          </p:cNvPr>
          <p:cNvSpPr>
            <a:spLocks noGrp="1"/>
          </p:cNvSpPr>
          <p:nvPr>
            <p:ph type="title"/>
          </p:nvPr>
        </p:nvSpPr>
        <p:spPr>
          <a:xfrm>
            <a:off x="713232" y="375285"/>
            <a:ext cx="9692640" cy="1325562"/>
          </a:xfrm>
        </p:spPr>
        <p:txBody>
          <a:bodyPr>
            <a:normAutofit fontScale="90000"/>
          </a:bodyPr>
          <a:lstStyle/>
          <a:p>
            <a:pPr algn="ctr"/>
            <a:r>
              <a:rPr lang="en-GB" b="1" dirty="0"/>
              <a:t>Corporate ethics/Compliance officer</a:t>
            </a:r>
            <a:br>
              <a:rPr lang="en-GB" b="1" dirty="0"/>
            </a:br>
            <a:endParaRPr lang="en-US" b="1" dirty="0"/>
          </a:p>
        </p:txBody>
      </p:sp>
      <p:sp>
        <p:nvSpPr>
          <p:cNvPr id="3" name="Content Placeholder 2">
            <a:extLst>
              <a:ext uri="{FF2B5EF4-FFF2-40B4-BE49-F238E27FC236}">
                <a16:creationId xmlns:a16="http://schemas.microsoft.com/office/drawing/2014/main" id="{902313DC-BB39-41D6-A3E8-72A03DB1857D}"/>
              </a:ext>
            </a:extLst>
          </p:cNvPr>
          <p:cNvSpPr>
            <a:spLocks noGrp="1"/>
          </p:cNvSpPr>
          <p:nvPr>
            <p:ph idx="1"/>
          </p:nvPr>
        </p:nvSpPr>
        <p:spPr/>
        <p:txBody>
          <a:bodyPr>
            <a:normAutofit/>
          </a:bodyPr>
          <a:lstStyle/>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Provides vision and leadership in business conduct</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Should be well-respected, senior-level manager who reports directly to the CEO</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Ensures ethical procedures are put in place</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Creates and maintains ethics culture</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Is responsible for key knowledge/contact person for ethical issues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CEO has :</a:t>
            </a:r>
          </a:p>
          <a:p>
            <a:pPr marL="914400" lvl="1" indent="-225425">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a:t>Responsibility for compliance</a:t>
            </a:r>
          </a:p>
          <a:p>
            <a:pPr marL="914400" lvl="1" indent="-225425">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a:t>Responsibility for creating and maintaining the ethics culture</a:t>
            </a:r>
          </a:p>
          <a:p>
            <a:pPr marL="914400" lvl="1" indent="-225425">
              <a:tabLst>
                <a:tab pos="911225" algn="l"/>
                <a:tab pos="1825625" algn="l"/>
                <a:tab pos="2740025" algn="l"/>
                <a:tab pos="3654425" algn="l"/>
                <a:tab pos="4568825" algn="l"/>
                <a:tab pos="5483225" algn="l"/>
                <a:tab pos="6397625" algn="l"/>
                <a:tab pos="7312025" algn="l"/>
                <a:tab pos="8226425" algn="l"/>
                <a:tab pos="9140825" algn="l"/>
                <a:tab pos="10055225" algn="l"/>
              </a:tabLst>
            </a:pPr>
            <a:r>
              <a:rPr lang="en-US" sz="2000" b="1" dirty="0"/>
              <a:t>Responsibility for being a key knowledge and contact person</a:t>
            </a:r>
            <a:endParaRPr lang="en-GB" sz="2000" dirty="0"/>
          </a:p>
          <a:p>
            <a:pPr marL="0" indent="0">
              <a:buNone/>
            </a:pPr>
            <a:endParaRPr lang="en-US" dirty="0"/>
          </a:p>
        </p:txBody>
      </p:sp>
    </p:spTree>
    <p:extLst>
      <p:ext uri="{BB962C8B-B14F-4D97-AF65-F5344CB8AC3E}">
        <p14:creationId xmlns:p14="http://schemas.microsoft.com/office/powerpoint/2010/main" val="7401509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9BAE4C-2039-4601-9CCE-734C03066D13}"/>
              </a:ext>
            </a:extLst>
          </p:cNvPr>
          <p:cNvSpPr>
            <a:spLocks noGrp="1"/>
          </p:cNvSpPr>
          <p:nvPr>
            <p:ph type="title"/>
          </p:nvPr>
        </p:nvSpPr>
        <p:spPr>
          <a:xfrm>
            <a:off x="423672" y="375285"/>
            <a:ext cx="9692640" cy="1120140"/>
          </a:xfrm>
        </p:spPr>
        <p:txBody>
          <a:bodyPr/>
          <a:lstStyle/>
          <a:p>
            <a:pPr algn="ctr"/>
            <a:r>
              <a:rPr lang="en-US" b="1" dirty="0"/>
              <a:t>Code of Ethics</a:t>
            </a:r>
          </a:p>
        </p:txBody>
      </p:sp>
      <p:sp>
        <p:nvSpPr>
          <p:cNvPr id="3" name="Content Placeholder 2">
            <a:extLst>
              <a:ext uri="{FF2B5EF4-FFF2-40B4-BE49-F238E27FC236}">
                <a16:creationId xmlns:a16="http://schemas.microsoft.com/office/drawing/2014/main" id="{C84E22CC-4382-4BB2-9329-844F317BC7FB}"/>
              </a:ext>
            </a:extLst>
          </p:cNvPr>
          <p:cNvSpPr>
            <a:spLocks noGrp="1"/>
          </p:cNvSpPr>
          <p:nvPr>
            <p:ph idx="1"/>
          </p:nvPr>
        </p:nvSpPr>
        <p:spPr/>
        <p:txBody>
          <a:bodyPr>
            <a:normAutofit/>
          </a:bodyPr>
          <a:lstStyle/>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Highlights an organization’s key ethical issues </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Identifies overarching values and important principles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Focuses employees on areas of ethical risk</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Offers guidance for employees to recognize and deal with ethical issues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Provides mechanisms to report unethical conduct</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Help employees abide by the law, follow necessary regulations, and behave in an ethical manner</a:t>
            </a:r>
          </a:p>
          <a:p>
            <a:pPr marL="0" indent="0">
              <a:buNone/>
            </a:pPr>
            <a:endParaRPr lang="en-US" sz="2000" dirty="0"/>
          </a:p>
        </p:txBody>
      </p:sp>
    </p:spTree>
    <p:extLst>
      <p:ext uri="{BB962C8B-B14F-4D97-AF65-F5344CB8AC3E}">
        <p14:creationId xmlns:p14="http://schemas.microsoft.com/office/powerpoint/2010/main" val="21885615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824BD-033F-4A85-9872-0D35C63C1EBE}"/>
              </a:ext>
            </a:extLst>
          </p:cNvPr>
          <p:cNvSpPr>
            <a:spLocks noGrp="1"/>
          </p:cNvSpPr>
          <p:nvPr>
            <p:ph type="title"/>
          </p:nvPr>
        </p:nvSpPr>
        <p:spPr>
          <a:xfrm>
            <a:off x="297473" y="713621"/>
            <a:ext cx="9694252" cy="930447"/>
          </a:xfrm>
        </p:spPr>
        <p:txBody>
          <a:bodyPr vert="horz" lIns="91440" tIns="45720" rIns="91440" bIns="45720" rtlCol="0" anchor="b">
            <a:normAutofit/>
          </a:bodyPr>
          <a:lstStyle/>
          <a:p>
            <a:pPr algn="ctr"/>
            <a:r>
              <a:rPr lang="en-US" sz="5400" kern="1200" dirty="0">
                <a:latin typeface="+mj-lt"/>
                <a:ea typeface="+mj-ea"/>
                <a:cs typeface="+mj-cs"/>
              </a:rPr>
              <a:t>Intel Code of Ethics </a:t>
            </a:r>
          </a:p>
        </p:txBody>
      </p:sp>
      <p:pic>
        <p:nvPicPr>
          <p:cNvPr id="4" name="Picture 7" descr="A screenshot of a cell phone&#10;&#10;Description automatically generated">
            <a:extLst>
              <a:ext uri="{FF2B5EF4-FFF2-40B4-BE49-F238E27FC236}">
                <a16:creationId xmlns:a16="http://schemas.microsoft.com/office/drawing/2014/main" id="{17C7459E-3AA8-4FF2-A1C5-D58880E65440}"/>
              </a:ext>
            </a:extLst>
          </p:cNvPr>
          <p:cNvPicPr>
            <a:picLocks noGrp="1" noChangeAspect="1" noChangeArrowheads="1"/>
          </p:cNvPicPr>
          <p:nvPr>
            <p:ph idx="1"/>
          </p:nvPr>
        </p:nvPicPr>
        <p:blipFill>
          <a:blip r:embed="rId2" cstate="print"/>
          <a:stretch>
            <a:fillRect/>
          </a:stretch>
        </p:blipFill>
        <p:spPr bwMode="auto">
          <a:xfrm>
            <a:off x="1243013" y="2452105"/>
            <a:ext cx="8594725" cy="2418927"/>
          </a:xfrm>
          <a:prstGeom prst="rect">
            <a:avLst/>
          </a:prstGeom>
          <a:noFill/>
        </p:spPr>
      </p:pic>
    </p:spTree>
    <p:extLst>
      <p:ext uri="{BB962C8B-B14F-4D97-AF65-F5344CB8AC3E}">
        <p14:creationId xmlns:p14="http://schemas.microsoft.com/office/powerpoint/2010/main" val="32737043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2C53F-F369-453E-921A-065D0D36030B}"/>
              </a:ext>
            </a:extLst>
          </p:cNvPr>
          <p:cNvSpPr>
            <a:spLocks noGrp="1"/>
          </p:cNvSpPr>
          <p:nvPr>
            <p:ph type="title"/>
          </p:nvPr>
        </p:nvSpPr>
        <p:spPr>
          <a:xfrm>
            <a:off x="795147" y="503238"/>
            <a:ext cx="9692640" cy="1325562"/>
          </a:xfrm>
        </p:spPr>
        <p:txBody>
          <a:bodyPr/>
          <a:lstStyle/>
          <a:p>
            <a:pPr algn="ctr"/>
            <a:r>
              <a:rPr lang="en-US" b="1" dirty="0"/>
              <a:t>Code of Ethics and Professional Conduct</a:t>
            </a:r>
          </a:p>
        </p:txBody>
      </p:sp>
      <p:sp>
        <p:nvSpPr>
          <p:cNvPr id="3" name="Content Placeholder 2">
            <a:extLst>
              <a:ext uri="{FF2B5EF4-FFF2-40B4-BE49-F238E27FC236}">
                <a16:creationId xmlns:a16="http://schemas.microsoft.com/office/drawing/2014/main" id="{C494B6E5-550F-46D5-9A22-70A13DCC731A}"/>
              </a:ext>
            </a:extLst>
          </p:cNvPr>
          <p:cNvSpPr>
            <a:spLocks noGrp="1"/>
          </p:cNvSpPr>
          <p:nvPr>
            <p:ph idx="1"/>
          </p:nvPr>
        </p:nvSpPr>
        <p:spPr/>
        <p:txBody>
          <a:bodyPr>
            <a:normAutofit fontScale="92500" lnSpcReduction="20000"/>
          </a:bodyPr>
          <a:lstStyle/>
          <a:p>
            <a:r>
              <a:rPr lang="en-US" sz="2400" dirty="0"/>
              <a:t>A good example of a code of ethics is the </a:t>
            </a:r>
            <a:r>
              <a:rPr lang="en-US" sz="2400" i="1" u="sng" dirty="0"/>
              <a:t>Code of Ethics and Professional Conduct</a:t>
            </a:r>
            <a:r>
              <a:rPr lang="en-US" sz="2400" i="1" dirty="0"/>
              <a:t> </a:t>
            </a:r>
            <a:r>
              <a:rPr lang="en-US" sz="2400" dirty="0"/>
              <a:t>of the Association for Computing Machinery, an organization of computing professionals that includes academics, researchers, and practitioners/</a:t>
            </a:r>
          </a:p>
          <a:p>
            <a:pPr lvl="0"/>
            <a:r>
              <a:rPr lang="en-US" dirty="0"/>
              <a:t>No one should enter or use another’s computer system, software, or data files without permission. One must always have appropriate approval before using system resources, including communication ports, file space, other system peripherals, and computer time.</a:t>
            </a:r>
          </a:p>
          <a:p>
            <a:pPr lvl="0"/>
            <a:r>
              <a:rPr lang="en-US" dirty="0"/>
              <a:t>Designing or implementing systems that deliberately or inadvertently demean individuals or groups is ethically unacceptable.</a:t>
            </a:r>
          </a:p>
          <a:p>
            <a:pPr lvl="0"/>
            <a:r>
              <a:rPr lang="en-US" dirty="0"/>
              <a:t>Organizational leaders are responsible for ensuring that computer systems enhance, not degrade, the quality of working life. When implementing a computer system, organizations must consider the personal and professional development, physical safety, and human dignity of all workers. Appropriate human-computer ergonomic standards should be considered in system design and in the workplace.</a:t>
            </a:r>
          </a:p>
          <a:p>
            <a:endParaRPr lang="en-US" sz="2400" dirty="0"/>
          </a:p>
        </p:txBody>
      </p:sp>
    </p:spTree>
    <p:extLst>
      <p:ext uri="{BB962C8B-B14F-4D97-AF65-F5344CB8AC3E}">
        <p14:creationId xmlns:p14="http://schemas.microsoft.com/office/powerpoint/2010/main" val="695983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C0E7C-0CB4-460A-90C9-314B26BF8D46}"/>
              </a:ext>
            </a:extLst>
          </p:cNvPr>
          <p:cNvSpPr>
            <a:spLocks noGrp="1"/>
          </p:cNvSpPr>
          <p:nvPr>
            <p:ph type="title"/>
          </p:nvPr>
        </p:nvSpPr>
        <p:spPr>
          <a:xfrm>
            <a:off x="718947" y="365126"/>
            <a:ext cx="9692640" cy="987424"/>
          </a:xfrm>
        </p:spPr>
        <p:txBody>
          <a:bodyPr/>
          <a:lstStyle/>
          <a:p>
            <a:pPr algn="ctr"/>
            <a:r>
              <a:rPr lang="en-US" b="1" dirty="0"/>
              <a:t>Acceptable Use Policies</a:t>
            </a:r>
            <a:endParaRPr lang="en-US" dirty="0"/>
          </a:p>
        </p:txBody>
      </p:sp>
      <p:sp>
        <p:nvSpPr>
          <p:cNvPr id="3" name="Content Placeholder 2">
            <a:extLst>
              <a:ext uri="{FF2B5EF4-FFF2-40B4-BE49-F238E27FC236}">
                <a16:creationId xmlns:a16="http://schemas.microsoft.com/office/drawing/2014/main" id="{6EE0E05D-EBCE-4F11-83EA-2C8B25625BB7}"/>
              </a:ext>
            </a:extLst>
          </p:cNvPr>
          <p:cNvSpPr>
            <a:spLocks noGrp="1"/>
          </p:cNvSpPr>
          <p:nvPr>
            <p:ph idx="1"/>
          </p:nvPr>
        </p:nvSpPr>
        <p:spPr>
          <a:xfrm>
            <a:off x="1000125" y="1890713"/>
            <a:ext cx="9411462" cy="4486275"/>
          </a:xfrm>
        </p:spPr>
        <p:txBody>
          <a:bodyPr>
            <a:normAutofit/>
          </a:bodyPr>
          <a:lstStyle/>
          <a:p>
            <a:r>
              <a:rPr lang="en-US" sz="2000" dirty="0"/>
              <a:t>Many organizations that provide technology services to a group of constituents or the public require agreement to an acceptable use policy (AUP) before those services can be accessed.</a:t>
            </a:r>
          </a:p>
          <a:p>
            <a:r>
              <a:rPr lang="en-US" sz="2000" dirty="0"/>
              <a:t> Similar to a code of ethics, this policy outlines what is allowed and what is not allowed while someone is using the organization’s services.</a:t>
            </a:r>
          </a:p>
          <a:p>
            <a:pPr marL="463550" lvl="0"/>
            <a:r>
              <a:rPr lang="en-US" sz="2000" dirty="0"/>
              <a:t>“Borrowing” someone else’s login ID and password is prohibited.</a:t>
            </a:r>
          </a:p>
          <a:p>
            <a:pPr marL="463550" lvl="0"/>
            <a:r>
              <a:rPr lang="en-US" sz="2000" dirty="0"/>
              <a:t>Using the provided access for commercial purposes, such as hosting your own business website, is not allowed.</a:t>
            </a:r>
          </a:p>
          <a:p>
            <a:pPr marL="463550" lvl="0"/>
            <a:r>
              <a:rPr lang="en-US" sz="2000" dirty="0"/>
              <a:t>Sending out unsolicited email to a large group of people is prohibited.</a:t>
            </a:r>
          </a:p>
          <a:p>
            <a:endParaRPr lang="en-US" dirty="0"/>
          </a:p>
        </p:txBody>
      </p:sp>
    </p:spTree>
    <p:extLst>
      <p:ext uri="{BB962C8B-B14F-4D97-AF65-F5344CB8AC3E}">
        <p14:creationId xmlns:p14="http://schemas.microsoft.com/office/powerpoint/2010/main" val="403766475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1C85FE-1655-40A8-906E-185A848836C4}"/>
              </a:ext>
            </a:extLst>
          </p:cNvPr>
          <p:cNvSpPr>
            <a:spLocks noGrp="1"/>
          </p:cNvSpPr>
          <p:nvPr>
            <p:ph type="title"/>
          </p:nvPr>
        </p:nvSpPr>
        <p:spPr>
          <a:xfrm>
            <a:off x="404622" y="308610"/>
            <a:ext cx="9692640" cy="1034415"/>
          </a:xfrm>
        </p:spPr>
        <p:txBody>
          <a:bodyPr/>
          <a:lstStyle/>
          <a:p>
            <a:pPr algn="ctr"/>
            <a:r>
              <a:rPr lang="en-US" b="1" dirty="0"/>
              <a:t>Ethics in IT</a:t>
            </a:r>
          </a:p>
        </p:txBody>
      </p:sp>
      <p:sp>
        <p:nvSpPr>
          <p:cNvPr id="3" name="Content Placeholder 2">
            <a:extLst>
              <a:ext uri="{FF2B5EF4-FFF2-40B4-BE49-F238E27FC236}">
                <a16:creationId xmlns:a16="http://schemas.microsoft.com/office/drawing/2014/main" id="{9D5F77B5-0D5B-4935-AB1C-63D0CD332521}"/>
              </a:ext>
            </a:extLst>
          </p:cNvPr>
          <p:cNvSpPr>
            <a:spLocks noGrp="1"/>
          </p:cNvSpPr>
          <p:nvPr>
            <p:ph idx="1"/>
          </p:nvPr>
        </p:nvSpPr>
        <p:spPr/>
        <p:txBody>
          <a:bodyPr>
            <a:normAutofit/>
          </a:bodyPr>
          <a:lstStyle/>
          <a:p>
            <a:pPr>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Public concern about the ethical use of information technology includes: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E-mail and Internet access monitoring</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Downloading in violation of copyright laws</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Unsolicited e-mail (spam)</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Hackers and identify theft</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Students and plagiarism</a:t>
            </a:r>
          </a:p>
          <a:p>
            <a:pPr lvl="1">
              <a:tabLst>
                <a:tab pos="911225" algn="l"/>
                <a:tab pos="1825625" algn="l"/>
                <a:tab pos="2740025" algn="l"/>
                <a:tab pos="3654425" algn="l"/>
                <a:tab pos="4568825" algn="l"/>
                <a:tab pos="5483225" algn="l"/>
                <a:tab pos="6397625" algn="l"/>
                <a:tab pos="7312025" algn="l"/>
                <a:tab pos="8226425" algn="l"/>
                <a:tab pos="9140825" algn="l"/>
                <a:tab pos="10055225" algn="l"/>
              </a:tabLst>
            </a:pPr>
            <a:r>
              <a:rPr lang="en-GB" sz="2000" dirty="0"/>
              <a:t>Cookies and spyware</a:t>
            </a:r>
          </a:p>
          <a:p>
            <a:endParaRPr lang="en-US" dirty="0"/>
          </a:p>
        </p:txBody>
      </p:sp>
    </p:spTree>
    <p:extLst>
      <p:ext uri="{BB962C8B-B14F-4D97-AF65-F5344CB8AC3E}">
        <p14:creationId xmlns:p14="http://schemas.microsoft.com/office/powerpoint/2010/main" val="350901919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56F6D7-B324-43DA-AE11-2C84DC6005DA}"/>
              </a:ext>
            </a:extLst>
          </p:cNvPr>
          <p:cNvSpPr>
            <a:spLocks noGrp="1"/>
          </p:cNvSpPr>
          <p:nvPr>
            <p:ph type="title"/>
          </p:nvPr>
        </p:nvSpPr>
        <p:spPr>
          <a:xfrm>
            <a:off x="2319130" y="2361233"/>
            <a:ext cx="6253370" cy="1325563"/>
          </a:xfrm>
        </p:spPr>
        <p:txBody>
          <a:bodyPr>
            <a:normAutofit/>
          </a:bodyPr>
          <a:lstStyle/>
          <a:p>
            <a:r>
              <a:rPr lang="en-US" dirty="0"/>
              <a:t>Ethics &amp; Morality in Islam</a:t>
            </a:r>
          </a:p>
        </p:txBody>
      </p:sp>
    </p:spTree>
    <p:extLst>
      <p:ext uri="{BB962C8B-B14F-4D97-AF65-F5344CB8AC3E}">
        <p14:creationId xmlns:p14="http://schemas.microsoft.com/office/powerpoint/2010/main" val="3533662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9E1A9B9-15D9-4FC4-9595-98422FA401F7}"/>
              </a:ext>
            </a:extLst>
          </p:cNvPr>
          <p:cNvPicPr>
            <a:picLocks noChangeAspect="1"/>
          </p:cNvPicPr>
          <p:nvPr/>
        </p:nvPicPr>
        <p:blipFill>
          <a:blip r:embed="rId2"/>
          <a:stretch>
            <a:fillRect/>
          </a:stretch>
        </p:blipFill>
        <p:spPr>
          <a:xfrm>
            <a:off x="641180" y="1168463"/>
            <a:ext cx="5845345" cy="4535134"/>
          </a:xfrm>
          <a:prstGeom prst="rect">
            <a:avLst/>
          </a:prstGeom>
        </p:spPr>
      </p:pic>
      <p:pic>
        <p:nvPicPr>
          <p:cNvPr id="8" name="Picture 7">
            <a:extLst>
              <a:ext uri="{FF2B5EF4-FFF2-40B4-BE49-F238E27FC236}">
                <a16:creationId xmlns:a16="http://schemas.microsoft.com/office/drawing/2014/main" id="{53B581E2-08B0-415A-A547-FA4DD87F3845}"/>
              </a:ext>
            </a:extLst>
          </p:cNvPr>
          <p:cNvPicPr>
            <a:picLocks noChangeAspect="1"/>
          </p:cNvPicPr>
          <p:nvPr/>
        </p:nvPicPr>
        <p:blipFill>
          <a:blip r:embed="rId3"/>
          <a:stretch>
            <a:fillRect/>
          </a:stretch>
        </p:blipFill>
        <p:spPr>
          <a:xfrm>
            <a:off x="7219622" y="960377"/>
            <a:ext cx="3794104" cy="2475653"/>
          </a:xfrm>
          <a:prstGeom prst="rect">
            <a:avLst/>
          </a:prstGeom>
        </p:spPr>
      </p:pic>
      <p:pic>
        <p:nvPicPr>
          <p:cNvPr id="5" name="Picture 4">
            <a:extLst>
              <a:ext uri="{FF2B5EF4-FFF2-40B4-BE49-F238E27FC236}">
                <a16:creationId xmlns:a16="http://schemas.microsoft.com/office/drawing/2014/main" id="{7FC7A433-1F9C-474F-A1F1-09E564A75299}"/>
              </a:ext>
            </a:extLst>
          </p:cNvPr>
          <p:cNvPicPr>
            <a:picLocks noChangeAspect="1"/>
          </p:cNvPicPr>
          <p:nvPr/>
        </p:nvPicPr>
        <p:blipFill>
          <a:blip r:embed="rId4"/>
          <a:stretch>
            <a:fillRect/>
          </a:stretch>
        </p:blipFill>
        <p:spPr>
          <a:xfrm>
            <a:off x="7189201" y="3712327"/>
            <a:ext cx="3854945" cy="2467164"/>
          </a:xfrm>
          <a:prstGeom prst="rect">
            <a:avLst/>
          </a:prstGeom>
        </p:spPr>
      </p:pic>
    </p:spTree>
    <p:extLst>
      <p:ext uri="{BB962C8B-B14F-4D97-AF65-F5344CB8AC3E}">
        <p14:creationId xmlns:p14="http://schemas.microsoft.com/office/powerpoint/2010/main" val="188977612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CF64B09C-8F64-4540-A315-902F90FD8D5B}"/>
              </a:ext>
            </a:extLst>
          </p:cNvPr>
          <p:cNvPicPr>
            <a:picLocks noChangeAspect="1"/>
          </p:cNvPicPr>
          <p:nvPr/>
        </p:nvPicPr>
        <p:blipFill>
          <a:blip r:embed="rId2"/>
          <a:stretch>
            <a:fillRect/>
          </a:stretch>
        </p:blipFill>
        <p:spPr>
          <a:xfrm>
            <a:off x="5697135" y="1780123"/>
            <a:ext cx="5129784" cy="3488253"/>
          </a:xfrm>
          <a:prstGeom prst="rect">
            <a:avLst/>
          </a:prstGeom>
        </p:spPr>
      </p:pic>
      <p:pic>
        <p:nvPicPr>
          <p:cNvPr id="3" name="Picture 2">
            <a:extLst>
              <a:ext uri="{FF2B5EF4-FFF2-40B4-BE49-F238E27FC236}">
                <a16:creationId xmlns:a16="http://schemas.microsoft.com/office/drawing/2014/main" id="{1BA1C27A-BA3A-4575-A09C-326E7DAF7612}"/>
              </a:ext>
            </a:extLst>
          </p:cNvPr>
          <p:cNvPicPr>
            <a:picLocks noChangeAspect="1"/>
          </p:cNvPicPr>
          <p:nvPr/>
        </p:nvPicPr>
        <p:blipFill>
          <a:blip r:embed="rId3"/>
          <a:stretch>
            <a:fillRect/>
          </a:stretch>
        </p:blipFill>
        <p:spPr>
          <a:xfrm>
            <a:off x="641180" y="1691286"/>
            <a:ext cx="4911895" cy="3475428"/>
          </a:xfrm>
          <a:prstGeom prst="rect">
            <a:avLst/>
          </a:prstGeom>
        </p:spPr>
      </p:pic>
    </p:spTree>
    <p:extLst>
      <p:ext uri="{BB962C8B-B14F-4D97-AF65-F5344CB8AC3E}">
        <p14:creationId xmlns:p14="http://schemas.microsoft.com/office/powerpoint/2010/main" val="1226457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C1B8D7A-5FDA-4EEC-BC25-5E34F221591C}"/>
              </a:ext>
            </a:extLst>
          </p:cNvPr>
          <p:cNvPicPr>
            <a:picLocks noChangeAspect="1"/>
          </p:cNvPicPr>
          <p:nvPr/>
        </p:nvPicPr>
        <p:blipFill>
          <a:blip r:embed="rId2"/>
          <a:stretch>
            <a:fillRect/>
          </a:stretch>
        </p:blipFill>
        <p:spPr>
          <a:xfrm>
            <a:off x="641180" y="1466850"/>
            <a:ext cx="6144117" cy="4116557"/>
          </a:xfrm>
          <a:prstGeom prst="rect">
            <a:avLst/>
          </a:prstGeom>
        </p:spPr>
      </p:pic>
      <p:pic>
        <p:nvPicPr>
          <p:cNvPr id="2" name="Picture 1">
            <a:extLst>
              <a:ext uri="{FF2B5EF4-FFF2-40B4-BE49-F238E27FC236}">
                <a16:creationId xmlns:a16="http://schemas.microsoft.com/office/drawing/2014/main" id="{DAED8E3A-82B4-462C-BA5C-1B6219DB6D0D}"/>
              </a:ext>
            </a:extLst>
          </p:cNvPr>
          <p:cNvPicPr>
            <a:picLocks noChangeAspect="1"/>
          </p:cNvPicPr>
          <p:nvPr/>
        </p:nvPicPr>
        <p:blipFill>
          <a:blip r:embed="rId3"/>
          <a:stretch>
            <a:fillRect/>
          </a:stretch>
        </p:blipFill>
        <p:spPr>
          <a:xfrm>
            <a:off x="7314277" y="814917"/>
            <a:ext cx="3722786" cy="2475653"/>
          </a:xfrm>
          <a:prstGeom prst="rect">
            <a:avLst/>
          </a:prstGeom>
        </p:spPr>
      </p:pic>
      <p:pic>
        <p:nvPicPr>
          <p:cNvPr id="3" name="Picture 2">
            <a:extLst>
              <a:ext uri="{FF2B5EF4-FFF2-40B4-BE49-F238E27FC236}">
                <a16:creationId xmlns:a16="http://schemas.microsoft.com/office/drawing/2014/main" id="{C0122FD0-3B00-4A7C-9650-A421A78E9075}"/>
              </a:ext>
            </a:extLst>
          </p:cNvPr>
          <p:cNvPicPr>
            <a:picLocks noChangeAspect="1"/>
          </p:cNvPicPr>
          <p:nvPr/>
        </p:nvPicPr>
        <p:blipFill>
          <a:blip r:embed="rId4"/>
          <a:stretch>
            <a:fillRect/>
          </a:stretch>
        </p:blipFill>
        <p:spPr>
          <a:xfrm>
            <a:off x="7388948" y="3719619"/>
            <a:ext cx="3744895" cy="2471631"/>
          </a:xfrm>
          <a:prstGeom prst="rect">
            <a:avLst/>
          </a:prstGeom>
        </p:spPr>
      </p:pic>
    </p:spTree>
    <p:extLst>
      <p:ext uri="{BB962C8B-B14F-4D97-AF65-F5344CB8AC3E}">
        <p14:creationId xmlns:p14="http://schemas.microsoft.com/office/powerpoint/2010/main" val="201484064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F081A82-3C81-464D-A0D8-5AF910D29526}"/>
              </a:ext>
            </a:extLst>
          </p:cNvPr>
          <p:cNvPicPr>
            <a:picLocks noChangeAspect="1"/>
          </p:cNvPicPr>
          <p:nvPr/>
        </p:nvPicPr>
        <p:blipFill rotWithShape="1">
          <a:blip r:embed="rId2"/>
          <a:srcRect t="598" r="4" b="4"/>
          <a:stretch/>
        </p:blipFill>
        <p:spPr>
          <a:xfrm>
            <a:off x="641276" y="857249"/>
            <a:ext cx="3695574" cy="2488775"/>
          </a:xfrm>
          <a:prstGeom prst="rect">
            <a:avLst/>
          </a:prstGeom>
        </p:spPr>
      </p:pic>
      <p:pic>
        <p:nvPicPr>
          <p:cNvPr id="2" name="Picture 1">
            <a:extLst>
              <a:ext uri="{FF2B5EF4-FFF2-40B4-BE49-F238E27FC236}">
                <a16:creationId xmlns:a16="http://schemas.microsoft.com/office/drawing/2014/main" id="{5E9D6846-1977-46ED-853F-74AD279FD9F8}"/>
              </a:ext>
            </a:extLst>
          </p:cNvPr>
          <p:cNvPicPr>
            <a:picLocks noChangeAspect="1"/>
          </p:cNvPicPr>
          <p:nvPr/>
        </p:nvPicPr>
        <p:blipFill rotWithShape="1">
          <a:blip r:embed="rId3"/>
          <a:srcRect r="1405" b="4"/>
          <a:stretch/>
        </p:blipFill>
        <p:spPr>
          <a:xfrm>
            <a:off x="643467" y="3725757"/>
            <a:ext cx="3690088" cy="2488775"/>
          </a:xfrm>
          <a:prstGeom prst="rect">
            <a:avLst/>
          </a:prstGeom>
        </p:spPr>
      </p:pic>
      <p:pic>
        <p:nvPicPr>
          <p:cNvPr id="4" name="Picture 3">
            <a:extLst>
              <a:ext uri="{FF2B5EF4-FFF2-40B4-BE49-F238E27FC236}">
                <a16:creationId xmlns:a16="http://schemas.microsoft.com/office/drawing/2014/main" id="{850C9387-3B08-4201-AF81-74E8BB9B2CE7}"/>
              </a:ext>
            </a:extLst>
          </p:cNvPr>
          <p:cNvPicPr>
            <a:picLocks noChangeAspect="1"/>
          </p:cNvPicPr>
          <p:nvPr/>
        </p:nvPicPr>
        <p:blipFill rotWithShape="1">
          <a:blip r:embed="rId4"/>
          <a:srcRect l="7080" r="12819" b="1"/>
          <a:stretch/>
        </p:blipFill>
        <p:spPr>
          <a:xfrm>
            <a:off x="4812633" y="1428749"/>
            <a:ext cx="5969667" cy="4785783"/>
          </a:xfrm>
          <a:prstGeom prst="rect">
            <a:avLst/>
          </a:prstGeom>
        </p:spPr>
      </p:pic>
    </p:spTree>
    <p:extLst>
      <p:ext uri="{BB962C8B-B14F-4D97-AF65-F5344CB8AC3E}">
        <p14:creationId xmlns:p14="http://schemas.microsoft.com/office/powerpoint/2010/main" val="3983684301"/>
      </p:ext>
    </p:extLst>
  </p:cSld>
  <p:clrMapOvr>
    <a:overrideClrMapping bg1="dk1" tx1="lt1" bg2="dk2" tx2="lt2" accent1="accent1" accent2="accent2" accent3="accent3" accent4="accent4" accent5="accent5" accent6="accent6" hlink="hlink" folHlink="folHlink"/>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51EB569-EEE3-5273-BB18-39449443D44F}"/>
              </a:ext>
            </a:extLst>
          </p:cNvPr>
          <p:cNvSpPr txBox="1"/>
          <p:nvPr/>
        </p:nvSpPr>
        <p:spPr>
          <a:xfrm>
            <a:off x="2566988" y="672584"/>
            <a:ext cx="6105524" cy="584775"/>
          </a:xfrm>
          <a:prstGeom prst="rect">
            <a:avLst/>
          </a:prstGeom>
          <a:noFill/>
        </p:spPr>
        <p:txBody>
          <a:bodyPr wrap="square">
            <a:spAutoFit/>
          </a:bodyPr>
          <a:lstStyle/>
          <a:p>
            <a:pPr algn="ctr"/>
            <a:r>
              <a:rPr lang="en-US" sz="3200" b="1" dirty="0"/>
              <a:t>Scenario</a:t>
            </a:r>
          </a:p>
        </p:txBody>
      </p:sp>
      <p:sp>
        <p:nvSpPr>
          <p:cNvPr id="5" name="TextBox 4">
            <a:extLst>
              <a:ext uri="{FF2B5EF4-FFF2-40B4-BE49-F238E27FC236}">
                <a16:creationId xmlns:a16="http://schemas.microsoft.com/office/drawing/2014/main" id="{CEFB7B44-6719-06E6-6364-580E398AF0EC}"/>
              </a:ext>
            </a:extLst>
          </p:cNvPr>
          <p:cNvSpPr txBox="1"/>
          <p:nvPr/>
        </p:nvSpPr>
        <p:spPr>
          <a:xfrm>
            <a:off x="1397794" y="1818918"/>
            <a:ext cx="8443912" cy="3970318"/>
          </a:xfrm>
          <a:prstGeom prst="rect">
            <a:avLst/>
          </a:prstGeom>
          <a:noFill/>
        </p:spPr>
        <p:txBody>
          <a:bodyPr wrap="square">
            <a:spAutoFit/>
          </a:bodyPr>
          <a:lstStyle/>
          <a:p>
            <a:r>
              <a:rPr lang="en-US" dirty="0"/>
              <a:t>An organization dedicated to reducing spam tries to get Internet service</a:t>
            </a:r>
          </a:p>
          <a:p>
            <a:r>
              <a:rPr lang="en-US" dirty="0"/>
              <a:t>providers (ISPs) in an East Asian country to stop the spammers by protecting</a:t>
            </a:r>
          </a:p>
          <a:p>
            <a:r>
              <a:rPr lang="en-US" dirty="0"/>
              <a:t>their mail servers. When this effort is unsuccessful, the antispam organization</a:t>
            </a:r>
          </a:p>
          <a:p>
            <a:r>
              <a:rPr lang="en-US" dirty="0"/>
              <a:t>puts the addresses of these ISPs on its blacklist. Many ISPs in the United States</a:t>
            </a:r>
          </a:p>
          <a:p>
            <a:r>
              <a:rPr lang="en-US" dirty="0"/>
              <a:t>consult the blacklist and refuse to accept email from the blacklisted ISPs. This</a:t>
            </a:r>
          </a:p>
          <a:p>
            <a:r>
              <a:rPr lang="en-US" dirty="0"/>
              <a:t>action has two results. First, the amount of spam received by the typical email</a:t>
            </a:r>
          </a:p>
          <a:p>
            <a:r>
              <a:rPr lang="en-US" dirty="0"/>
              <a:t>user in the United States drops by 25 percent. Second, tens of thousands of</a:t>
            </a:r>
          </a:p>
          <a:p>
            <a:r>
              <a:rPr lang="en-US" dirty="0"/>
              <a:t>innocent computer users in the East Asian country are unable to send email to</a:t>
            </a:r>
          </a:p>
          <a:p>
            <a:r>
              <a:rPr lang="en-US" dirty="0"/>
              <a:t>friends and business associates in the United States.</a:t>
            </a:r>
          </a:p>
        </p:txBody>
      </p:sp>
    </p:spTree>
    <p:extLst>
      <p:ext uri="{BB962C8B-B14F-4D97-AF65-F5344CB8AC3E}">
        <p14:creationId xmlns:p14="http://schemas.microsoft.com/office/powerpoint/2010/main" val="4659385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873655C-33FC-F0B7-5F55-8BEB1FB4ED17}"/>
              </a:ext>
            </a:extLst>
          </p:cNvPr>
          <p:cNvSpPr txBox="1"/>
          <p:nvPr/>
        </p:nvSpPr>
        <p:spPr>
          <a:xfrm>
            <a:off x="1271587" y="1972866"/>
            <a:ext cx="8520113" cy="2585323"/>
          </a:xfrm>
          <a:prstGeom prst="rect">
            <a:avLst/>
          </a:prstGeom>
          <a:noFill/>
        </p:spPr>
        <p:txBody>
          <a:bodyPr wrap="square">
            <a:spAutoFit/>
          </a:bodyPr>
          <a:lstStyle/>
          <a:p>
            <a:r>
              <a:rPr lang="en-US" dirty="0"/>
              <a:t>1. Did the antispam organization do anything wrong? </a:t>
            </a:r>
          </a:p>
          <a:p>
            <a:r>
              <a:rPr lang="en-US" dirty="0"/>
              <a:t>2. Did the ISPs that refused to accept email from the blacklisted ISPs do anything wrong? </a:t>
            </a:r>
          </a:p>
          <a:p>
            <a:r>
              <a:rPr lang="en-US" dirty="0"/>
              <a:t>3. Who benefited from the organization’s action? </a:t>
            </a:r>
          </a:p>
          <a:p>
            <a:r>
              <a:rPr lang="en-US" dirty="0"/>
              <a:t>4. Who was hurt by the organization’s action? </a:t>
            </a:r>
          </a:p>
          <a:p>
            <a:r>
              <a:rPr lang="en-US" dirty="0"/>
              <a:t>5. Could the organization have achieved its goals through a better course of action? </a:t>
            </a:r>
          </a:p>
          <a:p>
            <a:r>
              <a:rPr lang="en-US" dirty="0"/>
              <a:t>6. What additional information, if any, would help you answer the previous questions?</a:t>
            </a:r>
          </a:p>
        </p:txBody>
      </p:sp>
      <p:sp>
        <p:nvSpPr>
          <p:cNvPr id="5" name="TextBox 4">
            <a:extLst>
              <a:ext uri="{FF2B5EF4-FFF2-40B4-BE49-F238E27FC236}">
                <a16:creationId xmlns:a16="http://schemas.microsoft.com/office/drawing/2014/main" id="{7F1760AE-AF07-28A0-8C55-16C7C8D6F67B}"/>
              </a:ext>
            </a:extLst>
          </p:cNvPr>
          <p:cNvSpPr txBox="1"/>
          <p:nvPr/>
        </p:nvSpPr>
        <p:spPr>
          <a:xfrm>
            <a:off x="947738" y="863084"/>
            <a:ext cx="8434387" cy="584775"/>
          </a:xfrm>
          <a:prstGeom prst="rect">
            <a:avLst/>
          </a:prstGeom>
          <a:noFill/>
        </p:spPr>
        <p:txBody>
          <a:bodyPr wrap="square">
            <a:spAutoFit/>
          </a:bodyPr>
          <a:lstStyle/>
          <a:p>
            <a:pPr algn="ctr"/>
            <a:r>
              <a:rPr lang="en-US" sz="3200" b="1" dirty="0"/>
              <a:t>Questions </a:t>
            </a:r>
          </a:p>
        </p:txBody>
      </p:sp>
    </p:spTree>
    <p:extLst>
      <p:ext uri="{BB962C8B-B14F-4D97-AF65-F5344CB8AC3E}">
        <p14:creationId xmlns:p14="http://schemas.microsoft.com/office/powerpoint/2010/main" val="42597205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ED314-D22D-4461-A77F-F5236A6F82E7}"/>
              </a:ext>
            </a:extLst>
          </p:cNvPr>
          <p:cNvSpPr>
            <a:spLocks noGrp="1"/>
          </p:cNvSpPr>
          <p:nvPr>
            <p:ph type="title"/>
          </p:nvPr>
        </p:nvSpPr>
        <p:spPr>
          <a:xfrm>
            <a:off x="333375" y="2622550"/>
            <a:ext cx="10515600" cy="1325563"/>
          </a:xfrm>
        </p:spPr>
        <p:txBody>
          <a:bodyPr/>
          <a:lstStyle/>
          <a:p>
            <a:pPr algn="ctr"/>
            <a:r>
              <a:rPr lang="en-US" b="1" dirty="0"/>
              <a:t>End of Lecture  </a:t>
            </a:r>
          </a:p>
        </p:txBody>
      </p:sp>
    </p:spTree>
    <p:extLst>
      <p:ext uri="{BB962C8B-B14F-4D97-AF65-F5344CB8AC3E}">
        <p14:creationId xmlns:p14="http://schemas.microsoft.com/office/powerpoint/2010/main" val="99986610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TM03457515[[fn=View]]</Template>
  <TotalTime>664</TotalTime>
  <Words>1622</Words>
  <Application>Microsoft Office PowerPoint</Application>
  <PresentationFormat>Widescreen</PresentationFormat>
  <Paragraphs>184</Paragraphs>
  <Slides>37</Slides>
  <Notes>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37</vt:i4>
      </vt:variant>
    </vt:vector>
  </HeadingPairs>
  <TitlesOfParts>
    <vt:vector size="43" baseType="lpstr">
      <vt:lpstr>Arial</vt:lpstr>
      <vt:lpstr>Calibri</vt:lpstr>
      <vt:lpstr>Century Schoolbook</vt:lpstr>
      <vt:lpstr>StarSymbol</vt:lpstr>
      <vt:lpstr>Wingdings 2</vt:lpstr>
      <vt:lpstr>View</vt:lpstr>
      <vt:lpstr>CSC410 - Professional Practices in IT  Instructor Name :  Sidra Nasir</vt:lpstr>
      <vt:lpstr>     Introduction to Ethics and Its Principles</vt:lpstr>
      <vt:lpstr>Topics Covered in this Lecture</vt:lpstr>
      <vt:lpstr>Learning outcomes of this Lecture</vt:lpstr>
      <vt:lpstr>What does Professional Practices mean to you?</vt:lpstr>
      <vt:lpstr>Ethics</vt:lpstr>
      <vt:lpstr>Definitions</vt:lpstr>
      <vt:lpstr>Integrity</vt:lpstr>
      <vt:lpstr>Open-Ended Questions?</vt:lpstr>
      <vt:lpstr>Morals</vt:lpstr>
      <vt:lpstr>Morality</vt:lpstr>
      <vt:lpstr>Where does morality come from?</vt:lpstr>
      <vt:lpstr>Parents</vt:lpstr>
      <vt:lpstr>Religion</vt:lpstr>
      <vt:lpstr>Peers</vt:lpstr>
      <vt:lpstr>Technology</vt:lpstr>
      <vt:lpstr>Right, Wrong and Grey areas?</vt:lpstr>
      <vt:lpstr>Law</vt:lpstr>
      <vt:lpstr>Why Professional Issues in IT?</vt:lpstr>
      <vt:lpstr>Why Professional Issues in IT?</vt:lpstr>
      <vt:lpstr>Recent scandals in IT companies </vt:lpstr>
      <vt:lpstr>Why Fostering Good Business Ethics  Is Important?</vt:lpstr>
      <vt:lpstr>Microsoft’s statement of values</vt:lpstr>
      <vt:lpstr>Corporate ethics/Compliance officer </vt:lpstr>
      <vt:lpstr>Code of Ethics</vt:lpstr>
      <vt:lpstr>Intel Code of Ethics </vt:lpstr>
      <vt:lpstr>Code of Ethics and Professional Conduct</vt:lpstr>
      <vt:lpstr>Acceptable Use Policies</vt:lpstr>
      <vt:lpstr>Ethics in IT</vt:lpstr>
      <vt:lpstr>Ethics &amp; Morality in Islam</vt:lpstr>
      <vt:lpstr>PowerPoint Presentation</vt:lpstr>
      <vt:lpstr>PowerPoint Presentation</vt:lpstr>
      <vt:lpstr>PowerPoint Presentation</vt:lpstr>
      <vt:lpstr>PowerPoint Presentation</vt:lpstr>
      <vt:lpstr>PowerPoint Presentation</vt:lpstr>
      <vt:lpstr>PowerPoint Presentation</vt:lpstr>
      <vt:lpstr>End of Lecture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110 - Professional Practices in IT  Instructor Name :  Dr Tariq Umer Email : tariqumer@cuilahore.edu.pk </dc:title>
  <dc:creator>Dr. Tariq Umer</dc:creator>
  <cp:lastModifiedBy>DELL7490</cp:lastModifiedBy>
  <cp:revision>4</cp:revision>
  <dcterms:created xsi:type="dcterms:W3CDTF">2020-09-11T18:10:30Z</dcterms:created>
  <dcterms:modified xsi:type="dcterms:W3CDTF">2024-09-05T18:55:02Z</dcterms:modified>
</cp:coreProperties>
</file>