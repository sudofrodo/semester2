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70" r:id="rId14"/>
    <p:sldId id="267" r:id="rId15"/>
    <p:sldId id="268" r:id="rId16"/>
    <p:sldId id="269"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BDE638-7AB8-4784-9BFB-38B60FB6DB97}" type="doc">
      <dgm:prSet loTypeId="urn:microsoft.com/office/officeart/2011/layout/ConvergingText" loCatId="process" qsTypeId="urn:microsoft.com/office/officeart/2005/8/quickstyle/simple1" qsCatId="simple" csTypeId="urn:microsoft.com/office/officeart/2005/8/colors/colorful1" csCatId="colorful" phldr="1"/>
      <dgm:spPr/>
    </dgm:pt>
    <dgm:pt modelId="{BC4A2004-2EEF-4B44-A0D4-5CFE1A67FB3B}">
      <dgm:prSet phldrT="[Text]"/>
      <dgm:spPr/>
      <dgm:t>
        <a:bodyPr/>
        <a:lstStyle/>
        <a:p>
          <a:r>
            <a:rPr lang="en-US" dirty="0" smtClean="0"/>
            <a:t>HR </a:t>
          </a:r>
          <a:endParaRPr lang="en-US" dirty="0"/>
        </a:p>
      </dgm:t>
    </dgm:pt>
    <dgm:pt modelId="{4251A0EF-C26D-41C1-AAD2-CCB2AD55C18A}" type="parTrans" cxnId="{69CC1EEC-4C52-4B5C-A40F-51C5053E8478}">
      <dgm:prSet/>
      <dgm:spPr/>
      <dgm:t>
        <a:bodyPr/>
        <a:lstStyle/>
        <a:p>
          <a:endParaRPr lang="en-US"/>
        </a:p>
      </dgm:t>
    </dgm:pt>
    <dgm:pt modelId="{98B740BC-ED3E-4FC2-9AE9-717918325B75}" type="sibTrans" cxnId="{69CC1EEC-4C52-4B5C-A40F-51C5053E8478}">
      <dgm:prSet/>
      <dgm:spPr/>
      <dgm:t>
        <a:bodyPr/>
        <a:lstStyle/>
        <a:p>
          <a:endParaRPr lang="en-US"/>
        </a:p>
      </dgm:t>
    </dgm:pt>
    <dgm:pt modelId="{8166603B-8DE3-4056-A2B6-DCC807BE3177}">
      <dgm:prSet phldrT="[Text]"/>
      <dgm:spPr/>
      <dgm:t>
        <a:bodyPr/>
        <a:lstStyle/>
        <a:p>
          <a:r>
            <a:rPr lang="en-US" dirty="0" smtClean="0"/>
            <a:t>MANGER </a:t>
          </a:r>
          <a:endParaRPr lang="en-US" dirty="0"/>
        </a:p>
      </dgm:t>
    </dgm:pt>
    <dgm:pt modelId="{BBDE86A1-FA43-49BE-B171-4359E848DBEF}" type="parTrans" cxnId="{16FE82A0-2F32-4801-95DB-5B0FE5AEE961}">
      <dgm:prSet/>
      <dgm:spPr/>
      <dgm:t>
        <a:bodyPr/>
        <a:lstStyle/>
        <a:p>
          <a:endParaRPr lang="en-US"/>
        </a:p>
      </dgm:t>
    </dgm:pt>
    <dgm:pt modelId="{A3892888-6B46-4EE1-846A-40D4E57AF5AF}" type="sibTrans" cxnId="{16FE82A0-2F32-4801-95DB-5B0FE5AEE961}">
      <dgm:prSet/>
      <dgm:spPr/>
      <dgm:t>
        <a:bodyPr/>
        <a:lstStyle/>
        <a:p>
          <a:endParaRPr lang="en-US"/>
        </a:p>
      </dgm:t>
    </dgm:pt>
    <dgm:pt modelId="{466F9B38-81FD-42DA-9063-567659DD76AB}">
      <dgm:prSet phldrT="[Text]"/>
      <dgm:spPr/>
      <dgm:t>
        <a:bodyPr/>
        <a:lstStyle/>
        <a:p>
          <a:r>
            <a:rPr lang="en-US" dirty="0" smtClean="0"/>
            <a:t>SUPERVISOR </a:t>
          </a:r>
          <a:endParaRPr lang="en-US" dirty="0"/>
        </a:p>
      </dgm:t>
    </dgm:pt>
    <dgm:pt modelId="{02F6FFA3-D5D0-496F-90FC-AB8AE57704B4}" type="parTrans" cxnId="{0F65294E-D7EB-4BB0-9178-80FB87957492}">
      <dgm:prSet/>
      <dgm:spPr/>
      <dgm:t>
        <a:bodyPr/>
        <a:lstStyle/>
        <a:p>
          <a:endParaRPr lang="en-US"/>
        </a:p>
      </dgm:t>
    </dgm:pt>
    <dgm:pt modelId="{4DA50273-D52B-49B6-9044-6064BFED27D4}" type="sibTrans" cxnId="{0F65294E-D7EB-4BB0-9178-80FB87957492}">
      <dgm:prSet/>
      <dgm:spPr/>
      <dgm:t>
        <a:bodyPr/>
        <a:lstStyle/>
        <a:p>
          <a:endParaRPr lang="en-US"/>
        </a:p>
      </dgm:t>
    </dgm:pt>
    <dgm:pt modelId="{C4F07591-E0E6-4A06-A0FA-073B60E27E1E}" type="pres">
      <dgm:prSet presAssocID="{ADBDE638-7AB8-4784-9BFB-38B60FB6DB97}" presName="Name0" presStyleCnt="0">
        <dgm:presLayoutVars>
          <dgm:chMax/>
          <dgm:chPref val="1"/>
          <dgm:dir/>
          <dgm:animOne val="branch"/>
          <dgm:animLvl val="lvl"/>
          <dgm:resizeHandles/>
        </dgm:presLayoutVars>
      </dgm:prSet>
      <dgm:spPr/>
    </dgm:pt>
    <dgm:pt modelId="{C0B09663-B121-494D-BE41-A606F533392A}" type="pres">
      <dgm:prSet presAssocID="{BC4A2004-2EEF-4B44-A0D4-5CFE1A67FB3B}" presName="composite" presStyleCnt="0"/>
      <dgm:spPr/>
    </dgm:pt>
    <dgm:pt modelId="{EE5D9831-A36C-4633-9B49-695C11A8A281}" type="pres">
      <dgm:prSet presAssocID="{BC4A2004-2EEF-4B44-A0D4-5CFE1A67FB3B}" presName="ParentAccent1" presStyleLbl="alignNode1" presStyleIdx="0" presStyleCnt="33"/>
      <dgm:spPr/>
    </dgm:pt>
    <dgm:pt modelId="{580C0062-755A-431B-A028-275501477F82}" type="pres">
      <dgm:prSet presAssocID="{BC4A2004-2EEF-4B44-A0D4-5CFE1A67FB3B}" presName="ParentAccent2" presStyleLbl="alignNode1" presStyleIdx="1" presStyleCnt="33"/>
      <dgm:spPr/>
    </dgm:pt>
    <dgm:pt modelId="{CA76DAC7-9E76-48F3-A048-73A501FCADD7}" type="pres">
      <dgm:prSet presAssocID="{BC4A2004-2EEF-4B44-A0D4-5CFE1A67FB3B}" presName="ParentAccent3" presStyleLbl="alignNode1" presStyleIdx="2" presStyleCnt="33"/>
      <dgm:spPr/>
    </dgm:pt>
    <dgm:pt modelId="{A9A937A4-312D-4D67-AD72-7EDB57CDABF7}" type="pres">
      <dgm:prSet presAssocID="{BC4A2004-2EEF-4B44-A0D4-5CFE1A67FB3B}" presName="ParentAccent4" presStyleLbl="alignNode1" presStyleIdx="3" presStyleCnt="33"/>
      <dgm:spPr/>
    </dgm:pt>
    <dgm:pt modelId="{EB17E360-DA75-47E3-AFEE-AF346F4A71DB}" type="pres">
      <dgm:prSet presAssocID="{BC4A2004-2EEF-4B44-A0D4-5CFE1A67FB3B}" presName="ParentAccent5" presStyleLbl="alignNode1" presStyleIdx="4" presStyleCnt="33"/>
      <dgm:spPr/>
    </dgm:pt>
    <dgm:pt modelId="{6C616A58-C509-4B16-A0EE-3EBFB0267230}" type="pres">
      <dgm:prSet presAssocID="{BC4A2004-2EEF-4B44-A0D4-5CFE1A67FB3B}" presName="ParentAccent6" presStyleLbl="alignNode1" presStyleIdx="5" presStyleCnt="33"/>
      <dgm:spPr/>
    </dgm:pt>
    <dgm:pt modelId="{242860FF-BA54-4BDB-9942-885B7013F356}" type="pres">
      <dgm:prSet presAssocID="{BC4A2004-2EEF-4B44-A0D4-5CFE1A67FB3B}" presName="ParentAccent7" presStyleLbl="alignNode1" presStyleIdx="6" presStyleCnt="33"/>
      <dgm:spPr/>
    </dgm:pt>
    <dgm:pt modelId="{AB1A013B-8DDF-406B-89D9-0CC3C8D8DF74}" type="pres">
      <dgm:prSet presAssocID="{BC4A2004-2EEF-4B44-A0D4-5CFE1A67FB3B}" presName="ParentAccent8" presStyleLbl="alignNode1" presStyleIdx="7" presStyleCnt="33"/>
      <dgm:spPr/>
    </dgm:pt>
    <dgm:pt modelId="{B2ABE663-EDA2-4A14-A0CF-A50930EE6AC6}" type="pres">
      <dgm:prSet presAssocID="{BC4A2004-2EEF-4B44-A0D4-5CFE1A67FB3B}" presName="ParentAccent9" presStyleLbl="alignNode1" presStyleIdx="8" presStyleCnt="33"/>
      <dgm:spPr/>
    </dgm:pt>
    <dgm:pt modelId="{A2ACB246-4F91-423C-A8A1-068179D8F37A}" type="pres">
      <dgm:prSet presAssocID="{BC4A2004-2EEF-4B44-A0D4-5CFE1A67FB3B}" presName="ParentAccent10" presStyleLbl="alignNode1" presStyleIdx="9" presStyleCnt="33"/>
      <dgm:spPr/>
    </dgm:pt>
    <dgm:pt modelId="{4AE56B08-5277-4D41-B5AC-35CC35549A4B}" type="pres">
      <dgm:prSet presAssocID="{BC4A2004-2EEF-4B44-A0D4-5CFE1A67FB3B}" presName="Parent" presStyleLbl="alignNode1" presStyleIdx="10" presStyleCnt="33">
        <dgm:presLayoutVars>
          <dgm:chMax val="5"/>
          <dgm:chPref val="3"/>
          <dgm:bulletEnabled val="1"/>
        </dgm:presLayoutVars>
      </dgm:prSet>
      <dgm:spPr/>
      <dgm:t>
        <a:bodyPr/>
        <a:lstStyle/>
        <a:p>
          <a:endParaRPr lang="en-US"/>
        </a:p>
      </dgm:t>
    </dgm:pt>
    <dgm:pt modelId="{CB7F2376-252A-40AA-A9E5-40C65AA7035A}" type="pres">
      <dgm:prSet presAssocID="{98B740BC-ED3E-4FC2-9AE9-717918325B75}" presName="sibTrans" presStyleCnt="0"/>
      <dgm:spPr/>
    </dgm:pt>
    <dgm:pt modelId="{14C2ABF6-866B-4026-8CE1-F3BCE756C5D7}" type="pres">
      <dgm:prSet presAssocID="{8166603B-8DE3-4056-A2B6-DCC807BE3177}" presName="composite" presStyleCnt="0"/>
      <dgm:spPr/>
    </dgm:pt>
    <dgm:pt modelId="{A3B907E5-C7D9-44C8-80A7-AF91342D1B94}" type="pres">
      <dgm:prSet presAssocID="{8166603B-8DE3-4056-A2B6-DCC807BE3177}" presName="ParentAccent1" presStyleLbl="alignNode1" presStyleIdx="11" presStyleCnt="33"/>
      <dgm:spPr/>
    </dgm:pt>
    <dgm:pt modelId="{9CE4BA92-C147-4041-917D-44FF64549EA0}" type="pres">
      <dgm:prSet presAssocID="{8166603B-8DE3-4056-A2B6-DCC807BE3177}" presName="ParentAccent2" presStyleLbl="alignNode1" presStyleIdx="12" presStyleCnt="33"/>
      <dgm:spPr/>
    </dgm:pt>
    <dgm:pt modelId="{CF48B42F-A33C-47E4-9CBD-E08DFFBA0D3D}" type="pres">
      <dgm:prSet presAssocID="{8166603B-8DE3-4056-A2B6-DCC807BE3177}" presName="ParentAccent3" presStyleLbl="alignNode1" presStyleIdx="13" presStyleCnt="33"/>
      <dgm:spPr/>
    </dgm:pt>
    <dgm:pt modelId="{6BB91319-1037-4048-9027-5FD12F71C99D}" type="pres">
      <dgm:prSet presAssocID="{8166603B-8DE3-4056-A2B6-DCC807BE3177}" presName="ParentAccent4" presStyleLbl="alignNode1" presStyleIdx="14" presStyleCnt="33"/>
      <dgm:spPr/>
    </dgm:pt>
    <dgm:pt modelId="{72A214D5-A829-4321-A6EE-C2950C73EF0F}" type="pres">
      <dgm:prSet presAssocID="{8166603B-8DE3-4056-A2B6-DCC807BE3177}" presName="ParentAccent5" presStyleLbl="alignNode1" presStyleIdx="15" presStyleCnt="33"/>
      <dgm:spPr/>
    </dgm:pt>
    <dgm:pt modelId="{ADBA147E-EA0B-4E22-8DFC-D60DFCA4D62A}" type="pres">
      <dgm:prSet presAssocID="{8166603B-8DE3-4056-A2B6-DCC807BE3177}" presName="ParentAccent6" presStyleLbl="alignNode1" presStyleIdx="16" presStyleCnt="33"/>
      <dgm:spPr/>
    </dgm:pt>
    <dgm:pt modelId="{2BF62DDA-B972-40A7-B39A-EC7162613DB9}" type="pres">
      <dgm:prSet presAssocID="{8166603B-8DE3-4056-A2B6-DCC807BE3177}" presName="ParentAccent7" presStyleLbl="alignNode1" presStyleIdx="17" presStyleCnt="33"/>
      <dgm:spPr/>
    </dgm:pt>
    <dgm:pt modelId="{EDB8C705-D9D9-4F72-A7D1-1810725FBB9E}" type="pres">
      <dgm:prSet presAssocID="{8166603B-8DE3-4056-A2B6-DCC807BE3177}" presName="ParentAccent8" presStyleLbl="alignNode1" presStyleIdx="18" presStyleCnt="33"/>
      <dgm:spPr/>
    </dgm:pt>
    <dgm:pt modelId="{64245308-28E3-441B-9596-9E10854D9F0B}" type="pres">
      <dgm:prSet presAssocID="{8166603B-8DE3-4056-A2B6-DCC807BE3177}" presName="ParentAccent9" presStyleLbl="alignNode1" presStyleIdx="19" presStyleCnt="33"/>
      <dgm:spPr/>
    </dgm:pt>
    <dgm:pt modelId="{62B75BBD-A097-4988-B095-6C405D6B1825}" type="pres">
      <dgm:prSet presAssocID="{8166603B-8DE3-4056-A2B6-DCC807BE3177}" presName="ParentAccent10" presStyleLbl="alignNode1" presStyleIdx="20" presStyleCnt="33"/>
      <dgm:spPr/>
    </dgm:pt>
    <dgm:pt modelId="{DE1AB91C-E69F-48C7-BEE1-94BD16F0536E}" type="pres">
      <dgm:prSet presAssocID="{8166603B-8DE3-4056-A2B6-DCC807BE3177}" presName="Parent" presStyleLbl="alignNode1" presStyleIdx="21" presStyleCnt="33">
        <dgm:presLayoutVars>
          <dgm:chMax val="5"/>
          <dgm:chPref val="3"/>
          <dgm:bulletEnabled val="1"/>
        </dgm:presLayoutVars>
      </dgm:prSet>
      <dgm:spPr/>
      <dgm:t>
        <a:bodyPr/>
        <a:lstStyle/>
        <a:p>
          <a:endParaRPr lang="en-US"/>
        </a:p>
      </dgm:t>
    </dgm:pt>
    <dgm:pt modelId="{95AB4AD7-7218-4AAF-B3FE-3CC7CF4A5FA5}" type="pres">
      <dgm:prSet presAssocID="{A3892888-6B46-4EE1-846A-40D4E57AF5AF}" presName="sibTrans" presStyleCnt="0"/>
      <dgm:spPr/>
    </dgm:pt>
    <dgm:pt modelId="{32E24547-E5DB-4588-8D8E-A1AF82E4B8B1}" type="pres">
      <dgm:prSet presAssocID="{466F9B38-81FD-42DA-9063-567659DD76AB}" presName="composite" presStyleCnt="0"/>
      <dgm:spPr/>
    </dgm:pt>
    <dgm:pt modelId="{4271B26C-BB4D-44EF-9367-2A8794ED9518}" type="pres">
      <dgm:prSet presAssocID="{466F9B38-81FD-42DA-9063-567659DD76AB}" presName="ParentAccent1" presStyleLbl="alignNode1" presStyleIdx="22" presStyleCnt="33"/>
      <dgm:spPr/>
    </dgm:pt>
    <dgm:pt modelId="{D5478725-184B-4FDA-A629-EF9447610DE8}" type="pres">
      <dgm:prSet presAssocID="{466F9B38-81FD-42DA-9063-567659DD76AB}" presName="ParentAccent2" presStyleLbl="alignNode1" presStyleIdx="23" presStyleCnt="33"/>
      <dgm:spPr/>
    </dgm:pt>
    <dgm:pt modelId="{25B0D218-5A1C-435F-B6F9-4248C215E305}" type="pres">
      <dgm:prSet presAssocID="{466F9B38-81FD-42DA-9063-567659DD76AB}" presName="ParentAccent3" presStyleLbl="alignNode1" presStyleIdx="24" presStyleCnt="33"/>
      <dgm:spPr/>
    </dgm:pt>
    <dgm:pt modelId="{90A797E5-6CEE-4344-8919-811F3E5CB93F}" type="pres">
      <dgm:prSet presAssocID="{466F9B38-81FD-42DA-9063-567659DD76AB}" presName="ParentAccent4" presStyleLbl="alignNode1" presStyleIdx="25" presStyleCnt="33"/>
      <dgm:spPr/>
    </dgm:pt>
    <dgm:pt modelId="{C9241918-1F0B-434C-B875-B77E28F6D1FF}" type="pres">
      <dgm:prSet presAssocID="{466F9B38-81FD-42DA-9063-567659DD76AB}" presName="ParentAccent5" presStyleLbl="alignNode1" presStyleIdx="26" presStyleCnt="33"/>
      <dgm:spPr/>
    </dgm:pt>
    <dgm:pt modelId="{0EDCBAC0-C653-4521-A167-0B7122F942C3}" type="pres">
      <dgm:prSet presAssocID="{466F9B38-81FD-42DA-9063-567659DD76AB}" presName="ParentAccent6" presStyleLbl="alignNode1" presStyleIdx="27" presStyleCnt="33"/>
      <dgm:spPr/>
    </dgm:pt>
    <dgm:pt modelId="{D715070E-C2B7-4BF7-9485-213B801E83B7}" type="pres">
      <dgm:prSet presAssocID="{466F9B38-81FD-42DA-9063-567659DD76AB}" presName="ParentAccent7" presStyleLbl="alignNode1" presStyleIdx="28" presStyleCnt="33"/>
      <dgm:spPr/>
    </dgm:pt>
    <dgm:pt modelId="{C99FF9CD-CA49-471B-8113-EFD716C25BEC}" type="pres">
      <dgm:prSet presAssocID="{466F9B38-81FD-42DA-9063-567659DD76AB}" presName="ParentAccent8" presStyleLbl="alignNode1" presStyleIdx="29" presStyleCnt="33"/>
      <dgm:spPr/>
    </dgm:pt>
    <dgm:pt modelId="{4E026860-BDCD-4AD7-9839-8F49E4A7DB60}" type="pres">
      <dgm:prSet presAssocID="{466F9B38-81FD-42DA-9063-567659DD76AB}" presName="ParentAccent9" presStyleLbl="alignNode1" presStyleIdx="30" presStyleCnt="33"/>
      <dgm:spPr/>
    </dgm:pt>
    <dgm:pt modelId="{89D63234-BB28-4C29-AC66-491E26A966EF}" type="pres">
      <dgm:prSet presAssocID="{466F9B38-81FD-42DA-9063-567659DD76AB}" presName="ParentAccent10" presStyleLbl="alignNode1" presStyleIdx="31" presStyleCnt="33"/>
      <dgm:spPr/>
    </dgm:pt>
    <dgm:pt modelId="{792B3C98-DE47-41CA-93F3-2CD7DE3C1F8B}" type="pres">
      <dgm:prSet presAssocID="{466F9B38-81FD-42DA-9063-567659DD76AB}" presName="Parent" presStyleLbl="alignNode1" presStyleIdx="32" presStyleCnt="33">
        <dgm:presLayoutVars>
          <dgm:chMax val="5"/>
          <dgm:chPref val="3"/>
          <dgm:bulletEnabled val="1"/>
        </dgm:presLayoutVars>
      </dgm:prSet>
      <dgm:spPr/>
      <dgm:t>
        <a:bodyPr/>
        <a:lstStyle/>
        <a:p>
          <a:endParaRPr lang="en-US"/>
        </a:p>
      </dgm:t>
    </dgm:pt>
  </dgm:ptLst>
  <dgm:cxnLst>
    <dgm:cxn modelId="{16FE82A0-2F32-4801-95DB-5B0FE5AEE961}" srcId="{ADBDE638-7AB8-4784-9BFB-38B60FB6DB97}" destId="{8166603B-8DE3-4056-A2B6-DCC807BE3177}" srcOrd="1" destOrd="0" parTransId="{BBDE86A1-FA43-49BE-B171-4359E848DBEF}" sibTransId="{A3892888-6B46-4EE1-846A-40D4E57AF5AF}"/>
    <dgm:cxn modelId="{1C9448C2-A866-4D5E-9B7A-FC98C866CD83}" type="presOf" srcId="{466F9B38-81FD-42DA-9063-567659DD76AB}" destId="{792B3C98-DE47-41CA-93F3-2CD7DE3C1F8B}" srcOrd="0" destOrd="0" presId="urn:microsoft.com/office/officeart/2011/layout/ConvergingText"/>
    <dgm:cxn modelId="{B7BC60EA-EDA3-44B1-908D-2E7B88F52012}" type="presOf" srcId="{8166603B-8DE3-4056-A2B6-DCC807BE3177}" destId="{DE1AB91C-E69F-48C7-BEE1-94BD16F0536E}" srcOrd="0" destOrd="0" presId="urn:microsoft.com/office/officeart/2011/layout/ConvergingText"/>
    <dgm:cxn modelId="{0F65294E-D7EB-4BB0-9178-80FB87957492}" srcId="{ADBDE638-7AB8-4784-9BFB-38B60FB6DB97}" destId="{466F9B38-81FD-42DA-9063-567659DD76AB}" srcOrd="2" destOrd="0" parTransId="{02F6FFA3-D5D0-496F-90FC-AB8AE57704B4}" sibTransId="{4DA50273-D52B-49B6-9044-6064BFED27D4}"/>
    <dgm:cxn modelId="{1B996E4C-A90A-408D-8857-F6E0FDEB7921}" type="presOf" srcId="{ADBDE638-7AB8-4784-9BFB-38B60FB6DB97}" destId="{C4F07591-E0E6-4A06-A0FA-073B60E27E1E}" srcOrd="0" destOrd="0" presId="urn:microsoft.com/office/officeart/2011/layout/ConvergingText"/>
    <dgm:cxn modelId="{69CC1EEC-4C52-4B5C-A40F-51C5053E8478}" srcId="{ADBDE638-7AB8-4784-9BFB-38B60FB6DB97}" destId="{BC4A2004-2EEF-4B44-A0D4-5CFE1A67FB3B}" srcOrd="0" destOrd="0" parTransId="{4251A0EF-C26D-41C1-AAD2-CCB2AD55C18A}" sibTransId="{98B740BC-ED3E-4FC2-9AE9-717918325B75}"/>
    <dgm:cxn modelId="{108510AD-E65F-4A4C-B62C-7DA35A963FAC}" type="presOf" srcId="{BC4A2004-2EEF-4B44-A0D4-5CFE1A67FB3B}" destId="{4AE56B08-5277-4D41-B5AC-35CC35549A4B}" srcOrd="0" destOrd="0" presId="urn:microsoft.com/office/officeart/2011/layout/ConvergingText"/>
    <dgm:cxn modelId="{AC29ECFC-8258-4E8F-BD5D-3EED5B43F493}" type="presParOf" srcId="{C4F07591-E0E6-4A06-A0FA-073B60E27E1E}" destId="{C0B09663-B121-494D-BE41-A606F533392A}" srcOrd="0" destOrd="0" presId="urn:microsoft.com/office/officeart/2011/layout/ConvergingText"/>
    <dgm:cxn modelId="{7B328574-8951-4838-A485-5E3F31C9FC18}" type="presParOf" srcId="{C0B09663-B121-494D-BE41-A606F533392A}" destId="{EE5D9831-A36C-4633-9B49-695C11A8A281}" srcOrd="0" destOrd="0" presId="urn:microsoft.com/office/officeart/2011/layout/ConvergingText"/>
    <dgm:cxn modelId="{A058042B-3545-45F2-92AB-62D52EDD3DB4}" type="presParOf" srcId="{C0B09663-B121-494D-BE41-A606F533392A}" destId="{580C0062-755A-431B-A028-275501477F82}" srcOrd="1" destOrd="0" presId="urn:microsoft.com/office/officeart/2011/layout/ConvergingText"/>
    <dgm:cxn modelId="{D40363C1-7737-40C2-8118-A3B224469F4E}" type="presParOf" srcId="{C0B09663-B121-494D-BE41-A606F533392A}" destId="{CA76DAC7-9E76-48F3-A048-73A501FCADD7}" srcOrd="2" destOrd="0" presId="urn:microsoft.com/office/officeart/2011/layout/ConvergingText"/>
    <dgm:cxn modelId="{C11E4937-2D69-4F2A-9E22-F683D1C315AD}" type="presParOf" srcId="{C0B09663-B121-494D-BE41-A606F533392A}" destId="{A9A937A4-312D-4D67-AD72-7EDB57CDABF7}" srcOrd="3" destOrd="0" presId="urn:microsoft.com/office/officeart/2011/layout/ConvergingText"/>
    <dgm:cxn modelId="{96BD2B45-3F47-40D3-8D40-F4AB188826AD}" type="presParOf" srcId="{C0B09663-B121-494D-BE41-A606F533392A}" destId="{EB17E360-DA75-47E3-AFEE-AF346F4A71DB}" srcOrd="4" destOrd="0" presId="urn:microsoft.com/office/officeart/2011/layout/ConvergingText"/>
    <dgm:cxn modelId="{8CA068ED-1493-49CC-AFDF-92F2A6260C40}" type="presParOf" srcId="{C0B09663-B121-494D-BE41-A606F533392A}" destId="{6C616A58-C509-4B16-A0EE-3EBFB0267230}" srcOrd="5" destOrd="0" presId="urn:microsoft.com/office/officeart/2011/layout/ConvergingText"/>
    <dgm:cxn modelId="{4CA89660-E693-455E-8BF0-BB179ED64373}" type="presParOf" srcId="{C0B09663-B121-494D-BE41-A606F533392A}" destId="{242860FF-BA54-4BDB-9942-885B7013F356}" srcOrd="6" destOrd="0" presId="urn:microsoft.com/office/officeart/2011/layout/ConvergingText"/>
    <dgm:cxn modelId="{84A02281-F55E-44BF-AB32-24839D022511}" type="presParOf" srcId="{C0B09663-B121-494D-BE41-A606F533392A}" destId="{AB1A013B-8DDF-406B-89D9-0CC3C8D8DF74}" srcOrd="7" destOrd="0" presId="urn:microsoft.com/office/officeart/2011/layout/ConvergingText"/>
    <dgm:cxn modelId="{CCB6DD75-037D-4616-B510-AF5432051A14}" type="presParOf" srcId="{C0B09663-B121-494D-BE41-A606F533392A}" destId="{B2ABE663-EDA2-4A14-A0CF-A50930EE6AC6}" srcOrd="8" destOrd="0" presId="urn:microsoft.com/office/officeart/2011/layout/ConvergingText"/>
    <dgm:cxn modelId="{7D65B212-4A3B-40FD-904E-6E3BF391A16E}" type="presParOf" srcId="{C0B09663-B121-494D-BE41-A606F533392A}" destId="{A2ACB246-4F91-423C-A8A1-068179D8F37A}" srcOrd="9" destOrd="0" presId="urn:microsoft.com/office/officeart/2011/layout/ConvergingText"/>
    <dgm:cxn modelId="{EAC13370-5F47-4143-8111-715409956D53}" type="presParOf" srcId="{C0B09663-B121-494D-BE41-A606F533392A}" destId="{4AE56B08-5277-4D41-B5AC-35CC35549A4B}" srcOrd="10" destOrd="0" presId="urn:microsoft.com/office/officeart/2011/layout/ConvergingText"/>
    <dgm:cxn modelId="{6E195B79-44FA-4F42-A775-093F2862E61B}" type="presParOf" srcId="{C4F07591-E0E6-4A06-A0FA-073B60E27E1E}" destId="{CB7F2376-252A-40AA-A9E5-40C65AA7035A}" srcOrd="1" destOrd="0" presId="urn:microsoft.com/office/officeart/2011/layout/ConvergingText"/>
    <dgm:cxn modelId="{0B03FAB3-7EFF-4FE5-A65D-6357EB778531}" type="presParOf" srcId="{C4F07591-E0E6-4A06-A0FA-073B60E27E1E}" destId="{14C2ABF6-866B-4026-8CE1-F3BCE756C5D7}" srcOrd="2" destOrd="0" presId="urn:microsoft.com/office/officeart/2011/layout/ConvergingText"/>
    <dgm:cxn modelId="{DCBE5B61-A446-4A38-8C9D-38975CE7DFCB}" type="presParOf" srcId="{14C2ABF6-866B-4026-8CE1-F3BCE756C5D7}" destId="{A3B907E5-C7D9-44C8-80A7-AF91342D1B94}" srcOrd="0" destOrd="0" presId="urn:microsoft.com/office/officeart/2011/layout/ConvergingText"/>
    <dgm:cxn modelId="{94035D7A-7D4B-4F73-95F0-DB037080270A}" type="presParOf" srcId="{14C2ABF6-866B-4026-8CE1-F3BCE756C5D7}" destId="{9CE4BA92-C147-4041-917D-44FF64549EA0}" srcOrd="1" destOrd="0" presId="urn:microsoft.com/office/officeart/2011/layout/ConvergingText"/>
    <dgm:cxn modelId="{03FDA045-A8A1-4B84-96AD-25057681F3D7}" type="presParOf" srcId="{14C2ABF6-866B-4026-8CE1-F3BCE756C5D7}" destId="{CF48B42F-A33C-47E4-9CBD-E08DFFBA0D3D}" srcOrd="2" destOrd="0" presId="urn:microsoft.com/office/officeart/2011/layout/ConvergingText"/>
    <dgm:cxn modelId="{9DEB8AB8-B6D3-49E7-A5F4-8BEE79385837}" type="presParOf" srcId="{14C2ABF6-866B-4026-8CE1-F3BCE756C5D7}" destId="{6BB91319-1037-4048-9027-5FD12F71C99D}" srcOrd="3" destOrd="0" presId="urn:microsoft.com/office/officeart/2011/layout/ConvergingText"/>
    <dgm:cxn modelId="{5ED69342-A773-447A-B642-D7D111CDC753}" type="presParOf" srcId="{14C2ABF6-866B-4026-8CE1-F3BCE756C5D7}" destId="{72A214D5-A829-4321-A6EE-C2950C73EF0F}" srcOrd="4" destOrd="0" presId="urn:microsoft.com/office/officeart/2011/layout/ConvergingText"/>
    <dgm:cxn modelId="{63C3FA0B-C23D-4B05-9907-2F0BF31FEBFA}" type="presParOf" srcId="{14C2ABF6-866B-4026-8CE1-F3BCE756C5D7}" destId="{ADBA147E-EA0B-4E22-8DFC-D60DFCA4D62A}" srcOrd="5" destOrd="0" presId="urn:microsoft.com/office/officeart/2011/layout/ConvergingText"/>
    <dgm:cxn modelId="{A055782F-0C4E-4DE8-AF32-3A1E07604367}" type="presParOf" srcId="{14C2ABF6-866B-4026-8CE1-F3BCE756C5D7}" destId="{2BF62DDA-B972-40A7-B39A-EC7162613DB9}" srcOrd="6" destOrd="0" presId="urn:microsoft.com/office/officeart/2011/layout/ConvergingText"/>
    <dgm:cxn modelId="{C56D5F01-8E3C-4B43-9BC8-F0DFF225D697}" type="presParOf" srcId="{14C2ABF6-866B-4026-8CE1-F3BCE756C5D7}" destId="{EDB8C705-D9D9-4F72-A7D1-1810725FBB9E}" srcOrd="7" destOrd="0" presId="urn:microsoft.com/office/officeart/2011/layout/ConvergingText"/>
    <dgm:cxn modelId="{346AB72F-6E49-4686-A0C5-84CA03B4EEC8}" type="presParOf" srcId="{14C2ABF6-866B-4026-8CE1-F3BCE756C5D7}" destId="{64245308-28E3-441B-9596-9E10854D9F0B}" srcOrd="8" destOrd="0" presId="urn:microsoft.com/office/officeart/2011/layout/ConvergingText"/>
    <dgm:cxn modelId="{1AECFCBE-760F-412A-B258-D0C09E7FB191}" type="presParOf" srcId="{14C2ABF6-866B-4026-8CE1-F3BCE756C5D7}" destId="{62B75BBD-A097-4988-B095-6C405D6B1825}" srcOrd="9" destOrd="0" presId="urn:microsoft.com/office/officeart/2011/layout/ConvergingText"/>
    <dgm:cxn modelId="{A5157508-3D96-463B-A668-FB6DFD5FCD92}" type="presParOf" srcId="{14C2ABF6-866B-4026-8CE1-F3BCE756C5D7}" destId="{DE1AB91C-E69F-48C7-BEE1-94BD16F0536E}" srcOrd="10" destOrd="0" presId="urn:microsoft.com/office/officeart/2011/layout/ConvergingText"/>
    <dgm:cxn modelId="{9BF28803-585D-414E-92A4-BB102AD3C477}" type="presParOf" srcId="{C4F07591-E0E6-4A06-A0FA-073B60E27E1E}" destId="{95AB4AD7-7218-4AAF-B3FE-3CC7CF4A5FA5}" srcOrd="3" destOrd="0" presId="urn:microsoft.com/office/officeart/2011/layout/ConvergingText"/>
    <dgm:cxn modelId="{449470CE-DEFC-4389-8A05-551C6B7C3A07}" type="presParOf" srcId="{C4F07591-E0E6-4A06-A0FA-073B60E27E1E}" destId="{32E24547-E5DB-4588-8D8E-A1AF82E4B8B1}" srcOrd="4" destOrd="0" presId="urn:microsoft.com/office/officeart/2011/layout/ConvergingText"/>
    <dgm:cxn modelId="{E4DDD213-00C2-47A5-9075-A23EFC8F1266}" type="presParOf" srcId="{32E24547-E5DB-4588-8D8E-A1AF82E4B8B1}" destId="{4271B26C-BB4D-44EF-9367-2A8794ED9518}" srcOrd="0" destOrd="0" presId="urn:microsoft.com/office/officeart/2011/layout/ConvergingText"/>
    <dgm:cxn modelId="{9716D41E-6468-4500-A440-B46AB2DBC47E}" type="presParOf" srcId="{32E24547-E5DB-4588-8D8E-A1AF82E4B8B1}" destId="{D5478725-184B-4FDA-A629-EF9447610DE8}" srcOrd="1" destOrd="0" presId="urn:microsoft.com/office/officeart/2011/layout/ConvergingText"/>
    <dgm:cxn modelId="{6D4EB13B-FAA5-45DC-A449-FC28A33FE863}" type="presParOf" srcId="{32E24547-E5DB-4588-8D8E-A1AF82E4B8B1}" destId="{25B0D218-5A1C-435F-B6F9-4248C215E305}" srcOrd="2" destOrd="0" presId="urn:microsoft.com/office/officeart/2011/layout/ConvergingText"/>
    <dgm:cxn modelId="{B12829A4-D9E3-489F-ABC2-C416E298BE5E}" type="presParOf" srcId="{32E24547-E5DB-4588-8D8E-A1AF82E4B8B1}" destId="{90A797E5-6CEE-4344-8919-811F3E5CB93F}" srcOrd="3" destOrd="0" presId="urn:microsoft.com/office/officeart/2011/layout/ConvergingText"/>
    <dgm:cxn modelId="{BB10E174-E874-4043-A3E6-3F53678BD3F4}" type="presParOf" srcId="{32E24547-E5DB-4588-8D8E-A1AF82E4B8B1}" destId="{C9241918-1F0B-434C-B875-B77E28F6D1FF}" srcOrd="4" destOrd="0" presId="urn:microsoft.com/office/officeart/2011/layout/ConvergingText"/>
    <dgm:cxn modelId="{B0B61096-0AD0-4003-94E7-7C55AA70B687}" type="presParOf" srcId="{32E24547-E5DB-4588-8D8E-A1AF82E4B8B1}" destId="{0EDCBAC0-C653-4521-A167-0B7122F942C3}" srcOrd="5" destOrd="0" presId="urn:microsoft.com/office/officeart/2011/layout/ConvergingText"/>
    <dgm:cxn modelId="{FDA3A16C-C578-4847-B622-210A1997CEC2}" type="presParOf" srcId="{32E24547-E5DB-4588-8D8E-A1AF82E4B8B1}" destId="{D715070E-C2B7-4BF7-9485-213B801E83B7}" srcOrd="6" destOrd="0" presId="urn:microsoft.com/office/officeart/2011/layout/ConvergingText"/>
    <dgm:cxn modelId="{02E63893-0E6D-42AC-83BC-31A3B0AA7FC7}" type="presParOf" srcId="{32E24547-E5DB-4588-8D8E-A1AF82E4B8B1}" destId="{C99FF9CD-CA49-471B-8113-EFD716C25BEC}" srcOrd="7" destOrd="0" presId="urn:microsoft.com/office/officeart/2011/layout/ConvergingText"/>
    <dgm:cxn modelId="{391FAF2C-7732-4062-B2F0-6D5EF24F6B0E}" type="presParOf" srcId="{32E24547-E5DB-4588-8D8E-A1AF82E4B8B1}" destId="{4E026860-BDCD-4AD7-9839-8F49E4A7DB60}" srcOrd="8" destOrd="0" presId="urn:microsoft.com/office/officeart/2011/layout/ConvergingText"/>
    <dgm:cxn modelId="{E6673A17-6658-4C63-B959-CA2FBF66B790}" type="presParOf" srcId="{32E24547-E5DB-4588-8D8E-A1AF82E4B8B1}" destId="{89D63234-BB28-4C29-AC66-491E26A966EF}" srcOrd="9" destOrd="0" presId="urn:microsoft.com/office/officeart/2011/layout/ConvergingText"/>
    <dgm:cxn modelId="{AC51BC49-0801-46FD-BDBE-6D71F7D2FCBB}" type="presParOf" srcId="{32E24547-E5DB-4588-8D8E-A1AF82E4B8B1}" destId="{792B3C98-DE47-41CA-93F3-2CD7DE3C1F8B}" srcOrd="10" destOrd="0" presId="urn:microsoft.com/office/officeart/2011/layout/ConvergingTex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63B2D5-83D2-495B-8D50-8D7DB4D38666}"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73C0AB1D-FA23-455C-ABAD-684E608006E3}">
      <dgm:prSet phldrT="[Text]"/>
      <dgm:spPr/>
      <dgm:t>
        <a:bodyPr/>
        <a:lstStyle/>
        <a:p>
          <a:r>
            <a:rPr lang="en-US" dirty="0" smtClean="0"/>
            <a:t>Before the Interview  </a:t>
          </a:r>
          <a:endParaRPr lang="en-US" dirty="0"/>
        </a:p>
      </dgm:t>
    </dgm:pt>
    <dgm:pt modelId="{6E110648-1C17-4B79-810F-FDA1A6650E74}" type="parTrans" cxnId="{088DD259-59C4-46AA-A597-9EEFAEA04C07}">
      <dgm:prSet/>
      <dgm:spPr/>
      <dgm:t>
        <a:bodyPr/>
        <a:lstStyle/>
        <a:p>
          <a:endParaRPr lang="en-US"/>
        </a:p>
      </dgm:t>
    </dgm:pt>
    <dgm:pt modelId="{E207850E-0FA8-4C4F-AFA2-B56CA684EB41}" type="sibTrans" cxnId="{088DD259-59C4-46AA-A597-9EEFAEA04C07}">
      <dgm:prSet/>
      <dgm:spPr/>
      <dgm:t>
        <a:bodyPr/>
        <a:lstStyle/>
        <a:p>
          <a:endParaRPr lang="en-US"/>
        </a:p>
      </dgm:t>
    </dgm:pt>
    <dgm:pt modelId="{008D3815-682E-4D27-9C02-CFBE21F30CD5}">
      <dgm:prSet phldrT="[Text]"/>
      <dgm:spPr/>
      <dgm:t>
        <a:bodyPr/>
        <a:lstStyle/>
        <a:p>
          <a:r>
            <a:rPr lang="en-US" dirty="0" smtClean="0"/>
            <a:t>After the Interview </a:t>
          </a:r>
          <a:endParaRPr lang="en-US" dirty="0"/>
        </a:p>
      </dgm:t>
    </dgm:pt>
    <dgm:pt modelId="{9960078D-3835-4883-ABCE-65026B549193}" type="parTrans" cxnId="{7375E4FE-E0B7-468C-9930-1BE44ECA78EE}">
      <dgm:prSet/>
      <dgm:spPr/>
      <dgm:t>
        <a:bodyPr/>
        <a:lstStyle/>
        <a:p>
          <a:endParaRPr lang="en-US"/>
        </a:p>
      </dgm:t>
    </dgm:pt>
    <dgm:pt modelId="{92ACDAF8-3465-41FC-B4BE-152880FDD2BE}" type="sibTrans" cxnId="{7375E4FE-E0B7-468C-9930-1BE44ECA78EE}">
      <dgm:prSet/>
      <dgm:spPr/>
      <dgm:t>
        <a:bodyPr/>
        <a:lstStyle/>
        <a:p>
          <a:endParaRPr lang="en-US"/>
        </a:p>
      </dgm:t>
    </dgm:pt>
    <dgm:pt modelId="{F27C2F6C-D10C-4B3D-880E-222EE47A474C}">
      <dgm:prSet/>
      <dgm:spPr/>
      <dgm:t>
        <a:bodyPr/>
        <a:lstStyle/>
        <a:p>
          <a:r>
            <a:rPr lang="en-US" dirty="0" smtClean="0"/>
            <a:t>During the Interview</a:t>
          </a:r>
          <a:endParaRPr lang="en-US" dirty="0"/>
        </a:p>
      </dgm:t>
    </dgm:pt>
    <dgm:pt modelId="{6C4648AF-48E4-406B-9B38-086312690E40}" type="parTrans" cxnId="{71090979-CB63-4996-9146-C96AFB3E6832}">
      <dgm:prSet/>
      <dgm:spPr/>
      <dgm:t>
        <a:bodyPr/>
        <a:lstStyle/>
        <a:p>
          <a:endParaRPr lang="en-US"/>
        </a:p>
      </dgm:t>
    </dgm:pt>
    <dgm:pt modelId="{55CE9EE8-33F4-4794-B004-91DDE8B169E4}" type="sibTrans" cxnId="{71090979-CB63-4996-9146-C96AFB3E6832}">
      <dgm:prSet/>
      <dgm:spPr/>
      <dgm:t>
        <a:bodyPr/>
        <a:lstStyle/>
        <a:p>
          <a:endParaRPr lang="en-US"/>
        </a:p>
      </dgm:t>
    </dgm:pt>
    <dgm:pt modelId="{EEC0F43D-6373-4103-8DD7-8DF41A7C46AF}" type="pres">
      <dgm:prSet presAssocID="{0F63B2D5-83D2-495B-8D50-8D7DB4D38666}" presName="diagram" presStyleCnt="0">
        <dgm:presLayoutVars>
          <dgm:dir/>
          <dgm:resizeHandles val="exact"/>
        </dgm:presLayoutVars>
      </dgm:prSet>
      <dgm:spPr/>
      <dgm:t>
        <a:bodyPr/>
        <a:lstStyle/>
        <a:p>
          <a:endParaRPr lang="en-US"/>
        </a:p>
      </dgm:t>
    </dgm:pt>
    <dgm:pt modelId="{13052F11-8BE4-4F27-8E72-FC45A13E6E38}" type="pres">
      <dgm:prSet presAssocID="{73C0AB1D-FA23-455C-ABAD-684E608006E3}" presName="node" presStyleLbl="node1" presStyleIdx="0" presStyleCnt="3">
        <dgm:presLayoutVars>
          <dgm:bulletEnabled val="1"/>
        </dgm:presLayoutVars>
      </dgm:prSet>
      <dgm:spPr/>
      <dgm:t>
        <a:bodyPr/>
        <a:lstStyle/>
        <a:p>
          <a:endParaRPr lang="en-US"/>
        </a:p>
      </dgm:t>
    </dgm:pt>
    <dgm:pt modelId="{3A3E9A27-6EDD-43CF-BA95-1EFABFCEA97A}" type="pres">
      <dgm:prSet presAssocID="{E207850E-0FA8-4C4F-AFA2-B56CA684EB41}" presName="sibTrans" presStyleCnt="0"/>
      <dgm:spPr/>
    </dgm:pt>
    <dgm:pt modelId="{25C22B1D-31EA-4047-BD1E-F5738C27482A}" type="pres">
      <dgm:prSet presAssocID="{008D3815-682E-4D27-9C02-CFBE21F30CD5}" presName="node" presStyleLbl="node1" presStyleIdx="1" presStyleCnt="3" custLinFactX="7720" custLinFactNeighborX="100000" custLinFactNeighborY="882">
        <dgm:presLayoutVars>
          <dgm:bulletEnabled val="1"/>
        </dgm:presLayoutVars>
      </dgm:prSet>
      <dgm:spPr/>
      <dgm:t>
        <a:bodyPr/>
        <a:lstStyle/>
        <a:p>
          <a:endParaRPr lang="en-US"/>
        </a:p>
      </dgm:t>
    </dgm:pt>
    <dgm:pt modelId="{50CB5272-5C30-498B-B3BA-0B8BED62C767}" type="pres">
      <dgm:prSet presAssocID="{92ACDAF8-3465-41FC-B4BE-152880FDD2BE}" presName="sibTrans" presStyleCnt="0"/>
      <dgm:spPr/>
    </dgm:pt>
    <dgm:pt modelId="{E195424D-7E22-4C47-BC55-FA664419C919}" type="pres">
      <dgm:prSet presAssocID="{F27C2F6C-D10C-4B3D-880E-222EE47A474C}" presName="node" presStyleLbl="node1" presStyleIdx="2" presStyleCnt="3" custLinFactX="-11774" custLinFactNeighborX="-100000" custLinFactNeighborY="633">
        <dgm:presLayoutVars>
          <dgm:bulletEnabled val="1"/>
        </dgm:presLayoutVars>
      </dgm:prSet>
      <dgm:spPr/>
      <dgm:t>
        <a:bodyPr/>
        <a:lstStyle/>
        <a:p>
          <a:endParaRPr lang="en-US"/>
        </a:p>
      </dgm:t>
    </dgm:pt>
  </dgm:ptLst>
  <dgm:cxnLst>
    <dgm:cxn modelId="{1799412A-4E47-4262-ACF5-8EBC2B4A378E}" type="presOf" srcId="{008D3815-682E-4D27-9C02-CFBE21F30CD5}" destId="{25C22B1D-31EA-4047-BD1E-F5738C27482A}" srcOrd="0" destOrd="0" presId="urn:microsoft.com/office/officeart/2005/8/layout/default"/>
    <dgm:cxn modelId="{71090979-CB63-4996-9146-C96AFB3E6832}" srcId="{0F63B2D5-83D2-495B-8D50-8D7DB4D38666}" destId="{F27C2F6C-D10C-4B3D-880E-222EE47A474C}" srcOrd="2" destOrd="0" parTransId="{6C4648AF-48E4-406B-9B38-086312690E40}" sibTransId="{55CE9EE8-33F4-4794-B004-91DDE8B169E4}"/>
    <dgm:cxn modelId="{088DD259-59C4-46AA-A597-9EEFAEA04C07}" srcId="{0F63B2D5-83D2-495B-8D50-8D7DB4D38666}" destId="{73C0AB1D-FA23-455C-ABAD-684E608006E3}" srcOrd="0" destOrd="0" parTransId="{6E110648-1C17-4B79-810F-FDA1A6650E74}" sibTransId="{E207850E-0FA8-4C4F-AFA2-B56CA684EB41}"/>
    <dgm:cxn modelId="{7375E4FE-E0B7-468C-9930-1BE44ECA78EE}" srcId="{0F63B2D5-83D2-495B-8D50-8D7DB4D38666}" destId="{008D3815-682E-4D27-9C02-CFBE21F30CD5}" srcOrd="1" destOrd="0" parTransId="{9960078D-3835-4883-ABCE-65026B549193}" sibTransId="{92ACDAF8-3465-41FC-B4BE-152880FDD2BE}"/>
    <dgm:cxn modelId="{B97AED6E-C66E-4C43-A09D-FC68071DB724}" type="presOf" srcId="{0F63B2D5-83D2-495B-8D50-8D7DB4D38666}" destId="{EEC0F43D-6373-4103-8DD7-8DF41A7C46AF}" srcOrd="0" destOrd="0" presId="urn:microsoft.com/office/officeart/2005/8/layout/default"/>
    <dgm:cxn modelId="{329474C3-810D-49F0-BC1F-18E2692E2C62}" type="presOf" srcId="{73C0AB1D-FA23-455C-ABAD-684E608006E3}" destId="{13052F11-8BE4-4F27-8E72-FC45A13E6E38}" srcOrd="0" destOrd="0" presId="urn:microsoft.com/office/officeart/2005/8/layout/default"/>
    <dgm:cxn modelId="{AB847744-DA2A-4643-93C8-950105300EA0}" type="presOf" srcId="{F27C2F6C-D10C-4B3D-880E-222EE47A474C}" destId="{E195424D-7E22-4C47-BC55-FA664419C919}" srcOrd="0" destOrd="0" presId="urn:microsoft.com/office/officeart/2005/8/layout/default"/>
    <dgm:cxn modelId="{F546C142-B15C-4E02-844E-43DD8EEBF1F0}" type="presParOf" srcId="{EEC0F43D-6373-4103-8DD7-8DF41A7C46AF}" destId="{13052F11-8BE4-4F27-8E72-FC45A13E6E38}" srcOrd="0" destOrd="0" presId="urn:microsoft.com/office/officeart/2005/8/layout/default"/>
    <dgm:cxn modelId="{0494A2EA-2B69-4D7A-A29D-407824260E86}" type="presParOf" srcId="{EEC0F43D-6373-4103-8DD7-8DF41A7C46AF}" destId="{3A3E9A27-6EDD-43CF-BA95-1EFABFCEA97A}" srcOrd="1" destOrd="0" presId="urn:microsoft.com/office/officeart/2005/8/layout/default"/>
    <dgm:cxn modelId="{87A6DB72-8357-489E-A572-1154915B0AE7}" type="presParOf" srcId="{EEC0F43D-6373-4103-8DD7-8DF41A7C46AF}" destId="{25C22B1D-31EA-4047-BD1E-F5738C27482A}" srcOrd="2" destOrd="0" presId="urn:microsoft.com/office/officeart/2005/8/layout/default"/>
    <dgm:cxn modelId="{81B920F1-A033-47DC-BC9A-6EDBFEA50C87}" type="presParOf" srcId="{EEC0F43D-6373-4103-8DD7-8DF41A7C46AF}" destId="{50CB5272-5C30-498B-B3BA-0B8BED62C767}" srcOrd="3" destOrd="0" presId="urn:microsoft.com/office/officeart/2005/8/layout/default"/>
    <dgm:cxn modelId="{69E473C7-78A4-4870-9F9A-3C12EA97539D}" type="presParOf" srcId="{EEC0F43D-6373-4103-8DD7-8DF41A7C46AF}" destId="{E195424D-7E22-4C47-BC55-FA664419C919}"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5D9831-A36C-4633-9B49-695C11A8A281}">
      <dsp:nvSpPr>
        <dsp:cNvPr id="0" name=""/>
        <dsp:cNvSpPr/>
      </dsp:nvSpPr>
      <dsp:spPr>
        <a:xfrm>
          <a:off x="3446091" y="1936865"/>
          <a:ext cx="169445" cy="169502"/>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0C0062-755A-431B-A028-275501477F82}">
      <dsp:nvSpPr>
        <dsp:cNvPr id="0" name=""/>
        <dsp:cNvSpPr/>
      </dsp:nvSpPr>
      <dsp:spPr>
        <a:xfrm>
          <a:off x="3158142" y="1936865"/>
          <a:ext cx="169445" cy="16950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76DAC7-9E76-48F3-A048-73A501FCADD7}">
      <dsp:nvSpPr>
        <dsp:cNvPr id="0" name=""/>
        <dsp:cNvSpPr/>
      </dsp:nvSpPr>
      <dsp:spPr>
        <a:xfrm>
          <a:off x="2870194" y="1936865"/>
          <a:ext cx="169445" cy="169502"/>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A937A4-312D-4D67-AD72-7EDB57CDABF7}">
      <dsp:nvSpPr>
        <dsp:cNvPr id="0" name=""/>
        <dsp:cNvSpPr/>
      </dsp:nvSpPr>
      <dsp:spPr>
        <a:xfrm>
          <a:off x="2582246" y="1936865"/>
          <a:ext cx="169445" cy="169502"/>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17E360-DA75-47E3-AFEE-AF346F4A71DB}">
      <dsp:nvSpPr>
        <dsp:cNvPr id="0" name=""/>
        <dsp:cNvSpPr/>
      </dsp:nvSpPr>
      <dsp:spPr>
        <a:xfrm>
          <a:off x="2294297" y="1936865"/>
          <a:ext cx="169445" cy="169502"/>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616A58-C509-4B16-A0EE-3EBFB0267230}">
      <dsp:nvSpPr>
        <dsp:cNvPr id="0" name=""/>
        <dsp:cNvSpPr/>
      </dsp:nvSpPr>
      <dsp:spPr>
        <a:xfrm>
          <a:off x="1836542" y="1852114"/>
          <a:ext cx="339251" cy="339004"/>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2860FF-BA54-4BDB-9942-885B7013F356}">
      <dsp:nvSpPr>
        <dsp:cNvPr id="0" name=""/>
        <dsp:cNvSpPr/>
      </dsp:nvSpPr>
      <dsp:spPr>
        <a:xfrm>
          <a:off x="3169704" y="1586709"/>
          <a:ext cx="169445" cy="16950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1A013B-8DDF-406B-89D9-0CC3C8D8DF74}">
      <dsp:nvSpPr>
        <dsp:cNvPr id="0" name=""/>
        <dsp:cNvSpPr/>
      </dsp:nvSpPr>
      <dsp:spPr>
        <a:xfrm>
          <a:off x="3169704" y="2289594"/>
          <a:ext cx="169445" cy="169502"/>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ABE663-EDA2-4A14-A0CF-A50930EE6AC6}">
      <dsp:nvSpPr>
        <dsp:cNvPr id="0" name=""/>
        <dsp:cNvSpPr/>
      </dsp:nvSpPr>
      <dsp:spPr>
        <a:xfrm>
          <a:off x="3321084" y="1739055"/>
          <a:ext cx="169445" cy="169502"/>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ACB246-4F91-423C-A8A1-068179D8F37A}">
      <dsp:nvSpPr>
        <dsp:cNvPr id="0" name=""/>
        <dsp:cNvSpPr/>
      </dsp:nvSpPr>
      <dsp:spPr>
        <a:xfrm>
          <a:off x="3331200" y="2138106"/>
          <a:ext cx="169445" cy="169502"/>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56B08-5277-4D41-B5AC-35CC35549A4B}">
      <dsp:nvSpPr>
        <dsp:cNvPr id="0" name=""/>
        <dsp:cNvSpPr/>
      </dsp:nvSpPr>
      <dsp:spPr>
        <a:xfrm>
          <a:off x="2633" y="1163811"/>
          <a:ext cx="1715767" cy="171561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HR </a:t>
          </a:r>
          <a:endParaRPr lang="en-US" sz="1700" kern="1200" dirty="0"/>
        </a:p>
      </dsp:txBody>
      <dsp:txXfrm>
        <a:off x="253901" y="1415056"/>
        <a:ext cx="1213231" cy="1213120"/>
      </dsp:txXfrm>
    </dsp:sp>
    <dsp:sp modelId="{A3B907E5-C7D9-44C8-80A7-AF91342D1B94}">
      <dsp:nvSpPr>
        <dsp:cNvPr id="0" name=""/>
        <dsp:cNvSpPr/>
      </dsp:nvSpPr>
      <dsp:spPr>
        <a:xfrm>
          <a:off x="7299252" y="1936865"/>
          <a:ext cx="169445" cy="16950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E4BA92-C147-4041-917D-44FF64549EA0}">
      <dsp:nvSpPr>
        <dsp:cNvPr id="0" name=""/>
        <dsp:cNvSpPr/>
      </dsp:nvSpPr>
      <dsp:spPr>
        <a:xfrm>
          <a:off x="7011304" y="1936865"/>
          <a:ext cx="169445" cy="169502"/>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48B42F-A33C-47E4-9CBD-E08DFFBA0D3D}">
      <dsp:nvSpPr>
        <dsp:cNvPr id="0" name=""/>
        <dsp:cNvSpPr/>
      </dsp:nvSpPr>
      <dsp:spPr>
        <a:xfrm>
          <a:off x="6723356" y="1936865"/>
          <a:ext cx="169445" cy="169502"/>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B91319-1037-4048-9027-5FD12F71C99D}">
      <dsp:nvSpPr>
        <dsp:cNvPr id="0" name=""/>
        <dsp:cNvSpPr/>
      </dsp:nvSpPr>
      <dsp:spPr>
        <a:xfrm>
          <a:off x="6435407" y="1936865"/>
          <a:ext cx="169445" cy="169502"/>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A214D5-A829-4321-A6EE-C2950C73EF0F}">
      <dsp:nvSpPr>
        <dsp:cNvPr id="0" name=""/>
        <dsp:cNvSpPr/>
      </dsp:nvSpPr>
      <dsp:spPr>
        <a:xfrm>
          <a:off x="6147459" y="1936865"/>
          <a:ext cx="169445" cy="169502"/>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BA147E-EA0B-4E22-8DFC-D60DFCA4D62A}">
      <dsp:nvSpPr>
        <dsp:cNvPr id="0" name=""/>
        <dsp:cNvSpPr/>
      </dsp:nvSpPr>
      <dsp:spPr>
        <a:xfrm>
          <a:off x="5689704" y="1852114"/>
          <a:ext cx="339251" cy="339004"/>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F62DDA-B972-40A7-B39A-EC7162613DB9}">
      <dsp:nvSpPr>
        <dsp:cNvPr id="0" name=""/>
        <dsp:cNvSpPr/>
      </dsp:nvSpPr>
      <dsp:spPr>
        <a:xfrm>
          <a:off x="7022865" y="1586709"/>
          <a:ext cx="169445" cy="169502"/>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B8C705-D9D9-4F72-A7D1-1810725FBB9E}">
      <dsp:nvSpPr>
        <dsp:cNvPr id="0" name=""/>
        <dsp:cNvSpPr/>
      </dsp:nvSpPr>
      <dsp:spPr>
        <a:xfrm>
          <a:off x="7022865" y="2289594"/>
          <a:ext cx="169445" cy="169502"/>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245308-28E3-441B-9596-9E10854D9F0B}">
      <dsp:nvSpPr>
        <dsp:cNvPr id="0" name=""/>
        <dsp:cNvSpPr/>
      </dsp:nvSpPr>
      <dsp:spPr>
        <a:xfrm>
          <a:off x="7174246" y="1739055"/>
          <a:ext cx="169445" cy="169502"/>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B75BBD-A097-4988-B095-6C405D6B1825}">
      <dsp:nvSpPr>
        <dsp:cNvPr id="0" name=""/>
        <dsp:cNvSpPr/>
      </dsp:nvSpPr>
      <dsp:spPr>
        <a:xfrm>
          <a:off x="7184362" y="2138106"/>
          <a:ext cx="169445" cy="169502"/>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1AB91C-E69F-48C7-BEE1-94BD16F0536E}">
      <dsp:nvSpPr>
        <dsp:cNvPr id="0" name=""/>
        <dsp:cNvSpPr/>
      </dsp:nvSpPr>
      <dsp:spPr>
        <a:xfrm>
          <a:off x="3855794" y="1163811"/>
          <a:ext cx="1715767" cy="171561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MANGER </a:t>
          </a:r>
          <a:endParaRPr lang="en-US" sz="1700" kern="1200" dirty="0"/>
        </a:p>
      </dsp:txBody>
      <dsp:txXfrm>
        <a:off x="4107062" y="1415056"/>
        <a:ext cx="1213231" cy="1213120"/>
      </dsp:txXfrm>
    </dsp:sp>
    <dsp:sp modelId="{4271B26C-BB4D-44EF-9367-2A8794ED9518}">
      <dsp:nvSpPr>
        <dsp:cNvPr id="0" name=""/>
        <dsp:cNvSpPr/>
      </dsp:nvSpPr>
      <dsp:spPr>
        <a:xfrm>
          <a:off x="11152414" y="1936865"/>
          <a:ext cx="169445" cy="169502"/>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478725-184B-4FDA-A629-EF9447610DE8}">
      <dsp:nvSpPr>
        <dsp:cNvPr id="0" name=""/>
        <dsp:cNvSpPr/>
      </dsp:nvSpPr>
      <dsp:spPr>
        <a:xfrm>
          <a:off x="10864466" y="1936865"/>
          <a:ext cx="169445" cy="169502"/>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B0D218-5A1C-435F-B6F9-4248C215E305}">
      <dsp:nvSpPr>
        <dsp:cNvPr id="0" name=""/>
        <dsp:cNvSpPr/>
      </dsp:nvSpPr>
      <dsp:spPr>
        <a:xfrm>
          <a:off x="10576517" y="1936865"/>
          <a:ext cx="169445" cy="169502"/>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A797E5-6CEE-4344-8919-811F3E5CB93F}">
      <dsp:nvSpPr>
        <dsp:cNvPr id="0" name=""/>
        <dsp:cNvSpPr/>
      </dsp:nvSpPr>
      <dsp:spPr>
        <a:xfrm>
          <a:off x="10288569" y="1936865"/>
          <a:ext cx="169445" cy="169502"/>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241918-1F0B-434C-B875-B77E28F6D1FF}">
      <dsp:nvSpPr>
        <dsp:cNvPr id="0" name=""/>
        <dsp:cNvSpPr/>
      </dsp:nvSpPr>
      <dsp:spPr>
        <a:xfrm>
          <a:off x="10000621" y="1936865"/>
          <a:ext cx="169445" cy="16950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DCBAC0-C653-4521-A167-0B7122F942C3}">
      <dsp:nvSpPr>
        <dsp:cNvPr id="0" name=""/>
        <dsp:cNvSpPr/>
      </dsp:nvSpPr>
      <dsp:spPr>
        <a:xfrm>
          <a:off x="9542866" y="1852114"/>
          <a:ext cx="339251" cy="339004"/>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15070E-C2B7-4BF7-9485-213B801E83B7}">
      <dsp:nvSpPr>
        <dsp:cNvPr id="0" name=""/>
        <dsp:cNvSpPr/>
      </dsp:nvSpPr>
      <dsp:spPr>
        <a:xfrm>
          <a:off x="10876027" y="1586709"/>
          <a:ext cx="169445" cy="169502"/>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9FF9CD-CA49-471B-8113-EFD716C25BEC}">
      <dsp:nvSpPr>
        <dsp:cNvPr id="0" name=""/>
        <dsp:cNvSpPr/>
      </dsp:nvSpPr>
      <dsp:spPr>
        <a:xfrm>
          <a:off x="10876027" y="2289594"/>
          <a:ext cx="169445" cy="169502"/>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026860-BDCD-4AD7-9839-8F49E4A7DB60}">
      <dsp:nvSpPr>
        <dsp:cNvPr id="0" name=""/>
        <dsp:cNvSpPr/>
      </dsp:nvSpPr>
      <dsp:spPr>
        <a:xfrm>
          <a:off x="11027408" y="1739055"/>
          <a:ext cx="169445" cy="169502"/>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D63234-BB28-4C29-AC66-491E26A966EF}">
      <dsp:nvSpPr>
        <dsp:cNvPr id="0" name=""/>
        <dsp:cNvSpPr/>
      </dsp:nvSpPr>
      <dsp:spPr>
        <a:xfrm>
          <a:off x="11037524" y="2138106"/>
          <a:ext cx="169445" cy="16950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2B3C98-DE47-41CA-93F3-2CD7DE3C1F8B}">
      <dsp:nvSpPr>
        <dsp:cNvPr id="0" name=""/>
        <dsp:cNvSpPr/>
      </dsp:nvSpPr>
      <dsp:spPr>
        <a:xfrm>
          <a:off x="7708956" y="1163811"/>
          <a:ext cx="1715767" cy="171561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SUPERVISOR </a:t>
          </a:r>
          <a:endParaRPr lang="en-US" sz="1700" kern="1200" dirty="0"/>
        </a:p>
      </dsp:txBody>
      <dsp:txXfrm>
        <a:off x="7960224" y="1415056"/>
        <a:ext cx="1213231" cy="1213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52F11-8BE4-4F27-8E72-FC45A13E6E38}">
      <dsp:nvSpPr>
        <dsp:cNvPr id="0" name=""/>
        <dsp:cNvSpPr/>
      </dsp:nvSpPr>
      <dsp:spPr>
        <a:xfrm>
          <a:off x="0" y="1049545"/>
          <a:ext cx="3701561" cy="222093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lvl="0" algn="ctr" defTabSz="2622550">
            <a:lnSpc>
              <a:spcPct val="90000"/>
            </a:lnSpc>
            <a:spcBef>
              <a:spcPct val="0"/>
            </a:spcBef>
            <a:spcAft>
              <a:spcPct val="35000"/>
            </a:spcAft>
          </a:pPr>
          <a:r>
            <a:rPr lang="en-US" sz="5900" kern="1200" dirty="0" smtClean="0"/>
            <a:t>Before the Interview  </a:t>
          </a:r>
          <a:endParaRPr lang="en-US" sz="5900" kern="1200" dirty="0"/>
        </a:p>
      </dsp:txBody>
      <dsp:txXfrm>
        <a:off x="0" y="1049545"/>
        <a:ext cx="3701561" cy="2220936"/>
      </dsp:txXfrm>
    </dsp:sp>
    <dsp:sp modelId="{25C22B1D-31EA-4047-BD1E-F5738C27482A}">
      <dsp:nvSpPr>
        <dsp:cNvPr id="0" name=""/>
        <dsp:cNvSpPr/>
      </dsp:nvSpPr>
      <dsp:spPr>
        <a:xfrm>
          <a:off x="8059039" y="1069134"/>
          <a:ext cx="3701561" cy="222093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lvl="0" algn="ctr" defTabSz="2622550">
            <a:lnSpc>
              <a:spcPct val="90000"/>
            </a:lnSpc>
            <a:spcBef>
              <a:spcPct val="0"/>
            </a:spcBef>
            <a:spcAft>
              <a:spcPct val="35000"/>
            </a:spcAft>
          </a:pPr>
          <a:r>
            <a:rPr lang="en-US" sz="5900" kern="1200" dirty="0" smtClean="0"/>
            <a:t>After the Interview </a:t>
          </a:r>
          <a:endParaRPr lang="en-US" sz="5900" kern="1200" dirty="0"/>
        </a:p>
      </dsp:txBody>
      <dsp:txXfrm>
        <a:off x="8059039" y="1069134"/>
        <a:ext cx="3701561" cy="2220936"/>
      </dsp:txXfrm>
    </dsp:sp>
    <dsp:sp modelId="{E195424D-7E22-4C47-BC55-FA664419C919}">
      <dsp:nvSpPr>
        <dsp:cNvPr id="0" name=""/>
        <dsp:cNvSpPr/>
      </dsp:nvSpPr>
      <dsp:spPr>
        <a:xfrm>
          <a:off x="4006052" y="1063604"/>
          <a:ext cx="3701561" cy="222093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lvl="0" algn="ctr" defTabSz="2622550">
            <a:lnSpc>
              <a:spcPct val="90000"/>
            </a:lnSpc>
            <a:spcBef>
              <a:spcPct val="0"/>
            </a:spcBef>
            <a:spcAft>
              <a:spcPct val="35000"/>
            </a:spcAft>
          </a:pPr>
          <a:r>
            <a:rPr lang="en-US" sz="5900" kern="1200" dirty="0" smtClean="0"/>
            <a:t>During the Interview</a:t>
          </a:r>
          <a:endParaRPr lang="en-US" sz="5900" kern="1200" dirty="0"/>
        </a:p>
      </dsp:txBody>
      <dsp:txXfrm>
        <a:off x="4006052" y="1063604"/>
        <a:ext cx="3701561" cy="2220936"/>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7D79B1-406D-4A22-84E6-E1473072E968}"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3AAF96-7E45-4472-9846-2D64922A0955}" type="slidenum">
              <a:rPr lang="en-US" smtClean="0"/>
              <a:t>‹#›</a:t>
            </a:fld>
            <a:endParaRPr lang="en-US"/>
          </a:p>
        </p:txBody>
      </p:sp>
    </p:spTree>
    <p:extLst>
      <p:ext uri="{BB962C8B-B14F-4D97-AF65-F5344CB8AC3E}">
        <p14:creationId xmlns:p14="http://schemas.microsoft.com/office/powerpoint/2010/main" val="218823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3AAF96-7E45-4472-9846-2D64922A0955}" type="slidenum">
              <a:rPr lang="en-US" smtClean="0"/>
              <a:t>8</a:t>
            </a:fld>
            <a:endParaRPr lang="en-US"/>
          </a:p>
        </p:txBody>
      </p:sp>
    </p:spTree>
    <p:extLst>
      <p:ext uri="{BB962C8B-B14F-4D97-AF65-F5344CB8AC3E}">
        <p14:creationId xmlns:p14="http://schemas.microsoft.com/office/powerpoint/2010/main" val="2344234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3AAF96-7E45-4472-9846-2D64922A0955}" type="slidenum">
              <a:rPr lang="en-US" smtClean="0"/>
              <a:t>17</a:t>
            </a:fld>
            <a:endParaRPr lang="en-US"/>
          </a:p>
        </p:txBody>
      </p:sp>
    </p:spTree>
    <p:extLst>
      <p:ext uri="{BB962C8B-B14F-4D97-AF65-F5344CB8AC3E}">
        <p14:creationId xmlns:p14="http://schemas.microsoft.com/office/powerpoint/2010/main" val="836770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D2E16E-9A97-4BF0-8E89-23BC25F5E6BF}"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1647460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D2E16E-9A97-4BF0-8E89-23BC25F5E6BF}"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2369939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2D2E16E-9A97-4BF0-8E89-23BC25F5E6BF}"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2405658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D2E16E-9A97-4BF0-8E89-23BC25F5E6BF}"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296772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D2E16E-9A97-4BF0-8E89-23BC25F5E6BF}"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304746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D2E16E-9A97-4BF0-8E89-23BC25F5E6BF}"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87133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2E16E-9A97-4BF0-8E89-23BC25F5E6BF}"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3458161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D2E16E-9A97-4BF0-8E89-23BC25F5E6BF}"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864096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D2E16E-9A97-4BF0-8E89-23BC25F5E6BF}"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736697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D2E16E-9A97-4BF0-8E89-23BC25F5E6BF}"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4268000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D2E16E-9A97-4BF0-8E89-23BC25F5E6BF}"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9B4AD8-A58E-494C-9D68-F4C2EA9664AD}" type="slidenum">
              <a:rPr lang="en-US" smtClean="0"/>
              <a:t>‹#›</a:t>
            </a:fld>
            <a:endParaRPr lang="en-US"/>
          </a:p>
        </p:txBody>
      </p:sp>
    </p:spTree>
    <p:extLst>
      <p:ext uri="{BB962C8B-B14F-4D97-AF65-F5344CB8AC3E}">
        <p14:creationId xmlns:p14="http://schemas.microsoft.com/office/powerpoint/2010/main" val="291448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D2E16E-9A97-4BF0-8E89-23BC25F5E6BF}" type="datetimeFigureOut">
              <a:rPr lang="en-US" smtClean="0"/>
              <a:t>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9B4AD8-A58E-494C-9D68-F4C2EA9664AD}" type="slidenum">
              <a:rPr lang="en-US" smtClean="0"/>
              <a:t>‹#›</a:t>
            </a:fld>
            <a:endParaRPr lang="en-US"/>
          </a:p>
        </p:txBody>
      </p:sp>
    </p:spTree>
    <p:extLst>
      <p:ext uri="{BB962C8B-B14F-4D97-AF65-F5344CB8AC3E}">
        <p14:creationId xmlns:p14="http://schemas.microsoft.com/office/powerpoint/2010/main" val="2896637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dirty="0" smtClean="0"/>
              <a:t>Interview skills </a:t>
            </a:r>
            <a:endParaRPr lang="en-US" sz="7200"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654146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09" y="182881"/>
            <a:ext cx="11915335" cy="928468"/>
          </a:xfrm>
        </p:spPr>
        <p:txBody>
          <a:bodyPr>
            <a:normAutofit/>
          </a:bodyPr>
          <a:lstStyle/>
          <a:p>
            <a:pPr algn="ctr"/>
            <a:r>
              <a:rPr lang="en-US" sz="6000" b="1" dirty="0" smtClean="0">
                <a:effectLst>
                  <a:outerShdw blurRad="38100" dist="38100" dir="2700000" algn="tl">
                    <a:srgbClr val="000000">
                      <a:alpha val="43137"/>
                    </a:srgbClr>
                  </a:outerShdw>
                </a:effectLst>
              </a:rPr>
              <a:t>Purpose of Interview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6609" y="1111349"/>
            <a:ext cx="11915335" cy="5613008"/>
          </a:xfrm>
        </p:spPr>
        <p:txBody>
          <a:bodyPr>
            <a:noAutofit/>
          </a:bodyPr>
          <a:lstStyle/>
          <a:p>
            <a:pPr algn="just"/>
            <a:r>
              <a:rPr lang="en-US" sz="4000" dirty="0" smtClean="0"/>
              <a:t>Whether you are completing your education and searching for your first serious position or whether you are in the workforce and striving to change jobs—a job interview can be life changing. Because employment is a major part of everyone’s life, the job interview takes on enormous importance. </a:t>
            </a:r>
          </a:p>
          <a:p>
            <a:pPr algn="just"/>
            <a:r>
              <a:rPr lang="en-US" sz="4000" dirty="0"/>
              <a:t>A</a:t>
            </a:r>
            <a:r>
              <a:rPr lang="en-US" sz="4000" dirty="0" smtClean="0"/>
              <a:t> job interview is </a:t>
            </a:r>
            <a:r>
              <a:rPr lang="en-US" sz="4000" b="1" dirty="0" smtClean="0">
                <a:solidFill>
                  <a:srgbClr val="FF0000"/>
                </a:solidFill>
              </a:rPr>
              <a:t>a two-way street</a:t>
            </a:r>
            <a:r>
              <a:rPr lang="en-US" sz="4000" dirty="0" smtClean="0"/>
              <a:t>. It is not just about being judged by the employer. You, the applicant, will be using the job interview to evaluate the employer. Do you really want to work for this organization?</a:t>
            </a:r>
            <a:endParaRPr lang="en-US" sz="4000" dirty="0"/>
          </a:p>
        </p:txBody>
      </p:sp>
    </p:spTree>
    <p:extLst>
      <p:ext uri="{BB962C8B-B14F-4D97-AF65-F5344CB8AC3E}">
        <p14:creationId xmlns:p14="http://schemas.microsoft.com/office/powerpoint/2010/main" val="465701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42" y="1"/>
            <a:ext cx="11971606" cy="1690688"/>
          </a:xfrm>
        </p:spPr>
        <p:txBody>
          <a:bodyPr>
            <a:noAutofit/>
          </a:bodyPr>
          <a:lstStyle/>
          <a:p>
            <a:pPr algn="ctr"/>
            <a:r>
              <a:rPr lang="en-US" sz="5400" b="1" dirty="0" smtClean="0">
                <a:effectLst>
                  <a:outerShdw blurRad="38100" dist="38100" dir="2700000" algn="tl">
                    <a:srgbClr val="000000">
                      <a:alpha val="43137"/>
                    </a:srgbClr>
                  </a:outerShdw>
                </a:effectLst>
              </a:rPr>
              <a:t>Purposes of Employment Interviews/ as candidate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4000" dirty="0"/>
              <a:t>C</a:t>
            </a:r>
            <a:r>
              <a:rPr lang="en-US" sz="4000" dirty="0" smtClean="0"/>
              <a:t>onvince the employer of your potential</a:t>
            </a:r>
          </a:p>
          <a:p>
            <a:r>
              <a:rPr lang="en-US" sz="4000" dirty="0"/>
              <a:t>L</a:t>
            </a:r>
            <a:r>
              <a:rPr lang="en-US" sz="4000" dirty="0" smtClean="0"/>
              <a:t>earn more about the job and the company</a:t>
            </a:r>
          </a:p>
          <a:p>
            <a:r>
              <a:rPr lang="en-US" sz="4000" dirty="0"/>
              <a:t>E</a:t>
            </a:r>
            <a:r>
              <a:rPr lang="en-US" sz="4000" dirty="0" smtClean="0"/>
              <a:t>xpand on the information in your résumé.</a:t>
            </a:r>
            <a:endParaRPr lang="en-US" sz="4000" dirty="0"/>
          </a:p>
        </p:txBody>
      </p:sp>
    </p:spTree>
    <p:extLst>
      <p:ext uri="{BB962C8B-B14F-4D97-AF65-F5344CB8AC3E}">
        <p14:creationId xmlns:p14="http://schemas.microsoft.com/office/powerpoint/2010/main" val="31407670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09" y="365125"/>
            <a:ext cx="11859065" cy="1325563"/>
          </a:xfrm>
        </p:spPr>
        <p:txBody>
          <a:bodyPr>
            <a:noAutofit/>
          </a:bodyPr>
          <a:lstStyle/>
          <a:p>
            <a:pPr algn="ctr"/>
            <a:r>
              <a:rPr lang="en-US" sz="5400" b="1" dirty="0" smtClean="0">
                <a:effectLst>
                  <a:outerShdw blurRad="38100" dist="38100" dir="2700000" algn="tl">
                    <a:srgbClr val="000000">
                      <a:alpha val="43137"/>
                    </a:srgbClr>
                  </a:outerShdw>
                </a:effectLst>
              </a:rPr>
              <a:t>Purposes of Employment Interviews/ As Employer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67286" y="1825624"/>
            <a:ext cx="11718388" cy="4856529"/>
          </a:xfrm>
        </p:spPr>
        <p:txBody>
          <a:bodyPr>
            <a:normAutofit/>
          </a:bodyPr>
          <a:lstStyle/>
          <a:p>
            <a:r>
              <a:rPr lang="en-US" sz="4000" dirty="0"/>
              <a:t>A</a:t>
            </a:r>
            <a:r>
              <a:rPr lang="en-US" sz="4000" dirty="0" smtClean="0"/>
              <a:t>ssess your abilities in relation to the requirements for the position</a:t>
            </a:r>
          </a:p>
          <a:p>
            <a:r>
              <a:rPr lang="en-US" sz="4000" dirty="0" smtClean="0"/>
              <a:t>Discuss your training, experience, knowledge, and abilities in more detail</a:t>
            </a:r>
          </a:p>
          <a:p>
            <a:r>
              <a:rPr lang="en-US" sz="4000" dirty="0" smtClean="0"/>
              <a:t>See what drives and motivates you</a:t>
            </a:r>
          </a:p>
          <a:p>
            <a:r>
              <a:rPr lang="en-US" sz="4000" dirty="0"/>
              <a:t>D</a:t>
            </a:r>
            <a:r>
              <a:rPr lang="en-US" sz="4000" dirty="0" smtClean="0"/>
              <a:t>ecide whether you would fit into the organization.</a:t>
            </a:r>
            <a:endParaRPr lang="en-US" sz="4000" dirty="0"/>
          </a:p>
        </p:txBody>
      </p:sp>
    </p:spTree>
    <p:extLst>
      <p:ext uri="{BB962C8B-B14F-4D97-AF65-F5344CB8AC3E}">
        <p14:creationId xmlns:p14="http://schemas.microsoft.com/office/powerpoint/2010/main" val="20872900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84148" cy="1325563"/>
          </a:xfrm>
        </p:spPr>
        <p:txBody>
          <a:bodyPr>
            <a:normAutofit/>
          </a:bodyPr>
          <a:lstStyle/>
          <a:p>
            <a:pPr algn="ctr"/>
            <a:r>
              <a:rPr lang="en-US" sz="6000" b="1" dirty="0" smtClean="0">
                <a:effectLst>
                  <a:outerShdw blurRad="38100" dist="38100" dir="2700000" algn="tl">
                    <a:srgbClr val="000000">
                      <a:alpha val="43137"/>
                    </a:srgbClr>
                  </a:outerShdw>
                </a:effectLst>
              </a:rPr>
              <a:t>Types of Employment Interviews</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11015" y="1325563"/>
            <a:ext cx="11873133" cy="5286252"/>
          </a:xfrm>
        </p:spPr>
        <p:txBody>
          <a:bodyPr>
            <a:normAutofit/>
          </a:bodyPr>
          <a:lstStyle/>
          <a:p>
            <a:r>
              <a:rPr lang="en-US" sz="4000" dirty="0" smtClean="0"/>
              <a:t>Job applicants generally face two kinds of interviews: </a:t>
            </a:r>
          </a:p>
          <a:p>
            <a:r>
              <a:rPr lang="en-US" sz="4000" b="1" u="sng" dirty="0">
                <a:solidFill>
                  <a:schemeClr val="accent6">
                    <a:lumMod val="60000"/>
                    <a:lumOff val="40000"/>
                  </a:schemeClr>
                </a:solidFill>
              </a:rPr>
              <a:t>S</a:t>
            </a:r>
            <a:r>
              <a:rPr lang="en-US" sz="4000" b="1" u="sng" dirty="0" smtClean="0">
                <a:solidFill>
                  <a:schemeClr val="accent6">
                    <a:lumMod val="60000"/>
                    <a:lumOff val="40000"/>
                  </a:schemeClr>
                </a:solidFill>
              </a:rPr>
              <a:t>creening interviews </a:t>
            </a:r>
            <a:r>
              <a:rPr lang="en-US" sz="4000" dirty="0" smtClean="0"/>
              <a:t>and </a:t>
            </a:r>
          </a:p>
          <a:p>
            <a:r>
              <a:rPr lang="en-US" sz="4000" b="1" u="sng" dirty="0">
                <a:solidFill>
                  <a:srgbClr val="FF0000"/>
                </a:solidFill>
              </a:rPr>
              <a:t>H</a:t>
            </a:r>
            <a:r>
              <a:rPr lang="en-US" sz="4000" b="1" u="sng" dirty="0" smtClean="0">
                <a:solidFill>
                  <a:srgbClr val="FF0000"/>
                </a:solidFill>
              </a:rPr>
              <a:t>iring/placement interviews</a:t>
            </a:r>
            <a:r>
              <a:rPr lang="en-US" sz="4000" dirty="0" smtClean="0"/>
              <a:t>. </a:t>
            </a:r>
          </a:p>
          <a:p>
            <a:r>
              <a:rPr lang="en-US" sz="4000" dirty="0" smtClean="0"/>
              <a:t>You must succeed in the first to proceed to the second. </a:t>
            </a:r>
          </a:p>
          <a:p>
            <a:r>
              <a:rPr lang="en-US" sz="4000" dirty="0" smtClean="0"/>
              <a:t>Once you make it to the hiring/placement interview, you will find a variety of interview styles, including one-on-one, panel, group, sequential, stress, and online interviews.</a:t>
            </a:r>
            <a:endParaRPr lang="en-US" sz="4000" dirty="0"/>
          </a:p>
        </p:txBody>
      </p:sp>
    </p:spTree>
    <p:extLst>
      <p:ext uri="{BB962C8B-B14F-4D97-AF65-F5344CB8AC3E}">
        <p14:creationId xmlns:p14="http://schemas.microsoft.com/office/powerpoint/2010/main" val="33123558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C000"/>
          </a:solidFill>
        </p:spPr>
        <p:txBody>
          <a:bodyPr>
            <a:normAutofit/>
          </a:bodyPr>
          <a:lstStyle/>
          <a:p>
            <a:pPr algn="ctr"/>
            <a:r>
              <a:rPr lang="en-US" sz="6000" b="1" dirty="0" smtClean="0">
                <a:effectLst>
                  <a:outerShdw blurRad="38100" dist="38100" dir="2700000" algn="tl">
                    <a:srgbClr val="000000">
                      <a:alpha val="43137"/>
                    </a:srgbClr>
                  </a:outerShdw>
                </a:effectLst>
              </a:rPr>
              <a:t>Screening Interviews</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4"/>
            <a:ext cx="12192000" cy="5532436"/>
          </a:xfrm>
        </p:spPr>
        <p:txBody>
          <a:bodyPr>
            <a:normAutofit/>
          </a:bodyPr>
          <a:lstStyle/>
          <a:p>
            <a:pPr algn="just"/>
            <a:r>
              <a:rPr lang="en-US" sz="3200" dirty="0" smtClean="0"/>
              <a:t>Screen candidates to eliminate those who fail to meet minimum requirements.</a:t>
            </a:r>
          </a:p>
          <a:p>
            <a:pPr algn="just"/>
            <a:r>
              <a:rPr lang="en-US" sz="3200" dirty="0"/>
              <a:t>S</a:t>
            </a:r>
            <a:r>
              <a:rPr lang="en-US" sz="3200" dirty="0" smtClean="0"/>
              <a:t>ave time and money by weeding out lesser-qualified candidates before scheduling face-to-face interviews. </a:t>
            </a:r>
          </a:p>
          <a:p>
            <a:pPr algn="just"/>
            <a:r>
              <a:rPr lang="en-US" sz="3200" dirty="0"/>
              <a:t>T</a:t>
            </a:r>
            <a:r>
              <a:rPr lang="en-US" sz="3200" dirty="0" smtClean="0"/>
              <a:t>he person conducting the screening interview is trying to determine whether you should move on </a:t>
            </a:r>
            <a:r>
              <a:rPr lang="en-US" sz="3200" b="1" u="sng" dirty="0" smtClean="0"/>
              <a:t>to the next step </a:t>
            </a:r>
            <a:r>
              <a:rPr lang="en-US" sz="3200" dirty="0" smtClean="0"/>
              <a:t>in the interview process.</a:t>
            </a:r>
          </a:p>
          <a:p>
            <a:pPr algn="just"/>
            <a:r>
              <a:rPr lang="en-US" sz="3200" dirty="0" smtClean="0"/>
              <a:t>A screening interview may be as </a:t>
            </a:r>
            <a:r>
              <a:rPr lang="en-US" sz="3200" b="1" u="sng" dirty="0" smtClean="0">
                <a:solidFill>
                  <a:srgbClr val="FF0000"/>
                </a:solidFill>
              </a:rPr>
              <a:t>short as five minutes. </a:t>
            </a:r>
          </a:p>
          <a:p>
            <a:pPr algn="just"/>
            <a:r>
              <a:rPr lang="en-US" sz="3200" dirty="0" smtClean="0"/>
              <a:t>Even though it may be short, don’t treat it casually. </a:t>
            </a:r>
          </a:p>
          <a:p>
            <a:pPr algn="just"/>
            <a:r>
              <a:rPr lang="en-US" sz="3200" dirty="0" smtClean="0"/>
              <a:t>If you don’t perform well during the screening interview, </a:t>
            </a:r>
            <a:r>
              <a:rPr lang="en-US" sz="3200" b="1" u="sng" dirty="0" smtClean="0">
                <a:solidFill>
                  <a:srgbClr val="FF0000"/>
                </a:solidFill>
                <a:effectLst>
                  <a:outerShdw blurRad="38100" dist="38100" dir="2700000" algn="tl">
                    <a:srgbClr val="000000">
                      <a:alpha val="43137"/>
                    </a:srgbClr>
                  </a:outerShdw>
                </a:effectLst>
              </a:rPr>
              <a:t>it may be your last interview with that organization.</a:t>
            </a:r>
            <a:r>
              <a:rPr lang="en-US" sz="3200" dirty="0" smtClean="0"/>
              <a:t> </a:t>
            </a:r>
            <a:endParaRPr lang="en-US" sz="3200" dirty="0"/>
          </a:p>
        </p:txBody>
      </p:sp>
    </p:spTree>
    <p:extLst>
      <p:ext uri="{BB962C8B-B14F-4D97-AF65-F5344CB8AC3E}">
        <p14:creationId xmlns:p14="http://schemas.microsoft.com/office/powerpoint/2010/main" val="2407784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Hiring/Placement Interviews</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68811" y="1325563"/>
            <a:ext cx="11873133" cy="5398794"/>
          </a:xfrm>
        </p:spPr>
        <p:txBody>
          <a:bodyPr>
            <a:normAutofit/>
          </a:bodyPr>
          <a:lstStyle/>
          <a:p>
            <a:r>
              <a:rPr lang="en-US" sz="3600" dirty="0" smtClean="0"/>
              <a:t>The most promising candidates selected from screening interviews are invited to hiring/placement interviews.</a:t>
            </a:r>
          </a:p>
          <a:p>
            <a:r>
              <a:rPr lang="en-US" sz="3600" dirty="0" smtClean="0"/>
              <a:t>Recruiters try to learn how the candidate would fit into their organization.</a:t>
            </a:r>
          </a:p>
          <a:p>
            <a:r>
              <a:rPr lang="en-US" sz="3600" dirty="0"/>
              <a:t>T</a:t>
            </a:r>
            <a:r>
              <a:rPr lang="en-US" sz="3600" dirty="0" smtClean="0"/>
              <a:t>o learn whether candidates are motivated, qualified, and a good fit for the position. </a:t>
            </a:r>
          </a:p>
          <a:p>
            <a:r>
              <a:rPr lang="en-US" sz="3600" dirty="0" smtClean="0">
                <a:solidFill>
                  <a:srgbClr val="FF0000"/>
                </a:solidFill>
              </a:rPr>
              <a:t>One-on-One interview</a:t>
            </a:r>
          </a:p>
          <a:p>
            <a:r>
              <a:rPr lang="en-US" sz="3600" dirty="0" smtClean="0">
                <a:solidFill>
                  <a:srgbClr val="FF0000"/>
                </a:solidFill>
              </a:rPr>
              <a:t>Panel interviews </a:t>
            </a:r>
          </a:p>
          <a:p>
            <a:endParaRPr lang="en-US" sz="3600" dirty="0"/>
          </a:p>
        </p:txBody>
      </p:sp>
    </p:spTree>
    <p:extLst>
      <p:ext uri="{BB962C8B-B14F-4D97-AF65-F5344CB8AC3E}">
        <p14:creationId xmlns:p14="http://schemas.microsoft.com/office/powerpoint/2010/main" val="26545381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5400" b="1" dirty="0" smtClean="0">
                <a:effectLst>
                  <a:outerShdw blurRad="38100" dist="38100" dir="2700000" algn="tl">
                    <a:srgbClr val="000000">
                      <a:alpha val="43137"/>
                    </a:srgbClr>
                  </a:outerShdw>
                </a:effectLst>
              </a:rPr>
              <a:t>One-on-One Interview</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82880" y="1167618"/>
            <a:ext cx="11816862" cy="5373859"/>
          </a:xfrm>
        </p:spPr>
        <p:txBody>
          <a:bodyPr>
            <a:normAutofit/>
          </a:bodyPr>
          <a:lstStyle/>
          <a:p>
            <a:pPr algn="just"/>
            <a:r>
              <a:rPr lang="en-US" sz="4000" dirty="0" smtClean="0"/>
              <a:t>In one-on-one interviews, which are the most common type, you can expect to sit down with a company representative and talk about </a:t>
            </a:r>
            <a:r>
              <a:rPr lang="en-US" sz="4000" dirty="0" smtClean="0">
                <a:solidFill>
                  <a:srgbClr val="FF0000"/>
                </a:solidFill>
              </a:rPr>
              <a:t>the job and your qualifications</a:t>
            </a:r>
            <a:r>
              <a:rPr lang="en-US" sz="4000" dirty="0" smtClean="0"/>
              <a:t>. </a:t>
            </a:r>
          </a:p>
          <a:p>
            <a:pPr algn="just"/>
            <a:r>
              <a:rPr lang="en-US" sz="4000" dirty="0" smtClean="0"/>
              <a:t>If the representative is the hiring manager, </a:t>
            </a:r>
            <a:r>
              <a:rPr lang="en-US" sz="4000" dirty="0" smtClean="0">
                <a:solidFill>
                  <a:srgbClr val="FF0000"/>
                </a:solidFill>
              </a:rPr>
              <a:t>questions will be specific and job related</a:t>
            </a:r>
            <a:r>
              <a:rPr lang="en-US" sz="4000" dirty="0" smtClean="0"/>
              <a:t>. </a:t>
            </a:r>
          </a:p>
          <a:p>
            <a:pPr algn="just"/>
            <a:r>
              <a:rPr lang="en-US" sz="4000" dirty="0" smtClean="0"/>
              <a:t>If the representative is from human resources, the </a:t>
            </a:r>
            <a:r>
              <a:rPr lang="en-US" sz="4000" dirty="0" smtClean="0">
                <a:solidFill>
                  <a:srgbClr val="FF0000"/>
                </a:solidFill>
              </a:rPr>
              <a:t>questions will probably be more general. </a:t>
            </a:r>
            <a:endParaRPr lang="en-US" sz="4000" dirty="0">
              <a:solidFill>
                <a:srgbClr val="FF0000"/>
              </a:solidFill>
            </a:endParaRPr>
          </a:p>
        </p:txBody>
      </p:sp>
    </p:spTree>
    <p:extLst>
      <p:ext uri="{BB962C8B-B14F-4D97-AF65-F5344CB8AC3E}">
        <p14:creationId xmlns:p14="http://schemas.microsoft.com/office/powerpoint/2010/main" val="7966961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41945" cy="1325563"/>
          </a:xfrm>
          <a:solidFill>
            <a:srgbClr val="92D050"/>
          </a:solidFill>
        </p:spPr>
        <p:txBody>
          <a:bodyPr>
            <a:normAutofit/>
          </a:bodyPr>
          <a:lstStyle/>
          <a:p>
            <a:pPr algn="ctr"/>
            <a:r>
              <a:rPr lang="en-US" sz="6000" b="1" dirty="0" smtClean="0">
                <a:effectLst>
                  <a:outerShdw blurRad="38100" dist="38100" dir="2700000" algn="tl">
                    <a:srgbClr val="000000">
                      <a:alpha val="43137"/>
                    </a:srgbClr>
                  </a:outerShdw>
                </a:effectLst>
              </a:rPr>
              <a:t>Panel interview</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1325562"/>
            <a:ext cx="12041945" cy="5532437"/>
          </a:xfrm>
        </p:spPr>
        <p:txBody>
          <a:bodyPr>
            <a:noAutofit/>
          </a:bodyPr>
          <a:lstStyle/>
          <a:p>
            <a:pPr algn="just"/>
            <a:r>
              <a:rPr lang="en-US" sz="3600" dirty="0" smtClean="0"/>
              <a:t>Panel interviews are typically conducted by people who will be your supervisors and colleagues. </a:t>
            </a:r>
          </a:p>
          <a:p>
            <a:pPr algn="just"/>
            <a:r>
              <a:rPr lang="en-US" sz="3600" dirty="0" smtClean="0"/>
              <a:t>Usually seated around a table, interviewers take turns asking questions. Panel interviews are advantageous because they save the company time and money, and they show you how the staff works together. </a:t>
            </a:r>
          </a:p>
        </p:txBody>
      </p:sp>
    </p:spTree>
    <p:extLst>
      <p:ext uri="{BB962C8B-B14F-4D97-AF65-F5344CB8AC3E}">
        <p14:creationId xmlns:p14="http://schemas.microsoft.com/office/powerpoint/2010/main" val="33098496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FF00"/>
          </a:solidFill>
        </p:spPr>
        <p:txBody>
          <a:bodyPr>
            <a:normAutofit/>
          </a:bodyPr>
          <a:lstStyle/>
          <a:p>
            <a:pPr algn="ctr"/>
            <a:r>
              <a:rPr lang="en-US" sz="6000" b="1" dirty="0">
                <a:effectLst>
                  <a:outerShdw blurRad="38100" dist="38100" dir="2700000" algn="tl">
                    <a:srgbClr val="000000">
                      <a:alpha val="43137"/>
                    </a:srgbClr>
                  </a:outerShdw>
                </a:effectLst>
              </a:rPr>
              <a:t>Panel interview</a:t>
            </a:r>
            <a:endParaRPr lang="en-US" sz="6000" dirty="0"/>
          </a:p>
        </p:txBody>
      </p:sp>
      <p:sp>
        <p:nvSpPr>
          <p:cNvPr id="3" name="Content Placeholder 2"/>
          <p:cNvSpPr>
            <a:spLocks noGrp="1"/>
          </p:cNvSpPr>
          <p:nvPr>
            <p:ph idx="1"/>
          </p:nvPr>
        </p:nvSpPr>
        <p:spPr>
          <a:xfrm>
            <a:off x="98474" y="1325563"/>
            <a:ext cx="11957538" cy="5412862"/>
          </a:xfrm>
        </p:spPr>
        <p:txBody>
          <a:bodyPr/>
          <a:lstStyle/>
          <a:p>
            <a:pPr algn="just"/>
            <a:r>
              <a:rPr lang="en-US" sz="3600" dirty="0" smtClean="0"/>
              <a:t>For these interviews, you can prepare basic biographical information about each panel member. </a:t>
            </a:r>
          </a:p>
          <a:p>
            <a:pPr algn="just"/>
            <a:r>
              <a:rPr lang="en-US" sz="3600" dirty="0" smtClean="0"/>
              <a:t>When answering questions, maintain eye contact with the questioner as well as with the others.</a:t>
            </a:r>
          </a:p>
          <a:p>
            <a:pPr algn="just"/>
            <a:r>
              <a:rPr lang="en-US" sz="3600" dirty="0" smtClean="0"/>
              <a:t> Try to take notes during the interview so that you can remember each person’s questions and what was important to that individual.</a:t>
            </a:r>
          </a:p>
          <a:p>
            <a:pPr marL="0" indent="0">
              <a:buNone/>
            </a:pPr>
            <a:endParaRPr lang="en-US" dirty="0"/>
          </a:p>
        </p:txBody>
      </p:sp>
    </p:spTree>
    <p:extLst>
      <p:ext uri="{BB962C8B-B14F-4D97-AF65-F5344CB8AC3E}">
        <p14:creationId xmlns:p14="http://schemas.microsoft.com/office/powerpoint/2010/main" val="2545367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sz="5400" b="1" dirty="0" smtClean="0">
                <a:effectLst>
                  <a:outerShdw blurRad="38100" dist="38100" dir="2700000" algn="tl">
                    <a:srgbClr val="000000">
                      <a:alpha val="43137"/>
                    </a:srgbClr>
                  </a:outerShdw>
                </a:effectLst>
              </a:rPr>
              <a:t>Group interviews</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223888"/>
            <a:ext cx="12070080" cy="5634111"/>
          </a:xfrm>
        </p:spPr>
        <p:txBody>
          <a:bodyPr>
            <a:normAutofit/>
          </a:bodyPr>
          <a:lstStyle/>
          <a:p>
            <a:pPr algn="just"/>
            <a:r>
              <a:rPr lang="en-US" sz="3200" dirty="0" smtClean="0"/>
              <a:t>Group interviews occur when a company interviews several candidates for </a:t>
            </a:r>
            <a:r>
              <a:rPr lang="en-US" sz="3200" dirty="0" smtClean="0">
                <a:solidFill>
                  <a:srgbClr val="FF0000"/>
                </a:solidFill>
              </a:rPr>
              <a:t>the same position at the same time</a:t>
            </a:r>
            <a:r>
              <a:rPr lang="en-US" sz="3200" dirty="0" smtClean="0"/>
              <a:t>. </a:t>
            </a:r>
          </a:p>
          <a:p>
            <a:pPr algn="just"/>
            <a:r>
              <a:rPr lang="en-US" sz="3200" dirty="0" smtClean="0"/>
              <a:t>Some employers use this technique to </a:t>
            </a:r>
            <a:r>
              <a:rPr lang="en-US" sz="3200" b="1" u="sng" dirty="0" smtClean="0">
                <a:solidFill>
                  <a:srgbClr val="FFC000"/>
                </a:solidFill>
              </a:rPr>
              <a:t>measure leadership skills and communication styles. </a:t>
            </a:r>
          </a:p>
          <a:p>
            <a:pPr algn="just"/>
            <a:r>
              <a:rPr lang="en-US" sz="3200" dirty="0" smtClean="0"/>
              <a:t>During a group interview, stay focused on the interviewer, and treat the other candidates with respect. </a:t>
            </a:r>
          </a:p>
          <a:p>
            <a:pPr algn="just"/>
            <a:r>
              <a:rPr lang="en-US" sz="3200" dirty="0" smtClean="0"/>
              <a:t>Even if you are nervous</a:t>
            </a:r>
            <a:r>
              <a:rPr lang="en-US" sz="3200" b="1" dirty="0" smtClean="0">
                <a:solidFill>
                  <a:srgbClr val="FF0000"/>
                </a:solidFill>
              </a:rPr>
              <a:t>, try to remain calm, take your time when responding, and express yourself clearly</a:t>
            </a:r>
            <a:r>
              <a:rPr lang="en-US" sz="3200" dirty="0" smtClean="0"/>
              <a:t>. </a:t>
            </a:r>
          </a:p>
          <a:p>
            <a:pPr algn="just"/>
            <a:r>
              <a:rPr lang="en-US" sz="3200" dirty="0" smtClean="0"/>
              <a:t>The key during a group interview is to make yourself stand out from the other candidates in a positive way. </a:t>
            </a:r>
            <a:endParaRPr lang="en-US" sz="3200" dirty="0"/>
          </a:p>
        </p:txBody>
      </p:sp>
    </p:spTree>
    <p:extLst>
      <p:ext uri="{BB962C8B-B14F-4D97-AF65-F5344CB8AC3E}">
        <p14:creationId xmlns:p14="http://schemas.microsoft.com/office/powerpoint/2010/main" val="4160242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41"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Sequential Interviews</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93895" y="1223889"/>
            <a:ext cx="11685564" cy="4953074"/>
          </a:xfrm>
        </p:spPr>
        <p:txBody>
          <a:bodyPr>
            <a:normAutofit/>
          </a:bodyPr>
          <a:lstStyle/>
          <a:p>
            <a:pPr algn="just"/>
            <a:r>
              <a:rPr lang="en-US" sz="3200" dirty="0" smtClean="0"/>
              <a:t>In a sequential interview, you meet individually with two or more interviewers one-on-one over the course of several hours or days. For example, you may meet with human resources representatives, your hiring manager, and potential future supervisors and colleagues in your division or department. </a:t>
            </a:r>
          </a:p>
        </p:txBody>
      </p:sp>
      <p:graphicFrame>
        <p:nvGraphicFramePr>
          <p:cNvPr id="4" name="Diagram 3"/>
          <p:cNvGraphicFramePr/>
          <p:nvPr>
            <p:extLst>
              <p:ext uri="{D42A27DB-BD31-4B8C-83A1-F6EECF244321}">
                <p14:modId xmlns:p14="http://schemas.microsoft.com/office/powerpoint/2010/main" val="322323087"/>
              </p:ext>
            </p:extLst>
          </p:nvPr>
        </p:nvGraphicFramePr>
        <p:xfrm>
          <a:off x="393895" y="3024552"/>
          <a:ext cx="11324493" cy="4043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0749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a:effectLst>
                  <a:outerShdw blurRad="38100" dist="38100" dir="2700000" algn="tl">
                    <a:srgbClr val="000000">
                      <a:alpha val="43137"/>
                    </a:srgbClr>
                  </a:outerShdw>
                </a:effectLst>
              </a:rPr>
              <a:t>Sequential Interviews</a:t>
            </a:r>
            <a:endParaRPr lang="en-US" sz="6000" dirty="0"/>
          </a:p>
        </p:txBody>
      </p:sp>
      <p:sp>
        <p:nvSpPr>
          <p:cNvPr id="3" name="Content Placeholder 2"/>
          <p:cNvSpPr>
            <a:spLocks noGrp="1"/>
          </p:cNvSpPr>
          <p:nvPr>
            <p:ph idx="1"/>
          </p:nvPr>
        </p:nvSpPr>
        <p:spPr>
          <a:xfrm>
            <a:off x="112543" y="1434904"/>
            <a:ext cx="11943470" cy="5233181"/>
          </a:xfrm>
        </p:spPr>
        <p:txBody>
          <a:bodyPr>
            <a:normAutofit/>
          </a:bodyPr>
          <a:lstStyle/>
          <a:p>
            <a:pPr algn="just"/>
            <a:r>
              <a:rPr lang="en-US" sz="3600" dirty="0" smtClean="0"/>
              <a:t>You must listen carefully and respond positively to all interviewers. </a:t>
            </a:r>
          </a:p>
          <a:p>
            <a:pPr algn="just"/>
            <a:r>
              <a:rPr lang="en-US" sz="3600" dirty="0" smtClean="0"/>
              <a:t>Promote your qualifications to each one; don’t assume that any interviewer knows what was said in a previous interview. </a:t>
            </a:r>
          </a:p>
          <a:p>
            <a:pPr algn="just"/>
            <a:r>
              <a:rPr lang="en-US" sz="3600" dirty="0" smtClean="0"/>
              <a:t>Keep your responses fresh, even when repeating yourself many times over. Subsequent interviews also tend to be more in-depth than first interviews, which means that you need to be even more prepared and know even more about the company. </a:t>
            </a:r>
            <a:endParaRPr lang="en-US" sz="3600" dirty="0"/>
          </a:p>
        </p:txBody>
      </p:sp>
    </p:spTree>
    <p:extLst>
      <p:ext uri="{BB962C8B-B14F-4D97-AF65-F5344CB8AC3E}">
        <p14:creationId xmlns:p14="http://schemas.microsoft.com/office/powerpoint/2010/main" val="29312735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31" y="0"/>
            <a:ext cx="11957538" cy="1325563"/>
          </a:xfrm>
        </p:spPr>
        <p:txBody>
          <a:bodyPr>
            <a:normAutofit/>
          </a:bodyPr>
          <a:lstStyle/>
          <a:p>
            <a:pPr algn="ctr"/>
            <a:r>
              <a:rPr lang="en-US" sz="6000" b="1" dirty="0" smtClean="0">
                <a:effectLst>
                  <a:outerShdw blurRad="38100" dist="38100" dir="2700000" algn="tl">
                    <a:srgbClr val="000000">
                      <a:alpha val="43137"/>
                    </a:srgbClr>
                  </a:outerShdw>
                </a:effectLst>
              </a:rPr>
              <a:t>Stress Interview</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7231" y="1223888"/>
            <a:ext cx="11957538" cy="5634111"/>
          </a:xfrm>
        </p:spPr>
        <p:txBody>
          <a:bodyPr>
            <a:noAutofit/>
          </a:bodyPr>
          <a:lstStyle/>
          <a:p>
            <a:pPr algn="just"/>
            <a:r>
              <a:rPr lang="en-US" sz="3200" dirty="0" smtClean="0"/>
              <a:t>Stress interviews are meant to test your reactions during </a:t>
            </a:r>
            <a:r>
              <a:rPr lang="en-US" sz="3200" b="1" dirty="0" smtClean="0">
                <a:solidFill>
                  <a:srgbClr val="FF0000"/>
                </a:solidFill>
              </a:rPr>
              <a:t>nerve-racking situations </a:t>
            </a:r>
            <a:r>
              <a:rPr lang="en-US" sz="3200" dirty="0" smtClean="0"/>
              <a:t>and are common for jobs in which you will face </a:t>
            </a:r>
            <a:r>
              <a:rPr lang="en-US" sz="3200" b="1" dirty="0" smtClean="0">
                <a:solidFill>
                  <a:srgbClr val="FF0000"/>
                </a:solidFill>
              </a:rPr>
              <a:t>significant stress</a:t>
            </a:r>
            <a:r>
              <a:rPr lang="en-US" sz="3200" dirty="0" smtClean="0"/>
              <a:t>.</a:t>
            </a:r>
          </a:p>
          <a:p>
            <a:pPr algn="just"/>
            <a:r>
              <a:rPr lang="en-US" sz="3200" dirty="0" smtClean="0"/>
              <a:t>You may be forced </a:t>
            </a:r>
            <a:r>
              <a:rPr lang="en-US" sz="3200" b="1" dirty="0" smtClean="0">
                <a:solidFill>
                  <a:srgbClr val="FF0000"/>
                </a:solidFill>
              </a:rPr>
              <a:t>to wait a long time </a:t>
            </a:r>
            <a:r>
              <a:rPr lang="en-US" sz="3200" dirty="0" smtClean="0"/>
              <a:t>before being greeted by the interviewer, you may be given a test with an </a:t>
            </a:r>
            <a:r>
              <a:rPr lang="en-US" sz="3200" b="1" dirty="0" smtClean="0">
                <a:solidFill>
                  <a:srgbClr val="FF0000"/>
                </a:solidFill>
              </a:rPr>
              <a:t>impossible time limit</a:t>
            </a:r>
            <a:r>
              <a:rPr lang="en-US" sz="3200" dirty="0" smtClean="0"/>
              <a:t>, or one or more of the interviewers may treat you rudely. </a:t>
            </a:r>
          </a:p>
          <a:p>
            <a:pPr algn="just"/>
            <a:r>
              <a:rPr lang="en-US" sz="3200" dirty="0" smtClean="0"/>
              <a:t>Another stress interview technique is to have interviewers </a:t>
            </a:r>
            <a:r>
              <a:rPr lang="en-US" sz="3200" b="1" dirty="0" smtClean="0">
                <a:solidFill>
                  <a:srgbClr val="FF0000"/>
                </a:solidFill>
              </a:rPr>
              <a:t>ask questions at a rapid rate. </a:t>
            </a:r>
          </a:p>
          <a:p>
            <a:pPr algn="just"/>
            <a:r>
              <a:rPr lang="en-US" sz="3200" dirty="0" smtClean="0"/>
              <a:t>If asked </a:t>
            </a:r>
            <a:r>
              <a:rPr lang="en-US" sz="3200" b="1" dirty="0" smtClean="0">
                <a:solidFill>
                  <a:srgbClr val="FF0000"/>
                </a:solidFill>
              </a:rPr>
              <a:t>rapid-fire questions from many directions, take the time to slow things down.</a:t>
            </a:r>
            <a:endParaRPr lang="en-US" sz="3200" b="1" dirty="0">
              <a:solidFill>
                <a:srgbClr val="FF0000"/>
              </a:solidFill>
            </a:endParaRPr>
          </a:p>
        </p:txBody>
      </p:sp>
    </p:spTree>
    <p:extLst>
      <p:ext uri="{BB962C8B-B14F-4D97-AF65-F5344CB8AC3E}">
        <p14:creationId xmlns:p14="http://schemas.microsoft.com/office/powerpoint/2010/main" val="538565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Online Interview</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0677" y="1325563"/>
            <a:ext cx="12051323" cy="5384726"/>
          </a:xfrm>
        </p:spPr>
        <p:txBody>
          <a:bodyPr>
            <a:noAutofit/>
          </a:bodyPr>
          <a:lstStyle/>
          <a:p>
            <a:pPr algn="just"/>
            <a:r>
              <a:rPr lang="en-US" sz="3200" dirty="0" smtClean="0"/>
              <a:t>Many companies today </a:t>
            </a:r>
            <a:r>
              <a:rPr lang="en-US" sz="3200" dirty="0" smtClean="0">
                <a:solidFill>
                  <a:srgbClr val="FF0000"/>
                </a:solidFill>
              </a:rPr>
              <a:t>use technology to interview </a:t>
            </a:r>
            <a:r>
              <a:rPr lang="en-US" sz="3200" dirty="0" smtClean="0"/>
              <a:t>job candidates from a distance. </a:t>
            </a:r>
          </a:p>
          <a:p>
            <a:pPr algn="just"/>
            <a:r>
              <a:rPr lang="en-US" sz="3200" dirty="0" smtClean="0"/>
              <a:t>Using the free Skype service and a webcam saves job applicants and companies time and money, especially </a:t>
            </a:r>
            <a:r>
              <a:rPr lang="en-US" sz="3200" dirty="0" smtClean="0">
                <a:solidFill>
                  <a:srgbClr val="FF0000"/>
                </a:solidFill>
              </a:rPr>
              <a:t>when applicants are not in the same geographic location as the company</a:t>
            </a:r>
            <a:r>
              <a:rPr lang="en-US" sz="3200" dirty="0" smtClean="0"/>
              <a:t>. Even though your interview may be online, conducted with videoconferencing software and a webcam, don’t take it any less seriously than a face-to-face interview. </a:t>
            </a:r>
          </a:p>
          <a:p>
            <a:pPr algn="just"/>
            <a:r>
              <a:rPr lang="en-US" sz="3200" b="1" dirty="0" smtClean="0">
                <a:solidFill>
                  <a:srgbClr val="FF0000"/>
                </a:solidFill>
                <a:effectLst>
                  <a:outerShdw blurRad="38100" dist="38100" dir="2700000" algn="tl">
                    <a:srgbClr val="000000">
                      <a:alpha val="43137"/>
                    </a:srgbClr>
                  </a:outerShdw>
                </a:effectLst>
              </a:rPr>
              <a:t>No matter what interview structure you encounter, </a:t>
            </a:r>
            <a:r>
              <a:rPr lang="en-US" sz="3200" dirty="0" smtClean="0"/>
              <a:t>you will feel more comfortable and be better prepared if you know what to do before, during, and after the interview.</a:t>
            </a:r>
            <a:endParaRPr lang="en-US" sz="3200" dirty="0"/>
          </a:p>
        </p:txBody>
      </p:sp>
    </p:spTree>
    <p:extLst>
      <p:ext uri="{BB962C8B-B14F-4D97-AF65-F5344CB8AC3E}">
        <p14:creationId xmlns:p14="http://schemas.microsoft.com/office/powerpoint/2010/main" val="4782669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191809916"/>
              </p:ext>
            </p:extLst>
          </p:nvPr>
        </p:nvGraphicFramePr>
        <p:xfrm>
          <a:off x="239151" y="1856935"/>
          <a:ext cx="11844997" cy="4320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43166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26" y="0"/>
            <a:ext cx="12084148" cy="1325563"/>
          </a:xfrm>
        </p:spPr>
        <p:txBody>
          <a:bodyPr>
            <a:normAutofit/>
          </a:bodyPr>
          <a:lstStyle/>
          <a:p>
            <a:pPr algn="ctr"/>
            <a:r>
              <a:rPr lang="en-US" sz="6000" dirty="0" smtClean="0">
                <a:effectLst>
                  <a:outerShdw blurRad="38100" dist="38100" dir="2700000" algn="tl">
                    <a:srgbClr val="000000">
                      <a:alpha val="43137"/>
                    </a:srgbClr>
                  </a:outerShdw>
                </a:effectLst>
              </a:rPr>
              <a:t>Before the Interview</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82880" y="1209822"/>
            <a:ext cx="11955194" cy="5648178"/>
          </a:xfrm>
        </p:spPr>
        <p:txBody>
          <a:bodyPr>
            <a:normAutofit lnSpcReduction="10000"/>
          </a:bodyPr>
          <a:lstStyle/>
          <a:p>
            <a:r>
              <a:rPr lang="en-US" sz="4000" dirty="0" smtClean="0"/>
              <a:t>Ensuring Professional Phone Techniques</a:t>
            </a:r>
          </a:p>
          <a:p>
            <a:r>
              <a:rPr lang="en-US" sz="4000" dirty="0" smtClean="0"/>
              <a:t>Making the First Conversation Impressive</a:t>
            </a:r>
          </a:p>
          <a:p>
            <a:r>
              <a:rPr lang="en-US" sz="4000" dirty="0" smtClean="0"/>
              <a:t>Researching the Target Company</a:t>
            </a:r>
          </a:p>
          <a:p>
            <a:r>
              <a:rPr lang="en-US" sz="4000" dirty="0" smtClean="0"/>
              <a:t>Preparing and Practicing </a:t>
            </a:r>
          </a:p>
          <a:p>
            <a:r>
              <a:rPr lang="en-US" sz="4000" dirty="0" smtClean="0"/>
              <a:t>Expect to Explain Problem Areas on Your Résumé</a:t>
            </a:r>
          </a:p>
          <a:p>
            <a:r>
              <a:rPr lang="en-US" sz="4000" dirty="0" smtClean="0"/>
              <a:t>Decide How to Dress</a:t>
            </a:r>
          </a:p>
          <a:p>
            <a:r>
              <a:rPr lang="en-US" sz="4000" dirty="0" smtClean="0"/>
              <a:t>Gather Items to Bring</a:t>
            </a:r>
          </a:p>
          <a:p>
            <a:pPr>
              <a:buFont typeface="Courier New" panose="02070309020205020404" pitchFamily="49" charset="0"/>
              <a:buChar char="o"/>
            </a:pPr>
            <a:r>
              <a:rPr lang="en-US" sz="4000" dirty="0" smtClean="0"/>
              <a:t>Rehearse Success Stories</a:t>
            </a:r>
          </a:p>
          <a:p>
            <a:pPr>
              <a:buFont typeface="Courier New" panose="02070309020205020404" pitchFamily="49" charset="0"/>
              <a:buChar char="o"/>
            </a:pPr>
            <a:r>
              <a:rPr lang="en-US" sz="4000" dirty="0" smtClean="0"/>
              <a:t>Practice Answers to Possible Questions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11845048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0000"/>
          </a:solidFill>
        </p:spPr>
        <p:txBody>
          <a:bodyPr>
            <a:normAutofit/>
          </a:bodyPr>
          <a:lstStyle/>
          <a:p>
            <a:pPr algn="ctr"/>
            <a:r>
              <a:rPr lang="en-US" sz="6000" b="1" dirty="0" smtClean="0">
                <a:effectLst>
                  <a:outerShdw blurRad="38100" dist="38100" dir="2700000" algn="tl">
                    <a:srgbClr val="000000">
                      <a:alpha val="43137"/>
                    </a:srgbClr>
                  </a:outerShdw>
                </a:effectLst>
              </a:rPr>
              <a:t>Clean Up Any Digital Dirt</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54745" y="1325562"/>
            <a:ext cx="12037255" cy="5532437"/>
          </a:xfrm>
          <a:noFill/>
        </p:spPr>
        <p:txBody>
          <a:bodyPr/>
          <a:lstStyle/>
          <a:p>
            <a:pPr algn="just"/>
            <a:r>
              <a:rPr lang="en-US" sz="3600" dirty="0" smtClean="0"/>
              <a:t>Remove questionable content</a:t>
            </a:r>
            <a:endParaRPr lang="en-US" sz="3600" dirty="0"/>
          </a:p>
          <a:p>
            <a:pPr algn="just"/>
            <a:r>
              <a:rPr lang="en-US" sz="3600" dirty="0" smtClean="0"/>
              <a:t>Stay positive</a:t>
            </a:r>
          </a:p>
          <a:p>
            <a:pPr algn="just"/>
            <a:r>
              <a:rPr lang="en-US" sz="3600" dirty="0" smtClean="0"/>
              <a:t>Be selective about who is on your list of friends.</a:t>
            </a:r>
          </a:p>
          <a:p>
            <a:pPr algn="just"/>
            <a:r>
              <a:rPr lang="en-US" sz="3600" dirty="0" smtClean="0"/>
              <a:t>Avoid joining groups or fan pages that may be viewed negatively.</a:t>
            </a:r>
          </a:p>
          <a:p>
            <a:pPr algn="just"/>
            <a:r>
              <a:rPr lang="en-US" sz="3600" dirty="0" smtClean="0"/>
              <a:t>Don’t discuss your job search if you are still employed. </a:t>
            </a:r>
          </a:p>
          <a:p>
            <a:pPr algn="just"/>
            <a:r>
              <a:rPr lang="en-US" sz="3600" dirty="0" smtClean="0"/>
              <a:t>Set up a professional social networking page or create your own personal Web site. </a:t>
            </a:r>
          </a:p>
          <a:p>
            <a:endParaRPr lang="en-US" dirty="0"/>
          </a:p>
        </p:txBody>
      </p:sp>
    </p:spTree>
    <p:extLst>
      <p:ext uri="{BB962C8B-B14F-4D97-AF65-F5344CB8AC3E}">
        <p14:creationId xmlns:p14="http://schemas.microsoft.com/office/powerpoint/2010/main" val="10475308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Fighting Fear</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6609" y="1325563"/>
            <a:ext cx="11943471" cy="5412862"/>
          </a:xfrm>
        </p:spPr>
        <p:txBody>
          <a:bodyPr>
            <a:normAutofit/>
          </a:bodyPr>
          <a:lstStyle/>
          <a:p>
            <a:r>
              <a:rPr lang="en-US" sz="4000" dirty="0" smtClean="0"/>
              <a:t>Practice interviewing</a:t>
            </a:r>
          </a:p>
          <a:p>
            <a:r>
              <a:rPr lang="en-US" sz="4000" dirty="0" smtClean="0"/>
              <a:t>Prepare thoroughly</a:t>
            </a:r>
          </a:p>
          <a:p>
            <a:r>
              <a:rPr lang="en-US" sz="4000" dirty="0" smtClean="0"/>
              <a:t>Understand the process</a:t>
            </a:r>
          </a:p>
          <a:p>
            <a:r>
              <a:rPr lang="en-US" sz="4000" dirty="0" smtClean="0"/>
              <a:t>Dress professionally</a:t>
            </a:r>
          </a:p>
          <a:p>
            <a:r>
              <a:rPr lang="en-US" sz="4000" dirty="0" smtClean="0"/>
              <a:t>Know that you are not alone</a:t>
            </a:r>
          </a:p>
          <a:p>
            <a:r>
              <a:rPr lang="en-US" sz="4000" dirty="0" smtClean="0"/>
              <a:t>Remember that an interview is a two-way street</a:t>
            </a:r>
            <a:endParaRPr lang="en-US" sz="4000" dirty="0"/>
          </a:p>
        </p:txBody>
      </p:sp>
    </p:spTree>
    <p:extLst>
      <p:ext uri="{BB962C8B-B14F-4D97-AF65-F5344CB8AC3E}">
        <p14:creationId xmlns:p14="http://schemas.microsoft.com/office/powerpoint/2010/main" val="31424343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600" b="1" dirty="0" smtClean="0">
                <a:effectLst>
                  <a:outerShdw blurRad="38100" dist="38100" dir="2700000" algn="tl">
                    <a:srgbClr val="000000">
                      <a:alpha val="43137"/>
                    </a:srgbClr>
                  </a:outerShdw>
                </a:effectLst>
              </a:rPr>
              <a:t>During the Interview</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0677" y="1069146"/>
            <a:ext cx="12051323" cy="5613008"/>
          </a:xfrm>
        </p:spPr>
        <p:txBody>
          <a:bodyPr>
            <a:noAutofit/>
          </a:bodyPr>
          <a:lstStyle/>
          <a:p>
            <a:r>
              <a:rPr lang="en-US" sz="3600" dirty="0" smtClean="0"/>
              <a:t>Control your body movement</a:t>
            </a:r>
          </a:p>
          <a:p>
            <a:r>
              <a:rPr lang="en-US" sz="3600" dirty="0" smtClean="0"/>
              <a:t>Exhibit good posture</a:t>
            </a:r>
          </a:p>
          <a:p>
            <a:r>
              <a:rPr lang="en-US" sz="3600" dirty="0" smtClean="0"/>
              <a:t>Practice appropriate eye contact</a:t>
            </a:r>
          </a:p>
          <a:p>
            <a:r>
              <a:rPr lang="en-US" sz="3600" dirty="0" smtClean="0"/>
              <a:t>Use gestures effectively</a:t>
            </a:r>
          </a:p>
          <a:p>
            <a:r>
              <a:rPr lang="en-US" sz="3600" dirty="0" smtClean="0"/>
              <a:t>Smile enough to convey a positive attitude</a:t>
            </a:r>
          </a:p>
          <a:p>
            <a:r>
              <a:rPr lang="en-US" sz="3600" dirty="0" smtClean="0"/>
              <a:t>Listen attentively</a:t>
            </a:r>
          </a:p>
          <a:p>
            <a:r>
              <a:rPr lang="en-US" sz="3600" dirty="0" smtClean="0"/>
              <a:t>Turn off your cell phone or other electronic devices</a:t>
            </a:r>
          </a:p>
          <a:p>
            <a:r>
              <a:rPr lang="en-US" sz="3600" dirty="0" smtClean="0"/>
              <a:t>Avoid empty words</a:t>
            </a:r>
          </a:p>
          <a:p>
            <a:r>
              <a:rPr lang="en-US" sz="3600" dirty="0" smtClean="0"/>
              <a:t>Be confident, but not cocky.</a:t>
            </a:r>
            <a:endParaRPr lang="en-US" sz="3600" dirty="0"/>
          </a:p>
        </p:txBody>
      </p:sp>
    </p:spTree>
    <p:extLst>
      <p:ext uri="{BB962C8B-B14F-4D97-AF65-F5344CB8AC3E}">
        <p14:creationId xmlns:p14="http://schemas.microsoft.com/office/powerpoint/2010/main" val="19228470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5400" b="1" dirty="0" smtClean="0">
                <a:effectLst>
                  <a:outerShdw blurRad="38100" dist="38100" dir="2700000" algn="tl">
                    <a:srgbClr val="000000">
                      <a:alpha val="43137"/>
                    </a:srgbClr>
                  </a:outerShdw>
                </a:effectLst>
              </a:rPr>
              <a:t>Answering Typical Interview Questions</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542" y="1325563"/>
            <a:ext cx="11971606" cy="5384726"/>
          </a:xfrm>
        </p:spPr>
        <p:txBody>
          <a:bodyPr/>
          <a:lstStyle/>
          <a:p>
            <a:r>
              <a:rPr lang="en-US" dirty="0" smtClean="0"/>
              <a:t> </a:t>
            </a:r>
            <a:r>
              <a:rPr lang="en-US" sz="4400" dirty="0" smtClean="0"/>
              <a:t>Questions to Get Acquainted</a:t>
            </a:r>
          </a:p>
          <a:p>
            <a:r>
              <a:rPr lang="en-US" sz="4400" dirty="0" smtClean="0"/>
              <a:t>Questions to Gauge Your Interest.</a:t>
            </a:r>
          </a:p>
          <a:p>
            <a:r>
              <a:rPr lang="en-US" sz="4400" dirty="0" smtClean="0"/>
              <a:t>Questions About Experience </a:t>
            </a:r>
          </a:p>
          <a:p>
            <a:r>
              <a:rPr lang="en-US" sz="4400" dirty="0" smtClean="0"/>
              <a:t>Questions About the Future</a:t>
            </a:r>
          </a:p>
          <a:p>
            <a:r>
              <a:rPr lang="en-US" sz="4400" dirty="0" smtClean="0"/>
              <a:t>Challenging Questions</a:t>
            </a:r>
          </a:p>
          <a:p>
            <a:r>
              <a:rPr lang="en-US" sz="4400" dirty="0" smtClean="0"/>
              <a:t>Situational Questions</a:t>
            </a:r>
          </a:p>
          <a:p>
            <a:r>
              <a:rPr lang="en-US" sz="4400" dirty="0" smtClean="0"/>
              <a:t>Behavioral Questions</a:t>
            </a:r>
          </a:p>
          <a:p>
            <a:endParaRPr lang="en-US" dirty="0"/>
          </a:p>
        </p:txBody>
      </p:sp>
    </p:spTree>
    <p:extLst>
      <p:ext uri="{BB962C8B-B14F-4D97-AF65-F5344CB8AC3E}">
        <p14:creationId xmlns:p14="http://schemas.microsoft.com/office/powerpoint/2010/main" val="10245225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STAR Method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3"/>
            <a:ext cx="12192000" cy="5384726"/>
          </a:xfrm>
        </p:spPr>
        <p:txBody>
          <a:bodyPr>
            <a:normAutofit/>
          </a:bodyPr>
          <a:lstStyle/>
          <a:p>
            <a:pPr algn="just"/>
            <a:r>
              <a:rPr lang="en-US" sz="3200" dirty="0" smtClean="0"/>
              <a:t>To respond effectively, learn to use the storytelling, or STAR, technique. </a:t>
            </a:r>
          </a:p>
          <a:p>
            <a:pPr algn="just"/>
            <a:r>
              <a:rPr lang="en-US" sz="3200" dirty="0" smtClean="0">
                <a:solidFill>
                  <a:srgbClr val="FF0000"/>
                </a:solidFill>
              </a:rPr>
              <a:t>Ask yourself, what the Situation or Task was, what Action you took, and what the Results were.</a:t>
            </a:r>
          </a:p>
          <a:p>
            <a:pPr algn="just"/>
            <a:r>
              <a:rPr lang="en-US" sz="3200" dirty="0" smtClean="0"/>
              <a:t>Practice using this method to recall specific examples of </a:t>
            </a:r>
          </a:p>
          <a:p>
            <a:pPr algn="just"/>
            <a:r>
              <a:rPr lang="en-US" sz="3200" dirty="0" smtClean="0"/>
              <a:t>your skills and accomplishments. To be fully prepared, develop a coherent and articulate STAR narrative for every bullet point on your résumé. </a:t>
            </a:r>
          </a:p>
          <a:p>
            <a:pPr algn="just"/>
            <a:r>
              <a:rPr lang="en-US" sz="3200" dirty="0" smtClean="0"/>
              <a:t>When answering behavioral questions, describe only educational and work-related situations or tasks, and try to keep them as current as possible.</a:t>
            </a:r>
            <a:endParaRPr lang="en-US" sz="3200" dirty="0"/>
          </a:p>
        </p:txBody>
      </p:sp>
    </p:spTree>
    <p:extLst>
      <p:ext uri="{BB962C8B-B14F-4D97-AF65-F5344CB8AC3E}">
        <p14:creationId xmlns:p14="http://schemas.microsoft.com/office/powerpoint/2010/main" val="35965257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1907"/>
            <a:ext cx="12056012" cy="1325563"/>
          </a:xfrm>
        </p:spPr>
        <p:txBody>
          <a:bodyPr>
            <a:normAutofit/>
          </a:bodyPr>
          <a:lstStyle/>
          <a:p>
            <a:pPr algn="ctr"/>
            <a:r>
              <a:rPr lang="en-US" sz="6000" b="1" dirty="0" smtClean="0">
                <a:effectLst>
                  <a:outerShdw blurRad="38100" dist="38100" dir="2700000" algn="tl">
                    <a:srgbClr val="000000">
                      <a:alpha val="43137"/>
                    </a:srgbClr>
                  </a:outerShdw>
                </a:effectLst>
              </a:rPr>
              <a:t>After the Interview</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542" y="1437470"/>
            <a:ext cx="11943470" cy="5244684"/>
          </a:xfrm>
        </p:spPr>
        <p:txBody>
          <a:bodyPr/>
          <a:lstStyle/>
          <a:p>
            <a:r>
              <a:rPr lang="en-US" sz="4000" dirty="0" smtClean="0"/>
              <a:t>Thanking Your Interviewer</a:t>
            </a:r>
          </a:p>
          <a:p>
            <a:r>
              <a:rPr lang="en-US" sz="4000" dirty="0" smtClean="0"/>
              <a:t>Contacting Your References </a:t>
            </a:r>
          </a:p>
          <a:p>
            <a:r>
              <a:rPr lang="en-US" sz="4000" dirty="0" smtClean="0"/>
              <a:t>Following Up</a:t>
            </a:r>
          </a:p>
          <a:p>
            <a:pPr marL="0" indent="0">
              <a:buNone/>
            </a:pPr>
            <a:endParaRPr lang="en-US" dirty="0"/>
          </a:p>
        </p:txBody>
      </p:sp>
    </p:spTree>
    <p:extLst>
      <p:ext uri="{BB962C8B-B14F-4D97-AF65-F5344CB8AC3E}">
        <p14:creationId xmlns:p14="http://schemas.microsoft.com/office/powerpoint/2010/main" val="2384771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1305</Words>
  <Application>Microsoft Office PowerPoint</Application>
  <PresentationFormat>Widescreen</PresentationFormat>
  <Paragraphs>124</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Courier New</vt:lpstr>
      <vt:lpstr>Office Theme</vt:lpstr>
      <vt:lpstr>Interview skills </vt:lpstr>
      <vt:lpstr>Purpose of Interview </vt:lpstr>
      <vt:lpstr>Purposes of Employment Interviews/ as candidate </vt:lpstr>
      <vt:lpstr>Purposes of Employment Interviews/ As Employer </vt:lpstr>
      <vt:lpstr>Types of Employment Interviews</vt:lpstr>
      <vt:lpstr>Screening Interviews</vt:lpstr>
      <vt:lpstr>Hiring/Placement Interviews</vt:lpstr>
      <vt:lpstr>One-on-One Interview</vt:lpstr>
      <vt:lpstr>Panel interview</vt:lpstr>
      <vt:lpstr>Panel interview</vt:lpstr>
      <vt:lpstr>Group interviews</vt:lpstr>
      <vt:lpstr>Sequential Interviews</vt:lpstr>
      <vt:lpstr>Sequential Interviews</vt:lpstr>
      <vt:lpstr>Stress Interview</vt:lpstr>
      <vt:lpstr>Online Interview</vt:lpstr>
      <vt:lpstr>PowerPoint Presentation</vt:lpstr>
      <vt:lpstr>Before the Interview</vt:lpstr>
      <vt:lpstr>Clean Up Any Digital Dirt</vt:lpstr>
      <vt:lpstr>Fighting Fear</vt:lpstr>
      <vt:lpstr>During the Interview</vt:lpstr>
      <vt:lpstr>Answering Typical Interview Questions</vt:lpstr>
      <vt:lpstr>STAR Method </vt:lpstr>
      <vt:lpstr>After the Interview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skills </dc:title>
  <dc:creator>Tab &amp; Tech</dc:creator>
  <cp:lastModifiedBy>Tab &amp; Tech</cp:lastModifiedBy>
  <cp:revision>19</cp:revision>
  <dcterms:created xsi:type="dcterms:W3CDTF">2025-06-02T04:06:18Z</dcterms:created>
  <dcterms:modified xsi:type="dcterms:W3CDTF">2025-12-05T05:57:02Z</dcterms:modified>
</cp:coreProperties>
</file>